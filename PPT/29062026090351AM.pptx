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726" r:id="rId2"/>
    <p:sldMasterId id="2147483713" r:id="rId3"/>
  </p:sldMasterIdLst>
  <p:notesMasterIdLst>
    <p:notesMasterId r:id="rId102"/>
  </p:notesMasterIdLst>
  <p:handoutMasterIdLst>
    <p:handoutMasterId r:id="rId103"/>
  </p:handoutMasterIdLst>
  <p:sldIdLst>
    <p:sldId id="256" r:id="rId4"/>
    <p:sldId id="265" r:id="rId5"/>
    <p:sldId id="862" r:id="rId6"/>
    <p:sldId id="748" r:id="rId7"/>
    <p:sldId id="747" r:id="rId8"/>
    <p:sldId id="751" r:id="rId9"/>
    <p:sldId id="753" r:id="rId10"/>
    <p:sldId id="754" r:id="rId11"/>
    <p:sldId id="863" r:id="rId12"/>
    <p:sldId id="771" r:id="rId13"/>
    <p:sldId id="777" r:id="rId14"/>
    <p:sldId id="864" r:id="rId15"/>
    <p:sldId id="752" r:id="rId16"/>
    <p:sldId id="758" r:id="rId17"/>
    <p:sldId id="760" r:id="rId18"/>
    <p:sldId id="776" r:id="rId19"/>
    <p:sldId id="775" r:id="rId20"/>
    <p:sldId id="768" r:id="rId21"/>
    <p:sldId id="761" r:id="rId22"/>
    <p:sldId id="764" r:id="rId23"/>
    <p:sldId id="766" r:id="rId24"/>
    <p:sldId id="865" r:id="rId25"/>
    <p:sldId id="866" r:id="rId26"/>
    <p:sldId id="779" r:id="rId27"/>
    <p:sldId id="781" r:id="rId28"/>
    <p:sldId id="773" r:id="rId29"/>
    <p:sldId id="774" r:id="rId30"/>
    <p:sldId id="877" r:id="rId31"/>
    <p:sldId id="783" r:id="rId32"/>
    <p:sldId id="784" r:id="rId33"/>
    <p:sldId id="786" r:id="rId34"/>
    <p:sldId id="867" r:id="rId35"/>
    <p:sldId id="790" r:id="rId36"/>
    <p:sldId id="793" r:id="rId37"/>
    <p:sldId id="842" r:id="rId38"/>
    <p:sldId id="795" r:id="rId39"/>
    <p:sldId id="868" r:id="rId40"/>
    <p:sldId id="800" r:id="rId41"/>
    <p:sldId id="850" r:id="rId42"/>
    <p:sldId id="869" r:id="rId43"/>
    <p:sldId id="848" r:id="rId44"/>
    <p:sldId id="851" r:id="rId45"/>
    <p:sldId id="870" r:id="rId46"/>
    <p:sldId id="871" r:id="rId47"/>
    <p:sldId id="857" r:id="rId48"/>
    <p:sldId id="858" r:id="rId49"/>
    <p:sldId id="859" r:id="rId50"/>
    <p:sldId id="797" r:id="rId51"/>
    <p:sldId id="808" r:id="rId52"/>
    <p:sldId id="839" r:id="rId53"/>
    <p:sldId id="846" r:id="rId54"/>
    <p:sldId id="845" r:id="rId55"/>
    <p:sldId id="801" r:id="rId56"/>
    <p:sldId id="802" r:id="rId57"/>
    <p:sldId id="847" r:id="rId58"/>
    <p:sldId id="878" r:id="rId59"/>
    <p:sldId id="879" r:id="rId60"/>
    <p:sldId id="810" r:id="rId61"/>
    <p:sldId id="811" r:id="rId62"/>
    <p:sldId id="812" r:id="rId63"/>
    <p:sldId id="874" r:id="rId64"/>
    <p:sldId id="814" r:id="rId65"/>
    <p:sldId id="872" r:id="rId66"/>
    <p:sldId id="873" r:id="rId67"/>
    <p:sldId id="815" r:id="rId68"/>
    <p:sldId id="817" r:id="rId69"/>
    <p:sldId id="875" r:id="rId70"/>
    <p:sldId id="818" r:id="rId71"/>
    <p:sldId id="841" r:id="rId72"/>
    <p:sldId id="876" r:id="rId73"/>
    <p:sldId id="822" r:id="rId74"/>
    <p:sldId id="820" r:id="rId75"/>
    <p:sldId id="823" r:id="rId76"/>
    <p:sldId id="826" r:id="rId77"/>
    <p:sldId id="827" r:id="rId78"/>
    <p:sldId id="824" r:id="rId79"/>
    <p:sldId id="825" r:id="rId80"/>
    <p:sldId id="828" r:id="rId81"/>
    <p:sldId id="829" r:id="rId82"/>
    <p:sldId id="830" r:id="rId83"/>
    <p:sldId id="831" r:id="rId84"/>
    <p:sldId id="832" r:id="rId85"/>
    <p:sldId id="833" r:id="rId86"/>
    <p:sldId id="834" r:id="rId87"/>
    <p:sldId id="835" r:id="rId88"/>
    <p:sldId id="836" r:id="rId89"/>
    <p:sldId id="837" r:id="rId90"/>
    <p:sldId id="838" r:id="rId91"/>
    <p:sldId id="880" r:id="rId92"/>
    <p:sldId id="882" r:id="rId93"/>
    <p:sldId id="884" r:id="rId94"/>
    <p:sldId id="885" r:id="rId95"/>
    <p:sldId id="888" r:id="rId96"/>
    <p:sldId id="886" r:id="rId97"/>
    <p:sldId id="889" r:id="rId98"/>
    <p:sldId id="890" r:id="rId99"/>
    <p:sldId id="892" r:id="rId100"/>
    <p:sldId id="264" r:id="rId101"/>
  </p:sldIdLst>
  <p:sldSz cx="12192000" cy="6858000"/>
  <p:notesSz cx="6858000" cy="9144000"/>
  <p:embeddedFontLst>
    <p:embeddedFont>
      <p:font typeface="Calibri" panose="020F0502020204030204" pitchFamily="34" charset="0"/>
      <p:regular r:id="rId104"/>
      <p:bold r:id="rId105"/>
      <p:italic r:id="rId106"/>
      <p:boldItalic r:id="rId107"/>
    </p:embeddedFont>
    <p:embeddedFont>
      <p:font typeface="Calibri Light" panose="020F0302020204030204" pitchFamily="34" charset="0"/>
      <p:regular r:id="rId108"/>
      <p:italic r:id="rId109"/>
    </p:embeddedFont>
    <p:embeddedFont>
      <p:font typeface="Cambria" panose="02040503050406030204" pitchFamily="18" charset="0"/>
      <p:regular r:id="rId110"/>
      <p:bold r:id="rId111"/>
      <p:italic r:id="rId112"/>
      <p:boldItalic r:id="rId113"/>
    </p:embeddedFont>
    <p:embeddedFont>
      <p:font typeface="Cambria Math" panose="02040503050406030204" pitchFamily="18" charset="0"/>
      <p:regular r:id="rId114"/>
    </p:embeddedFont>
    <p:embeddedFont>
      <p:font typeface="Roboto Condensed" panose="02000000000000000000" pitchFamily="2" charset="0"/>
      <p:regular r:id="rId115"/>
      <p:bold r:id="rId116"/>
      <p:italic r:id="rId117"/>
      <p:boldItalic r:id="rId118"/>
    </p:embeddedFont>
    <p:embeddedFont>
      <p:font typeface="Roboto Condensed Light" panose="02000000000000000000" pitchFamily="2" charset="0"/>
      <p:regular r:id="rId119"/>
      <p:italic r:id="rId120"/>
    </p:embeddedFont>
    <p:embeddedFont>
      <p:font typeface="Wingdings 3" panose="05040102010807070707" pitchFamily="18" charset="2"/>
      <p:regular r:id="rId1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cqLC6FMbdpVU5/+cHvuRzg==" hashData="5ecgts+8CjAQXMgjdwWC8rkYJq9FCEf8OFfNJsBn6eJhACr8E64mc9tKye0yv37LtIXl/orKhgT5M4Hl95g0lQ=="/>
  <p:extLst>
    <p:ext uri="{EFAFB233-063F-42B5-8137-9DF3F51BA10A}">
      <p15:sldGuideLst xmlns:p15="http://schemas.microsoft.com/office/powerpoint/2012/main">
        <p15:guide id="1" orient="horz" pos="2886" userDrawn="1">
          <p15:clr>
            <a:srgbClr val="A4A3A4"/>
          </p15:clr>
        </p15:guide>
        <p15:guide id="2" pos="381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46D79"/>
    <a:srgbClr val="00B050"/>
    <a:srgbClr val="FADFCC"/>
    <a:srgbClr val="E9E9E9"/>
    <a:srgbClr val="D10233"/>
    <a:srgbClr val="B71B1C"/>
    <a:srgbClr val="3D0FE7"/>
    <a:srgbClr val="005E6A"/>
    <a:srgbClr val="0E4AA4"/>
    <a:srgbClr val="0E47A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015" autoAdjust="0"/>
    <p:restoredTop sz="94660"/>
  </p:normalViewPr>
  <p:slideViewPr>
    <p:cSldViewPr snapToGrid="0">
      <p:cViewPr>
        <p:scale>
          <a:sx n="50" d="100"/>
          <a:sy n="50" d="100"/>
        </p:scale>
        <p:origin x="1698" y="672"/>
      </p:cViewPr>
      <p:guideLst>
        <p:guide orient="horz" pos="2886"/>
        <p:guide pos="3817"/>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57" d="100"/>
          <a:sy n="57" d="100"/>
        </p:scale>
        <p:origin x="2832" y="7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117" Type="http://schemas.openxmlformats.org/officeDocument/2006/relationships/font" Target="fonts/font14.fntdata"/><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12" Type="http://schemas.openxmlformats.org/officeDocument/2006/relationships/font" Target="fonts/font9.fntdata"/><Relationship Id="rId16" Type="http://schemas.openxmlformats.org/officeDocument/2006/relationships/slide" Target="slides/slide13.xml"/><Relationship Id="rId107" Type="http://schemas.openxmlformats.org/officeDocument/2006/relationships/font" Target="fonts/font4.fntdata"/><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notesMaster" Target="notesMasters/notesMaster1.xml"/><Relationship Id="rId123" Type="http://schemas.openxmlformats.org/officeDocument/2006/relationships/viewProps" Target="viewProps.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font" Target="fonts/font10.fntdata"/><Relationship Id="rId118" Type="http://schemas.openxmlformats.org/officeDocument/2006/relationships/font" Target="fonts/font15.fntdata"/><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handoutMaster" Target="handoutMasters/handoutMaster1.xml"/><Relationship Id="rId108" Type="http://schemas.openxmlformats.org/officeDocument/2006/relationships/font" Target="fonts/font5.fntdata"/><Relationship Id="rId124" Type="http://schemas.openxmlformats.org/officeDocument/2006/relationships/theme" Target="theme/theme1.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font" Target="fonts/font11.fntdata"/><Relationship Id="rId119" Type="http://schemas.openxmlformats.org/officeDocument/2006/relationships/font" Target="fonts/font16.fntdata"/><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font" Target="fonts/font6.fntdata"/><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font" Target="fonts/font1.fntdata"/><Relationship Id="rId120" Type="http://schemas.openxmlformats.org/officeDocument/2006/relationships/font" Target="fonts/font17.fntdata"/><Relationship Id="rId125" Type="http://schemas.openxmlformats.org/officeDocument/2006/relationships/tableStyles" Target="tableStyles.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font" Target="fonts/font7.fntdata"/><Relationship Id="rId115" Type="http://schemas.openxmlformats.org/officeDocument/2006/relationships/font" Target="fonts/font12.fntdata"/><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font" Target="fonts/font2.fntdata"/><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font" Target="fonts/font18.fntdata"/><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font" Target="fonts/font13.fntdata"/><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font" Target="fonts/font8.fntdata"/><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font" Target="fonts/font3.fntdata"/><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40691E0-E0E7-464F-892B-71ACC2518A4D}" type="datetimeFigureOut">
              <a:rPr lang="en-US" smtClean="0"/>
              <a:t>6/29/2026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153689D-5810-4E66-9D5F-1657D824CFAB}" type="slidenum">
              <a:rPr lang="en-US" smtClean="0"/>
              <a:t>‹#›</a:t>
            </a:fld>
            <a:endParaRPr lang="en-US"/>
          </a:p>
        </p:txBody>
      </p:sp>
    </p:spTree>
    <p:extLst>
      <p:ext uri="{BB962C8B-B14F-4D97-AF65-F5344CB8AC3E}">
        <p14:creationId xmlns:p14="http://schemas.microsoft.com/office/powerpoint/2010/main" val="9870960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6/29/2026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79BDEF-6165-4E72-B1A6-6E8034CEC248}" type="slidenum">
              <a:rPr lang="en-US" smtClean="0"/>
              <a:t>11</a:t>
            </a:fld>
            <a:endParaRPr lang="en-US"/>
          </a:p>
        </p:txBody>
      </p:sp>
    </p:spTree>
    <p:extLst>
      <p:ext uri="{BB962C8B-B14F-4D97-AF65-F5344CB8AC3E}">
        <p14:creationId xmlns:p14="http://schemas.microsoft.com/office/powerpoint/2010/main" val="21403756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79BDEF-6165-4E72-B1A6-6E8034CEC248}" type="slidenum">
              <a:rPr lang="en-US" smtClean="0"/>
              <a:t>12</a:t>
            </a:fld>
            <a:endParaRPr lang="en-US"/>
          </a:p>
        </p:txBody>
      </p:sp>
    </p:spTree>
    <p:extLst>
      <p:ext uri="{BB962C8B-B14F-4D97-AF65-F5344CB8AC3E}">
        <p14:creationId xmlns:p14="http://schemas.microsoft.com/office/powerpoint/2010/main" val="156881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79BDEF-6165-4E72-B1A6-6E8034CEC248}" type="slidenum">
              <a:rPr lang="en-US" smtClean="0"/>
              <a:t>34</a:t>
            </a:fld>
            <a:endParaRPr lang="en-US"/>
          </a:p>
        </p:txBody>
      </p:sp>
    </p:spTree>
    <p:extLst>
      <p:ext uri="{BB962C8B-B14F-4D97-AF65-F5344CB8AC3E}">
        <p14:creationId xmlns:p14="http://schemas.microsoft.com/office/powerpoint/2010/main" val="19437615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png"/><Relationship Id="rId4" Type="http://schemas.microsoft.com/office/2007/relationships/hdphoto" Target="../media/hdphoto1.wdp"/></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3.png"/><Relationship Id="rId7"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1.png"/><Relationship Id="rId4" Type="http://schemas.openxmlformats.org/officeDocument/2006/relationships/image" Target="../media/image7.png"/><Relationship Id="rId9"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3.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4.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3.png"/><Relationship Id="rId7"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2.png"/><Relationship Id="rId4" Type="http://schemas.openxmlformats.org/officeDocument/2006/relationships/image" Target="../media/image7.png"/><Relationship Id="rId9"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8.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3.png"/><Relationship Id="rId7"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image" Target="../media/image1.png"/><Relationship Id="rId5" Type="http://schemas.openxmlformats.org/officeDocument/2006/relationships/image" Target="../media/image7.png"/><Relationship Id="rId10" Type="http://schemas.openxmlformats.org/officeDocument/2006/relationships/image" Target="../media/image10.jpeg"/><Relationship Id="rId4" Type="http://schemas.openxmlformats.org/officeDocument/2006/relationships/image" Target="../media/image6.png"/><Relationship Id="rId9" Type="http://schemas.openxmlformats.org/officeDocument/2006/relationships/image" Target="../media/image14.jpeg"/></Relationships>
</file>

<file path=ppt/slideLayouts/_rels/slideLayout21.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9A329F3-B4EA-403B-BD1C-FDD65D8E9D3F}"/>
              </a:ext>
            </a:extLst>
          </p:cNvPr>
          <p:cNvGrpSpPr/>
          <p:nvPr userDrawn="1"/>
        </p:nvGrpSpPr>
        <p:grpSpPr>
          <a:xfrm>
            <a:off x="10721798" y="852808"/>
            <a:ext cx="1339023" cy="407045"/>
            <a:chOff x="10721798" y="852808"/>
            <a:chExt cx="1339023" cy="407045"/>
          </a:xfrm>
        </p:grpSpPr>
        <p:pic>
          <p:nvPicPr>
            <p:cNvPr id="16" name="Picture 15">
              <a:extLst>
                <a:ext uri="{FF2B5EF4-FFF2-40B4-BE49-F238E27FC236}">
                  <a16:creationId xmlns:a16="http://schemas.microsoft.com/office/drawing/2014/main" id="{F0325C5E-F004-43A9-9277-53A0BD206A7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5" name="Rectangle 14">
              <a:extLst>
                <a:ext uri="{FF2B5EF4-FFF2-40B4-BE49-F238E27FC236}">
                  <a16:creationId xmlns:a16="http://schemas.microsoft.com/office/drawing/2014/main" id="{4B63808E-204C-4894-A747-B51DDC7425C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userDrawn="1">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800">
                <a:solidFill>
                  <a:srgbClr val="002060"/>
                </a:solidFill>
              </a:defRPr>
            </a:lvl1pPr>
            <a:lvl2pPr marL="809625" indent="-352425" algn="just">
              <a:buClr>
                <a:schemeClr val="accent6"/>
              </a:buClr>
              <a:buFont typeface="Wingdings 3" panose="05040102010807070707" pitchFamily="18" charset="2"/>
              <a:buChar char=""/>
              <a:defRPr sz="2800">
                <a:solidFill>
                  <a:srgbClr val="002060"/>
                </a:solidFill>
              </a:defRPr>
            </a:lvl2pPr>
            <a:lvl3pPr marL="1143000" indent="-228600" algn="just">
              <a:buClr>
                <a:schemeClr val="accent6"/>
              </a:buClr>
              <a:buFont typeface="Wingdings" panose="05000000000000000000" pitchFamily="2" charset="2"/>
              <a:buChar char="§"/>
              <a:defRPr sz="2800">
                <a:solidFill>
                  <a:srgbClr val="002060"/>
                </a:solidFill>
              </a:defRPr>
            </a:lvl3pPr>
            <a:lvl4pPr algn="just">
              <a:buClr>
                <a:schemeClr val="accent6"/>
              </a:buClr>
              <a:defRPr sz="2800">
                <a:solidFill>
                  <a:srgbClr val="002060"/>
                </a:solidFill>
              </a:defRPr>
            </a:lvl4pPr>
            <a:lvl5pPr algn="just">
              <a:buClr>
                <a:schemeClr val="accent6"/>
              </a:buClr>
              <a:defRPr sz="2800">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Prof. </a:t>
            </a:r>
            <a:r>
              <a:rPr lang="en-US" sz="1200" b="0" kern="1200" dirty="0" err="1">
                <a:solidFill>
                  <a:schemeClr val="tx1">
                    <a:lumMod val="90000"/>
                    <a:lumOff val="10000"/>
                  </a:schemeClr>
                </a:solidFill>
                <a:latin typeface="+mn-lt"/>
                <a:ea typeface="+mn-ea"/>
                <a:cs typeface="+mn-cs"/>
              </a:rPr>
              <a:t>Punit</a:t>
            </a:r>
            <a:r>
              <a:rPr lang="en-US" sz="1200" b="0" kern="1200" dirty="0">
                <a:solidFill>
                  <a:schemeClr val="tx1">
                    <a:lumMod val="90000"/>
                    <a:lumOff val="10000"/>
                  </a:schemeClr>
                </a:solidFill>
                <a:latin typeface="+mn-lt"/>
                <a:ea typeface="+mn-ea"/>
                <a:cs typeface="+mn-cs"/>
              </a:rPr>
              <a:t> </a:t>
            </a:r>
            <a:r>
              <a:rPr lang="en-US" sz="1200" b="0" kern="1200" dirty="0" err="1">
                <a:solidFill>
                  <a:schemeClr val="tx1">
                    <a:lumMod val="90000"/>
                    <a:lumOff val="10000"/>
                  </a:schemeClr>
                </a:solidFill>
                <a:latin typeface="+mn-lt"/>
                <a:ea typeface="+mn-ea"/>
                <a:cs typeface="+mn-cs"/>
              </a:rPr>
              <a:t>Vadher</a:t>
            </a:r>
            <a:r>
              <a:rPr lang="en-US" sz="1200" b="0" kern="1200" dirty="0">
                <a:solidFill>
                  <a:schemeClr val="tx1">
                    <a:lumMod val="90000"/>
                    <a:lumOff val="10000"/>
                  </a:schemeClr>
                </a:solidFill>
                <a:latin typeface="+mn-lt"/>
                <a:ea typeface="+mn-ea"/>
                <a:cs typeface="+mn-cs"/>
              </a:rPr>
              <a:t> </a:t>
            </a:r>
          </a:p>
        </p:txBody>
      </p:sp>
      <p:sp>
        <p:nvSpPr>
          <p:cNvPr id="21" name="Footer Placeholder 2">
            <a:extLst>
              <a:ext uri="{FF2B5EF4-FFF2-40B4-BE49-F238E27FC236}">
                <a16:creationId xmlns:a16="http://schemas.microsoft.com/office/drawing/2014/main" id="{BF2BE79E-EA17-4AB9-8CB5-714A52A6B2F5}"/>
              </a:ext>
            </a:extLst>
          </p:cNvPr>
          <p:cNvSpPr txBox="1">
            <a:spLocks/>
          </p:cNvSpPr>
          <p:nvPr userDrawn="1"/>
        </p:nvSpPr>
        <p:spPr>
          <a:xfrm>
            <a:off x="3976258" y="6604000"/>
            <a:ext cx="4239482"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#2301HS301 (Graph theory)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1 – Tree</a:t>
            </a:r>
          </a:p>
        </p:txBody>
      </p:sp>
    </p:spTree>
    <p:extLst>
      <p:ext uri="{BB962C8B-B14F-4D97-AF65-F5344CB8AC3E}">
        <p14:creationId xmlns:p14="http://schemas.microsoft.com/office/powerpoint/2010/main" val="1306942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 Logo on BR">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619E228D-B2BD-4EFA-9FE9-86D81DDC600E}"/>
              </a:ext>
            </a:extLst>
          </p:cNvPr>
          <p:cNvGrpSpPr/>
          <p:nvPr userDrawn="1"/>
        </p:nvGrpSpPr>
        <p:grpSpPr>
          <a:xfrm>
            <a:off x="10721797" y="6047527"/>
            <a:ext cx="1339023" cy="407045"/>
            <a:chOff x="10721798" y="852808"/>
            <a:chExt cx="1339023" cy="407045"/>
          </a:xfrm>
        </p:grpSpPr>
        <p:pic>
          <p:nvPicPr>
            <p:cNvPr id="25" name="Picture 2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800">
                <a:solidFill>
                  <a:srgbClr val="002060"/>
                </a:solidFill>
              </a:defRPr>
            </a:lvl1pPr>
            <a:lvl2pPr marL="809625" indent="-352425" algn="just">
              <a:buClr>
                <a:schemeClr val="accent6"/>
              </a:buClr>
              <a:buFont typeface="Wingdings 3" panose="05040102010807070707" pitchFamily="18" charset="2"/>
              <a:buChar char=""/>
              <a:defRPr sz="2800">
                <a:solidFill>
                  <a:srgbClr val="002060"/>
                </a:solidFill>
              </a:defRPr>
            </a:lvl2pPr>
            <a:lvl3pPr marL="1143000" indent="-228600" algn="just">
              <a:buClr>
                <a:schemeClr val="accent6"/>
              </a:buClr>
              <a:buFont typeface="Wingdings" panose="05000000000000000000" pitchFamily="2" charset="2"/>
              <a:buChar char="§"/>
              <a:defRPr sz="2800">
                <a:solidFill>
                  <a:srgbClr val="002060"/>
                </a:solidFill>
              </a:defRPr>
            </a:lvl3pPr>
            <a:lvl4pPr algn="just">
              <a:buClr>
                <a:schemeClr val="accent6"/>
              </a:buClr>
              <a:defRPr sz="2800">
                <a:solidFill>
                  <a:srgbClr val="002060"/>
                </a:solidFill>
              </a:defRPr>
            </a:lvl4pPr>
            <a:lvl5pPr algn="just">
              <a:buClr>
                <a:schemeClr val="accent6"/>
              </a:buClr>
              <a:defRPr sz="2800">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Prof. </a:t>
            </a:r>
            <a:r>
              <a:rPr lang="en-US" sz="1200" b="0" kern="1200" dirty="0" err="1">
                <a:solidFill>
                  <a:schemeClr val="tx1">
                    <a:lumMod val="90000"/>
                    <a:lumOff val="10000"/>
                  </a:schemeClr>
                </a:solidFill>
                <a:latin typeface="+mn-lt"/>
                <a:ea typeface="+mn-ea"/>
                <a:cs typeface="+mn-cs"/>
              </a:rPr>
              <a:t>Punit</a:t>
            </a:r>
            <a:r>
              <a:rPr lang="en-US" sz="1200" b="0" kern="1200" dirty="0">
                <a:solidFill>
                  <a:schemeClr val="tx1">
                    <a:lumMod val="90000"/>
                    <a:lumOff val="10000"/>
                  </a:schemeClr>
                </a:solidFill>
                <a:latin typeface="+mn-lt"/>
                <a:ea typeface="+mn-ea"/>
                <a:cs typeface="+mn-cs"/>
              </a:rPr>
              <a:t> </a:t>
            </a:r>
            <a:r>
              <a:rPr lang="en-US" sz="1200" b="0" kern="1200" dirty="0" err="1">
                <a:solidFill>
                  <a:schemeClr val="tx1">
                    <a:lumMod val="90000"/>
                    <a:lumOff val="10000"/>
                  </a:schemeClr>
                </a:solidFill>
                <a:latin typeface="+mn-lt"/>
                <a:ea typeface="+mn-ea"/>
                <a:cs typeface="+mn-cs"/>
              </a:rPr>
              <a:t>Vadher</a:t>
            </a:r>
            <a:endParaRPr lang="en-US" sz="1200" b="0" kern="1200" dirty="0">
              <a:solidFill>
                <a:schemeClr val="tx1">
                  <a:lumMod val="90000"/>
                  <a:lumOff val="10000"/>
                </a:schemeClr>
              </a:solidFill>
              <a:latin typeface="+mn-lt"/>
              <a:ea typeface="+mn-ea"/>
              <a:cs typeface="+mn-cs"/>
            </a:endParaRPr>
          </a:p>
        </p:txBody>
      </p:sp>
      <p:sp>
        <p:nvSpPr>
          <p:cNvPr id="21" name="Footer Placeholder 2">
            <a:extLst>
              <a:ext uri="{FF2B5EF4-FFF2-40B4-BE49-F238E27FC236}">
                <a16:creationId xmlns:a16="http://schemas.microsoft.com/office/drawing/2014/main" id="{BF2BE79E-EA17-4AB9-8CB5-714A52A6B2F5}"/>
              </a:ext>
            </a:extLst>
          </p:cNvPr>
          <p:cNvSpPr txBox="1">
            <a:spLocks/>
          </p:cNvSpPr>
          <p:nvPr userDrawn="1"/>
        </p:nvSpPr>
        <p:spPr>
          <a:xfrm>
            <a:off x="3933652" y="6604000"/>
            <a:ext cx="4324696"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#2301CS595 (Graph theory)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1 – Tree</a:t>
            </a:r>
          </a:p>
        </p:txBody>
      </p:sp>
    </p:spTree>
    <p:extLst>
      <p:ext uri="{BB962C8B-B14F-4D97-AF65-F5344CB8AC3E}">
        <p14:creationId xmlns:p14="http://schemas.microsoft.com/office/powerpoint/2010/main" val="529939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 Logo on BL">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AE04132C-088A-4457-A3C3-1DC6427585FC}"/>
              </a:ext>
            </a:extLst>
          </p:cNvPr>
          <p:cNvGrpSpPr/>
          <p:nvPr userDrawn="1"/>
        </p:nvGrpSpPr>
        <p:grpSpPr>
          <a:xfrm>
            <a:off x="131179" y="6047527"/>
            <a:ext cx="1339023" cy="407045"/>
            <a:chOff x="10721798" y="852808"/>
            <a:chExt cx="1339023" cy="407045"/>
          </a:xfrm>
        </p:grpSpPr>
        <p:pic>
          <p:nvPicPr>
            <p:cNvPr id="25" name="Picture 24">
              <a:extLst>
                <a:ext uri="{FF2B5EF4-FFF2-40B4-BE49-F238E27FC236}">
                  <a16:creationId xmlns:a16="http://schemas.microsoft.com/office/drawing/2014/main" id="{B49C31A0-0173-45C3-B715-F73A797EA6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Prof. </a:t>
            </a:r>
            <a:r>
              <a:rPr lang="en-US" sz="1200" b="0" kern="1200" dirty="0" err="1">
                <a:solidFill>
                  <a:schemeClr val="tx1">
                    <a:lumMod val="90000"/>
                    <a:lumOff val="10000"/>
                  </a:schemeClr>
                </a:solidFill>
                <a:latin typeface="+mn-lt"/>
                <a:ea typeface="+mn-ea"/>
                <a:cs typeface="+mn-cs"/>
              </a:rPr>
              <a:t>Punit</a:t>
            </a:r>
            <a:r>
              <a:rPr lang="en-US" sz="1200" b="0" kern="1200" dirty="0">
                <a:solidFill>
                  <a:schemeClr val="tx1">
                    <a:lumMod val="90000"/>
                    <a:lumOff val="10000"/>
                  </a:schemeClr>
                </a:solidFill>
                <a:latin typeface="+mn-lt"/>
                <a:ea typeface="+mn-ea"/>
                <a:cs typeface="+mn-cs"/>
              </a:rPr>
              <a:t> </a:t>
            </a:r>
            <a:r>
              <a:rPr lang="en-US" sz="1200" b="0" kern="1200" dirty="0" err="1">
                <a:solidFill>
                  <a:schemeClr val="tx1">
                    <a:lumMod val="90000"/>
                    <a:lumOff val="10000"/>
                  </a:schemeClr>
                </a:solidFill>
                <a:latin typeface="+mn-lt"/>
                <a:ea typeface="+mn-ea"/>
                <a:cs typeface="+mn-cs"/>
              </a:rPr>
              <a:t>Vadher</a:t>
            </a:r>
            <a:endParaRPr lang="en-US" sz="1200" b="0" kern="1200" dirty="0">
              <a:solidFill>
                <a:schemeClr val="tx1">
                  <a:lumMod val="90000"/>
                  <a:lumOff val="10000"/>
                </a:schemeClr>
              </a:solidFill>
              <a:latin typeface="+mn-lt"/>
              <a:ea typeface="+mn-ea"/>
              <a:cs typeface="+mn-cs"/>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800">
                <a:solidFill>
                  <a:srgbClr val="002060"/>
                </a:solidFill>
              </a:defRPr>
            </a:lvl1pPr>
            <a:lvl2pPr marL="809625" indent="-352425" algn="just">
              <a:buClr>
                <a:schemeClr val="accent6"/>
              </a:buClr>
              <a:buFont typeface="Wingdings 3" panose="05040102010807070707" pitchFamily="18" charset="2"/>
              <a:buChar char=""/>
              <a:defRPr sz="2800">
                <a:solidFill>
                  <a:srgbClr val="002060"/>
                </a:solidFill>
              </a:defRPr>
            </a:lvl2pPr>
            <a:lvl3pPr marL="1143000" indent="-228600" algn="just">
              <a:buClr>
                <a:schemeClr val="accent6"/>
              </a:buClr>
              <a:buFont typeface="Wingdings" panose="05000000000000000000" pitchFamily="2" charset="2"/>
              <a:buChar char="§"/>
              <a:defRPr sz="2800">
                <a:solidFill>
                  <a:srgbClr val="002060"/>
                </a:solidFill>
              </a:defRPr>
            </a:lvl3pPr>
            <a:lvl4pPr algn="just">
              <a:buClr>
                <a:schemeClr val="accent6"/>
              </a:buClr>
              <a:defRPr sz="2800">
                <a:solidFill>
                  <a:srgbClr val="002060"/>
                </a:solidFill>
              </a:defRPr>
            </a:lvl4pPr>
            <a:lvl5pPr algn="just">
              <a:buClr>
                <a:schemeClr val="accent6"/>
              </a:buClr>
              <a:defRPr sz="2800">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2">
            <a:extLst>
              <a:ext uri="{FF2B5EF4-FFF2-40B4-BE49-F238E27FC236}">
                <a16:creationId xmlns:a16="http://schemas.microsoft.com/office/drawing/2014/main" id="{BF2BE79E-EA17-4AB9-8CB5-714A52A6B2F5}"/>
              </a:ext>
            </a:extLst>
          </p:cNvPr>
          <p:cNvSpPr txBox="1">
            <a:spLocks/>
          </p:cNvSpPr>
          <p:nvPr userDrawn="1"/>
        </p:nvSpPr>
        <p:spPr>
          <a:xfrm>
            <a:off x="3933652" y="6604000"/>
            <a:ext cx="4324696"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#2301HS301 (Graph Theory)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1 – Tree</a:t>
            </a:r>
          </a:p>
        </p:txBody>
      </p:sp>
    </p:spTree>
    <p:extLst>
      <p:ext uri="{BB962C8B-B14F-4D97-AF65-F5344CB8AC3E}">
        <p14:creationId xmlns:p14="http://schemas.microsoft.com/office/powerpoint/2010/main" val="3385785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grpSp>
        <p:nvGrpSpPr>
          <p:cNvPr id="10" name="Group 9">
            <a:extLst>
              <a:ext uri="{FF2B5EF4-FFF2-40B4-BE49-F238E27FC236}">
                <a16:creationId xmlns:a16="http://schemas.microsoft.com/office/drawing/2014/main" id="{AE04132C-088A-4457-A3C3-1DC6427585FC}"/>
              </a:ext>
            </a:extLst>
          </p:cNvPr>
          <p:cNvGrpSpPr/>
          <p:nvPr userDrawn="1"/>
        </p:nvGrpSpPr>
        <p:grpSpPr>
          <a:xfrm>
            <a:off x="10677938" y="6350844"/>
            <a:ext cx="1339023" cy="407045"/>
            <a:chOff x="10721798" y="852808"/>
            <a:chExt cx="1339023" cy="407045"/>
          </a:xfrm>
        </p:grpSpPr>
        <p:pic>
          <p:nvPicPr>
            <p:cNvPr id="15" name="Picture 14">
              <a:extLst>
                <a:ext uri="{FF2B5EF4-FFF2-40B4-BE49-F238E27FC236}">
                  <a16:creationId xmlns:a16="http://schemas.microsoft.com/office/drawing/2014/main" id="{B49C31A0-0173-45C3-B715-F73A797EA64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6" name="Rectangle 1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Freeform 17">
            <a:extLst>
              <a:ext uri="{FF2B5EF4-FFF2-40B4-BE49-F238E27FC236}">
                <a16:creationId xmlns:a16="http://schemas.microsoft.com/office/drawing/2014/main" id="{5E9DA42E-B221-4BBE-B651-F7171591BCD7}"/>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Tree>
    <p:extLst>
      <p:ext uri="{BB962C8B-B14F-4D97-AF65-F5344CB8AC3E}">
        <p14:creationId xmlns:p14="http://schemas.microsoft.com/office/powerpoint/2010/main" val="1477903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Prof. Dhvanik H. Zala</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1AA5C57A-F840-488A-AACF-E658D398FCEC}"/>
              </a:ext>
            </a:extLst>
          </p:cNvPr>
          <p:cNvGrpSpPr/>
          <p:nvPr userDrawn="1"/>
        </p:nvGrpSpPr>
        <p:grpSpPr>
          <a:xfrm>
            <a:off x="10304203" y="212531"/>
            <a:ext cx="1649043" cy="501287"/>
            <a:chOff x="10721798" y="852808"/>
            <a:chExt cx="1339023" cy="407045"/>
          </a:xfrm>
        </p:grpSpPr>
        <p:pic>
          <p:nvPicPr>
            <p:cNvPr id="15" name="Picture 14">
              <a:extLst>
                <a:ext uri="{FF2B5EF4-FFF2-40B4-BE49-F238E27FC236}">
                  <a16:creationId xmlns:a16="http://schemas.microsoft.com/office/drawing/2014/main" id="{1B8F12B0-F30C-4955-8E3F-625C9D2A74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8508BA0B-FE99-4953-98B0-D2708C070068}"/>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ooter Placeholder 2">
            <a:extLst>
              <a:ext uri="{FF2B5EF4-FFF2-40B4-BE49-F238E27FC236}">
                <a16:creationId xmlns:a16="http://schemas.microsoft.com/office/drawing/2014/main" id="{BF2BE79E-EA17-4AB9-8CB5-714A52A6B2F5}"/>
              </a:ext>
            </a:extLst>
          </p:cNvPr>
          <p:cNvSpPr txBox="1">
            <a:spLocks/>
          </p:cNvSpPr>
          <p:nvPr userDrawn="1"/>
        </p:nvSpPr>
        <p:spPr>
          <a:xfrm>
            <a:off x="3933652" y="6604000"/>
            <a:ext cx="4324696"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#2301HS301 (Discrete Mathematics)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4 – Graph Theory - I</a:t>
            </a:r>
          </a:p>
        </p:txBody>
      </p:sp>
    </p:spTree>
    <p:extLst>
      <p:ext uri="{BB962C8B-B14F-4D97-AF65-F5344CB8AC3E}">
        <p14:creationId xmlns:p14="http://schemas.microsoft.com/office/powerpoint/2010/main" val="4185281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Prof. </a:t>
            </a:r>
            <a:r>
              <a:rPr lang="en-US" sz="1200" b="0" kern="1200" dirty="0" err="1">
                <a:solidFill>
                  <a:schemeClr val="tx1">
                    <a:lumMod val="90000"/>
                    <a:lumOff val="10000"/>
                  </a:schemeClr>
                </a:solidFill>
                <a:latin typeface="+mn-lt"/>
                <a:ea typeface="+mn-ea"/>
                <a:cs typeface="+mn-cs"/>
              </a:rPr>
              <a:t>Punit</a:t>
            </a:r>
            <a:r>
              <a:rPr lang="en-US" sz="1200" b="0" kern="1200" dirty="0">
                <a:solidFill>
                  <a:schemeClr val="tx1">
                    <a:lumMod val="90000"/>
                    <a:lumOff val="10000"/>
                  </a:schemeClr>
                </a:solidFill>
                <a:latin typeface="+mn-lt"/>
                <a:ea typeface="+mn-ea"/>
                <a:cs typeface="+mn-cs"/>
              </a:rPr>
              <a:t> </a:t>
            </a:r>
            <a:r>
              <a:rPr lang="en-US" sz="1200" b="0" kern="1200" dirty="0" err="1">
                <a:solidFill>
                  <a:schemeClr val="tx1">
                    <a:lumMod val="90000"/>
                    <a:lumOff val="10000"/>
                  </a:schemeClr>
                </a:solidFill>
                <a:latin typeface="+mn-lt"/>
                <a:ea typeface="+mn-ea"/>
                <a:cs typeface="+mn-cs"/>
              </a:rPr>
              <a:t>Vadher</a:t>
            </a:r>
            <a:endParaRPr lang="en-US" sz="1200" b="0" kern="1200" dirty="0">
              <a:solidFill>
                <a:schemeClr val="tx1">
                  <a:lumMod val="90000"/>
                  <a:lumOff val="10000"/>
                </a:schemeClr>
              </a:solidFill>
              <a:latin typeface="+mn-lt"/>
              <a:ea typeface="+mn-ea"/>
              <a:cs typeface="+mn-cs"/>
            </a:endParaRP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ooter Placeholder 2">
            <a:extLst>
              <a:ext uri="{FF2B5EF4-FFF2-40B4-BE49-F238E27FC236}">
                <a16:creationId xmlns:a16="http://schemas.microsoft.com/office/drawing/2014/main" id="{BF2BE79E-EA17-4AB9-8CB5-714A52A6B2F5}"/>
              </a:ext>
            </a:extLst>
          </p:cNvPr>
          <p:cNvSpPr txBox="1">
            <a:spLocks/>
          </p:cNvSpPr>
          <p:nvPr userDrawn="1"/>
        </p:nvSpPr>
        <p:spPr>
          <a:xfrm>
            <a:off x="3933652" y="6604000"/>
            <a:ext cx="4324696"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#2301HS301 (Graph Theory)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1 – Tree</a:t>
            </a:r>
          </a:p>
        </p:txBody>
      </p:sp>
    </p:spTree>
    <p:extLst>
      <p:ext uri="{BB962C8B-B14F-4D97-AF65-F5344CB8AC3E}">
        <p14:creationId xmlns:p14="http://schemas.microsoft.com/office/powerpoint/2010/main" val="18798318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mplete Blanck">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8FD38B6F-D549-4D28-B5DA-3AF636652084}"/>
              </a:ext>
            </a:extLst>
          </p:cNvPr>
          <p:cNvGrpSpPr/>
          <p:nvPr userDrawn="1"/>
        </p:nvGrpSpPr>
        <p:grpSpPr>
          <a:xfrm>
            <a:off x="131179" y="6000405"/>
            <a:ext cx="1649043" cy="501287"/>
            <a:chOff x="10721798" y="852808"/>
            <a:chExt cx="1339023" cy="407045"/>
          </a:xfrm>
        </p:grpSpPr>
        <p:pic>
          <p:nvPicPr>
            <p:cNvPr id="18" name="Picture 17">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Prof. Dhvanik H. Zala</a:t>
            </a:r>
          </a:p>
        </p:txBody>
      </p:sp>
      <p:sp>
        <p:nvSpPr>
          <p:cNvPr id="24"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sp>
        <p:nvSpPr>
          <p:cNvPr id="25" name="Footer Placeholder 2">
            <a:extLst>
              <a:ext uri="{FF2B5EF4-FFF2-40B4-BE49-F238E27FC236}">
                <a16:creationId xmlns:a16="http://schemas.microsoft.com/office/drawing/2014/main" id="{BF2BE79E-EA17-4AB9-8CB5-714A52A6B2F5}"/>
              </a:ext>
            </a:extLst>
          </p:cNvPr>
          <p:cNvSpPr txBox="1">
            <a:spLocks/>
          </p:cNvSpPr>
          <p:nvPr userDrawn="1"/>
        </p:nvSpPr>
        <p:spPr>
          <a:xfrm>
            <a:off x="3933652" y="6604000"/>
            <a:ext cx="4324696"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#2301HS301 (Discrete Mathematics)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4 – Graph Theory - I</a:t>
            </a:r>
          </a:p>
        </p:txBody>
      </p:sp>
    </p:spTree>
    <p:extLst>
      <p:ext uri="{BB962C8B-B14F-4D97-AF65-F5344CB8AC3E}">
        <p14:creationId xmlns:p14="http://schemas.microsoft.com/office/powerpoint/2010/main" val="3620674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4779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180587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0" name="Picture 29">
            <a:extLst>
              <a:ext uri="{FF2B5EF4-FFF2-40B4-BE49-F238E27FC236}">
                <a16:creationId xmlns:a16="http://schemas.microsoft.com/office/drawing/2014/main" id="{65C24A8B-C009-4A74-9481-67BB67CA49B0}"/>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796946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21" name="Picture 20">
            <a:extLst>
              <a:ext uri="{FF2B5EF4-FFF2-40B4-BE49-F238E27FC236}">
                <a16:creationId xmlns:a16="http://schemas.microsoft.com/office/drawing/2014/main" id="{8DCFBA18-DBB7-4232-9BDC-C0D95AE93AF0}"/>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4" name="Picture 3">
            <a:extLst>
              <a:ext uri="{FF2B5EF4-FFF2-40B4-BE49-F238E27FC236}">
                <a16:creationId xmlns:a16="http://schemas.microsoft.com/office/drawing/2014/main" id="{52D49F10-F713-AD06-6440-6C6BB452A6F1}"/>
              </a:ext>
            </a:extLst>
          </p:cNvPr>
          <p:cNvPicPr>
            <a:picLocks noChangeAspect="1"/>
          </p:cNvPicPr>
          <p:nvPr userDrawn="1"/>
        </p:nvPicPr>
        <p:blipFill>
          <a:blip r:embed="rId10"/>
          <a:stretch>
            <a:fillRect/>
          </a:stretch>
        </p:blipFill>
        <p:spPr>
          <a:xfrm>
            <a:off x="8579226" y="2084604"/>
            <a:ext cx="3433959" cy="1438526"/>
          </a:xfrm>
          <a:prstGeom prst="rect">
            <a:avLst/>
          </a:prstGeom>
        </p:spPr>
      </p:pic>
    </p:spTree>
    <p:extLst>
      <p:ext uri="{BB962C8B-B14F-4D97-AF65-F5344CB8AC3E}">
        <p14:creationId xmlns:p14="http://schemas.microsoft.com/office/powerpoint/2010/main" val="11997843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5E75AD4F-9BB9-4005-AB78-4A6D388A4CD6}"/>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23169577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4964C355-848F-46E4-BB2A-EA2EE69FEBA2}"/>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6655936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036D56FE-CA91-4481-9096-27448303AC20}"/>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42594576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hasCustomPrompt="1"/>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Unit 1: Tree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punit.vadher@darshan.ac.in</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9662443859</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baseline="0" dirty="0">
                <a:solidFill>
                  <a:schemeClr val="tx1"/>
                </a:solidFill>
                <a:latin typeface="+mn-lt"/>
                <a:ea typeface="+mn-ea"/>
                <a:cs typeface="+mn-cs"/>
              </a:defRPr>
            </a:lvl1pPr>
          </a:lstStyle>
          <a:p>
            <a:pPr lvl="0"/>
            <a:r>
              <a:rPr lang="en-US" dirty="0"/>
              <a:t>Department of Humanities and Sciences </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Prof. </a:t>
            </a:r>
            <a:r>
              <a:rPr lang="en-US" dirty="0" err="1"/>
              <a:t>Punit</a:t>
            </a:r>
            <a:r>
              <a:rPr lang="en-US" dirty="0"/>
              <a:t> B </a:t>
            </a:r>
            <a:r>
              <a:rPr lang="en-US" dirty="0" err="1"/>
              <a:t>Vadher</a:t>
            </a:r>
            <a:endParaRPr lang="en-US" dirty="0"/>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Graph Theory</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pic>
        <p:nvPicPr>
          <p:cNvPr id="31" name="Picture 30">
            <a:extLst>
              <a:ext uri="{FF2B5EF4-FFF2-40B4-BE49-F238E27FC236}">
                <a16:creationId xmlns:a16="http://schemas.microsoft.com/office/drawing/2014/main" id="{A561853C-B15A-4153-A982-7E7EB1213BC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6" name="Picture 5"/>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244820" y="1336020"/>
            <a:ext cx="3388380" cy="3388380"/>
          </a:xfrm>
          <a:prstGeom prst="rect">
            <a:avLst/>
          </a:prstGeom>
        </p:spPr>
      </p:pic>
    </p:spTree>
    <p:extLst>
      <p:ext uri="{BB962C8B-B14F-4D97-AF65-F5344CB8AC3E}">
        <p14:creationId xmlns:p14="http://schemas.microsoft.com/office/powerpoint/2010/main" val="28421015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CD21B45-1703-4330-B544-825BD8F37AF2}" type="datetimeFigureOut">
              <a:rPr lang="en-US" smtClean="0"/>
              <a:t>6/29/2026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41F3C7-36DD-4595-AA08-2525D86280BD}" type="slidenum">
              <a:rPr lang="en-US" smtClean="0"/>
              <a:t>‹#›</a:t>
            </a:fld>
            <a:endParaRPr lang="en-US"/>
          </a:p>
        </p:txBody>
      </p:sp>
    </p:spTree>
    <p:extLst>
      <p:ext uri="{BB962C8B-B14F-4D97-AF65-F5344CB8AC3E}">
        <p14:creationId xmlns:p14="http://schemas.microsoft.com/office/powerpoint/2010/main" val="41203426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B976521A-C815-4A64-A047-CE405ED0E59A}"/>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1824997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631765DD-2E04-4EE4-AFB7-43E328823E61}"/>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22529989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1018DFAF-9B15-4199-9C36-C730A2CE6C5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5" name="Picture 4">
            <a:extLst>
              <a:ext uri="{FF2B5EF4-FFF2-40B4-BE49-F238E27FC236}">
                <a16:creationId xmlns:a16="http://schemas.microsoft.com/office/drawing/2014/main" id="{EDFB250A-3893-87F0-04F7-777249C1CBE2}"/>
              </a:ext>
            </a:extLst>
          </p:cNvPr>
          <p:cNvPicPr>
            <a:picLocks noChangeAspect="1"/>
          </p:cNvPicPr>
          <p:nvPr userDrawn="1"/>
        </p:nvPicPr>
        <p:blipFill>
          <a:blip r:embed="rId10"/>
          <a:stretch>
            <a:fillRect/>
          </a:stretch>
        </p:blipFill>
        <p:spPr>
          <a:xfrm>
            <a:off x="9062429" y="1979469"/>
            <a:ext cx="2875475" cy="2164552"/>
          </a:xfrm>
          <a:prstGeom prst="rect">
            <a:avLst/>
          </a:prstGeom>
        </p:spPr>
      </p:pic>
    </p:spTree>
    <p:extLst>
      <p:ext uri="{BB962C8B-B14F-4D97-AF65-F5344CB8AC3E}">
        <p14:creationId xmlns:p14="http://schemas.microsoft.com/office/powerpoint/2010/main" val="2532807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9"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5" name="Picture 34">
            <a:extLst>
              <a:ext uri="{FF2B5EF4-FFF2-40B4-BE49-F238E27FC236}">
                <a16:creationId xmlns:a16="http://schemas.microsoft.com/office/drawing/2014/main" id="{744A518A-BE68-4048-BDCB-77578CB57230}"/>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1971949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C248CBD5-99BA-4017-857A-5ED400F43651}"/>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22114210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itle and Content - Logo on BL">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AE04132C-088A-4457-A3C3-1DC6427585FC}"/>
              </a:ext>
            </a:extLst>
          </p:cNvPr>
          <p:cNvGrpSpPr/>
          <p:nvPr userDrawn="1"/>
        </p:nvGrpSpPr>
        <p:grpSpPr>
          <a:xfrm>
            <a:off x="131179" y="6047527"/>
            <a:ext cx="1339023" cy="407045"/>
            <a:chOff x="10721798" y="852808"/>
            <a:chExt cx="1339023" cy="407045"/>
          </a:xfrm>
        </p:grpSpPr>
        <p:pic>
          <p:nvPicPr>
            <p:cNvPr id="25" name="Picture 24">
              <a:extLst>
                <a:ext uri="{FF2B5EF4-FFF2-40B4-BE49-F238E27FC236}">
                  <a16:creationId xmlns:a16="http://schemas.microsoft.com/office/drawing/2014/main" id="{B49C31A0-0173-45C3-B715-F73A797EA6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 name="Date Placeholder 1">
            <a:extLst>
              <a:ext uri="{FF2B5EF4-FFF2-40B4-BE49-F238E27FC236}">
                <a16:creationId xmlns:a16="http://schemas.microsoft.com/office/drawing/2014/main" id="{8805933F-A132-4F27-9B63-76662C25EE8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Prof.</a:t>
            </a:r>
            <a:r>
              <a:rPr lang="en-US" sz="1200" b="0" kern="1200" baseline="0" dirty="0">
                <a:solidFill>
                  <a:schemeClr val="tx1">
                    <a:lumMod val="90000"/>
                    <a:lumOff val="10000"/>
                  </a:schemeClr>
                </a:solidFill>
                <a:latin typeface="+mn-lt"/>
                <a:ea typeface="+mn-ea"/>
                <a:cs typeface="+mn-cs"/>
              </a:rPr>
              <a:t> </a:t>
            </a:r>
            <a:r>
              <a:rPr lang="en-US" sz="1200" b="0" kern="1200" baseline="0" dirty="0" err="1">
                <a:solidFill>
                  <a:schemeClr val="tx1">
                    <a:lumMod val="90000"/>
                    <a:lumOff val="10000"/>
                  </a:schemeClr>
                </a:solidFill>
                <a:latin typeface="+mn-lt"/>
                <a:ea typeface="+mn-ea"/>
                <a:cs typeface="+mn-cs"/>
              </a:rPr>
              <a:t>Punit</a:t>
            </a:r>
            <a:r>
              <a:rPr lang="en-US" sz="1200" b="0" kern="1200" baseline="0" dirty="0">
                <a:solidFill>
                  <a:schemeClr val="tx1">
                    <a:lumMod val="90000"/>
                    <a:lumOff val="10000"/>
                  </a:schemeClr>
                </a:solidFill>
                <a:latin typeface="+mn-lt"/>
                <a:ea typeface="+mn-ea"/>
                <a:cs typeface="+mn-cs"/>
              </a:rPr>
              <a:t> </a:t>
            </a:r>
            <a:r>
              <a:rPr lang="en-US" sz="1200" b="0" kern="1200" baseline="0" dirty="0" err="1">
                <a:solidFill>
                  <a:schemeClr val="tx1">
                    <a:lumMod val="90000"/>
                    <a:lumOff val="10000"/>
                  </a:schemeClr>
                </a:solidFill>
                <a:latin typeface="+mn-lt"/>
                <a:ea typeface="+mn-ea"/>
                <a:cs typeface="+mn-cs"/>
              </a:rPr>
              <a:t>Vadher</a:t>
            </a:r>
            <a:endParaRPr lang="en-US" sz="1200" b="0" kern="1200" dirty="0">
              <a:solidFill>
                <a:schemeClr val="tx1">
                  <a:lumMod val="90000"/>
                  <a:lumOff val="10000"/>
                </a:schemeClr>
              </a:solidFill>
              <a:latin typeface="+mn-lt"/>
              <a:ea typeface="+mn-ea"/>
              <a:cs typeface="+mn-cs"/>
            </a:endParaRPr>
          </a:p>
        </p:txBody>
      </p:sp>
      <p:sp>
        <p:nvSpPr>
          <p:cNvPr id="15" name="Footer Placeholder 2">
            <a:extLst>
              <a:ext uri="{FF2B5EF4-FFF2-40B4-BE49-F238E27FC236}">
                <a16:creationId xmlns:a16="http://schemas.microsoft.com/office/drawing/2014/main" id="{31BD2762-073C-4A6C-A015-82D707DA9D9F}"/>
              </a:ext>
            </a:extLst>
          </p:cNvPr>
          <p:cNvSpPr txBox="1">
            <a:spLocks/>
          </p:cNvSpPr>
          <p:nvPr userDrawn="1"/>
        </p:nvSpPr>
        <p:spPr>
          <a:xfrm>
            <a:off x="3357601" y="6604000"/>
            <a:ext cx="5476799"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#2301HS301 (</a:t>
            </a:r>
            <a:r>
              <a:rPr lang="en-IN" sz="1200" b="0" kern="1200" dirty="0">
                <a:solidFill>
                  <a:schemeClr val="tx1">
                    <a:lumMod val="90000"/>
                    <a:lumOff val="10000"/>
                  </a:schemeClr>
                </a:solidFill>
                <a:latin typeface="+mn-lt"/>
                <a:ea typeface="+mn-ea"/>
                <a:cs typeface="+mn-cs"/>
              </a:rPr>
              <a:t>Graph theory</a:t>
            </a:r>
            <a:r>
              <a:rPr lang="en-US" sz="1200" b="0" kern="1200" dirty="0">
                <a:solidFill>
                  <a:schemeClr val="tx1">
                    <a:lumMod val="90000"/>
                    <a:lumOff val="10000"/>
                  </a:schemeClr>
                </a:solidFill>
                <a:latin typeface="+mn-lt"/>
                <a:ea typeface="+mn-ea"/>
                <a:cs typeface="+mn-cs"/>
              </a:rPr>
              <a:t>)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a:t>
            </a:r>
            <a:r>
              <a:rPr lang="en-US" sz="1200" b="0" kern="1200" baseline="0" dirty="0">
                <a:solidFill>
                  <a:schemeClr val="tx1">
                    <a:lumMod val="90000"/>
                    <a:lumOff val="10000"/>
                  </a:schemeClr>
                </a:solidFill>
                <a:latin typeface="+mn-lt"/>
                <a:ea typeface="+mn-ea"/>
                <a:cs typeface="+mn-cs"/>
              </a:rPr>
              <a:t> 1</a:t>
            </a:r>
            <a:r>
              <a:rPr lang="en-US" sz="1200" b="0" kern="1200" dirty="0">
                <a:solidFill>
                  <a:schemeClr val="tx1">
                    <a:lumMod val="90000"/>
                    <a:lumOff val="10000"/>
                  </a:schemeClr>
                </a:solidFill>
                <a:latin typeface="+mn-lt"/>
                <a:ea typeface="+mn-ea"/>
                <a:cs typeface="+mn-cs"/>
              </a:rPr>
              <a:t> – Tree</a:t>
            </a:r>
            <a:r>
              <a:rPr lang="en-IN" sz="1200" b="0" kern="1200" dirty="0">
                <a:solidFill>
                  <a:schemeClr val="tx1">
                    <a:lumMod val="90000"/>
                    <a:lumOff val="10000"/>
                  </a:schemeClr>
                </a:solidFill>
                <a:latin typeface="+mn-lt"/>
                <a:ea typeface="+mn-ea"/>
                <a:cs typeface="+mn-cs"/>
              </a:rPr>
              <a:t> </a:t>
            </a:r>
            <a:endParaRPr lang="en-US" sz="1200" b="0" kern="1200" dirty="0">
              <a:solidFill>
                <a:schemeClr val="tx1">
                  <a:lumMod val="90000"/>
                  <a:lumOff val="10000"/>
                </a:schemeClr>
              </a:solidFill>
              <a:latin typeface="+mn-lt"/>
              <a:ea typeface="+mn-ea"/>
              <a:cs typeface="+mn-cs"/>
            </a:endParaRPr>
          </a:p>
        </p:txBody>
      </p:sp>
      <p:sp>
        <p:nvSpPr>
          <p:cNvPr id="19"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lnSpc>
                <a:spcPct val="125000"/>
              </a:lnSpc>
              <a:spcBef>
                <a:spcPts val="1000"/>
              </a:spcBef>
              <a:buClr>
                <a:schemeClr val="accent6"/>
              </a:buClr>
              <a:buFont typeface="Wingdings 3" panose="05040102010807070707" pitchFamily="18" charset="2"/>
              <a:buChar char=""/>
              <a:defRPr sz="2800">
                <a:solidFill>
                  <a:srgbClr val="002060"/>
                </a:solidFill>
              </a:defRPr>
            </a:lvl1pPr>
            <a:lvl2pPr marL="628650" indent="-352425" algn="just">
              <a:lnSpc>
                <a:spcPct val="125000"/>
              </a:lnSpc>
              <a:spcBef>
                <a:spcPts val="1000"/>
              </a:spcBef>
              <a:buClr>
                <a:schemeClr val="accent6"/>
              </a:buClr>
              <a:buFont typeface="Wingdings 3" panose="05040102010807070707" pitchFamily="18" charset="2"/>
              <a:buChar char=""/>
              <a:defRPr sz="2800">
                <a:solidFill>
                  <a:srgbClr val="002060"/>
                </a:solidFill>
              </a:defRPr>
            </a:lvl2pPr>
            <a:lvl3pPr marL="895350" indent="-228600" algn="just">
              <a:lnSpc>
                <a:spcPct val="125000"/>
              </a:lnSpc>
              <a:spcBef>
                <a:spcPts val="1000"/>
              </a:spcBef>
              <a:buClr>
                <a:schemeClr val="accent6"/>
              </a:buClr>
              <a:buFont typeface="Wingdings" panose="05000000000000000000" pitchFamily="2" charset="2"/>
              <a:buChar char="§"/>
              <a:defRPr sz="2800">
                <a:solidFill>
                  <a:srgbClr val="002060"/>
                </a:solidFill>
              </a:defRPr>
            </a:lvl3pPr>
            <a:lvl4pPr marL="1257300" indent="-228600" algn="just">
              <a:lnSpc>
                <a:spcPct val="125000"/>
              </a:lnSpc>
              <a:spcBef>
                <a:spcPts val="1000"/>
              </a:spcBef>
              <a:buClr>
                <a:schemeClr val="accent6"/>
              </a:buClr>
              <a:defRPr sz="2800">
                <a:solidFill>
                  <a:srgbClr val="002060"/>
                </a:solidFill>
              </a:defRPr>
            </a:lvl4pPr>
            <a:lvl5pPr marL="1619250" indent="-228600" algn="just">
              <a:lnSpc>
                <a:spcPct val="125000"/>
              </a:lnSpc>
              <a:spcBef>
                <a:spcPts val="1000"/>
              </a:spcBef>
              <a:buClr>
                <a:schemeClr val="accent6"/>
              </a:buClr>
              <a:defRPr sz="2800">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060782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E2B174A-3678-4F11-89C2-E0E8A23F7789}"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4044C2-AE3D-42EF-919C-864D09930126}" type="slidenum">
              <a:rPr lang="en-US" smtClean="0"/>
              <a:t>‹#›</a:t>
            </a:fld>
            <a:endParaRPr lang="en-US"/>
          </a:p>
        </p:txBody>
      </p:sp>
    </p:spTree>
    <p:extLst>
      <p:ext uri="{BB962C8B-B14F-4D97-AF65-F5344CB8AC3E}">
        <p14:creationId xmlns:p14="http://schemas.microsoft.com/office/powerpoint/2010/main" val="2171929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2B174A-3678-4F11-89C2-E0E8A23F7789}"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4044C2-AE3D-42EF-919C-864D09930126}" type="slidenum">
              <a:rPr lang="en-US" smtClean="0"/>
              <a:t>‹#›</a:t>
            </a:fld>
            <a:endParaRPr lang="en-US"/>
          </a:p>
        </p:txBody>
      </p:sp>
    </p:spTree>
    <p:extLst>
      <p:ext uri="{BB962C8B-B14F-4D97-AF65-F5344CB8AC3E}">
        <p14:creationId xmlns:p14="http://schemas.microsoft.com/office/powerpoint/2010/main" val="39001553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E2B174A-3678-4F11-89C2-E0E8A23F7789}"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4044C2-AE3D-42EF-919C-864D09930126}" type="slidenum">
              <a:rPr lang="en-US" smtClean="0"/>
              <a:t>‹#›</a:t>
            </a:fld>
            <a:endParaRPr lang="en-US"/>
          </a:p>
        </p:txBody>
      </p:sp>
    </p:spTree>
    <p:extLst>
      <p:ext uri="{BB962C8B-B14F-4D97-AF65-F5344CB8AC3E}">
        <p14:creationId xmlns:p14="http://schemas.microsoft.com/office/powerpoint/2010/main" val="22766860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E2B174A-3678-4F11-89C2-E0E8A23F7789}"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4044C2-AE3D-42EF-919C-864D09930126}" type="slidenum">
              <a:rPr lang="en-US" smtClean="0"/>
              <a:t>‹#›</a:t>
            </a:fld>
            <a:endParaRPr lang="en-US"/>
          </a:p>
        </p:txBody>
      </p:sp>
    </p:spTree>
    <p:extLst>
      <p:ext uri="{BB962C8B-B14F-4D97-AF65-F5344CB8AC3E}">
        <p14:creationId xmlns:p14="http://schemas.microsoft.com/office/powerpoint/2010/main" val="26455344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E2B174A-3678-4F11-89C2-E0E8A23F7789}" type="datetimeFigureOut">
              <a:rPr lang="en-US" smtClean="0"/>
              <a:t>6/29/2026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4044C2-AE3D-42EF-919C-864D09930126}" type="slidenum">
              <a:rPr lang="en-US" smtClean="0"/>
              <a:t>‹#›</a:t>
            </a:fld>
            <a:endParaRPr lang="en-US"/>
          </a:p>
        </p:txBody>
      </p:sp>
    </p:spTree>
    <p:extLst>
      <p:ext uri="{BB962C8B-B14F-4D97-AF65-F5344CB8AC3E}">
        <p14:creationId xmlns:p14="http://schemas.microsoft.com/office/powerpoint/2010/main" val="33562340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E2B174A-3678-4F11-89C2-E0E8A23F7789}" type="datetimeFigureOut">
              <a:rPr lang="en-US" smtClean="0"/>
              <a:t>6/29/2026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4044C2-AE3D-42EF-919C-864D09930126}" type="slidenum">
              <a:rPr lang="en-US" smtClean="0"/>
              <a:t>‹#›</a:t>
            </a:fld>
            <a:endParaRPr lang="en-US"/>
          </a:p>
        </p:txBody>
      </p:sp>
    </p:spTree>
    <p:extLst>
      <p:ext uri="{BB962C8B-B14F-4D97-AF65-F5344CB8AC3E}">
        <p14:creationId xmlns:p14="http://schemas.microsoft.com/office/powerpoint/2010/main" val="62012052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2B174A-3678-4F11-89C2-E0E8A23F7789}" type="datetimeFigureOut">
              <a:rPr lang="en-US" smtClean="0"/>
              <a:t>6/29/2026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4044C2-AE3D-42EF-919C-864D09930126}" type="slidenum">
              <a:rPr lang="en-US" smtClean="0"/>
              <a:t>‹#›</a:t>
            </a:fld>
            <a:endParaRPr lang="en-US"/>
          </a:p>
        </p:txBody>
      </p:sp>
    </p:spTree>
    <p:extLst>
      <p:ext uri="{BB962C8B-B14F-4D97-AF65-F5344CB8AC3E}">
        <p14:creationId xmlns:p14="http://schemas.microsoft.com/office/powerpoint/2010/main" val="2648859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2B174A-3678-4F11-89C2-E0E8A23F7789}"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4044C2-AE3D-42EF-919C-864D09930126}" type="slidenum">
              <a:rPr lang="en-US" smtClean="0"/>
              <a:t>‹#›</a:t>
            </a:fld>
            <a:endParaRPr lang="en-US"/>
          </a:p>
        </p:txBody>
      </p:sp>
    </p:spTree>
    <p:extLst>
      <p:ext uri="{BB962C8B-B14F-4D97-AF65-F5344CB8AC3E}">
        <p14:creationId xmlns:p14="http://schemas.microsoft.com/office/powerpoint/2010/main" val="106239033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2B174A-3678-4F11-89C2-E0E8A23F7789}"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4044C2-AE3D-42EF-919C-864D09930126}" type="slidenum">
              <a:rPr lang="en-US" smtClean="0"/>
              <a:t>‹#›</a:t>
            </a:fld>
            <a:endParaRPr lang="en-US"/>
          </a:p>
        </p:txBody>
      </p:sp>
    </p:spTree>
    <p:extLst>
      <p:ext uri="{BB962C8B-B14F-4D97-AF65-F5344CB8AC3E}">
        <p14:creationId xmlns:p14="http://schemas.microsoft.com/office/powerpoint/2010/main" val="18596072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2B174A-3678-4F11-89C2-E0E8A23F7789}"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4044C2-AE3D-42EF-919C-864D09930126}" type="slidenum">
              <a:rPr lang="en-US" smtClean="0"/>
              <a:t>‹#›</a:t>
            </a:fld>
            <a:endParaRPr lang="en-US"/>
          </a:p>
        </p:txBody>
      </p:sp>
    </p:spTree>
    <p:extLst>
      <p:ext uri="{BB962C8B-B14F-4D97-AF65-F5344CB8AC3E}">
        <p14:creationId xmlns:p14="http://schemas.microsoft.com/office/powerpoint/2010/main" val="40216613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2B174A-3678-4F11-89C2-E0E8A23F7789}"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4044C2-AE3D-42EF-919C-864D09930126}" type="slidenum">
              <a:rPr lang="en-US" smtClean="0"/>
              <a:t>‹#›</a:t>
            </a:fld>
            <a:endParaRPr lang="en-US"/>
          </a:p>
        </p:txBody>
      </p:sp>
    </p:spTree>
    <p:extLst>
      <p:ext uri="{BB962C8B-B14F-4D97-AF65-F5344CB8AC3E}">
        <p14:creationId xmlns:p14="http://schemas.microsoft.com/office/powerpoint/2010/main" val="184029703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4F8DB99-FD62-4481-9A4B-A22D148AD429}"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59511-47C3-4666-B47A-5254F608EFFB}" type="slidenum">
              <a:rPr lang="en-US" smtClean="0"/>
              <a:t>‹#›</a:t>
            </a:fld>
            <a:endParaRPr lang="en-US"/>
          </a:p>
        </p:txBody>
      </p:sp>
    </p:spTree>
    <p:extLst>
      <p:ext uri="{BB962C8B-B14F-4D97-AF65-F5344CB8AC3E}">
        <p14:creationId xmlns:p14="http://schemas.microsoft.com/office/powerpoint/2010/main" val="303609676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4F8DB99-FD62-4481-9A4B-A22D148AD429}"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59511-47C3-4666-B47A-5254F608EFFB}" type="slidenum">
              <a:rPr lang="en-US" smtClean="0"/>
              <a:t>‹#›</a:t>
            </a:fld>
            <a:endParaRPr lang="en-US"/>
          </a:p>
        </p:txBody>
      </p:sp>
    </p:spTree>
    <p:extLst>
      <p:ext uri="{BB962C8B-B14F-4D97-AF65-F5344CB8AC3E}">
        <p14:creationId xmlns:p14="http://schemas.microsoft.com/office/powerpoint/2010/main" val="378511904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F8DB99-FD62-4481-9A4B-A22D148AD429}"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59511-47C3-4666-B47A-5254F608EFFB}" type="slidenum">
              <a:rPr lang="en-US" smtClean="0"/>
              <a:t>‹#›</a:t>
            </a:fld>
            <a:endParaRPr lang="en-US"/>
          </a:p>
        </p:txBody>
      </p:sp>
    </p:spTree>
    <p:extLst>
      <p:ext uri="{BB962C8B-B14F-4D97-AF65-F5344CB8AC3E}">
        <p14:creationId xmlns:p14="http://schemas.microsoft.com/office/powerpoint/2010/main" val="356754442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4F8DB99-FD62-4481-9A4B-A22D148AD429}"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359511-47C3-4666-B47A-5254F608EFFB}" type="slidenum">
              <a:rPr lang="en-US" smtClean="0"/>
              <a:t>‹#›</a:t>
            </a:fld>
            <a:endParaRPr lang="en-US"/>
          </a:p>
        </p:txBody>
      </p:sp>
    </p:spTree>
    <p:extLst>
      <p:ext uri="{BB962C8B-B14F-4D97-AF65-F5344CB8AC3E}">
        <p14:creationId xmlns:p14="http://schemas.microsoft.com/office/powerpoint/2010/main" val="309283760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4F8DB99-FD62-4481-9A4B-A22D148AD429}" type="datetimeFigureOut">
              <a:rPr lang="en-US" smtClean="0"/>
              <a:t>6/29/2026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8359511-47C3-4666-B47A-5254F608EFFB}" type="slidenum">
              <a:rPr lang="en-US" smtClean="0"/>
              <a:t>‹#›</a:t>
            </a:fld>
            <a:endParaRPr lang="en-US"/>
          </a:p>
        </p:txBody>
      </p:sp>
    </p:spTree>
    <p:extLst>
      <p:ext uri="{BB962C8B-B14F-4D97-AF65-F5344CB8AC3E}">
        <p14:creationId xmlns:p14="http://schemas.microsoft.com/office/powerpoint/2010/main" val="358294392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4F8DB99-FD62-4481-9A4B-A22D148AD429}" type="datetimeFigureOut">
              <a:rPr lang="en-US" smtClean="0"/>
              <a:t>6/29/2026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8359511-47C3-4666-B47A-5254F608EFFB}" type="slidenum">
              <a:rPr lang="en-US" smtClean="0"/>
              <a:t>‹#›</a:t>
            </a:fld>
            <a:endParaRPr lang="en-US"/>
          </a:p>
        </p:txBody>
      </p:sp>
    </p:spTree>
    <p:extLst>
      <p:ext uri="{BB962C8B-B14F-4D97-AF65-F5344CB8AC3E}">
        <p14:creationId xmlns:p14="http://schemas.microsoft.com/office/powerpoint/2010/main" val="419791407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F8DB99-FD62-4481-9A4B-A22D148AD429}" type="datetimeFigureOut">
              <a:rPr lang="en-US" smtClean="0"/>
              <a:t>6/29/2026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8359511-47C3-4666-B47A-5254F608EFFB}" type="slidenum">
              <a:rPr lang="en-US" smtClean="0"/>
              <a:t>‹#›</a:t>
            </a:fld>
            <a:endParaRPr lang="en-US"/>
          </a:p>
        </p:txBody>
      </p:sp>
    </p:spTree>
    <p:extLst>
      <p:ext uri="{BB962C8B-B14F-4D97-AF65-F5344CB8AC3E}">
        <p14:creationId xmlns:p14="http://schemas.microsoft.com/office/powerpoint/2010/main" val="6356908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4F8DB99-FD62-4481-9A4B-A22D148AD429}"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359511-47C3-4666-B47A-5254F608EFFB}" type="slidenum">
              <a:rPr lang="en-US" smtClean="0"/>
              <a:t>‹#›</a:t>
            </a:fld>
            <a:endParaRPr lang="en-US"/>
          </a:p>
        </p:txBody>
      </p:sp>
    </p:spTree>
    <p:extLst>
      <p:ext uri="{BB962C8B-B14F-4D97-AF65-F5344CB8AC3E}">
        <p14:creationId xmlns:p14="http://schemas.microsoft.com/office/powerpoint/2010/main" val="378540442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4F8DB99-FD62-4481-9A4B-A22D148AD429}" type="datetimeFigureOut">
              <a:rPr lang="en-US" smtClean="0"/>
              <a:t>6/29/2026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359511-47C3-4666-B47A-5254F608EFFB}" type="slidenum">
              <a:rPr lang="en-US" smtClean="0"/>
              <a:t>‹#›</a:t>
            </a:fld>
            <a:endParaRPr lang="en-US"/>
          </a:p>
        </p:txBody>
      </p:sp>
    </p:spTree>
    <p:extLst>
      <p:ext uri="{BB962C8B-B14F-4D97-AF65-F5344CB8AC3E}">
        <p14:creationId xmlns:p14="http://schemas.microsoft.com/office/powerpoint/2010/main" val="49938270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4F8DB99-FD62-4481-9A4B-A22D148AD429}"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59511-47C3-4666-B47A-5254F608EFFB}" type="slidenum">
              <a:rPr lang="en-US" smtClean="0"/>
              <a:t>‹#›</a:t>
            </a:fld>
            <a:endParaRPr lang="en-US"/>
          </a:p>
        </p:txBody>
      </p:sp>
    </p:spTree>
    <p:extLst>
      <p:ext uri="{BB962C8B-B14F-4D97-AF65-F5344CB8AC3E}">
        <p14:creationId xmlns:p14="http://schemas.microsoft.com/office/powerpoint/2010/main" val="217285378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4F8DB99-FD62-4481-9A4B-A22D148AD429}" type="datetimeFigureOut">
              <a:rPr lang="en-US" smtClean="0"/>
              <a:t>6/29/2026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59511-47C3-4666-B47A-5254F608EFFB}" type="slidenum">
              <a:rPr lang="en-US" smtClean="0"/>
              <a:t>‹#›</a:t>
            </a:fld>
            <a:endParaRPr lang="en-US"/>
          </a:p>
        </p:txBody>
      </p:sp>
    </p:spTree>
    <p:extLst>
      <p:ext uri="{BB962C8B-B14F-4D97-AF65-F5344CB8AC3E}">
        <p14:creationId xmlns:p14="http://schemas.microsoft.com/office/powerpoint/2010/main" val="2646572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2.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3.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6/29/2026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25" r:id="rId16"/>
    <p:sldLayoutId id="2147483708" r:id="rId17"/>
    <p:sldLayoutId id="2147483709" r:id="rId18"/>
    <p:sldLayoutId id="2147483684" r:id="rId19"/>
    <p:sldLayoutId id="2147483711" r:id="rId20"/>
    <p:sldLayoutId id="2147483712" r:id="rId21"/>
    <p:sldLayoutId id="2147483738"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2B174A-3678-4F11-89C2-E0E8A23F7789}" type="datetimeFigureOut">
              <a:rPr lang="en-US" smtClean="0"/>
              <a:t>6/29/2026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4044C2-AE3D-42EF-919C-864D09930126}" type="slidenum">
              <a:rPr lang="en-US" smtClean="0"/>
              <a:t>‹#›</a:t>
            </a:fld>
            <a:endParaRPr lang="en-US"/>
          </a:p>
        </p:txBody>
      </p:sp>
    </p:spTree>
    <p:extLst>
      <p:ext uri="{BB962C8B-B14F-4D97-AF65-F5344CB8AC3E}">
        <p14:creationId xmlns:p14="http://schemas.microsoft.com/office/powerpoint/2010/main" val="854998963"/>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F8DB99-FD62-4481-9A4B-A22D148AD429}" type="datetimeFigureOut">
              <a:rPr lang="en-US" smtClean="0"/>
              <a:t>6/29/2026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359511-47C3-4666-B47A-5254F608EFFB}" type="slidenum">
              <a:rPr lang="en-US" smtClean="0"/>
              <a:t>‹#›</a:t>
            </a:fld>
            <a:endParaRPr lang="en-US"/>
          </a:p>
        </p:txBody>
      </p:sp>
    </p:spTree>
    <p:extLst>
      <p:ext uri="{BB962C8B-B14F-4D97-AF65-F5344CB8AC3E}">
        <p14:creationId xmlns:p14="http://schemas.microsoft.com/office/powerpoint/2010/main" val="181923596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2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png"/></Relationships>
</file>

<file path=ppt/slides/_rels/slide3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image" Target="../media/image580.png"/><Relationship Id="rId3" Type="http://schemas.openxmlformats.org/officeDocument/2006/relationships/image" Target="../media/image530.png"/><Relationship Id="rId7" Type="http://schemas.openxmlformats.org/officeDocument/2006/relationships/image" Target="../media/image57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60.png"/><Relationship Id="rId5" Type="http://schemas.openxmlformats.org/officeDocument/2006/relationships/image" Target="../media/image550.png"/><Relationship Id="rId4" Type="http://schemas.openxmlformats.org/officeDocument/2006/relationships/image" Target="../media/image520.png"/><Relationship Id="rId9" Type="http://schemas.openxmlformats.org/officeDocument/2006/relationships/image" Target="../media/image63.png"/></Relationships>
</file>

<file path=ppt/slides/_rels/slide3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70.png"/><Relationship Id="rId13" Type="http://schemas.openxmlformats.org/officeDocument/2006/relationships/image" Target="../media/image73.png"/><Relationship Id="rId3" Type="http://schemas.openxmlformats.org/officeDocument/2006/relationships/image" Target="../media/image65.png"/><Relationship Id="rId7" Type="http://schemas.openxmlformats.org/officeDocument/2006/relationships/image" Target="../media/image69.png"/><Relationship Id="rId12" Type="http://schemas.openxmlformats.org/officeDocument/2006/relationships/image" Target="../media/image710.png"/><Relationship Id="rId2" Type="http://schemas.openxmlformats.org/officeDocument/2006/relationships/image" Target="../media/image610.png"/><Relationship Id="rId1" Type="http://schemas.openxmlformats.org/officeDocument/2006/relationships/slideLayout" Target="../slideLayouts/slideLayout2.xml"/><Relationship Id="rId6" Type="http://schemas.openxmlformats.org/officeDocument/2006/relationships/image" Target="../media/image68.png"/><Relationship Id="rId11" Type="http://schemas.openxmlformats.org/officeDocument/2006/relationships/image" Target="../media/image700.png"/><Relationship Id="rId5" Type="http://schemas.openxmlformats.org/officeDocument/2006/relationships/image" Target="../media/image67.png"/><Relationship Id="rId10" Type="http://schemas.openxmlformats.org/officeDocument/2006/relationships/image" Target="../media/image72.png"/><Relationship Id="rId4" Type="http://schemas.openxmlformats.org/officeDocument/2006/relationships/image" Target="../media/image66.png"/><Relationship Id="rId9" Type="http://schemas.openxmlformats.org/officeDocument/2006/relationships/image" Target="../media/image7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2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 Id="rId4" Type="http://schemas.openxmlformats.org/officeDocument/2006/relationships/image" Target="../media/image781.png"/></Relationships>
</file>

<file path=ppt/slides/_rels/slide4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92.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791.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 Id="rId5" Type="http://schemas.openxmlformats.org/officeDocument/2006/relationships/image" Target="../media/image791.png"/><Relationship Id="rId4" Type="http://schemas.openxmlformats.org/officeDocument/2006/relationships/image" Target="../media/image8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3" Type="http://schemas.openxmlformats.org/officeDocument/2006/relationships/image" Target="../media/image86.png"/><Relationship Id="rId18" Type="http://schemas.openxmlformats.org/officeDocument/2006/relationships/image" Target="../media/image91.png"/><Relationship Id="rId26" Type="http://schemas.openxmlformats.org/officeDocument/2006/relationships/image" Target="../media/image99.png"/><Relationship Id="rId39" Type="http://schemas.openxmlformats.org/officeDocument/2006/relationships/image" Target="../media/image112.png"/><Relationship Id="rId21" Type="http://schemas.openxmlformats.org/officeDocument/2006/relationships/image" Target="../media/image94.png"/><Relationship Id="rId34" Type="http://schemas.openxmlformats.org/officeDocument/2006/relationships/image" Target="../media/image107.png"/><Relationship Id="rId42" Type="http://schemas.openxmlformats.org/officeDocument/2006/relationships/image" Target="../media/image115.png"/><Relationship Id="rId7" Type="http://schemas.openxmlformats.org/officeDocument/2006/relationships/image" Target="../media/image800.png"/><Relationship Id="rId2" Type="http://schemas.openxmlformats.org/officeDocument/2006/relationships/image" Target="../media/image750.png"/><Relationship Id="rId16" Type="http://schemas.openxmlformats.org/officeDocument/2006/relationships/image" Target="../media/image89.png"/><Relationship Id="rId20" Type="http://schemas.openxmlformats.org/officeDocument/2006/relationships/image" Target="../media/image93.png"/><Relationship Id="rId29" Type="http://schemas.openxmlformats.org/officeDocument/2006/relationships/image" Target="../media/image102.png"/><Relationship Id="rId41" Type="http://schemas.openxmlformats.org/officeDocument/2006/relationships/image" Target="../media/image114.png"/><Relationship Id="rId1" Type="http://schemas.openxmlformats.org/officeDocument/2006/relationships/slideLayout" Target="../slideLayouts/slideLayout2.xml"/><Relationship Id="rId6" Type="http://schemas.openxmlformats.org/officeDocument/2006/relationships/image" Target="../media/image790.png"/><Relationship Id="rId11" Type="http://schemas.openxmlformats.org/officeDocument/2006/relationships/image" Target="../media/image840.png"/><Relationship Id="rId24" Type="http://schemas.openxmlformats.org/officeDocument/2006/relationships/image" Target="../media/image97.png"/><Relationship Id="rId32" Type="http://schemas.openxmlformats.org/officeDocument/2006/relationships/image" Target="../media/image105.png"/><Relationship Id="rId37" Type="http://schemas.openxmlformats.org/officeDocument/2006/relationships/image" Target="../media/image110.png"/><Relationship Id="rId40" Type="http://schemas.openxmlformats.org/officeDocument/2006/relationships/image" Target="../media/image113.png"/><Relationship Id="rId5" Type="http://schemas.openxmlformats.org/officeDocument/2006/relationships/image" Target="../media/image780.png"/><Relationship Id="rId15" Type="http://schemas.openxmlformats.org/officeDocument/2006/relationships/image" Target="../media/image88.png"/><Relationship Id="rId23" Type="http://schemas.openxmlformats.org/officeDocument/2006/relationships/image" Target="../media/image96.png"/><Relationship Id="rId28" Type="http://schemas.openxmlformats.org/officeDocument/2006/relationships/image" Target="../media/image101.png"/><Relationship Id="rId36" Type="http://schemas.openxmlformats.org/officeDocument/2006/relationships/image" Target="../media/image109.png"/><Relationship Id="rId10" Type="http://schemas.openxmlformats.org/officeDocument/2006/relationships/image" Target="../media/image830.png"/><Relationship Id="rId19" Type="http://schemas.openxmlformats.org/officeDocument/2006/relationships/image" Target="../media/image92.png"/><Relationship Id="rId31" Type="http://schemas.openxmlformats.org/officeDocument/2006/relationships/image" Target="../media/image104.png"/><Relationship Id="rId4" Type="http://schemas.openxmlformats.org/officeDocument/2006/relationships/image" Target="../media/image770.png"/><Relationship Id="rId9" Type="http://schemas.openxmlformats.org/officeDocument/2006/relationships/image" Target="../media/image820.png"/><Relationship Id="rId14" Type="http://schemas.openxmlformats.org/officeDocument/2006/relationships/image" Target="../media/image87.png"/><Relationship Id="rId22" Type="http://schemas.openxmlformats.org/officeDocument/2006/relationships/image" Target="../media/image95.png"/><Relationship Id="rId27" Type="http://schemas.openxmlformats.org/officeDocument/2006/relationships/image" Target="../media/image100.png"/><Relationship Id="rId30" Type="http://schemas.openxmlformats.org/officeDocument/2006/relationships/image" Target="../media/image103.png"/><Relationship Id="rId35" Type="http://schemas.openxmlformats.org/officeDocument/2006/relationships/image" Target="../media/image108.png"/><Relationship Id="rId43" Type="http://schemas.openxmlformats.org/officeDocument/2006/relationships/image" Target="../media/image116.png"/><Relationship Id="rId8" Type="http://schemas.openxmlformats.org/officeDocument/2006/relationships/image" Target="../media/image810.png"/><Relationship Id="rId3" Type="http://schemas.openxmlformats.org/officeDocument/2006/relationships/image" Target="../media/image760.png"/><Relationship Id="rId12" Type="http://schemas.openxmlformats.org/officeDocument/2006/relationships/image" Target="../media/image85.png"/><Relationship Id="rId17" Type="http://schemas.openxmlformats.org/officeDocument/2006/relationships/image" Target="../media/image90.png"/><Relationship Id="rId25" Type="http://schemas.openxmlformats.org/officeDocument/2006/relationships/image" Target="../media/image98.png"/><Relationship Id="rId33" Type="http://schemas.openxmlformats.org/officeDocument/2006/relationships/image" Target="../media/image106.png"/><Relationship Id="rId38" Type="http://schemas.openxmlformats.org/officeDocument/2006/relationships/image" Target="../media/image111.png"/></Relationships>
</file>

<file path=ppt/slides/_rels/slide51.xml.rels><?xml version="1.0" encoding="UTF-8" standalone="yes"?>
<Relationships xmlns="http://schemas.openxmlformats.org/package/2006/relationships"><Relationship Id="rId13" Type="http://schemas.openxmlformats.org/officeDocument/2006/relationships/image" Target="../media/image86.png"/><Relationship Id="rId18" Type="http://schemas.openxmlformats.org/officeDocument/2006/relationships/image" Target="../media/image91.png"/><Relationship Id="rId26" Type="http://schemas.openxmlformats.org/officeDocument/2006/relationships/image" Target="../media/image99.png"/><Relationship Id="rId39" Type="http://schemas.openxmlformats.org/officeDocument/2006/relationships/image" Target="../media/image112.png"/><Relationship Id="rId21" Type="http://schemas.openxmlformats.org/officeDocument/2006/relationships/image" Target="../media/image94.png"/><Relationship Id="rId34" Type="http://schemas.openxmlformats.org/officeDocument/2006/relationships/image" Target="../media/image107.png"/><Relationship Id="rId42" Type="http://schemas.openxmlformats.org/officeDocument/2006/relationships/image" Target="../media/image115.png"/><Relationship Id="rId47" Type="http://schemas.openxmlformats.org/officeDocument/2006/relationships/image" Target="../media/image122.png"/><Relationship Id="rId50" Type="http://schemas.openxmlformats.org/officeDocument/2006/relationships/image" Target="../media/image125.png"/><Relationship Id="rId7" Type="http://schemas.openxmlformats.org/officeDocument/2006/relationships/image" Target="../media/image800.png"/><Relationship Id="rId2" Type="http://schemas.openxmlformats.org/officeDocument/2006/relationships/image" Target="../media/image750.png"/><Relationship Id="rId16" Type="http://schemas.openxmlformats.org/officeDocument/2006/relationships/image" Target="../media/image89.png"/><Relationship Id="rId29" Type="http://schemas.openxmlformats.org/officeDocument/2006/relationships/image" Target="../media/image102.png"/><Relationship Id="rId11" Type="http://schemas.openxmlformats.org/officeDocument/2006/relationships/image" Target="../media/image840.png"/><Relationship Id="rId24" Type="http://schemas.openxmlformats.org/officeDocument/2006/relationships/image" Target="../media/image97.png"/><Relationship Id="rId32" Type="http://schemas.openxmlformats.org/officeDocument/2006/relationships/image" Target="../media/image118.png"/><Relationship Id="rId37" Type="http://schemas.openxmlformats.org/officeDocument/2006/relationships/image" Target="../media/image110.png"/><Relationship Id="rId40" Type="http://schemas.openxmlformats.org/officeDocument/2006/relationships/image" Target="../media/image113.png"/><Relationship Id="rId45" Type="http://schemas.openxmlformats.org/officeDocument/2006/relationships/image" Target="../media/image120.png"/><Relationship Id="rId5" Type="http://schemas.openxmlformats.org/officeDocument/2006/relationships/image" Target="../media/image780.png"/><Relationship Id="rId15" Type="http://schemas.openxmlformats.org/officeDocument/2006/relationships/image" Target="../media/image88.png"/><Relationship Id="rId23" Type="http://schemas.openxmlformats.org/officeDocument/2006/relationships/image" Target="../media/image96.png"/><Relationship Id="rId28" Type="http://schemas.openxmlformats.org/officeDocument/2006/relationships/image" Target="../media/image101.png"/><Relationship Id="rId36" Type="http://schemas.openxmlformats.org/officeDocument/2006/relationships/image" Target="../media/image109.png"/><Relationship Id="rId49" Type="http://schemas.openxmlformats.org/officeDocument/2006/relationships/image" Target="../media/image124.png"/><Relationship Id="rId10" Type="http://schemas.openxmlformats.org/officeDocument/2006/relationships/image" Target="../media/image830.png"/><Relationship Id="rId19" Type="http://schemas.openxmlformats.org/officeDocument/2006/relationships/image" Target="../media/image92.png"/><Relationship Id="rId31" Type="http://schemas.openxmlformats.org/officeDocument/2006/relationships/image" Target="../media/image104.png"/><Relationship Id="rId44" Type="http://schemas.openxmlformats.org/officeDocument/2006/relationships/image" Target="../media/image119.png"/><Relationship Id="rId4" Type="http://schemas.openxmlformats.org/officeDocument/2006/relationships/image" Target="../media/image770.png"/><Relationship Id="rId9" Type="http://schemas.openxmlformats.org/officeDocument/2006/relationships/image" Target="../media/image820.png"/><Relationship Id="rId14" Type="http://schemas.openxmlformats.org/officeDocument/2006/relationships/image" Target="../media/image87.png"/><Relationship Id="rId22" Type="http://schemas.openxmlformats.org/officeDocument/2006/relationships/image" Target="../media/image95.png"/><Relationship Id="rId27" Type="http://schemas.openxmlformats.org/officeDocument/2006/relationships/image" Target="../media/image100.png"/><Relationship Id="rId30" Type="http://schemas.openxmlformats.org/officeDocument/2006/relationships/image" Target="../media/image117.png"/><Relationship Id="rId35" Type="http://schemas.openxmlformats.org/officeDocument/2006/relationships/image" Target="../media/image108.png"/><Relationship Id="rId43" Type="http://schemas.openxmlformats.org/officeDocument/2006/relationships/image" Target="../media/image116.png"/><Relationship Id="rId48" Type="http://schemas.openxmlformats.org/officeDocument/2006/relationships/image" Target="../media/image123.png"/><Relationship Id="rId8" Type="http://schemas.openxmlformats.org/officeDocument/2006/relationships/image" Target="../media/image810.png"/><Relationship Id="rId51" Type="http://schemas.openxmlformats.org/officeDocument/2006/relationships/image" Target="../media/image126.png"/><Relationship Id="rId3" Type="http://schemas.openxmlformats.org/officeDocument/2006/relationships/image" Target="../media/image760.png"/><Relationship Id="rId12" Type="http://schemas.openxmlformats.org/officeDocument/2006/relationships/image" Target="../media/image85.png"/><Relationship Id="rId17" Type="http://schemas.openxmlformats.org/officeDocument/2006/relationships/image" Target="../media/image90.png"/><Relationship Id="rId25" Type="http://schemas.openxmlformats.org/officeDocument/2006/relationships/image" Target="../media/image98.png"/><Relationship Id="rId33" Type="http://schemas.openxmlformats.org/officeDocument/2006/relationships/image" Target="../media/image106.png"/><Relationship Id="rId38" Type="http://schemas.openxmlformats.org/officeDocument/2006/relationships/image" Target="../media/image111.png"/><Relationship Id="rId46" Type="http://schemas.openxmlformats.org/officeDocument/2006/relationships/image" Target="../media/image121.png"/><Relationship Id="rId20" Type="http://schemas.openxmlformats.org/officeDocument/2006/relationships/image" Target="../media/image93.png"/><Relationship Id="rId41" Type="http://schemas.openxmlformats.org/officeDocument/2006/relationships/image" Target="../media/image114.png"/><Relationship Id="rId1" Type="http://schemas.openxmlformats.org/officeDocument/2006/relationships/slideLayout" Target="../slideLayouts/slideLayout2.xml"/><Relationship Id="rId6" Type="http://schemas.openxmlformats.org/officeDocument/2006/relationships/image" Target="../media/image790.png"/></Relationships>
</file>

<file path=ppt/slides/_rels/slide52.xml.rels><?xml version="1.0" encoding="UTF-8" standalone="yes"?>
<Relationships xmlns="http://schemas.openxmlformats.org/package/2006/relationships"><Relationship Id="rId3" Type="http://schemas.openxmlformats.org/officeDocument/2006/relationships/image" Target="../media/image128.png"/><Relationship Id="rId7" Type="http://schemas.openxmlformats.org/officeDocument/2006/relationships/image" Target="../media/image132.png"/><Relationship Id="rId2" Type="http://schemas.openxmlformats.org/officeDocument/2006/relationships/image" Target="../media/image127.png"/><Relationship Id="rId1" Type="http://schemas.openxmlformats.org/officeDocument/2006/relationships/slideLayout" Target="../slideLayouts/slideLayout2.xml"/><Relationship Id="rId6" Type="http://schemas.openxmlformats.org/officeDocument/2006/relationships/image" Target="../media/image131.png"/><Relationship Id="rId5" Type="http://schemas.openxmlformats.org/officeDocument/2006/relationships/image" Target="../media/image130.png"/><Relationship Id="rId4" Type="http://schemas.openxmlformats.org/officeDocument/2006/relationships/image" Target="../media/image129.png"/></Relationships>
</file>

<file path=ppt/slides/_rels/slide53.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3" Type="http://schemas.openxmlformats.org/officeDocument/2006/relationships/image" Target="../media/image139.png"/><Relationship Id="rId18" Type="http://schemas.openxmlformats.org/officeDocument/2006/relationships/image" Target="../media/image144.png"/><Relationship Id="rId26" Type="http://schemas.openxmlformats.org/officeDocument/2006/relationships/image" Target="../media/image152.png"/><Relationship Id="rId39" Type="http://schemas.openxmlformats.org/officeDocument/2006/relationships/image" Target="../media/image165.png"/><Relationship Id="rId21" Type="http://schemas.openxmlformats.org/officeDocument/2006/relationships/image" Target="../media/image147.png"/><Relationship Id="rId34" Type="http://schemas.openxmlformats.org/officeDocument/2006/relationships/image" Target="../media/image160.png"/><Relationship Id="rId42" Type="http://schemas.openxmlformats.org/officeDocument/2006/relationships/image" Target="../media/image168.png"/><Relationship Id="rId47" Type="http://schemas.openxmlformats.org/officeDocument/2006/relationships/image" Target="../media/image173.png"/><Relationship Id="rId50" Type="http://schemas.openxmlformats.org/officeDocument/2006/relationships/image" Target="../media/image176.png"/><Relationship Id="rId7" Type="http://schemas.openxmlformats.org/officeDocument/2006/relationships/image" Target="../media/image1330.png"/><Relationship Id="rId2" Type="http://schemas.openxmlformats.org/officeDocument/2006/relationships/image" Target="../media/image134.png"/><Relationship Id="rId16" Type="http://schemas.openxmlformats.org/officeDocument/2006/relationships/image" Target="../media/image142.png"/><Relationship Id="rId29" Type="http://schemas.openxmlformats.org/officeDocument/2006/relationships/image" Target="../media/image155.png"/><Relationship Id="rId11" Type="http://schemas.openxmlformats.org/officeDocument/2006/relationships/image" Target="../media/image137.png"/><Relationship Id="rId24" Type="http://schemas.openxmlformats.org/officeDocument/2006/relationships/image" Target="../media/image150.png"/><Relationship Id="rId32" Type="http://schemas.openxmlformats.org/officeDocument/2006/relationships/image" Target="../media/image158.png"/><Relationship Id="rId37" Type="http://schemas.openxmlformats.org/officeDocument/2006/relationships/image" Target="../media/image163.png"/><Relationship Id="rId40" Type="http://schemas.openxmlformats.org/officeDocument/2006/relationships/image" Target="../media/image166.png"/><Relationship Id="rId45" Type="http://schemas.openxmlformats.org/officeDocument/2006/relationships/image" Target="../media/image171.png"/><Relationship Id="rId5" Type="http://schemas.openxmlformats.org/officeDocument/2006/relationships/image" Target="../media/image1310.png"/><Relationship Id="rId15" Type="http://schemas.openxmlformats.org/officeDocument/2006/relationships/image" Target="../media/image141.png"/><Relationship Id="rId23" Type="http://schemas.openxmlformats.org/officeDocument/2006/relationships/image" Target="../media/image149.png"/><Relationship Id="rId28" Type="http://schemas.openxmlformats.org/officeDocument/2006/relationships/image" Target="../media/image154.png"/><Relationship Id="rId36" Type="http://schemas.openxmlformats.org/officeDocument/2006/relationships/image" Target="../media/image162.png"/><Relationship Id="rId49" Type="http://schemas.openxmlformats.org/officeDocument/2006/relationships/image" Target="../media/image175.png"/><Relationship Id="rId10" Type="http://schemas.openxmlformats.org/officeDocument/2006/relationships/image" Target="../media/image136.png"/><Relationship Id="rId19" Type="http://schemas.openxmlformats.org/officeDocument/2006/relationships/image" Target="../media/image145.png"/><Relationship Id="rId31" Type="http://schemas.openxmlformats.org/officeDocument/2006/relationships/image" Target="../media/image157.png"/><Relationship Id="rId44" Type="http://schemas.openxmlformats.org/officeDocument/2006/relationships/image" Target="../media/image170.png"/><Relationship Id="rId4" Type="http://schemas.openxmlformats.org/officeDocument/2006/relationships/image" Target="../media/image1300.png"/><Relationship Id="rId9" Type="http://schemas.openxmlformats.org/officeDocument/2006/relationships/image" Target="../media/image135.png"/><Relationship Id="rId14" Type="http://schemas.openxmlformats.org/officeDocument/2006/relationships/image" Target="../media/image140.png"/><Relationship Id="rId22" Type="http://schemas.openxmlformats.org/officeDocument/2006/relationships/image" Target="../media/image148.png"/><Relationship Id="rId27" Type="http://schemas.openxmlformats.org/officeDocument/2006/relationships/image" Target="../media/image153.png"/><Relationship Id="rId30" Type="http://schemas.openxmlformats.org/officeDocument/2006/relationships/image" Target="../media/image156.png"/><Relationship Id="rId35" Type="http://schemas.openxmlformats.org/officeDocument/2006/relationships/image" Target="../media/image161.png"/><Relationship Id="rId43" Type="http://schemas.openxmlformats.org/officeDocument/2006/relationships/image" Target="../media/image169.png"/><Relationship Id="rId48" Type="http://schemas.openxmlformats.org/officeDocument/2006/relationships/image" Target="../media/image174.png"/><Relationship Id="rId8" Type="http://schemas.openxmlformats.org/officeDocument/2006/relationships/image" Target="../media/image1340.png"/><Relationship Id="rId51" Type="http://schemas.openxmlformats.org/officeDocument/2006/relationships/image" Target="../media/image177.png"/><Relationship Id="rId3" Type="http://schemas.openxmlformats.org/officeDocument/2006/relationships/image" Target="../media/image1290.png"/><Relationship Id="rId12" Type="http://schemas.openxmlformats.org/officeDocument/2006/relationships/image" Target="../media/image138.png"/><Relationship Id="rId17" Type="http://schemas.openxmlformats.org/officeDocument/2006/relationships/image" Target="../media/image143.png"/><Relationship Id="rId25" Type="http://schemas.openxmlformats.org/officeDocument/2006/relationships/image" Target="../media/image151.png"/><Relationship Id="rId33" Type="http://schemas.openxmlformats.org/officeDocument/2006/relationships/image" Target="../media/image159.png"/><Relationship Id="rId38" Type="http://schemas.openxmlformats.org/officeDocument/2006/relationships/image" Target="../media/image164.png"/><Relationship Id="rId46" Type="http://schemas.openxmlformats.org/officeDocument/2006/relationships/image" Target="../media/image172.png"/><Relationship Id="rId20" Type="http://schemas.openxmlformats.org/officeDocument/2006/relationships/image" Target="../media/image146.png"/><Relationship Id="rId41" Type="http://schemas.openxmlformats.org/officeDocument/2006/relationships/image" Target="../media/image167.png"/><Relationship Id="rId1" Type="http://schemas.openxmlformats.org/officeDocument/2006/relationships/slideLayout" Target="../slideLayouts/slideLayout2.xml"/><Relationship Id="rId6" Type="http://schemas.openxmlformats.org/officeDocument/2006/relationships/image" Target="../media/image1320.png"/></Relationships>
</file>

<file path=ppt/slides/_rels/slide55.xml.rels><?xml version="1.0" encoding="UTF-8" standalone="yes"?>
<Relationships xmlns="http://schemas.openxmlformats.org/package/2006/relationships"><Relationship Id="rId8" Type="http://schemas.openxmlformats.org/officeDocument/2006/relationships/image" Target="../media/image184.png"/><Relationship Id="rId13" Type="http://schemas.openxmlformats.org/officeDocument/2006/relationships/image" Target="../media/image189.png"/><Relationship Id="rId3" Type="http://schemas.openxmlformats.org/officeDocument/2006/relationships/image" Target="../media/image179.png"/><Relationship Id="rId7" Type="http://schemas.openxmlformats.org/officeDocument/2006/relationships/image" Target="../media/image183.png"/><Relationship Id="rId12" Type="http://schemas.openxmlformats.org/officeDocument/2006/relationships/image" Target="../media/image188.png"/><Relationship Id="rId2" Type="http://schemas.openxmlformats.org/officeDocument/2006/relationships/image" Target="../media/image178.png"/><Relationship Id="rId1" Type="http://schemas.openxmlformats.org/officeDocument/2006/relationships/slideLayout" Target="../slideLayouts/slideLayout2.xml"/><Relationship Id="rId6" Type="http://schemas.openxmlformats.org/officeDocument/2006/relationships/image" Target="../media/image182.png"/><Relationship Id="rId11" Type="http://schemas.openxmlformats.org/officeDocument/2006/relationships/image" Target="../media/image187.png"/><Relationship Id="rId5" Type="http://schemas.openxmlformats.org/officeDocument/2006/relationships/image" Target="../media/image181.png"/><Relationship Id="rId15" Type="http://schemas.openxmlformats.org/officeDocument/2006/relationships/image" Target="../media/image191.png"/><Relationship Id="rId10" Type="http://schemas.openxmlformats.org/officeDocument/2006/relationships/image" Target="../media/image186.png"/><Relationship Id="rId4" Type="http://schemas.openxmlformats.org/officeDocument/2006/relationships/image" Target="../media/image180.png"/><Relationship Id="rId9" Type="http://schemas.openxmlformats.org/officeDocument/2006/relationships/image" Target="../media/image185.png"/><Relationship Id="rId14" Type="http://schemas.openxmlformats.org/officeDocument/2006/relationships/image" Target="../media/image19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93.png"/><Relationship Id="rId2" Type="http://schemas.openxmlformats.org/officeDocument/2006/relationships/image" Target="../media/image192.png"/><Relationship Id="rId1" Type="http://schemas.openxmlformats.org/officeDocument/2006/relationships/slideLayout" Target="../slideLayouts/slideLayout2.xml"/><Relationship Id="rId5" Type="http://schemas.openxmlformats.org/officeDocument/2006/relationships/image" Target="../media/image1941.png"/><Relationship Id="rId4" Type="http://schemas.openxmlformats.org/officeDocument/2006/relationships/image" Target="../media/image19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9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8" Type="http://schemas.openxmlformats.org/officeDocument/2006/relationships/image" Target="../media/image202.png"/><Relationship Id="rId3" Type="http://schemas.openxmlformats.org/officeDocument/2006/relationships/image" Target="../media/image197.png"/><Relationship Id="rId7" Type="http://schemas.openxmlformats.org/officeDocument/2006/relationships/image" Target="../media/image201.png"/><Relationship Id="rId2" Type="http://schemas.openxmlformats.org/officeDocument/2006/relationships/image" Target="../media/image196.png"/><Relationship Id="rId1" Type="http://schemas.openxmlformats.org/officeDocument/2006/relationships/slideLayout" Target="../slideLayouts/slideLayout2.xml"/><Relationship Id="rId6" Type="http://schemas.openxmlformats.org/officeDocument/2006/relationships/image" Target="../media/image200.png"/><Relationship Id="rId5" Type="http://schemas.openxmlformats.org/officeDocument/2006/relationships/image" Target="../media/image199.png"/><Relationship Id="rId4" Type="http://schemas.openxmlformats.org/officeDocument/2006/relationships/image" Target="../media/image19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image" Target="../media/image204.png"/><Relationship Id="rId2" Type="http://schemas.openxmlformats.org/officeDocument/2006/relationships/image" Target="../media/image203.png"/><Relationship Id="rId1" Type="http://schemas.openxmlformats.org/officeDocument/2006/relationships/slideLayout" Target="../slideLayouts/slideLayout2.xml"/><Relationship Id="rId6" Type="http://schemas.openxmlformats.org/officeDocument/2006/relationships/image" Target="../media/image207.png"/><Relationship Id="rId5" Type="http://schemas.openxmlformats.org/officeDocument/2006/relationships/image" Target="../media/image206.png"/><Relationship Id="rId4" Type="http://schemas.openxmlformats.org/officeDocument/2006/relationships/image" Target="../media/image205.png"/></Relationships>
</file>

<file path=ppt/slides/_rels/slide70.xml.rels><?xml version="1.0" encoding="UTF-8" standalone="yes"?>
<Relationships xmlns="http://schemas.openxmlformats.org/package/2006/relationships"><Relationship Id="rId3" Type="http://schemas.openxmlformats.org/officeDocument/2006/relationships/image" Target="../media/image204.png"/><Relationship Id="rId2" Type="http://schemas.openxmlformats.org/officeDocument/2006/relationships/image" Target="../media/image203.png"/><Relationship Id="rId1" Type="http://schemas.openxmlformats.org/officeDocument/2006/relationships/slideLayout" Target="../slideLayouts/slideLayout2.xml"/><Relationship Id="rId6" Type="http://schemas.openxmlformats.org/officeDocument/2006/relationships/image" Target="../media/image207.png"/><Relationship Id="rId5" Type="http://schemas.openxmlformats.org/officeDocument/2006/relationships/image" Target="../media/image206.png"/><Relationship Id="rId4" Type="http://schemas.openxmlformats.org/officeDocument/2006/relationships/image" Target="../media/image205.png"/></Relationships>
</file>

<file path=ppt/slides/_rels/slide71.xml.rels><?xml version="1.0" encoding="UTF-8" standalone="yes"?>
<Relationships xmlns="http://schemas.openxmlformats.org/package/2006/relationships"><Relationship Id="rId3" Type="http://schemas.openxmlformats.org/officeDocument/2006/relationships/image" Target="../media/image209.png"/><Relationship Id="rId2" Type="http://schemas.openxmlformats.org/officeDocument/2006/relationships/image" Target="../media/image208.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image" Target="../media/image210.png"/><Relationship Id="rId1" Type="http://schemas.openxmlformats.org/officeDocument/2006/relationships/slideLayout" Target="../slideLayouts/slideLayout2.xml"/><Relationship Id="rId4" Type="http://schemas.openxmlformats.org/officeDocument/2006/relationships/image" Target="../media/image212.png"/></Relationships>
</file>

<file path=ppt/slides/_rels/slide73.xml.rels><?xml version="1.0" encoding="UTF-8" standalone="yes"?>
<Relationships xmlns="http://schemas.openxmlformats.org/package/2006/relationships"><Relationship Id="rId8" Type="http://schemas.openxmlformats.org/officeDocument/2006/relationships/image" Target="../media/image218.png"/><Relationship Id="rId3" Type="http://schemas.openxmlformats.org/officeDocument/2006/relationships/image" Target="../media/image213.png"/><Relationship Id="rId7" Type="http://schemas.openxmlformats.org/officeDocument/2006/relationships/image" Target="../media/image217.png"/><Relationship Id="rId12" Type="http://schemas.openxmlformats.org/officeDocument/2006/relationships/image" Target="../media/image222.png"/><Relationship Id="rId2" Type="http://schemas.openxmlformats.org/officeDocument/2006/relationships/image" Target="../media/image1510.png"/><Relationship Id="rId1" Type="http://schemas.openxmlformats.org/officeDocument/2006/relationships/slideLayout" Target="../slideLayouts/slideLayout2.xml"/><Relationship Id="rId6" Type="http://schemas.openxmlformats.org/officeDocument/2006/relationships/image" Target="../media/image216.png"/><Relationship Id="rId11" Type="http://schemas.openxmlformats.org/officeDocument/2006/relationships/image" Target="../media/image221.png"/><Relationship Id="rId5" Type="http://schemas.openxmlformats.org/officeDocument/2006/relationships/image" Target="../media/image215.png"/><Relationship Id="rId10" Type="http://schemas.openxmlformats.org/officeDocument/2006/relationships/image" Target="../media/image220.png"/><Relationship Id="rId4" Type="http://schemas.openxmlformats.org/officeDocument/2006/relationships/image" Target="../media/image214.png"/><Relationship Id="rId9" Type="http://schemas.openxmlformats.org/officeDocument/2006/relationships/image" Target="../media/image219.png"/></Relationships>
</file>

<file path=ppt/slides/_rels/slide74.xml.rels><?xml version="1.0" encoding="UTF-8" standalone="yes"?>
<Relationships xmlns="http://schemas.openxmlformats.org/package/2006/relationships"><Relationship Id="rId8" Type="http://schemas.openxmlformats.org/officeDocument/2006/relationships/image" Target="../media/image229.png"/><Relationship Id="rId13" Type="http://schemas.openxmlformats.org/officeDocument/2006/relationships/image" Target="../media/image234.png"/><Relationship Id="rId3" Type="http://schemas.openxmlformats.org/officeDocument/2006/relationships/image" Target="../media/image224.png"/><Relationship Id="rId7" Type="http://schemas.openxmlformats.org/officeDocument/2006/relationships/image" Target="../media/image228.png"/><Relationship Id="rId12" Type="http://schemas.openxmlformats.org/officeDocument/2006/relationships/image" Target="../media/image233.png"/><Relationship Id="rId2" Type="http://schemas.openxmlformats.org/officeDocument/2006/relationships/image" Target="../media/image223.png"/><Relationship Id="rId16" Type="http://schemas.openxmlformats.org/officeDocument/2006/relationships/image" Target="../media/image237.png"/><Relationship Id="rId1" Type="http://schemas.openxmlformats.org/officeDocument/2006/relationships/slideLayout" Target="../slideLayouts/slideLayout2.xml"/><Relationship Id="rId6" Type="http://schemas.openxmlformats.org/officeDocument/2006/relationships/image" Target="../media/image227.png"/><Relationship Id="rId11" Type="http://schemas.openxmlformats.org/officeDocument/2006/relationships/image" Target="../media/image232.png"/><Relationship Id="rId5" Type="http://schemas.openxmlformats.org/officeDocument/2006/relationships/image" Target="../media/image226.png"/><Relationship Id="rId15" Type="http://schemas.openxmlformats.org/officeDocument/2006/relationships/image" Target="../media/image236.png"/><Relationship Id="rId10" Type="http://schemas.openxmlformats.org/officeDocument/2006/relationships/image" Target="../media/image231.png"/><Relationship Id="rId4" Type="http://schemas.openxmlformats.org/officeDocument/2006/relationships/image" Target="../media/image225.png"/><Relationship Id="rId9" Type="http://schemas.openxmlformats.org/officeDocument/2006/relationships/image" Target="../media/image230.png"/><Relationship Id="rId14" Type="http://schemas.openxmlformats.org/officeDocument/2006/relationships/image" Target="../media/image235.png"/></Relationships>
</file>

<file path=ppt/slides/_rels/slide75.xml.rels><?xml version="1.0" encoding="UTF-8" standalone="yes"?>
<Relationships xmlns="http://schemas.openxmlformats.org/package/2006/relationships"><Relationship Id="rId8" Type="http://schemas.openxmlformats.org/officeDocument/2006/relationships/image" Target="../media/image1890.png"/><Relationship Id="rId13" Type="http://schemas.openxmlformats.org/officeDocument/2006/relationships/image" Target="../media/image1940.png"/><Relationship Id="rId3" Type="http://schemas.openxmlformats.org/officeDocument/2006/relationships/image" Target="../media/image1840.png"/><Relationship Id="rId7" Type="http://schemas.openxmlformats.org/officeDocument/2006/relationships/image" Target="../media/image1880.png"/><Relationship Id="rId12" Type="http://schemas.openxmlformats.org/officeDocument/2006/relationships/image" Target="../media/image1930.png"/><Relationship Id="rId2" Type="http://schemas.openxmlformats.org/officeDocument/2006/relationships/image" Target="../media/image1830.png"/><Relationship Id="rId1" Type="http://schemas.openxmlformats.org/officeDocument/2006/relationships/slideLayout" Target="../slideLayouts/slideLayout2.xml"/><Relationship Id="rId6" Type="http://schemas.openxmlformats.org/officeDocument/2006/relationships/image" Target="../media/image1870.png"/><Relationship Id="rId11" Type="http://schemas.openxmlformats.org/officeDocument/2006/relationships/image" Target="../media/image1920.png"/><Relationship Id="rId5" Type="http://schemas.openxmlformats.org/officeDocument/2006/relationships/image" Target="../media/image1860.png"/><Relationship Id="rId10" Type="http://schemas.openxmlformats.org/officeDocument/2006/relationships/image" Target="../media/image1910.png"/><Relationship Id="rId4" Type="http://schemas.openxmlformats.org/officeDocument/2006/relationships/image" Target="../media/image1850.png"/><Relationship Id="rId9" Type="http://schemas.openxmlformats.org/officeDocument/2006/relationships/image" Target="../media/image1900.png"/><Relationship Id="rId14" Type="http://schemas.openxmlformats.org/officeDocument/2006/relationships/image" Target="../media/image1950.png"/></Relationships>
</file>

<file path=ppt/slides/_rels/slide76.xml.rels><?xml version="1.0" encoding="UTF-8" standalone="yes"?>
<Relationships xmlns="http://schemas.openxmlformats.org/package/2006/relationships"><Relationship Id="rId2" Type="http://schemas.openxmlformats.org/officeDocument/2006/relationships/image" Target="../media/image23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190.png"/><Relationship Id="rId2" Type="http://schemas.openxmlformats.org/officeDocument/2006/relationships/image" Target="../media/image239.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3" Type="http://schemas.openxmlformats.org/officeDocument/2006/relationships/image" Target="../media/image2000.png"/><Relationship Id="rId2" Type="http://schemas.openxmlformats.org/officeDocument/2006/relationships/image" Target="../media/image199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010.png"/><Relationship Id="rId2" Type="http://schemas.openxmlformats.org/officeDocument/2006/relationships/image" Target="../media/image199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image" Target="../media/image2200.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241.png"/><Relationship Id="rId2" Type="http://schemas.openxmlformats.org/officeDocument/2006/relationships/image" Target="../media/image2220.png"/><Relationship Id="rId1" Type="http://schemas.openxmlformats.org/officeDocument/2006/relationships/slideLayout" Target="../slideLayouts/slideLayout2.xml"/><Relationship Id="rId5" Type="http://schemas.openxmlformats.org/officeDocument/2006/relationships/image" Target="../media/image242.png"/><Relationship Id="rId4" Type="http://schemas.openxmlformats.org/officeDocument/2006/relationships/image" Target="../media/image200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image" Target="../media/image224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243.png"/><Relationship Id="rId2" Type="http://schemas.openxmlformats.org/officeDocument/2006/relationships/image" Target="../media/image25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243.png"/><Relationship Id="rId2" Type="http://schemas.openxmlformats.org/officeDocument/2006/relationships/image" Target="../media/image252.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244.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280.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6D125B39-4795-4BA6-B9B5-11FFCFC98439}"/>
              </a:ext>
            </a:extLst>
          </p:cNvPr>
          <p:cNvSpPr>
            <a:spLocks noGrp="1"/>
          </p:cNvSpPr>
          <p:nvPr>
            <p:ph type="ctrTitle"/>
          </p:nvPr>
        </p:nvSpPr>
        <p:spPr>
          <a:xfrm>
            <a:off x="602350" y="1242129"/>
            <a:ext cx="7599954" cy="2578780"/>
          </a:xfrm>
        </p:spPr>
        <p:txBody>
          <a:bodyPr/>
          <a:lstStyle/>
          <a:p>
            <a:r>
              <a:rPr lang="en-US" dirty="0"/>
              <a:t>Unit – 1</a:t>
            </a:r>
            <a:br>
              <a:rPr lang="en-US" dirty="0"/>
            </a:br>
            <a:r>
              <a:rPr lang="en-US" dirty="0"/>
              <a:t>Trees &amp; Spanning Trees</a:t>
            </a:r>
            <a:br>
              <a:rPr lang="en-US" dirty="0"/>
            </a:br>
            <a:endParaRPr lang="en-US" sz="2400" dirty="0">
              <a:solidFill>
                <a:srgbClr val="FF0000"/>
              </a:solidFill>
            </a:endParaRPr>
          </a:p>
        </p:txBody>
      </p:sp>
      <p:sp>
        <p:nvSpPr>
          <p:cNvPr id="16" name="Text Placeholder 15">
            <a:extLst>
              <a:ext uri="{FF2B5EF4-FFF2-40B4-BE49-F238E27FC236}">
                <a16:creationId xmlns:a16="http://schemas.microsoft.com/office/drawing/2014/main" id="{05EEC38D-B69A-4F45-9CFB-3F832F2054F3}"/>
              </a:ext>
            </a:extLst>
          </p:cNvPr>
          <p:cNvSpPr>
            <a:spLocks noGrp="1"/>
          </p:cNvSpPr>
          <p:nvPr>
            <p:ph type="body" sz="quarter" idx="11"/>
          </p:nvPr>
        </p:nvSpPr>
        <p:spPr/>
        <p:txBody>
          <a:bodyPr/>
          <a:lstStyle/>
          <a:p>
            <a:r>
              <a:rPr lang="en-US" dirty="0"/>
              <a:t>punit.vadher@darshan.ac.in</a:t>
            </a:r>
          </a:p>
        </p:txBody>
      </p:sp>
      <p:sp>
        <p:nvSpPr>
          <p:cNvPr id="17" name="Text Placeholder 16">
            <a:extLst>
              <a:ext uri="{FF2B5EF4-FFF2-40B4-BE49-F238E27FC236}">
                <a16:creationId xmlns:a16="http://schemas.microsoft.com/office/drawing/2014/main" id="{3B892750-977A-4A19-B627-46C829D9CDA2}"/>
              </a:ext>
            </a:extLst>
          </p:cNvPr>
          <p:cNvSpPr>
            <a:spLocks noGrp="1"/>
          </p:cNvSpPr>
          <p:nvPr>
            <p:ph type="body" sz="quarter" idx="12"/>
          </p:nvPr>
        </p:nvSpPr>
        <p:spPr/>
        <p:txBody>
          <a:bodyPr/>
          <a:lstStyle/>
          <a:p>
            <a:r>
              <a:rPr lang="en-US" dirty="0"/>
              <a:t>9662443859</a:t>
            </a:r>
          </a:p>
        </p:txBody>
      </p:sp>
      <p:sp>
        <p:nvSpPr>
          <p:cNvPr id="18" name="Text Placeholder 17">
            <a:extLst>
              <a:ext uri="{FF2B5EF4-FFF2-40B4-BE49-F238E27FC236}">
                <a16:creationId xmlns:a16="http://schemas.microsoft.com/office/drawing/2014/main" id="{DDD3C75D-9CAD-401D-B6F2-D687EEC3CDEC}"/>
              </a:ext>
            </a:extLst>
          </p:cNvPr>
          <p:cNvSpPr>
            <a:spLocks noGrp="1"/>
          </p:cNvSpPr>
          <p:nvPr>
            <p:ph type="body" sz="quarter" idx="13"/>
          </p:nvPr>
        </p:nvSpPr>
        <p:spPr/>
        <p:txBody>
          <a:bodyPr/>
          <a:lstStyle/>
          <a:p>
            <a:r>
              <a:rPr lang="en-US" dirty="0"/>
              <a:t>Department of Humanities &amp; Science</a:t>
            </a:r>
          </a:p>
        </p:txBody>
      </p:sp>
      <p:sp>
        <p:nvSpPr>
          <p:cNvPr id="19" name="Text Placeholder 18">
            <a:extLst>
              <a:ext uri="{FF2B5EF4-FFF2-40B4-BE49-F238E27FC236}">
                <a16:creationId xmlns:a16="http://schemas.microsoft.com/office/drawing/2014/main" id="{D6DA44CB-50AE-4D51-AC18-616176252887}"/>
              </a:ext>
            </a:extLst>
          </p:cNvPr>
          <p:cNvSpPr>
            <a:spLocks noGrp="1"/>
          </p:cNvSpPr>
          <p:nvPr>
            <p:ph type="body" sz="quarter" idx="14"/>
          </p:nvPr>
        </p:nvSpPr>
        <p:spPr/>
        <p:txBody>
          <a:bodyPr/>
          <a:lstStyle/>
          <a:p>
            <a:r>
              <a:rPr lang="en-US" dirty="0"/>
              <a:t>Prof. </a:t>
            </a:r>
            <a:r>
              <a:rPr lang="en-US" dirty="0" err="1"/>
              <a:t>Punit</a:t>
            </a:r>
            <a:r>
              <a:rPr lang="en-US" dirty="0"/>
              <a:t> </a:t>
            </a:r>
            <a:r>
              <a:rPr lang="en-US" dirty="0" err="1"/>
              <a:t>Vadher</a:t>
            </a:r>
            <a:endParaRPr lang="en-US" dirty="0"/>
          </a:p>
        </p:txBody>
      </p:sp>
      <mc:AlternateContent xmlns:mc="http://schemas.openxmlformats.org/markup-compatibility/2006" xmlns:a14="http://schemas.microsoft.com/office/drawing/2010/main">
        <mc:Choice Requires="a14">
          <p:sp>
            <p:nvSpPr>
              <p:cNvPr id="20" name="Text Placeholder 19">
                <a:extLst>
                  <a:ext uri="{FF2B5EF4-FFF2-40B4-BE49-F238E27FC236}">
                    <a16:creationId xmlns:a16="http://schemas.microsoft.com/office/drawing/2014/main" id="{FF5B8673-7BA1-4EA7-991A-5F4DCD3054D0}"/>
                  </a:ext>
                </a:extLst>
              </p:cNvPr>
              <p:cNvSpPr>
                <a:spLocks noGrp="1"/>
              </p:cNvSpPr>
              <p:nvPr>
                <p:ph type="body" sz="quarter" idx="16"/>
              </p:nvPr>
            </p:nvSpPr>
            <p:spPr>
              <a:xfrm>
                <a:off x="2581756" y="135956"/>
                <a:ext cx="4646358" cy="734653"/>
              </a:xfrm>
            </p:spPr>
            <p:txBody>
              <a:bodyPr/>
              <a:lstStyle/>
              <a:p>
                <a:pPr>
                  <a:lnSpc>
                    <a:spcPct val="100000"/>
                  </a:lnSpc>
                </a:pPr>
                <a:r>
                  <a:rPr lang="en-US" dirty="0"/>
                  <a:t>B.Tech., B.Sc.(H) CS </a:t>
                </a:r>
                <a14:m>
                  <m:oMath xmlns:m="http://schemas.openxmlformats.org/officeDocument/2006/math">
                    <m:r>
                      <a:rPr lang="en-US" i="1" dirty="0">
                        <a:latin typeface="Cambria Math" panose="02040503050406030204" pitchFamily="18" charset="0"/>
                      </a:rPr>
                      <m:t>→</m:t>
                    </m:r>
                    <m:r>
                      <a:rPr lang="en-US" b="0" i="0" dirty="0" smtClean="0">
                        <a:latin typeface="Cambria Math" panose="02040503050406030204" pitchFamily="18" charset="0"/>
                      </a:rPr>
                      <m:t>5</m:t>
                    </m:r>
                  </m:oMath>
                </a14:m>
                <a:r>
                  <a:rPr lang="en-US" baseline="30000" dirty="0"/>
                  <a:t>th</a:t>
                </a:r>
                <a:r>
                  <a:rPr lang="en-US" dirty="0"/>
                  <a:t>  Semester</a:t>
                </a:r>
              </a:p>
              <a:p>
                <a:pPr>
                  <a:lnSpc>
                    <a:spcPct val="125000"/>
                  </a:lnSpc>
                </a:pPr>
                <a:r>
                  <a:rPr lang="en-US" b="1" dirty="0"/>
                  <a:t>Graph theory(2301CS595) </a:t>
                </a:r>
              </a:p>
            </p:txBody>
          </p:sp>
        </mc:Choice>
        <mc:Fallback xmlns="">
          <p:sp>
            <p:nvSpPr>
              <p:cNvPr id="20" name="Text Placeholder 19">
                <a:extLst>
                  <a:ext uri="{FF2B5EF4-FFF2-40B4-BE49-F238E27FC236}">
                    <a16:creationId xmlns:a16="http://schemas.microsoft.com/office/drawing/2014/main" xmlns="" xmlns:a14="http://schemas.microsoft.com/office/drawing/2010/main" id="{FF5B8673-7BA1-4EA7-991A-5F4DCD3054D0}"/>
                  </a:ext>
                </a:extLst>
              </p:cNvPr>
              <p:cNvSpPr>
                <a:spLocks noGrp="1" noRot="1" noChangeAspect="1" noMove="1" noResize="1" noEditPoints="1" noAdjustHandles="1" noChangeArrowheads="1" noChangeShapeType="1" noTextEdit="1"/>
              </p:cNvSpPr>
              <p:nvPr>
                <p:ph type="body" sz="quarter" idx="16"/>
              </p:nvPr>
            </p:nvSpPr>
            <p:spPr>
              <a:xfrm>
                <a:off x="2581756" y="135956"/>
                <a:ext cx="4646358" cy="734653"/>
              </a:xfrm>
              <a:blipFill rotWithShape="0">
                <a:blip r:embed="rId2"/>
                <a:stretch>
                  <a:fillRect t="-1653" b="-7438"/>
                </a:stretch>
              </a:blipFill>
            </p:spPr>
            <p:txBody>
              <a:bodyPr/>
              <a:lstStyle/>
              <a:p>
                <a:r>
                  <a:rPr lang="en-US">
                    <a:noFill/>
                  </a:rPr>
                  <a:t> </a:t>
                </a:r>
              </a:p>
            </p:txBody>
          </p:sp>
        </mc:Fallback>
      </mc:AlternateContent>
      <p:pic>
        <p:nvPicPr>
          <p:cNvPr id="3" name="Picture Placeholder 2"/>
          <p:cNvPicPr>
            <a:picLocks noGrp="1" noChangeAspect="1"/>
          </p:cNvPicPr>
          <p:nvPr>
            <p:ph type="pic" sz="quarter" idx="10"/>
          </p:nvPr>
        </p:nvPicPr>
        <p:blipFill>
          <a:blip r:embed="rId3" cstate="print">
            <a:extLst>
              <a:ext uri="{28A0092B-C50C-407E-A947-70E740481C1C}">
                <a14:useLocalDpi xmlns:a14="http://schemas.microsoft.com/office/drawing/2010/main" val="0"/>
              </a:ext>
            </a:extLst>
          </a:blip>
          <a:srcRect/>
          <a:stretch>
            <a:fillRect/>
          </a:stretch>
        </p:blipFill>
        <p:spPr/>
      </p:pic>
      <p:sp>
        <p:nvSpPr>
          <p:cNvPr id="12" name="Title 13">
            <a:extLst>
              <a:ext uri="{FF2B5EF4-FFF2-40B4-BE49-F238E27FC236}">
                <a16:creationId xmlns:a16="http://schemas.microsoft.com/office/drawing/2014/main" id="{F3B88914-E51B-4A33-96D7-EC0CE630740C}"/>
              </a:ext>
            </a:extLst>
          </p:cNvPr>
          <p:cNvSpPr txBox="1">
            <a:spLocks/>
          </p:cNvSpPr>
          <p:nvPr/>
        </p:nvSpPr>
        <p:spPr>
          <a:xfrm>
            <a:off x="602350" y="4188111"/>
            <a:ext cx="801907" cy="468715"/>
          </a:xfrm>
          <a:prstGeom prst="rect">
            <a:avLst/>
          </a:prstGeom>
        </p:spPr>
        <p:txBody>
          <a:bodyPr vert="horz" wrap="square" lIns="91440" tIns="45720" rIns="91440" bIns="45720" rtlCol="0" anchor="t">
            <a:noAutofit/>
          </a:bodyPr>
          <a:lstStyle>
            <a:lvl1pPr algn="l" defTabSz="914400" rtl="0" eaLnBrk="1" latinLnBrk="0" hangingPunct="1">
              <a:lnSpc>
                <a:spcPct val="90000"/>
              </a:lnSpc>
              <a:spcBef>
                <a:spcPct val="0"/>
              </a:spcBef>
              <a:buNone/>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sz="2400" b="0" dirty="0">
                <a:latin typeface="+mn-lt"/>
              </a:rPr>
              <a:t>CO1:</a:t>
            </a:r>
            <a:br>
              <a:rPr lang="en-US" sz="2400" dirty="0"/>
            </a:br>
            <a:endParaRPr lang="en-US" sz="2400" b="0" dirty="0">
              <a:latin typeface="+mn-lt"/>
            </a:endParaRPr>
          </a:p>
        </p:txBody>
      </p:sp>
      <p:sp>
        <p:nvSpPr>
          <p:cNvPr id="13" name="Title 13">
            <a:extLst>
              <a:ext uri="{FF2B5EF4-FFF2-40B4-BE49-F238E27FC236}">
                <a16:creationId xmlns:a16="http://schemas.microsoft.com/office/drawing/2014/main" id="{BBA8A0F4-F547-438E-815A-3C41AF4A49EB}"/>
              </a:ext>
            </a:extLst>
          </p:cNvPr>
          <p:cNvSpPr txBox="1">
            <a:spLocks/>
          </p:cNvSpPr>
          <p:nvPr/>
        </p:nvSpPr>
        <p:spPr>
          <a:xfrm>
            <a:off x="1252874" y="4188111"/>
            <a:ext cx="6599536" cy="821235"/>
          </a:xfrm>
          <a:prstGeom prst="rect">
            <a:avLst/>
          </a:prstGeom>
        </p:spPr>
        <p:txBody>
          <a:bodyPr vert="horz" wrap="square" lIns="91440" tIns="45720" rIns="91440" bIns="45720" rtlCol="0" anchor="t">
            <a:noAutofit/>
          </a:bodyPr>
          <a:lstStyle>
            <a:lvl1pPr algn="l" defTabSz="914400" rtl="0" eaLnBrk="1" latinLnBrk="0" hangingPunct="1">
              <a:lnSpc>
                <a:spcPct val="90000"/>
              </a:lnSpc>
              <a:spcBef>
                <a:spcPct val="0"/>
              </a:spcBef>
              <a:buNone/>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pPr algn="just"/>
            <a:r>
              <a:rPr lang="en-US" sz="2400" b="0" dirty="0">
                <a:latin typeface="+mn-lt"/>
              </a:rPr>
              <a:t>At the end of this unit, students will be able to </a:t>
            </a:r>
          </a:p>
          <a:p>
            <a:pPr algn="just"/>
            <a:r>
              <a:rPr lang="en-US" sz="2400" dirty="0">
                <a:solidFill>
                  <a:srgbClr val="FF0000"/>
                </a:solidFill>
              </a:rPr>
              <a:t>apply the properties of trees and spanning trees</a:t>
            </a:r>
            <a:endParaRPr lang="en-GB" sz="2400" dirty="0">
              <a:solidFill>
                <a:srgbClr val="FF0000"/>
              </a:solidFill>
              <a:latin typeface="+mn-lt"/>
            </a:endParaRPr>
          </a:p>
        </p:txBody>
      </p:sp>
    </p:spTree>
    <p:extLst>
      <p:ext uri="{BB962C8B-B14F-4D97-AF65-F5344CB8AC3E}">
        <p14:creationId xmlns:p14="http://schemas.microsoft.com/office/powerpoint/2010/main" val="12732609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a:stCxn id="6" idx="4"/>
          </p:cNvCxnSpPr>
          <p:nvPr/>
        </p:nvCxnSpPr>
        <p:spPr>
          <a:xfrm>
            <a:off x="1191446" y="1157468"/>
            <a:ext cx="0" cy="509025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4" y="646362"/>
            <a:ext cx="9445594" cy="5786199"/>
          </a:xfrm>
          <a:prstGeom prst="rect">
            <a:avLst/>
          </a:prstGeom>
          <a:noFill/>
        </p:spPr>
        <p:txBody>
          <a:bodyPr wrap="square" rtlCol="0">
            <a:spAutoFit/>
          </a:bodyPr>
          <a:lstStyle/>
          <a:p>
            <a:pPr>
              <a:lnSpc>
                <a:spcPct val="125000"/>
              </a:lnSpc>
            </a:pPr>
            <a:r>
              <a:rPr lang="en-US" sz="2800" b="1" dirty="0">
                <a:solidFill>
                  <a:srgbClr val="FF0000"/>
                </a:solidFill>
              </a:rPr>
              <a:t>Topics of Unit 1</a:t>
            </a:r>
          </a:p>
          <a:p>
            <a:pPr marL="800100" lvl="1" indent="-342900">
              <a:lnSpc>
                <a:spcPct val="125000"/>
              </a:lnSpc>
              <a:buFont typeface="Wingdings" panose="05000000000000000000" pitchFamily="2" charset="2"/>
              <a:buChar char="§"/>
            </a:pPr>
            <a:r>
              <a:rPr lang="en-US" sz="2400" dirty="0">
                <a:solidFill>
                  <a:srgbClr val="002060"/>
                </a:solidFill>
              </a:rPr>
              <a:t>Brief Introduction of Unit</a:t>
            </a:r>
          </a:p>
          <a:p>
            <a:pPr marL="800100" lvl="1" indent="-342900">
              <a:lnSpc>
                <a:spcPct val="125000"/>
              </a:lnSpc>
              <a:buFont typeface="Wingdings" panose="05000000000000000000" pitchFamily="2" charset="2"/>
              <a:buChar char="§"/>
            </a:pPr>
            <a:r>
              <a:rPr lang="en-US" sz="2400" dirty="0">
                <a:solidFill>
                  <a:srgbClr val="002060"/>
                </a:solidFill>
              </a:rPr>
              <a:t>Introduction to Trees</a:t>
            </a:r>
          </a:p>
          <a:p>
            <a:pPr marL="1257300" lvl="2" indent="-342900">
              <a:lnSpc>
                <a:spcPct val="125000"/>
              </a:lnSpc>
              <a:buFont typeface="Wingdings" panose="05000000000000000000" pitchFamily="2" charset="2"/>
              <a:buChar char="§"/>
            </a:pPr>
            <a:r>
              <a:rPr lang="en-US" sz="2400" dirty="0">
                <a:solidFill>
                  <a:srgbClr val="002060"/>
                </a:solidFill>
              </a:rPr>
              <a:t>Definition </a:t>
            </a:r>
          </a:p>
          <a:p>
            <a:pPr marL="1257300" lvl="2" indent="-342900">
              <a:lnSpc>
                <a:spcPct val="125000"/>
              </a:lnSpc>
              <a:buFont typeface="Wingdings" panose="05000000000000000000" pitchFamily="2" charset="2"/>
              <a:buChar char="§"/>
            </a:pPr>
            <a:r>
              <a:rPr lang="en-US" sz="2400" dirty="0">
                <a:solidFill>
                  <a:srgbClr val="002060"/>
                </a:solidFill>
              </a:rPr>
              <a:t>Properties </a:t>
            </a:r>
          </a:p>
          <a:p>
            <a:pPr marL="800100" lvl="1" indent="-342900">
              <a:lnSpc>
                <a:spcPct val="125000"/>
              </a:lnSpc>
              <a:buFont typeface="Wingdings" panose="05000000000000000000" pitchFamily="2" charset="2"/>
              <a:buChar char="§"/>
            </a:pPr>
            <a:r>
              <a:rPr lang="en-US" sz="2400" dirty="0">
                <a:solidFill>
                  <a:srgbClr val="002060"/>
                </a:solidFill>
              </a:rPr>
              <a:t>Pendent Vertices, Distance and Center in Trees</a:t>
            </a:r>
          </a:p>
          <a:p>
            <a:pPr marL="800100" lvl="1" indent="-342900">
              <a:lnSpc>
                <a:spcPct val="125000"/>
              </a:lnSpc>
              <a:buFont typeface="Wingdings" panose="05000000000000000000" pitchFamily="2" charset="2"/>
              <a:buChar char="§"/>
            </a:pPr>
            <a:r>
              <a:rPr lang="en-US" sz="2400" dirty="0">
                <a:solidFill>
                  <a:srgbClr val="002060"/>
                </a:solidFill>
              </a:rPr>
              <a:t>Introduction to Spanning Trees</a:t>
            </a:r>
          </a:p>
          <a:p>
            <a:pPr marL="1257300" lvl="2" indent="-342900">
              <a:lnSpc>
                <a:spcPct val="125000"/>
              </a:lnSpc>
              <a:buFont typeface="Wingdings" panose="05000000000000000000" pitchFamily="2" charset="2"/>
              <a:buChar char="§"/>
            </a:pPr>
            <a:r>
              <a:rPr lang="en-US" sz="2400" dirty="0">
                <a:solidFill>
                  <a:srgbClr val="002060"/>
                </a:solidFill>
              </a:rPr>
              <a:t>Definition </a:t>
            </a:r>
          </a:p>
          <a:p>
            <a:pPr marL="1257300" lvl="2" indent="-342900">
              <a:lnSpc>
                <a:spcPct val="125000"/>
              </a:lnSpc>
              <a:buFont typeface="Wingdings" panose="05000000000000000000" pitchFamily="2" charset="2"/>
              <a:buChar char="§"/>
            </a:pPr>
            <a:r>
              <a:rPr lang="en-US" sz="2400" dirty="0">
                <a:solidFill>
                  <a:srgbClr val="002060"/>
                </a:solidFill>
              </a:rPr>
              <a:t>Properties</a:t>
            </a:r>
          </a:p>
          <a:p>
            <a:pPr marL="800100" lvl="1" indent="-342900">
              <a:lnSpc>
                <a:spcPct val="125000"/>
              </a:lnSpc>
              <a:buFont typeface="Wingdings" panose="05000000000000000000" pitchFamily="2" charset="2"/>
              <a:buChar char="§"/>
            </a:pPr>
            <a:r>
              <a:rPr lang="en-US" sz="2400" dirty="0">
                <a:solidFill>
                  <a:srgbClr val="002060"/>
                </a:solidFill>
              </a:rPr>
              <a:t>Fundamental Circuits</a:t>
            </a:r>
          </a:p>
          <a:p>
            <a:pPr marL="800100" lvl="1" indent="-342900">
              <a:lnSpc>
                <a:spcPct val="125000"/>
              </a:lnSpc>
              <a:buFont typeface="Wingdings" panose="05000000000000000000" pitchFamily="2" charset="2"/>
              <a:buChar char="§"/>
            </a:pPr>
            <a:r>
              <a:rPr lang="en-US" sz="2400" dirty="0">
                <a:solidFill>
                  <a:srgbClr val="002060"/>
                </a:solidFill>
              </a:rPr>
              <a:t>Finding all Spanning Trees of Graphs</a:t>
            </a:r>
            <a:endParaRPr lang="en-US" sz="2800" dirty="0">
              <a:solidFill>
                <a:srgbClr val="002060"/>
              </a:solidFill>
            </a:endParaRPr>
          </a:p>
          <a:p>
            <a:pPr lvl="2">
              <a:lnSpc>
                <a:spcPct val="125000"/>
              </a:lnSpc>
            </a:pPr>
            <a:endParaRPr lang="en-US" sz="2800" dirty="0">
              <a:solidFill>
                <a:srgbClr val="002060"/>
              </a:solidFill>
            </a:endParaRPr>
          </a:p>
        </p:txBody>
      </p:sp>
    </p:spTree>
    <p:extLst>
      <p:ext uri="{BB962C8B-B14F-4D97-AF65-F5344CB8AC3E}">
        <p14:creationId xmlns:p14="http://schemas.microsoft.com/office/powerpoint/2010/main" val="1381759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par>
                          <p:cTn id="14" fill="hold">
                            <p:stCondLst>
                              <p:cond delay="1000"/>
                            </p:stCondLst>
                            <p:childTnLst>
                              <p:par>
                                <p:cTn id="15" presetID="22" presetClass="entr" presetSubtype="1"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500"/>
                                        <p:tgtEl>
                                          <p:spTgt spid="8"/>
                                        </p:tgtEl>
                                      </p:cBhvr>
                                    </p:animEffect>
                                  </p:childTnLst>
                                </p:cTn>
                              </p:par>
                            </p:childTnLst>
                          </p:cTn>
                        </p:par>
                        <p:par>
                          <p:cTn id="18" fill="hold">
                            <p:stCondLst>
                              <p:cond delay="1500"/>
                            </p:stCondLst>
                            <p:childTnLst>
                              <p:par>
                                <p:cTn id="19" presetID="22" presetClass="entr" presetSubtype="1" fill="hold" grpId="0"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up)">
                                      <p:cBhvr>
                                        <p:cTn id="21" dur="500"/>
                                        <p:tgtEl>
                                          <p:spTgt spid="9"/>
                                        </p:tgtEl>
                                      </p:cBhvr>
                                    </p:animEffect>
                                  </p:childTnLst>
                                </p:cTn>
                              </p:par>
                            </p:childTnLst>
                          </p:cTn>
                        </p:par>
                        <p:par>
                          <p:cTn id="22" fill="hold">
                            <p:stCondLst>
                              <p:cond delay="2000"/>
                            </p:stCondLst>
                            <p:childTnLst>
                              <p:par>
                                <p:cTn id="23" presetID="1" presetClass="entr" presetSubtype="0"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7200" u="sng" dirty="0">
                <a:uFill>
                  <a:solidFill>
                    <a:schemeClr val="bg1"/>
                  </a:solidFill>
                </a:uFill>
              </a:rPr>
              <a:t>Brief Introduction</a:t>
            </a:r>
            <a:endParaRPr lang="en-US" sz="7200" dirty="0"/>
          </a:p>
        </p:txBody>
      </p:sp>
    </p:spTree>
    <p:extLst>
      <p:ext uri="{BB962C8B-B14F-4D97-AF65-F5344CB8AC3E}">
        <p14:creationId xmlns:p14="http://schemas.microsoft.com/office/powerpoint/2010/main" val="17359736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Unit Overview</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p:txBody>
              <a:bodyPr/>
              <a:lstStyle/>
              <a:p>
                <a:pPr algn="l">
                  <a:lnSpc>
                    <a:spcPct val="150000"/>
                  </a:lnSpc>
                </a:pPr>
                <a:r>
                  <a:rPr lang="en-US" dirty="0"/>
                  <a:t>This Unit Focuses On</a:t>
                </a:r>
              </a:p>
              <a:p>
                <a:pPr lvl="1" algn="l">
                  <a:lnSpc>
                    <a:spcPct val="150000"/>
                  </a:lnSpc>
                </a:pPr>
                <a:r>
                  <a:rPr lang="en-US" dirty="0"/>
                  <a:t>A special class of connected graphs called </a:t>
                </a:r>
                <a:r>
                  <a:rPr lang="en-US" dirty="0">
                    <a:solidFill>
                      <a:srgbClr val="FF0000"/>
                    </a:solidFill>
                  </a:rPr>
                  <a:t>trees</a:t>
                </a:r>
                <a:r>
                  <a:rPr lang="en-US" dirty="0"/>
                  <a:t>.</a:t>
                </a:r>
              </a:p>
              <a:p>
                <a:pPr lvl="1" algn="l">
                  <a:lnSpc>
                    <a:spcPct val="150000"/>
                  </a:lnSpc>
                </a:pPr>
                <a:r>
                  <a:rPr lang="en-US" b="1" dirty="0"/>
                  <a:t>Unrooted</a:t>
                </a:r>
                <a:r>
                  <a:rPr lang="en-US" dirty="0"/>
                  <a:t> trees, along with their key properties.</a:t>
                </a:r>
              </a:p>
              <a:p>
                <a:pPr lvl="1" algn="l">
                  <a:lnSpc>
                    <a:spcPct val="150000"/>
                  </a:lnSpc>
                </a:pPr>
                <a:r>
                  <a:rPr lang="en-US" dirty="0"/>
                  <a:t>Trees as subgraphs of a connected graph </a:t>
                </a:r>
                <a14:m>
                  <m:oMath xmlns:m="http://schemas.openxmlformats.org/officeDocument/2006/math">
                    <m:r>
                      <m:rPr>
                        <m:sty m:val="p"/>
                      </m:rPr>
                      <a:rPr lang="en-US" i="0" dirty="0" smtClean="0">
                        <a:latin typeface="Cambria Math" panose="02040503050406030204" pitchFamily="18" charset="0"/>
                      </a:rPr>
                      <m:t>G</m:t>
                    </m:r>
                  </m:oMath>
                </a14:m>
                <a:r>
                  <a:rPr lang="en-US" dirty="0"/>
                  <a:t>, that include all vertices — called </a:t>
                </a:r>
                <a:r>
                  <a:rPr lang="en-US" dirty="0">
                    <a:solidFill>
                      <a:srgbClr val="FF0000"/>
                    </a:solidFill>
                  </a:rPr>
                  <a:t>spanning</a:t>
                </a:r>
                <a:r>
                  <a:rPr lang="en-US" dirty="0"/>
                  <a:t> </a:t>
                </a:r>
                <a:r>
                  <a:rPr lang="en-US" dirty="0">
                    <a:solidFill>
                      <a:srgbClr val="FF0000"/>
                    </a:solidFill>
                  </a:rPr>
                  <a:t>trees</a:t>
                </a:r>
                <a:r>
                  <a:rPr lang="en-US" dirty="0"/>
                  <a:t>.</a:t>
                </a:r>
              </a:p>
              <a:p>
                <a:pPr lvl="1" algn="l">
                  <a:lnSpc>
                    <a:spcPct val="150000"/>
                  </a:lnSpc>
                </a:pPr>
                <a:r>
                  <a:rPr lang="en-US" dirty="0"/>
                  <a:t>Methods to determine </a:t>
                </a:r>
                <a:r>
                  <a:rPr lang="en-US" b="1" dirty="0"/>
                  <a:t>all spanning trees</a:t>
                </a:r>
                <a:r>
                  <a:rPr lang="en-US" dirty="0"/>
                  <a:t> of a graph.</a:t>
                </a:r>
              </a:p>
              <a:p>
                <a:pPr lvl="1" algn="l">
                  <a:lnSpc>
                    <a:spcPct val="150000"/>
                  </a:lnSpc>
                </a:pPr>
                <a:r>
                  <a:rPr lang="en-US" dirty="0"/>
                  <a:t>Task</a:t>
                </a: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blipFill rotWithShape="0">
                <a:blip r:embed="rId2"/>
                <a:stretch>
                  <a:fillRect l="-971" r="-51"/>
                </a:stretch>
              </a:blipFill>
            </p:spPr>
            <p:txBody>
              <a:bodyPr/>
              <a:lstStyle/>
              <a:p>
                <a:r>
                  <a:rPr lang="en-US">
                    <a:noFill/>
                  </a:rPr>
                  <a:t> </a:t>
                </a:r>
              </a:p>
            </p:txBody>
          </p:sp>
        </mc:Fallback>
      </mc:AlternateContent>
    </p:spTree>
    <p:extLst>
      <p:ext uri="{BB962C8B-B14F-4D97-AF65-F5344CB8AC3E}">
        <p14:creationId xmlns:p14="http://schemas.microsoft.com/office/powerpoint/2010/main" val="4194643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uFill>
                  <a:solidFill>
                    <a:schemeClr val="bg1"/>
                  </a:solidFill>
                </a:uFill>
              </a:rPr>
              <a:t>Method – 1</a:t>
            </a:r>
            <a:br>
              <a:rPr lang="en-US" dirty="0">
                <a:hlinkClick r:id="rId2" action="ppaction://hlinksldjump">
                  <a:extLst>
                    <a:ext uri="{A12FA001-AC4F-418D-AE19-62706E023703}">
                      <ahyp:hlinkClr xmlns:ahyp="http://schemas.microsoft.com/office/drawing/2018/hyperlinkcolor" val="tx"/>
                    </a:ext>
                  </a:extLst>
                </a:hlinkClick>
              </a:rPr>
            </a:br>
            <a:r>
              <a:rPr lang="en-US" dirty="0"/>
              <a:t>Introduction to Trees</a:t>
            </a:r>
          </a:p>
        </p:txBody>
      </p:sp>
    </p:spTree>
    <p:extLst>
      <p:ext uri="{BB962C8B-B14F-4D97-AF65-F5344CB8AC3E}">
        <p14:creationId xmlns:p14="http://schemas.microsoft.com/office/powerpoint/2010/main" val="19076723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8390753" y="2990825"/>
            <a:ext cx="2816596" cy="2658086"/>
          </a:xfrm>
          <a:prstGeom prst="rect">
            <a:avLst/>
          </a:prstGeom>
        </p:spPr>
      </p:pic>
      <p:sp>
        <p:nvSpPr>
          <p:cNvPr id="2" name="Title 1"/>
          <p:cNvSpPr>
            <a:spLocks noGrp="1"/>
          </p:cNvSpPr>
          <p:nvPr>
            <p:ph type="title"/>
          </p:nvPr>
        </p:nvSpPr>
        <p:spPr/>
        <p:txBody>
          <a:bodyPr/>
          <a:lstStyle/>
          <a:p>
            <a:r>
              <a:rPr lang="en-US" dirty="0"/>
              <a:t>Tree</a:t>
            </a:r>
          </a:p>
        </p:txBody>
      </p:sp>
      <p:sp>
        <p:nvSpPr>
          <p:cNvPr id="3" name="Content Placeholder 2"/>
          <p:cNvSpPr>
            <a:spLocks noGrp="1"/>
          </p:cNvSpPr>
          <p:nvPr>
            <p:ph idx="1"/>
          </p:nvPr>
        </p:nvSpPr>
        <p:spPr/>
        <p:txBody>
          <a:bodyPr/>
          <a:lstStyle/>
          <a:p>
            <a:pPr lvl="0"/>
            <a:r>
              <a:rPr lang="en-IN" b="1" dirty="0"/>
              <a:t>Definition: </a:t>
            </a:r>
            <a:r>
              <a:rPr lang="en-US" dirty="0"/>
              <a:t>A </a:t>
            </a:r>
            <a:r>
              <a:rPr lang="en-US" b="1" dirty="0"/>
              <a:t>tree</a:t>
            </a:r>
            <a:r>
              <a:rPr lang="en-US" dirty="0"/>
              <a:t> is a connected graph with no cycles</a:t>
            </a:r>
            <a:r>
              <a:rPr lang="en-IN" b="1" dirty="0"/>
              <a:t>. </a:t>
            </a:r>
            <a:endParaRPr lang="en-IN" dirty="0"/>
          </a:p>
          <a:p>
            <a:endParaRPr lang="en-US" sz="2600" b="1" dirty="0">
              <a:latin typeface="Cambria Math" panose="02040503050406030204" pitchFamily="18" charset="0"/>
            </a:endParaRPr>
          </a:p>
        </p:txBody>
      </p:sp>
      <p:pic>
        <p:nvPicPr>
          <p:cNvPr id="4" name="Picture 3"/>
          <p:cNvPicPr>
            <a:picLocks noChangeAspect="1"/>
          </p:cNvPicPr>
          <p:nvPr/>
        </p:nvPicPr>
        <p:blipFill>
          <a:blip r:embed="rId3"/>
          <a:stretch>
            <a:fillRect/>
          </a:stretch>
        </p:blipFill>
        <p:spPr>
          <a:xfrm>
            <a:off x="510429" y="1868803"/>
            <a:ext cx="4249280" cy="4212701"/>
          </a:xfrm>
          <a:prstGeom prst="rect">
            <a:avLst/>
          </a:prstGeom>
        </p:spPr>
      </p:pic>
      <p:pic>
        <p:nvPicPr>
          <p:cNvPr id="5" name="Picture 4"/>
          <p:cNvPicPr>
            <a:picLocks noChangeAspect="1"/>
          </p:cNvPicPr>
          <p:nvPr/>
        </p:nvPicPr>
        <p:blipFill>
          <a:blip r:embed="rId4"/>
          <a:stretch>
            <a:fillRect/>
          </a:stretch>
        </p:blipFill>
        <p:spPr>
          <a:xfrm>
            <a:off x="4639815" y="2956344"/>
            <a:ext cx="2359356" cy="2749534"/>
          </a:xfrm>
          <a:prstGeom prst="rect">
            <a:avLst/>
          </a:prstGeom>
        </p:spPr>
      </p:pic>
      <p:sp>
        <p:nvSpPr>
          <p:cNvPr id="8" name="Rectangle 7"/>
          <p:cNvSpPr/>
          <p:nvPr/>
        </p:nvSpPr>
        <p:spPr>
          <a:xfrm>
            <a:off x="4611470" y="5540721"/>
            <a:ext cx="2416046" cy="400110"/>
          </a:xfrm>
          <a:prstGeom prst="rect">
            <a:avLst/>
          </a:prstGeom>
        </p:spPr>
        <p:txBody>
          <a:bodyPr wrap="none">
            <a:spAutoFit/>
          </a:bodyPr>
          <a:lstStyle/>
          <a:p>
            <a:r>
              <a:rPr lang="en-IN" sz="2000" b="1" dirty="0">
                <a:solidFill>
                  <a:srgbClr val="FF0000"/>
                </a:solidFill>
              </a:rPr>
              <a:t>(Disconnected Graph)</a:t>
            </a:r>
            <a:endParaRPr lang="en-US" sz="2000" b="1" dirty="0">
              <a:solidFill>
                <a:srgbClr val="FF0000"/>
              </a:solidFill>
            </a:endParaRPr>
          </a:p>
        </p:txBody>
      </p:sp>
      <p:sp>
        <p:nvSpPr>
          <p:cNvPr id="13" name="Rectangle 12"/>
          <p:cNvSpPr/>
          <p:nvPr/>
        </p:nvSpPr>
        <p:spPr>
          <a:xfrm>
            <a:off x="8377105" y="5519471"/>
            <a:ext cx="2165978" cy="400110"/>
          </a:xfrm>
          <a:prstGeom prst="rect">
            <a:avLst/>
          </a:prstGeom>
        </p:spPr>
        <p:txBody>
          <a:bodyPr wrap="none">
            <a:spAutoFit/>
          </a:bodyPr>
          <a:lstStyle/>
          <a:p>
            <a:r>
              <a:rPr lang="en-IN" sz="2000" b="1" dirty="0">
                <a:solidFill>
                  <a:srgbClr val="FF0000"/>
                </a:solidFill>
              </a:rPr>
              <a:t>(Graph with circuit)</a:t>
            </a:r>
            <a:endParaRPr lang="en-US" sz="2000" b="1" dirty="0">
              <a:solidFill>
                <a:srgbClr val="FF0000"/>
              </a:solidFill>
            </a:endParaRPr>
          </a:p>
        </p:txBody>
      </p:sp>
      <p:cxnSp>
        <p:nvCxnSpPr>
          <p:cNvPr id="26" name="Straight Connector 25"/>
          <p:cNvCxnSpPr/>
          <p:nvPr/>
        </p:nvCxnSpPr>
        <p:spPr>
          <a:xfrm>
            <a:off x="3560064" y="1347216"/>
            <a:ext cx="2389632" cy="0"/>
          </a:xfrm>
          <a:prstGeom prst="line">
            <a:avLst/>
          </a:prstGeom>
          <a:ln w="28575"/>
        </p:spPr>
        <p:style>
          <a:lnRef idx="3">
            <a:schemeClr val="accent6"/>
          </a:lnRef>
          <a:fillRef idx="0">
            <a:schemeClr val="accent6"/>
          </a:fillRef>
          <a:effectRef idx="2">
            <a:schemeClr val="accent6"/>
          </a:effectRef>
          <a:fontRef idx="minor">
            <a:schemeClr val="tx1"/>
          </a:fontRef>
        </p:style>
      </p:cxnSp>
      <p:cxnSp>
        <p:nvCxnSpPr>
          <p:cNvPr id="29" name="Straight Connector 28"/>
          <p:cNvCxnSpPr/>
          <p:nvPr/>
        </p:nvCxnSpPr>
        <p:spPr>
          <a:xfrm>
            <a:off x="6639480" y="1347216"/>
            <a:ext cx="1292352" cy="0"/>
          </a:xfrm>
          <a:prstGeom prst="line">
            <a:avLst/>
          </a:prstGeom>
          <a:ln w="28575"/>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134104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Remarks on Trees</a:t>
            </a:r>
          </a:p>
        </p:txBody>
      </p:sp>
      <p:sp>
        <p:nvSpPr>
          <p:cNvPr id="3" name="Content Placeholder 2"/>
          <p:cNvSpPr>
            <a:spLocks noGrp="1"/>
          </p:cNvSpPr>
          <p:nvPr>
            <p:ph idx="1"/>
          </p:nvPr>
        </p:nvSpPr>
        <p:spPr/>
        <p:txBody>
          <a:bodyPr/>
          <a:lstStyle/>
          <a:p>
            <a:pPr lvl="0">
              <a:lnSpc>
                <a:spcPct val="100000"/>
              </a:lnSpc>
            </a:pPr>
            <a:r>
              <a:rPr lang="en-US" dirty="0"/>
              <a:t>Some authors allow a </a:t>
            </a:r>
            <a:r>
              <a:rPr lang="en-US" b="1" dirty="0"/>
              <a:t>null tree</a:t>
            </a:r>
            <a:r>
              <a:rPr lang="en-US" dirty="0"/>
              <a:t> (no vertices)</a:t>
            </a:r>
            <a:r>
              <a:rPr lang="en-IN" dirty="0"/>
              <a:t>. </a:t>
            </a:r>
          </a:p>
          <a:p>
            <a:pPr lvl="0">
              <a:lnSpc>
                <a:spcPct val="100000"/>
              </a:lnSpc>
            </a:pPr>
            <a:r>
              <a:rPr lang="en-US" dirty="0"/>
              <a:t>In this course, we consider </a:t>
            </a:r>
            <a:r>
              <a:rPr lang="en-US" b="1" dirty="0"/>
              <a:t>finite trees with at least one vertex</a:t>
            </a:r>
            <a:r>
              <a:rPr lang="en-IN" b="1" dirty="0"/>
              <a:t>. </a:t>
            </a:r>
            <a:endParaRPr lang="en-US" b="1" dirty="0"/>
          </a:p>
          <a:p>
            <a:pPr lvl="0">
              <a:lnSpc>
                <a:spcPct val="100000"/>
              </a:lnSpc>
            </a:pPr>
            <a:r>
              <a:rPr lang="en-US" dirty="0"/>
              <a:t>A tree is a </a:t>
            </a:r>
            <a:r>
              <a:rPr lang="en-US" b="1" dirty="0"/>
              <a:t>simple graph.</a:t>
            </a:r>
          </a:p>
          <a:p>
            <a:pPr lvl="0">
              <a:lnSpc>
                <a:spcPct val="100000"/>
              </a:lnSpc>
            </a:pPr>
            <a:r>
              <a:rPr lang="en-US" dirty="0"/>
              <a:t>We will not discuss </a:t>
            </a:r>
            <a:r>
              <a:rPr lang="en-US" dirty="0">
                <a:solidFill>
                  <a:srgbClr val="C00000"/>
                </a:solidFill>
              </a:rPr>
              <a:t>rooted trees </a:t>
            </a:r>
            <a:r>
              <a:rPr lang="en-US" dirty="0"/>
              <a:t>in this course, as you have already studied them in Data Structures.</a:t>
            </a:r>
          </a:p>
          <a:p>
            <a:pPr lvl="0">
              <a:lnSpc>
                <a:spcPct val="100000"/>
              </a:lnSpc>
            </a:pPr>
            <a:r>
              <a:rPr lang="en-US" b="1" dirty="0"/>
              <a:t>Any unrooted tree can be converted into a rooted tree by choosing any vertex as root.</a:t>
            </a:r>
          </a:p>
          <a:p>
            <a:pPr lvl="0">
              <a:lnSpc>
                <a:spcPct val="100000"/>
              </a:lnSpc>
            </a:pPr>
            <a:r>
              <a:rPr lang="en-US" dirty="0"/>
              <a:t>Applications of Trees:</a:t>
            </a:r>
          </a:p>
          <a:p>
            <a:pPr lvl="1">
              <a:lnSpc>
                <a:spcPct val="100000"/>
              </a:lnSpc>
            </a:pPr>
            <a:r>
              <a:rPr lang="en-US" dirty="0"/>
              <a:t>Trees used in data structures (searching, sorting).</a:t>
            </a:r>
          </a:p>
          <a:p>
            <a:pPr lvl="1">
              <a:lnSpc>
                <a:spcPct val="100000"/>
              </a:lnSpc>
            </a:pPr>
            <a:r>
              <a:rPr lang="en-US" dirty="0"/>
              <a:t>Hierarchical real-world systems.</a:t>
            </a:r>
          </a:p>
          <a:p>
            <a:endParaRPr lang="en-US" dirty="0"/>
          </a:p>
        </p:txBody>
      </p:sp>
    </p:spTree>
    <p:extLst>
      <p:ext uri="{BB962C8B-B14F-4D97-AF65-F5344CB8AC3E}">
        <p14:creationId xmlns:p14="http://schemas.microsoft.com/office/powerpoint/2010/main" val="1219721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p:cNvSpPr>
            <a:spLocks noGrp="1"/>
          </p:cNvSpPr>
          <p:nvPr>
            <p:ph type="title"/>
          </p:nvPr>
        </p:nvSpPr>
        <p:spPr/>
        <p:txBody>
          <a:bodyPr/>
          <a:lstStyle/>
          <a:p>
            <a:r>
              <a:rPr lang="en-US" dirty="0"/>
              <a:t>Trees with one, two, three, and four vertices</a:t>
            </a:r>
          </a:p>
        </p:txBody>
      </p:sp>
      <p:sp>
        <p:nvSpPr>
          <p:cNvPr id="4" name="Content Placeholder 3"/>
          <p:cNvSpPr>
            <a:spLocks noGrp="1"/>
          </p:cNvSpPr>
          <p:nvPr>
            <p:ph idx="1"/>
          </p:nvPr>
        </p:nvSpPr>
        <p:spPr/>
        <p:txBody>
          <a:bodyPr/>
          <a:lstStyle/>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pPr marL="0" indent="0">
              <a:buNone/>
            </a:pPr>
            <a:endParaRPr lang="en-US" b="1" dirty="0"/>
          </a:p>
          <a:p>
            <a:r>
              <a:rPr lang="en-US" b="1" dirty="0"/>
              <a:t>How many different trees are possible?</a:t>
            </a:r>
            <a:r>
              <a:rPr lang="en-US" dirty="0"/>
              <a:t> </a:t>
            </a:r>
            <a:r>
              <a:rPr lang="en-US" i="1" dirty="0"/>
              <a:t>(Non-isomorphic)</a:t>
            </a:r>
            <a:endParaRPr lang="en-US" dirty="0"/>
          </a:p>
          <a:p>
            <a:endParaRPr lang="en-US" dirty="0"/>
          </a:p>
        </p:txBody>
      </p:sp>
      <p:pic>
        <p:nvPicPr>
          <p:cNvPr id="2" name="Picture 1"/>
          <p:cNvPicPr>
            <a:picLocks noChangeAspect="1"/>
          </p:cNvPicPr>
          <p:nvPr/>
        </p:nvPicPr>
        <p:blipFill>
          <a:blip r:embed="rId2"/>
          <a:stretch>
            <a:fillRect/>
          </a:stretch>
        </p:blipFill>
        <p:spPr>
          <a:xfrm>
            <a:off x="1514379" y="2982058"/>
            <a:ext cx="634039" cy="2237426"/>
          </a:xfrm>
          <a:prstGeom prst="rect">
            <a:avLst/>
          </a:prstGeom>
        </p:spPr>
      </p:pic>
      <p:pic>
        <p:nvPicPr>
          <p:cNvPr id="3" name="Picture 2"/>
          <p:cNvPicPr>
            <a:picLocks noChangeAspect="1"/>
          </p:cNvPicPr>
          <p:nvPr/>
        </p:nvPicPr>
        <p:blipFill>
          <a:blip r:embed="rId3"/>
          <a:stretch>
            <a:fillRect/>
          </a:stretch>
        </p:blipFill>
        <p:spPr>
          <a:xfrm>
            <a:off x="3418800" y="1929871"/>
            <a:ext cx="627942" cy="3267739"/>
          </a:xfrm>
          <a:prstGeom prst="rect">
            <a:avLst/>
          </a:prstGeom>
        </p:spPr>
      </p:pic>
      <p:pic>
        <p:nvPicPr>
          <p:cNvPr id="16" name="Picture 15"/>
          <p:cNvPicPr>
            <a:picLocks noChangeAspect="1"/>
          </p:cNvPicPr>
          <p:nvPr/>
        </p:nvPicPr>
        <p:blipFill>
          <a:blip r:embed="rId4"/>
          <a:stretch>
            <a:fillRect/>
          </a:stretch>
        </p:blipFill>
        <p:spPr>
          <a:xfrm>
            <a:off x="5370906" y="1882554"/>
            <a:ext cx="2152075" cy="3304318"/>
          </a:xfrm>
          <a:prstGeom prst="rect">
            <a:avLst/>
          </a:prstGeom>
        </p:spPr>
      </p:pic>
      <p:pic>
        <p:nvPicPr>
          <p:cNvPr id="17" name="Picture 16"/>
          <p:cNvPicPr>
            <a:picLocks noChangeAspect="1"/>
          </p:cNvPicPr>
          <p:nvPr/>
        </p:nvPicPr>
        <p:blipFill>
          <a:blip r:embed="rId5"/>
          <a:stretch>
            <a:fillRect/>
          </a:stretch>
        </p:blipFill>
        <p:spPr>
          <a:xfrm>
            <a:off x="8842843" y="1287442"/>
            <a:ext cx="2755631" cy="3913971"/>
          </a:xfrm>
          <a:prstGeom prst="rect">
            <a:avLst/>
          </a:prstGeom>
        </p:spPr>
      </p:pic>
    </p:spTree>
    <p:extLst>
      <p:ext uri="{BB962C8B-B14F-4D97-AF65-F5344CB8AC3E}">
        <p14:creationId xmlns:p14="http://schemas.microsoft.com/office/powerpoint/2010/main" val="1445765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p:cNvSpPr>
            <a:spLocks noGrp="1"/>
          </p:cNvSpPr>
          <p:nvPr>
            <p:ph type="title"/>
          </p:nvPr>
        </p:nvSpPr>
        <p:spPr/>
        <p:txBody>
          <a:bodyPr/>
          <a:lstStyle/>
          <a:p>
            <a:r>
              <a:rPr lang="en-US" dirty="0"/>
              <a:t>Recall: </a:t>
            </a:r>
            <a:r>
              <a:rPr lang="en-IN" dirty="0"/>
              <a:t>Graph Isomorphism</a:t>
            </a:r>
            <a:endParaRPr lang="en-US" dirty="0"/>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p:txBody>
              <a:bodyPr/>
              <a:lstStyle/>
              <a:p>
                <a:r>
                  <a:rPr lang="en-IN" dirty="0"/>
                  <a:t>Two graphs </a:t>
                </a:r>
                <a14:m>
                  <m:oMath xmlns:m="http://schemas.openxmlformats.org/officeDocument/2006/math">
                    <m:sSub>
                      <m:sSubPr>
                        <m:ctrlPr>
                          <a:rPr lang="en-IN" i="1">
                            <a:latin typeface="Cambria Math" panose="02040503050406030204" pitchFamily="18" charset="0"/>
                          </a:rPr>
                        </m:ctrlPr>
                      </m:sSubPr>
                      <m:e>
                        <m:r>
                          <m:rPr>
                            <m:sty m:val="p"/>
                          </m:rPr>
                          <a:rPr lang="en-IN">
                            <a:latin typeface="Cambria Math" panose="02040503050406030204" pitchFamily="18" charset="0"/>
                          </a:rPr>
                          <m:t>G</m:t>
                        </m:r>
                      </m:e>
                      <m:sub>
                        <m:r>
                          <a:rPr lang="en-IN">
                            <a:latin typeface="Cambria Math" panose="02040503050406030204" pitchFamily="18" charset="0"/>
                          </a:rPr>
                          <m:t>1</m:t>
                        </m:r>
                      </m:sub>
                    </m:sSub>
                    <m:r>
                      <a:rPr lang="en-IN">
                        <a:latin typeface="Cambria Math" panose="02040503050406030204" pitchFamily="18" charset="0"/>
                      </a:rPr>
                      <m:t>=</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m:rPr>
                                <m:sty m:val="p"/>
                              </m:rPr>
                              <a:rPr lang="en-IN">
                                <a:latin typeface="Cambria Math" panose="02040503050406030204" pitchFamily="18" charset="0"/>
                              </a:rPr>
                              <m:t>V</m:t>
                            </m:r>
                          </m:e>
                          <m:sub>
                            <m:r>
                              <a:rPr lang="en-IN">
                                <a:latin typeface="Cambria Math" panose="02040503050406030204" pitchFamily="18" charset="0"/>
                              </a:rPr>
                              <m:t>1</m:t>
                            </m:r>
                          </m:sub>
                        </m:sSub>
                        <m:r>
                          <a:rPr lang="en-IN">
                            <a:latin typeface="Cambria Math" panose="02040503050406030204" pitchFamily="18" charset="0"/>
                          </a:rPr>
                          <m:t>, </m:t>
                        </m:r>
                        <m:sSub>
                          <m:sSubPr>
                            <m:ctrlPr>
                              <a:rPr lang="en-IN" i="1">
                                <a:latin typeface="Cambria Math" panose="02040503050406030204" pitchFamily="18" charset="0"/>
                              </a:rPr>
                            </m:ctrlPr>
                          </m:sSubPr>
                          <m:e>
                            <m:r>
                              <m:rPr>
                                <m:sty m:val="p"/>
                              </m:rPr>
                              <a:rPr lang="en-IN">
                                <a:latin typeface="Cambria Math" panose="02040503050406030204" pitchFamily="18" charset="0"/>
                              </a:rPr>
                              <m:t>E</m:t>
                            </m:r>
                          </m:e>
                          <m:sub>
                            <m:r>
                              <a:rPr lang="en-IN">
                                <a:latin typeface="Cambria Math" panose="02040503050406030204" pitchFamily="18" charset="0"/>
                              </a:rPr>
                              <m:t>1</m:t>
                            </m:r>
                          </m:sub>
                        </m:sSub>
                      </m:e>
                    </m:d>
                  </m:oMath>
                </a14:m>
                <a:r>
                  <a:rPr lang="en-IN" dirty="0"/>
                  <a:t> and </a:t>
                </a:r>
                <a14:m>
                  <m:oMath xmlns:m="http://schemas.openxmlformats.org/officeDocument/2006/math">
                    <m:sSub>
                      <m:sSubPr>
                        <m:ctrlPr>
                          <a:rPr lang="en-IN" i="1">
                            <a:latin typeface="Cambria Math" panose="02040503050406030204" pitchFamily="18" charset="0"/>
                          </a:rPr>
                        </m:ctrlPr>
                      </m:sSubPr>
                      <m:e>
                        <m:r>
                          <m:rPr>
                            <m:sty m:val="p"/>
                          </m:rPr>
                          <a:rPr lang="en-IN">
                            <a:latin typeface="Cambria Math" panose="02040503050406030204" pitchFamily="18" charset="0"/>
                          </a:rPr>
                          <m:t>G</m:t>
                        </m:r>
                      </m:e>
                      <m:sub>
                        <m:r>
                          <a:rPr lang="en-IN">
                            <a:latin typeface="Cambria Math" panose="02040503050406030204" pitchFamily="18" charset="0"/>
                          </a:rPr>
                          <m:t>2</m:t>
                        </m:r>
                      </m:sub>
                    </m:sSub>
                    <m:r>
                      <a:rPr lang="en-IN">
                        <a:latin typeface="Cambria Math" panose="02040503050406030204" pitchFamily="18" charset="0"/>
                      </a:rPr>
                      <m:t>=</m:t>
                    </m:r>
                    <m:d>
                      <m:dPr>
                        <m:ctrlPr>
                          <a:rPr lang="en-IN" i="1">
                            <a:latin typeface="Cambria Math" panose="02040503050406030204" pitchFamily="18" charset="0"/>
                          </a:rPr>
                        </m:ctrlPr>
                      </m:dPr>
                      <m:e>
                        <m:sSub>
                          <m:sSubPr>
                            <m:ctrlPr>
                              <a:rPr lang="en-IN" i="1">
                                <a:latin typeface="Cambria Math" panose="02040503050406030204" pitchFamily="18" charset="0"/>
                              </a:rPr>
                            </m:ctrlPr>
                          </m:sSubPr>
                          <m:e>
                            <m:r>
                              <m:rPr>
                                <m:sty m:val="p"/>
                              </m:rPr>
                              <a:rPr lang="en-IN">
                                <a:latin typeface="Cambria Math" panose="02040503050406030204" pitchFamily="18" charset="0"/>
                              </a:rPr>
                              <m:t>V</m:t>
                            </m:r>
                          </m:e>
                          <m:sub>
                            <m:r>
                              <a:rPr lang="en-IN">
                                <a:latin typeface="Cambria Math" panose="02040503050406030204" pitchFamily="18" charset="0"/>
                              </a:rPr>
                              <m:t>2</m:t>
                            </m:r>
                          </m:sub>
                        </m:sSub>
                        <m:r>
                          <a:rPr lang="en-IN">
                            <a:latin typeface="Cambria Math" panose="02040503050406030204" pitchFamily="18" charset="0"/>
                          </a:rPr>
                          <m:t>, </m:t>
                        </m:r>
                        <m:sSub>
                          <m:sSubPr>
                            <m:ctrlPr>
                              <a:rPr lang="en-IN" i="1">
                                <a:latin typeface="Cambria Math" panose="02040503050406030204" pitchFamily="18" charset="0"/>
                              </a:rPr>
                            </m:ctrlPr>
                          </m:sSubPr>
                          <m:e>
                            <m:r>
                              <m:rPr>
                                <m:sty m:val="p"/>
                              </m:rPr>
                              <a:rPr lang="en-IN">
                                <a:latin typeface="Cambria Math" panose="02040503050406030204" pitchFamily="18" charset="0"/>
                              </a:rPr>
                              <m:t>E</m:t>
                            </m:r>
                          </m:e>
                          <m:sub>
                            <m:r>
                              <a:rPr lang="en-IN">
                                <a:latin typeface="Cambria Math" panose="02040503050406030204" pitchFamily="18" charset="0"/>
                              </a:rPr>
                              <m:t>2</m:t>
                            </m:r>
                          </m:sub>
                        </m:sSub>
                      </m:e>
                    </m:d>
                  </m:oMath>
                </a14:m>
                <a:r>
                  <a:rPr lang="en-IN" dirty="0"/>
                  <a:t> are isomorphic</a:t>
                </a:r>
                <a14:m>
                  <m:oMath xmlns:m="http://schemas.openxmlformats.org/officeDocument/2006/math">
                    <m:r>
                      <a:rPr lang="en-IN" i="1" dirty="0" smtClean="0">
                        <a:latin typeface="Cambria Math" panose="02040503050406030204" pitchFamily="18" charset="0"/>
                      </a:rPr>
                      <m:t> (</m:t>
                    </m:r>
                    <m:sSub>
                      <m:sSubPr>
                        <m:ctrlPr>
                          <a:rPr lang="en-US" b="0" i="1" dirty="0" smtClean="0">
                            <a:latin typeface="Cambria Math" panose="02040503050406030204" pitchFamily="18" charset="0"/>
                          </a:rPr>
                        </m:ctrlPr>
                      </m:sSubPr>
                      <m:e>
                        <m:r>
                          <m:rPr>
                            <m:sty m:val="p"/>
                          </m:rPr>
                          <a:rPr lang="en-US" b="0" i="0" dirty="0" smtClean="0">
                            <a:latin typeface="Cambria Math" panose="02040503050406030204" pitchFamily="18" charset="0"/>
                          </a:rPr>
                          <m:t>G</m:t>
                        </m:r>
                      </m:e>
                      <m:sub>
                        <m:r>
                          <a:rPr lang="en-US" b="0" i="0" dirty="0" smtClean="0">
                            <a:latin typeface="Cambria Math" panose="02040503050406030204" pitchFamily="18" charset="0"/>
                          </a:rPr>
                          <m:t>1</m:t>
                        </m:r>
                      </m:sub>
                    </m:sSub>
                    <m:r>
                      <a:rPr lang="en-US" i="0" dirty="0">
                        <a:latin typeface="Cambria Math" panose="02040503050406030204" pitchFamily="18" charset="0"/>
                        <a:ea typeface="Cambria Math" panose="02040503050406030204" pitchFamily="18" charset="0"/>
                      </a:rPr>
                      <m:t>≅</m:t>
                    </m:r>
                    <m:sSub>
                      <m:sSubPr>
                        <m:ctrlPr>
                          <a:rPr lang="en-US" b="0" i="1" dirty="0" smtClean="0">
                            <a:latin typeface="Cambria Math" panose="02040503050406030204" pitchFamily="18" charset="0"/>
                            <a:ea typeface="Cambria Math" panose="02040503050406030204" pitchFamily="18" charset="0"/>
                          </a:rPr>
                        </m:ctrlPr>
                      </m:sSubPr>
                      <m:e>
                        <m:r>
                          <m:rPr>
                            <m:sty m:val="p"/>
                          </m:rPr>
                          <a:rPr lang="en-US" b="0" i="0" dirty="0" smtClean="0">
                            <a:latin typeface="Cambria Math" panose="02040503050406030204" pitchFamily="18" charset="0"/>
                            <a:ea typeface="Cambria Math" panose="02040503050406030204" pitchFamily="18" charset="0"/>
                          </a:rPr>
                          <m:t>G</m:t>
                        </m:r>
                      </m:e>
                      <m:sub>
                        <m:r>
                          <a:rPr lang="en-US" b="0" i="0" dirty="0" smtClean="0">
                            <a:latin typeface="Cambria Math" panose="02040503050406030204" pitchFamily="18" charset="0"/>
                            <a:ea typeface="Cambria Math" panose="02040503050406030204" pitchFamily="18" charset="0"/>
                          </a:rPr>
                          <m:t>2</m:t>
                        </m:r>
                      </m:sub>
                    </m:sSub>
                    <m:r>
                      <a:rPr lang="en-IN" i="1" dirty="0" smtClean="0">
                        <a:latin typeface="Cambria Math" panose="02040503050406030204" pitchFamily="18" charset="0"/>
                      </a:rPr>
                      <m:t>)</m:t>
                    </m:r>
                  </m:oMath>
                </a14:m>
                <a:r>
                  <a:rPr lang="en-IN" dirty="0"/>
                  <a:t> if</a:t>
                </a:r>
              </a:p>
              <a:p>
                <a:pPr lvl="1">
                  <a:lnSpc>
                    <a:spcPct val="150000"/>
                  </a:lnSpc>
                </a:pPr>
                <a:r>
                  <a:rPr lang="en-IN" dirty="0"/>
                  <a:t>(order same)</a:t>
                </a:r>
                <a14:m>
                  <m:oMath xmlns:m="http://schemas.openxmlformats.org/officeDocument/2006/math">
                    <m:d>
                      <m:dPr>
                        <m:begChr m:val="|"/>
                        <m:endChr m:val="|"/>
                        <m:ctrlPr>
                          <a:rPr lang="en-IN" i="1" smtClean="0">
                            <a:latin typeface="Cambria Math" panose="02040503050406030204" pitchFamily="18" charset="0"/>
                          </a:rPr>
                        </m:ctrlPr>
                      </m:dPr>
                      <m:e>
                        <m:sSub>
                          <m:sSubPr>
                            <m:ctrlPr>
                              <a:rPr lang="en-IN" i="1">
                                <a:latin typeface="Cambria Math" panose="02040503050406030204" pitchFamily="18" charset="0"/>
                              </a:rPr>
                            </m:ctrlPr>
                          </m:sSubPr>
                          <m:e>
                            <m:r>
                              <m:rPr>
                                <m:sty m:val="p"/>
                              </m:rPr>
                              <a:rPr lang="en-IN" i="0">
                                <a:latin typeface="Cambria Math" panose="02040503050406030204" pitchFamily="18" charset="0"/>
                              </a:rPr>
                              <m:t>V</m:t>
                            </m:r>
                          </m:e>
                          <m:sub>
                            <m:r>
                              <a:rPr lang="en-IN" i="0">
                                <a:latin typeface="Cambria Math" panose="02040503050406030204" pitchFamily="18" charset="0"/>
                              </a:rPr>
                              <m:t>1</m:t>
                            </m:r>
                          </m:sub>
                        </m:sSub>
                      </m:e>
                    </m:d>
                    <m:r>
                      <a:rPr lang="en-IN" i="0">
                        <a:latin typeface="Cambria Math" panose="02040503050406030204" pitchFamily="18" charset="0"/>
                      </a:rPr>
                      <m:t>=</m:t>
                    </m:r>
                    <m:d>
                      <m:dPr>
                        <m:begChr m:val="|"/>
                        <m:endChr m:val="|"/>
                        <m:ctrlPr>
                          <a:rPr lang="en-IN" i="1">
                            <a:latin typeface="Cambria Math" panose="02040503050406030204" pitchFamily="18" charset="0"/>
                          </a:rPr>
                        </m:ctrlPr>
                      </m:dPr>
                      <m:e>
                        <m:sSub>
                          <m:sSubPr>
                            <m:ctrlPr>
                              <a:rPr lang="en-IN" i="1">
                                <a:latin typeface="Cambria Math" panose="02040503050406030204" pitchFamily="18" charset="0"/>
                              </a:rPr>
                            </m:ctrlPr>
                          </m:sSubPr>
                          <m:e>
                            <m:r>
                              <m:rPr>
                                <m:sty m:val="p"/>
                              </m:rPr>
                              <a:rPr lang="en-IN" i="0">
                                <a:latin typeface="Cambria Math" panose="02040503050406030204" pitchFamily="18" charset="0"/>
                              </a:rPr>
                              <m:t>V</m:t>
                            </m:r>
                          </m:e>
                          <m:sub>
                            <m:r>
                              <a:rPr lang="en-IN" i="0">
                                <a:latin typeface="Cambria Math" panose="02040503050406030204" pitchFamily="18" charset="0"/>
                              </a:rPr>
                              <m:t>2</m:t>
                            </m:r>
                          </m:sub>
                        </m:sSub>
                      </m:e>
                    </m:d>
                  </m:oMath>
                </a14:m>
                <a:endParaRPr lang="en-IN" dirty="0"/>
              </a:p>
              <a:p>
                <a:pPr lvl="1">
                  <a:lnSpc>
                    <a:spcPct val="150000"/>
                  </a:lnSpc>
                </a:pPr>
                <a:r>
                  <a:rPr lang="en-IN" dirty="0"/>
                  <a:t>(size same)</a:t>
                </a:r>
                <a14:m>
                  <m:oMath xmlns:m="http://schemas.openxmlformats.org/officeDocument/2006/math">
                    <m:d>
                      <m:dPr>
                        <m:begChr m:val="|"/>
                        <m:endChr m:val="|"/>
                        <m:ctrlPr>
                          <a:rPr lang="en-IN" i="1">
                            <a:latin typeface="Cambria Math" panose="02040503050406030204" pitchFamily="18" charset="0"/>
                          </a:rPr>
                        </m:ctrlPr>
                      </m:dPr>
                      <m:e>
                        <m:sSub>
                          <m:sSubPr>
                            <m:ctrlPr>
                              <a:rPr lang="en-IN" i="1">
                                <a:latin typeface="Cambria Math" panose="02040503050406030204" pitchFamily="18" charset="0"/>
                              </a:rPr>
                            </m:ctrlPr>
                          </m:sSubPr>
                          <m:e>
                            <m:r>
                              <m:rPr>
                                <m:sty m:val="p"/>
                              </m:rPr>
                              <a:rPr lang="en-IN" i="0">
                                <a:latin typeface="Cambria Math" panose="02040503050406030204" pitchFamily="18" charset="0"/>
                              </a:rPr>
                              <m:t>E</m:t>
                            </m:r>
                          </m:e>
                          <m:sub>
                            <m:r>
                              <a:rPr lang="en-IN" i="0">
                                <a:latin typeface="Cambria Math" panose="02040503050406030204" pitchFamily="18" charset="0"/>
                              </a:rPr>
                              <m:t>1</m:t>
                            </m:r>
                          </m:sub>
                        </m:sSub>
                      </m:e>
                    </m:d>
                    <m:r>
                      <a:rPr lang="en-IN" i="0">
                        <a:latin typeface="Cambria Math" panose="02040503050406030204" pitchFamily="18" charset="0"/>
                      </a:rPr>
                      <m:t>=</m:t>
                    </m:r>
                    <m:d>
                      <m:dPr>
                        <m:begChr m:val="|"/>
                        <m:endChr m:val="|"/>
                        <m:ctrlPr>
                          <a:rPr lang="en-IN" i="1">
                            <a:latin typeface="Cambria Math" panose="02040503050406030204" pitchFamily="18" charset="0"/>
                          </a:rPr>
                        </m:ctrlPr>
                      </m:dPr>
                      <m:e>
                        <m:sSub>
                          <m:sSubPr>
                            <m:ctrlPr>
                              <a:rPr lang="en-IN" i="1">
                                <a:latin typeface="Cambria Math" panose="02040503050406030204" pitchFamily="18" charset="0"/>
                              </a:rPr>
                            </m:ctrlPr>
                          </m:sSubPr>
                          <m:e>
                            <m:r>
                              <m:rPr>
                                <m:sty m:val="p"/>
                              </m:rPr>
                              <a:rPr lang="en-IN" i="0">
                                <a:latin typeface="Cambria Math" panose="02040503050406030204" pitchFamily="18" charset="0"/>
                              </a:rPr>
                              <m:t>E</m:t>
                            </m:r>
                          </m:e>
                          <m:sub>
                            <m:r>
                              <a:rPr lang="en-IN" i="0">
                                <a:latin typeface="Cambria Math" panose="02040503050406030204" pitchFamily="18" charset="0"/>
                              </a:rPr>
                              <m:t>2</m:t>
                            </m:r>
                          </m:sub>
                        </m:sSub>
                      </m:e>
                    </m:d>
                  </m:oMath>
                </a14:m>
                <a:endParaRPr lang="en-IN" dirty="0"/>
              </a:p>
              <a:p>
                <a:pPr lvl="1">
                  <a:lnSpc>
                    <a:spcPct val="150000"/>
                  </a:lnSpc>
                </a:pPr>
                <a14:m>
                  <m:oMath xmlns:m="http://schemas.openxmlformats.org/officeDocument/2006/math">
                    <m:sSub>
                      <m:sSubPr>
                        <m:ctrlPr>
                          <a:rPr lang="en-IN" i="1">
                            <a:latin typeface="Cambria Math" panose="02040503050406030204" pitchFamily="18" charset="0"/>
                          </a:rPr>
                        </m:ctrlPr>
                      </m:sSubPr>
                      <m:e>
                        <m:r>
                          <m:rPr>
                            <m:sty m:val="p"/>
                          </m:rPr>
                          <a:rPr lang="en-IN" i="0">
                            <a:latin typeface="Cambria Math" panose="02040503050406030204" pitchFamily="18" charset="0"/>
                          </a:rPr>
                          <m:t>G</m:t>
                        </m:r>
                      </m:e>
                      <m:sub>
                        <m:r>
                          <a:rPr lang="en-IN" i="0">
                            <a:latin typeface="Cambria Math" panose="02040503050406030204" pitchFamily="18" charset="0"/>
                          </a:rPr>
                          <m:t>1</m:t>
                        </m:r>
                      </m:sub>
                    </m:sSub>
                  </m:oMath>
                </a14:m>
                <a:r>
                  <a:rPr lang="en-IN" dirty="0"/>
                  <a:t> and </a:t>
                </a:r>
                <a14:m>
                  <m:oMath xmlns:m="http://schemas.openxmlformats.org/officeDocument/2006/math">
                    <m:sSub>
                      <m:sSubPr>
                        <m:ctrlPr>
                          <a:rPr lang="en-IN" i="1">
                            <a:latin typeface="Cambria Math" panose="02040503050406030204" pitchFamily="18" charset="0"/>
                          </a:rPr>
                        </m:ctrlPr>
                      </m:sSubPr>
                      <m:e>
                        <m:r>
                          <m:rPr>
                            <m:sty m:val="p"/>
                          </m:rPr>
                          <a:rPr lang="en-IN" i="0">
                            <a:latin typeface="Cambria Math" panose="02040503050406030204" pitchFamily="18" charset="0"/>
                          </a:rPr>
                          <m:t>G</m:t>
                        </m:r>
                      </m:e>
                      <m:sub>
                        <m:r>
                          <a:rPr lang="en-IN" i="0">
                            <a:latin typeface="Cambria Math" panose="02040503050406030204" pitchFamily="18" charset="0"/>
                          </a:rPr>
                          <m:t>2</m:t>
                        </m:r>
                      </m:sub>
                    </m:sSub>
                  </m:oMath>
                </a14:m>
                <a:r>
                  <a:rPr lang="en-IN" dirty="0"/>
                  <a:t> have same degree sequence.</a:t>
                </a:r>
              </a:p>
              <a:p>
                <a:pPr lvl="1">
                  <a:lnSpc>
                    <a:spcPct val="150000"/>
                  </a:lnSpc>
                </a:pPr>
                <a:r>
                  <a:rPr lang="en-US" dirty="0"/>
                  <a:t>There exists a mapping that preserves adjacency</a:t>
                </a:r>
                <a:r>
                  <a:rPr lang="en-IN" dirty="0"/>
                  <a:t>.</a:t>
                </a:r>
              </a:p>
              <a:p>
                <a:r>
                  <a:rPr lang="en-US" b="1" dirty="0"/>
                  <a:t>First three conditions help us eliminate possibilities, but isomorphism is confirmed only by preserving adjacency.</a:t>
                </a: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blipFill rotWithShape="0">
                <a:blip r:embed="rId2"/>
                <a:stretch>
                  <a:fillRect l="-971" t="-1963" r="-1074"/>
                </a:stretch>
              </a:blipFill>
            </p:spPr>
            <p:txBody>
              <a:bodyPr/>
              <a:lstStyle/>
              <a:p>
                <a:r>
                  <a:rPr lang="en-US">
                    <a:noFill/>
                  </a:rPr>
                  <a:t> </a:t>
                </a:r>
              </a:p>
            </p:txBody>
          </p:sp>
        </mc:Fallback>
      </mc:AlternateContent>
    </p:spTree>
    <p:extLst>
      <p:ext uri="{BB962C8B-B14F-4D97-AF65-F5344CB8AC3E}">
        <p14:creationId xmlns:p14="http://schemas.microsoft.com/office/powerpoint/2010/main" val="3227224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Special type tree</a:t>
            </a:r>
          </a:p>
        </p:txBody>
      </p:sp>
      <p:sp>
        <p:nvSpPr>
          <p:cNvPr id="3" name="Content Placeholder 2"/>
          <p:cNvSpPr>
            <a:spLocks noGrp="1"/>
          </p:cNvSpPr>
          <p:nvPr>
            <p:ph idx="1"/>
          </p:nvPr>
        </p:nvSpPr>
        <p:spPr>
          <a:xfrm>
            <a:off x="131181" y="1009003"/>
            <a:ext cx="5778300" cy="1784222"/>
          </a:xfrm>
        </p:spPr>
        <p:txBody>
          <a:bodyPr/>
          <a:lstStyle/>
          <a:p>
            <a:pPr marL="0" indent="0">
              <a:buNone/>
            </a:pPr>
            <a:r>
              <a:rPr lang="en-US" b="1" dirty="0"/>
              <a:t>Path tree:</a:t>
            </a:r>
            <a:r>
              <a:rPr lang="en-US" dirty="0"/>
              <a:t> </a:t>
            </a:r>
          </a:p>
          <a:p>
            <a:pPr marL="0" indent="0">
              <a:buNone/>
            </a:pPr>
            <a:r>
              <a:rPr lang="en-US" dirty="0"/>
              <a:t>A tree in which: All </a:t>
            </a:r>
            <a:r>
              <a:rPr lang="en-US" b="1" dirty="0"/>
              <a:t>internal vertices</a:t>
            </a:r>
            <a:r>
              <a:rPr lang="en-US" dirty="0"/>
              <a:t> have degree </a:t>
            </a:r>
            <a:r>
              <a:rPr lang="en-US" b="1" dirty="0"/>
              <a:t>2. </a:t>
            </a:r>
            <a:r>
              <a:rPr lang="en-US" dirty="0"/>
              <a:t>End vertices (</a:t>
            </a:r>
            <a:r>
              <a:rPr lang="en-US" b="1" dirty="0"/>
              <a:t>leaves</a:t>
            </a:r>
            <a:r>
              <a:rPr lang="en-US" dirty="0"/>
              <a:t>) have degree </a:t>
            </a:r>
            <a:r>
              <a:rPr lang="en-US" b="1" dirty="0"/>
              <a:t>1</a:t>
            </a:r>
          </a:p>
          <a:p>
            <a:pPr marL="457200" lvl="1" indent="0">
              <a:buNone/>
            </a:pPr>
            <a:endParaRPr lang="en-US" dirty="0"/>
          </a:p>
        </p:txBody>
      </p:sp>
      <p:pic>
        <p:nvPicPr>
          <p:cNvPr id="4" name="Picture 3"/>
          <p:cNvPicPr>
            <a:picLocks noChangeAspect="1"/>
          </p:cNvPicPr>
          <p:nvPr/>
        </p:nvPicPr>
        <p:blipFill>
          <a:blip r:embed="rId2"/>
          <a:stretch>
            <a:fillRect/>
          </a:stretch>
        </p:blipFill>
        <p:spPr>
          <a:xfrm rot="5400000" flipH="1">
            <a:off x="2893034" y="2671984"/>
            <a:ext cx="200001" cy="3600000"/>
          </a:xfrm>
          <a:prstGeom prst="rect">
            <a:avLst/>
          </a:prstGeom>
          <a:noFill/>
          <a:ln>
            <a:noFill/>
          </a:ln>
        </p:spPr>
      </p:pic>
      <p:pic>
        <p:nvPicPr>
          <p:cNvPr id="17" name="Picture 16"/>
          <p:cNvPicPr>
            <a:picLocks noChangeAspect="1"/>
          </p:cNvPicPr>
          <p:nvPr/>
        </p:nvPicPr>
        <p:blipFill>
          <a:blip r:embed="rId3"/>
          <a:stretch>
            <a:fillRect/>
          </a:stretch>
        </p:blipFill>
        <p:spPr>
          <a:xfrm rot="4407004">
            <a:off x="7910364" y="3432159"/>
            <a:ext cx="2285302" cy="2020616"/>
          </a:xfrm>
          <a:prstGeom prst="rect">
            <a:avLst/>
          </a:prstGeom>
        </p:spPr>
      </p:pic>
      <mc:AlternateContent xmlns:mc="http://schemas.openxmlformats.org/markup-compatibility/2006" xmlns:a14="http://schemas.microsoft.com/office/drawing/2010/main">
        <mc:Choice Requires="a14">
          <p:sp>
            <p:nvSpPr>
              <p:cNvPr id="5" name="Rectangle 4"/>
              <p:cNvSpPr/>
              <p:nvPr/>
            </p:nvSpPr>
            <p:spPr>
              <a:xfrm>
                <a:off x="6096000" y="977343"/>
                <a:ext cx="5914030" cy="1815882"/>
              </a:xfrm>
              <a:prstGeom prst="rect">
                <a:avLst/>
              </a:prstGeom>
            </p:spPr>
            <p:txBody>
              <a:bodyPr wrap="square">
                <a:spAutoFit/>
              </a:bodyPr>
              <a:lstStyle/>
              <a:p>
                <a:r>
                  <a:rPr lang="en-US" sz="2800" b="1" dirty="0">
                    <a:solidFill>
                      <a:srgbClr val="002060"/>
                    </a:solidFill>
                  </a:rPr>
                  <a:t>Star tree: </a:t>
                </a:r>
              </a:p>
              <a:p>
                <a:pPr lvl="1"/>
                <a:r>
                  <a:rPr lang="en-US" sz="2800" dirty="0">
                    <a:solidFill>
                      <a:srgbClr val="002060"/>
                    </a:solidFill>
                  </a:rPr>
                  <a:t>A tree in which: One </a:t>
                </a:r>
                <a:r>
                  <a:rPr lang="en-US" sz="2800" b="1" dirty="0">
                    <a:solidFill>
                      <a:srgbClr val="002060"/>
                    </a:solidFill>
                  </a:rPr>
                  <a:t>central vertex </a:t>
                </a:r>
                <a:r>
                  <a:rPr lang="en-US" sz="2800" dirty="0">
                    <a:solidFill>
                      <a:srgbClr val="002060"/>
                    </a:solidFill>
                  </a:rPr>
                  <a:t>has degree</a:t>
                </a:r>
                <a14:m>
                  <m:oMath xmlns:m="http://schemas.openxmlformats.org/officeDocument/2006/math">
                    <m:r>
                      <a:rPr lang="en-US" sz="2800" dirty="0">
                        <a:solidFill>
                          <a:srgbClr val="002060"/>
                        </a:solidFill>
                        <a:latin typeface="Cambria Math" panose="02040503050406030204" pitchFamily="18" charset="0"/>
                      </a:rPr>
                      <m:t> </m:t>
                    </m:r>
                    <m:r>
                      <a:rPr lang="en-US" sz="2800" dirty="0">
                        <a:solidFill>
                          <a:srgbClr val="002060"/>
                        </a:solidFill>
                        <a:latin typeface="Cambria Math" panose="02040503050406030204" pitchFamily="18" charset="0"/>
                      </a:rPr>
                      <m:t>𝐧</m:t>
                    </m:r>
                    <m:r>
                      <a:rPr lang="en-US" sz="2800" dirty="0">
                        <a:solidFill>
                          <a:srgbClr val="002060"/>
                        </a:solidFill>
                        <a:latin typeface="Cambria Math" panose="02040503050406030204" pitchFamily="18" charset="0"/>
                      </a:rPr>
                      <m:t>−</m:t>
                    </m:r>
                    <m:r>
                      <a:rPr lang="en-US" sz="2800" dirty="0">
                        <a:solidFill>
                          <a:srgbClr val="002060"/>
                        </a:solidFill>
                        <a:latin typeface="Cambria Math" panose="02040503050406030204" pitchFamily="18" charset="0"/>
                      </a:rPr>
                      <m:t>𝟏</m:t>
                    </m:r>
                    <m:r>
                      <a:rPr lang="en-US" sz="2800" dirty="0">
                        <a:solidFill>
                          <a:srgbClr val="002060"/>
                        </a:solidFill>
                        <a:latin typeface="Cambria Math" panose="02040503050406030204" pitchFamily="18" charset="0"/>
                      </a:rPr>
                      <m:t>.</m:t>
                    </m:r>
                  </m:oMath>
                </a14:m>
                <a:r>
                  <a:rPr lang="en-US" sz="2800" dirty="0">
                    <a:solidFill>
                      <a:srgbClr val="002060"/>
                    </a:solidFill>
                  </a:rPr>
                  <a:t> All other vertices (</a:t>
                </a:r>
                <a:r>
                  <a:rPr lang="en-US" sz="2800" b="1" dirty="0">
                    <a:solidFill>
                      <a:srgbClr val="002060"/>
                    </a:solidFill>
                  </a:rPr>
                  <a:t>leaves</a:t>
                </a:r>
                <a:r>
                  <a:rPr lang="en-US" sz="2800" dirty="0">
                    <a:solidFill>
                      <a:srgbClr val="002060"/>
                    </a:solidFill>
                  </a:rPr>
                  <a:t>) have degree </a:t>
                </a:r>
                <a:r>
                  <a:rPr lang="en-US" sz="2800" b="1" dirty="0">
                    <a:solidFill>
                      <a:srgbClr val="002060"/>
                    </a:solidFill>
                  </a:rPr>
                  <a:t>1.</a:t>
                </a:r>
              </a:p>
            </p:txBody>
          </p:sp>
        </mc:Choice>
        <mc:Fallback xmlns="">
          <p:sp>
            <p:nvSpPr>
              <p:cNvPr id="5" name="Rectangle 4"/>
              <p:cNvSpPr>
                <a:spLocks noRot="1" noChangeAspect="1" noMove="1" noResize="1" noEditPoints="1" noAdjustHandles="1" noChangeArrowheads="1" noChangeShapeType="1" noTextEdit="1"/>
              </p:cNvSpPr>
              <p:nvPr/>
            </p:nvSpPr>
            <p:spPr>
              <a:xfrm>
                <a:off x="6096000" y="977343"/>
                <a:ext cx="5914030" cy="1815882"/>
              </a:xfrm>
              <a:prstGeom prst="rect">
                <a:avLst/>
              </a:prstGeom>
              <a:blipFill rotWithShape="0">
                <a:blip r:embed="rId4"/>
                <a:stretch>
                  <a:fillRect l="-2062" t="-3356" b="-8389"/>
                </a:stretch>
              </a:blipFill>
            </p:spPr>
            <p:txBody>
              <a:bodyPr/>
              <a:lstStyle/>
              <a:p>
                <a:r>
                  <a:rPr lang="en-US">
                    <a:noFill/>
                  </a:rPr>
                  <a:t> </a:t>
                </a:r>
              </a:p>
            </p:txBody>
          </p:sp>
        </mc:Fallback>
      </mc:AlternateContent>
      <p:sp>
        <p:nvSpPr>
          <p:cNvPr id="6" name="Right Brace 5"/>
          <p:cNvSpPr/>
          <p:nvPr/>
        </p:nvSpPr>
        <p:spPr>
          <a:xfrm rot="16200000">
            <a:off x="2716067" y="3395843"/>
            <a:ext cx="859809" cy="1105143"/>
          </a:xfrm>
          <a:prstGeom prst="rightBrace">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a:p>
        </p:txBody>
      </p:sp>
      <p:sp>
        <p:nvSpPr>
          <p:cNvPr id="7" name="Rectangle 6"/>
          <p:cNvSpPr/>
          <p:nvPr/>
        </p:nvSpPr>
        <p:spPr>
          <a:xfrm>
            <a:off x="2209656" y="3009133"/>
            <a:ext cx="1872629" cy="400110"/>
          </a:xfrm>
          <a:prstGeom prst="rect">
            <a:avLst/>
          </a:prstGeom>
        </p:spPr>
        <p:txBody>
          <a:bodyPr wrap="none">
            <a:spAutoFit/>
          </a:bodyPr>
          <a:lstStyle/>
          <a:p>
            <a:r>
              <a:rPr lang="en-US" sz="2000" dirty="0">
                <a:solidFill>
                  <a:srgbClr val="002060"/>
                </a:solidFill>
              </a:rPr>
              <a:t>Internal vertices </a:t>
            </a:r>
          </a:p>
        </p:txBody>
      </p:sp>
      <p:sp>
        <p:nvSpPr>
          <p:cNvPr id="10" name="Rectangle 9"/>
          <p:cNvSpPr/>
          <p:nvPr/>
        </p:nvSpPr>
        <p:spPr>
          <a:xfrm>
            <a:off x="2616792" y="5334670"/>
            <a:ext cx="833883" cy="400110"/>
          </a:xfrm>
          <a:prstGeom prst="rect">
            <a:avLst/>
          </a:prstGeom>
        </p:spPr>
        <p:txBody>
          <a:bodyPr wrap="none">
            <a:spAutoFit/>
          </a:bodyPr>
          <a:lstStyle/>
          <a:p>
            <a:r>
              <a:rPr lang="en-US" sz="2000" dirty="0">
                <a:solidFill>
                  <a:srgbClr val="002060"/>
                </a:solidFill>
              </a:rPr>
              <a:t>leaves</a:t>
            </a:r>
          </a:p>
        </p:txBody>
      </p:sp>
      <p:cxnSp>
        <p:nvCxnSpPr>
          <p:cNvPr id="11" name="Straight Arrow Connector 10"/>
          <p:cNvCxnSpPr/>
          <p:nvPr/>
        </p:nvCxnSpPr>
        <p:spPr>
          <a:xfrm flipV="1">
            <a:off x="7383328" y="4326745"/>
            <a:ext cx="555081" cy="49048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14" name="Rectangle 13"/>
          <p:cNvSpPr/>
          <p:nvPr/>
        </p:nvSpPr>
        <p:spPr>
          <a:xfrm>
            <a:off x="6435730" y="4787362"/>
            <a:ext cx="1619354" cy="400110"/>
          </a:xfrm>
          <a:prstGeom prst="rect">
            <a:avLst/>
          </a:prstGeom>
        </p:spPr>
        <p:txBody>
          <a:bodyPr wrap="none">
            <a:spAutoFit/>
          </a:bodyPr>
          <a:lstStyle/>
          <a:p>
            <a:r>
              <a:rPr lang="en-US" sz="2000" dirty="0">
                <a:solidFill>
                  <a:srgbClr val="002060"/>
                </a:solidFill>
              </a:rPr>
              <a:t>central vertex </a:t>
            </a:r>
          </a:p>
        </p:txBody>
      </p:sp>
      <p:cxnSp>
        <p:nvCxnSpPr>
          <p:cNvPr id="15" name="Straight Arrow Connector 14"/>
          <p:cNvCxnSpPr/>
          <p:nvPr/>
        </p:nvCxnSpPr>
        <p:spPr>
          <a:xfrm flipH="1">
            <a:off x="9927770" y="3948414"/>
            <a:ext cx="821865" cy="1286595"/>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6" name="Straight Arrow Connector 15"/>
          <p:cNvCxnSpPr/>
          <p:nvPr/>
        </p:nvCxnSpPr>
        <p:spPr>
          <a:xfrm flipH="1">
            <a:off x="10002385" y="3948414"/>
            <a:ext cx="761261" cy="213885"/>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8" name="Straight Arrow Connector 17"/>
          <p:cNvCxnSpPr/>
          <p:nvPr/>
        </p:nvCxnSpPr>
        <p:spPr>
          <a:xfrm flipH="1" flipV="1">
            <a:off x="9712183" y="3209189"/>
            <a:ext cx="1037452" cy="739225"/>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26" name="Rectangle 25"/>
          <p:cNvSpPr/>
          <p:nvPr/>
        </p:nvSpPr>
        <p:spPr>
          <a:xfrm>
            <a:off x="10783306" y="3748359"/>
            <a:ext cx="833883" cy="400110"/>
          </a:xfrm>
          <a:prstGeom prst="rect">
            <a:avLst/>
          </a:prstGeom>
        </p:spPr>
        <p:txBody>
          <a:bodyPr wrap="none">
            <a:spAutoFit/>
          </a:bodyPr>
          <a:lstStyle/>
          <a:p>
            <a:r>
              <a:rPr lang="en-US" sz="2000" dirty="0">
                <a:solidFill>
                  <a:srgbClr val="002060"/>
                </a:solidFill>
              </a:rPr>
              <a:t>leaves</a:t>
            </a:r>
          </a:p>
        </p:txBody>
      </p:sp>
      <p:cxnSp>
        <p:nvCxnSpPr>
          <p:cNvPr id="28" name="Straight Connector 27"/>
          <p:cNvCxnSpPr/>
          <p:nvPr/>
        </p:nvCxnSpPr>
        <p:spPr>
          <a:xfrm>
            <a:off x="6059488" y="977342"/>
            <a:ext cx="0" cy="5152342"/>
          </a:xfrm>
          <a:prstGeom prst="line">
            <a:avLst/>
          </a:prstGeom>
          <a:ln w="38100"/>
        </p:spPr>
        <p:style>
          <a:lnRef idx="3">
            <a:schemeClr val="accent6"/>
          </a:lnRef>
          <a:fillRef idx="0">
            <a:schemeClr val="accent6"/>
          </a:fillRef>
          <a:effectRef idx="2">
            <a:schemeClr val="accent6"/>
          </a:effectRef>
          <a:fontRef idx="minor">
            <a:schemeClr val="tx1"/>
          </a:fontRef>
        </p:style>
      </p:cxnSp>
      <p:cxnSp>
        <p:nvCxnSpPr>
          <p:cNvPr id="25" name="Straight Arrow Connector 24"/>
          <p:cNvCxnSpPr>
            <a:stCxn id="10" idx="1"/>
          </p:cNvCxnSpPr>
          <p:nvPr/>
        </p:nvCxnSpPr>
        <p:spPr>
          <a:xfrm flipH="1" flipV="1">
            <a:off x="1381760" y="4591711"/>
            <a:ext cx="1235032" cy="94301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9" name="Straight Arrow Connector 28"/>
          <p:cNvCxnSpPr>
            <a:stCxn id="10" idx="3"/>
          </p:cNvCxnSpPr>
          <p:nvPr/>
        </p:nvCxnSpPr>
        <p:spPr>
          <a:xfrm flipV="1">
            <a:off x="3450675" y="4571985"/>
            <a:ext cx="1161965" cy="96274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862099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circle(in)">
                                      <p:cBhvr>
                                        <p:cTn id="19" dur="500"/>
                                        <p:tgtEl>
                                          <p:spTgt spid="6"/>
                                        </p:tgtEl>
                                      </p:cBhvr>
                                    </p:animEffect>
                                  </p:childTnLst>
                                </p:cTn>
                              </p:par>
                              <p:par>
                                <p:cTn id="20" presetID="6" presetClass="entr" presetSubtype="16"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circle(in)">
                                      <p:cBhvr>
                                        <p:cTn id="22" dur="500"/>
                                        <p:tgtEl>
                                          <p:spTgt spid="7"/>
                                        </p:tgtEl>
                                      </p:cBhvr>
                                    </p:animEffect>
                                  </p:childTnLst>
                                </p:cTn>
                              </p:par>
                              <p:par>
                                <p:cTn id="23" presetID="6" presetClass="entr" presetSubtype="16"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circle(in)">
                                      <p:cBhvr>
                                        <p:cTn id="25" dur="500"/>
                                        <p:tgtEl>
                                          <p:spTgt spid="10"/>
                                        </p:tgtEl>
                                      </p:cBhvr>
                                    </p:animEffect>
                                  </p:childTnLst>
                                </p:cTn>
                              </p:par>
                              <p:par>
                                <p:cTn id="26" presetID="22" presetClass="entr" presetSubtype="4" fill="hold"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wipe(down)">
                                      <p:cBhvr>
                                        <p:cTn id="28" dur="500"/>
                                        <p:tgtEl>
                                          <p:spTgt spid="25"/>
                                        </p:tgtEl>
                                      </p:cBhvr>
                                    </p:animEffect>
                                  </p:childTnLst>
                                </p:cTn>
                              </p:par>
                              <p:par>
                                <p:cTn id="29" presetID="22" presetClass="entr" presetSubtype="4" fill="hold" nodeType="with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wipe(down)">
                                      <p:cBhvr>
                                        <p:cTn id="31" dur="500"/>
                                        <p:tgtEl>
                                          <p:spTgt spid="29"/>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28"/>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17"/>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barn(inVertical)">
                                      <p:cBhvr>
                                        <p:cTn id="52" dur="500"/>
                                        <p:tgtEl>
                                          <p:spTgt spid="11"/>
                                        </p:tgtEl>
                                      </p:cBhvr>
                                    </p:animEffect>
                                  </p:childTnLst>
                                </p:cTn>
                              </p:par>
                              <p:par>
                                <p:cTn id="53" presetID="16" presetClass="entr" presetSubtype="21" fill="hold" grpId="0" nodeType="with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barn(inVertical)">
                                      <p:cBhvr>
                                        <p:cTn id="55" dur="500"/>
                                        <p:tgtEl>
                                          <p:spTgt spid="14"/>
                                        </p:tgtEl>
                                      </p:cBhvr>
                                    </p:animEffect>
                                  </p:childTnLst>
                                </p:cTn>
                              </p:par>
                            </p:childTnLst>
                          </p:cTn>
                        </p:par>
                      </p:childTnLst>
                    </p:cTn>
                  </p:par>
                  <p:par>
                    <p:cTn id="56" fill="hold">
                      <p:stCondLst>
                        <p:cond delay="indefinite"/>
                      </p:stCondLst>
                      <p:childTnLst>
                        <p:par>
                          <p:cTn id="57" fill="hold">
                            <p:stCondLst>
                              <p:cond delay="0"/>
                            </p:stCondLst>
                            <p:childTnLst>
                              <p:par>
                                <p:cTn id="58" presetID="16" presetClass="entr" presetSubtype="21" fill="hold" nodeType="clickEffect">
                                  <p:stCondLst>
                                    <p:cond delay="0"/>
                                  </p:stCondLst>
                                  <p:childTnLst>
                                    <p:set>
                                      <p:cBhvr>
                                        <p:cTn id="59" dur="1" fill="hold">
                                          <p:stCondLst>
                                            <p:cond delay="0"/>
                                          </p:stCondLst>
                                        </p:cTn>
                                        <p:tgtEl>
                                          <p:spTgt spid="18"/>
                                        </p:tgtEl>
                                        <p:attrNameLst>
                                          <p:attrName>style.visibility</p:attrName>
                                        </p:attrNameLst>
                                      </p:cBhvr>
                                      <p:to>
                                        <p:strVal val="visible"/>
                                      </p:to>
                                    </p:set>
                                    <p:animEffect transition="in" filter="barn(inVertical)">
                                      <p:cBhvr>
                                        <p:cTn id="60" dur="500"/>
                                        <p:tgtEl>
                                          <p:spTgt spid="18"/>
                                        </p:tgtEl>
                                      </p:cBhvr>
                                    </p:animEffect>
                                  </p:childTnLst>
                                </p:cTn>
                              </p:par>
                              <p:par>
                                <p:cTn id="61" presetID="16" presetClass="entr" presetSubtype="21" fill="hold"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barn(inVertical)">
                                      <p:cBhvr>
                                        <p:cTn id="63" dur="500"/>
                                        <p:tgtEl>
                                          <p:spTgt spid="16"/>
                                        </p:tgtEl>
                                      </p:cBhvr>
                                    </p:animEffect>
                                  </p:childTnLst>
                                </p:cTn>
                              </p:par>
                              <p:par>
                                <p:cTn id="64" presetID="16" presetClass="entr" presetSubtype="21" fill="hold" nodeType="with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barn(inVertical)">
                                      <p:cBhvr>
                                        <p:cTn id="66" dur="500"/>
                                        <p:tgtEl>
                                          <p:spTgt spid="15"/>
                                        </p:tgtEl>
                                      </p:cBhvr>
                                    </p:animEffect>
                                  </p:childTnLst>
                                </p:cTn>
                              </p:par>
                              <p:par>
                                <p:cTn id="67" presetID="16" presetClass="entr" presetSubtype="21"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barn(inVertical)">
                                      <p:cBhvr>
                                        <p:cTn id="6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10" grpId="0"/>
      <p:bldP spid="14" grpId="0"/>
      <p:bldP spid="2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9"/>
            <a:ext cx="11929645" cy="540047"/>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Construct: Path Tree (9 vertices) and Star Tree (10 vertices)</a:t>
            </a:r>
          </a:p>
        </p:txBody>
      </p:sp>
      <p:sp>
        <p:nvSpPr>
          <p:cNvPr id="8" name="Oval 7">
            <a:extLst>
              <a:ext uri="{FF2B5EF4-FFF2-40B4-BE49-F238E27FC236}">
                <a16:creationId xmlns:a16="http://schemas.microsoft.com/office/drawing/2014/main" id="{A4197692-1A04-EA71-457D-175797FDA5CE}"/>
              </a:ext>
            </a:extLst>
          </p:cNvPr>
          <p:cNvSpPr/>
          <p:nvPr/>
        </p:nvSpPr>
        <p:spPr>
          <a:xfrm rot="5400000">
            <a:off x="6719799" y="481519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 name="Oval 9">
            <a:extLst>
              <a:ext uri="{FF2B5EF4-FFF2-40B4-BE49-F238E27FC236}">
                <a16:creationId xmlns:a16="http://schemas.microsoft.com/office/drawing/2014/main" id="{CB93A0AB-EDDB-9B43-C76E-64EE43FC8989}"/>
              </a:ext>
            </a:extLst>
          </p:cNvPr>
          <p:cNvSpPr/>
          <p:nvPr/>
        </p:nvSpPr>
        <p:spPr>
          <a:xfrm rot="5400000">
            <a:off x="5279640" y="481519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1" name="Straight Connector 10">
            <a:extLst>
              <a:ext uri="{FF2B5EF4-FFF2-40B4-BE49-F238E27FC236}">
                <a16:creationId xmlns:a16="http://schemas.microsoft.com/office/drawing/2014/main" id="{66EA08EA-10E8-07B3-809B-572189B302D2}"/>
              </a:ext>
            </a:extLst>
          </p:cNvPr>
          <p:cNvCxnSpPr>
            <a:cxnSpLocks/>
            <a:stCxn id="8" idx="4"/>
            <a:endCxn id="12" idx="0"/>
          </p:cNvCxnSpPr>
          <p:nvPr/>
        </p:nvCxnSpPr>
        <p:spPr>
          <a:xfrm flipH="1">
            <a:off x="6143719" y="4887197"/>
            <a:ext cx="57608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2" name="Oval 11">
            <a:extLst>
              <a:ext uri="{FF2B5EF4-FFF2-40B4-BE49-F238E27FC236}">
                <a16:creationId xmlns:a16="http://schemas.microsoft.com/office/drawing/2014/main" id="{CB93A0AB-EDDB-9B43-C76E-64EE43FC8989}"/>
              </a:ext>
            </a:extLst>
          </p:cNvPr>
          <p:cNvSpPr/>
          <p:nvPr/>
        </p:nvSpPr>
        <p:spPr>
          <a:xfrm rot="5400000">
            <a:off x="5999719" y="481519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3" name="Straight Connector 12">
            <a:extLst>
              <a:ext uri="{FF2B5EF4-FFF2-40B4-BE49-F238E27FC236}">
                <a16:creationId xmlns:a16="http://schemas.microsoft.com/office/drawing/2014/main" id="{66EA08EA-10E8-07B3-809B-572189B302D2}"/>
              </a:ext>
            </a:extLst>
          </p:cNvPr>
          <p:cNvCxnSpPr>
            <a:cxnSpLocks/>
            <a:stCxn id="12" idx="4"/>
            <a:endCxn id="10" idx="0"/>
          </p:cNvCxnSpPr>
          <p:nvPr/>
        </p:nvCxnSpPr>
        <p:spPr>
          <a:xfrm flipH="1">
            <a:off x="5423640" y="4887197"/>
            <a:ext cx="576079"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4" name="Oval 13">
            <a:extLst>
              <a:ext uri="{FF2B5EF4-FFF2-40B4-BE49-F238E27FC236}">
                <a16:creationId xmlns:a16="http://schemas.microsoft.com/office/drawing/2014/main" id="{A4197692-1A04-EA71-457D-175797FDA5CE}"/>
              </a:ext>
            </a:extLst>
          </p:cNvPr>
          <p:cNvSpPr/>
          <p:nvPr/>
        </p:nvSpPr>
        <p:spPr>
          <a:xfrm rot="5400000">
            <a:off x="4559559" y="481261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5" name="Oval 14">
            <a:extLst>
              <a:ext uri="{FF2B5EF4-FFF2-40B4-BE49-F238E27FC236}">
                <a16:creationId xmlns:a16="http://schemas.microsoft.com/office/drawing/2014/main" id="{CB93A0AB-EDDB-9B43-C76E-64EE43FC8989}"/>
              </a:ext>
            </a:extLst>
          </p:cNvPr>
          <p:cNvSpPr/>
          <p:nvPr/>
        </p:nvSpPr>
        <p:spPr>
          <a:xfrm rot="5400000">
            <a:off x="3119400" y="481261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7" name="Straight Connector 16">
            <a:extLst>
              <a:ext uri="{FF2B5EF4-FFF2-40B4-BE49-F238E27FC236}">
                <a16:creationId xmlns:a16="http://schemas.microsoft.com/office/drawing/2014/main" id="{66EA08EA-10E8-07B3-809B-572189B302D2}"/>
              </a:ext>
            </a:extLst>
          </p:cNvPr>
          <p:cNvCxnSpPr>
            <a:cxnSpLocks/>
            <a:stCxn id="14" idx="4"/>
            <a:endCxn id="18" idx="0"/>
          </p:cNvCxnSpPr>
          <p:nvPr/>
        </p:nvCxnSpPr>
        <p:spPr>
          <a:xfrm flipH="1">
            <a:off x="3983479" y="4884614"/>
            <a:ext cx="57608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8" name="Oval 17">
            <a:extLst>
              <a:ext uri="{FF2B5EF4-FFF2-40B4-BE49-F238E27FC236}">
                <a16:creationId xmlns:a16="http://schemas.microsoft.com/office/drawing/2014/main" id="{CB93A0AB-EDDB-9B43-C76E-64EE43FC8989}"/>
              </a:ext>
            </a:extLst>
          </p:cNvPr>
          <p:cNvSpPr/>
          <p:nvPr/>
        </p:nvSpPr>
        <p:spPr>
          <a:xfrm rot="5400000">
            <a:off x="3839479" y="481261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0" name="Straight Connector 19">
            <a:extLst>
              <a:ext uri="{FF2B5EF4-FFF2-40B4-BE49-F238E27FC236}">
                <a16:creationId xmlns:a16="http://schemas.microsoft.com/office/drawing/2014/main" id="{66EA08EA-10E8-07B3-809B-572189B302D2}"/>
              </a:ext>
            </a:extLst>
          </p:cNvPr>
          <p:cNvCxnSpPr>
            <a:cxnSpLocks/>
            <a:stCxn id="18" idx="4"/>
            <a:endCxn id="15" idx="0"/>
          </p:cNvCxnSpPr>
          <p:nvPr/>
        </p:nvCxnSpPr>
        <p:spPr>
          <a:xfrm flipH="1">
            <a:off x="3263400" y="4884614"/>
            <a:ext cx="576079"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1" name="Straight Connector 20">
            <a:extLst>
              <a:ext uri="{FF2B5EF4-FFF2-40B4-BE49-F238E27FC236}">
                <a16:creationId xmlns:a16="http://schemas.microsoft.com/office/drawing/2014/main" id="{66EA08EA-10E8-07B3-809B-572189B302D2}"/>
              </a:ext>
            </a:extLst>
          </p:cNvPr>
          <p:cNvCxnSpPr>
            <a:cxnSpLocks/>
            <a:stCxn id="10" idx="4"/>
            <a:endCxn id="14" idx="0"/>
          </p:cNvCxnSpPr>
          <p:nvPr/>
        </p:nvCxnSpPr>
        <p:spPr>
          <a:xfrm flipH="1" flipV="1">
            <a:off x="4703559" y="4884614"/>
            <a:ext cx="576081" cy="258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2" name="Oval 21">
            <a:extLst>
              <a:ext uri="{FF2B5EF4-FFF2-40B4-BE49-F238E27FC236}">
                <a16:creationId xmlns:a16="http://schemas.microsoft.com/office/drawing/2014/main" id="{A4197692-1A04-EA71-457D-175797FDA5CE}"/>
              </a:ext>
            </a:extLst>
          </p:cNvPr>
          <p:cNvSpPr/>
          <p:nvPr/>
        </p:nvSpPr>
        <p:spPr>
          <a:xfrm rot="5400000">
            <a:off x="8880039" y="481519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3" name="Oval 22">
            <a:extLst>
              <a:ext uri="{FF2B5EF4-FFF2-40B4-BE49-F238E27FC236}">
                <a16:creationId xmlns:a16="http://schemas.microsoft.com/office/drawing/2014/main" id="{CB93A0AB-EDDB-9B43-C76E-64EE43FC8989}"/>
              </a:ext>
            </a:extLst>
          </p:cNvPr>
          <p:cNvSpPr/>
          <p:nvPr/>
        </p:nvSpPr>
        <p:spPr>
          <a:xfrm rot="5400000">
            <a:off x="7439880" y="481519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4" name="Straight Connector 23">
            <a:extLst>
              <a:ext uri="{FF2B5EF4-FFF2-40B4-BE49-F238E27FC236}">
                <a16:creationId xmlns:a16="http://schemas.microsoft.com/office/drawing/2014/main" id="{66EA08EA-10E8-07B3-809B-572189B302D2}"/>
              </a:ext>
            </a:extLst>
          </p:cNvPr>
          <p:cNvCxnSpPr>
            <a:cxnSpLocks/>
            <a:stCxn id="22" idx="4"/>
            <a:endCxn id="25" idx="0"/>
          </p:cNvCxnSpPr>
          <p:nvPr/>
        </p:nvCxnSpPr>
        <p:spPr>
          <a:xfrm flipH="1">
            <a:off x="8303959" y="4887197"/>
            <a:ext cx="57608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5" name="Oval 24">
            <a:extLst>
              <a:ext uri="{FF2B5EF4-FFF2-40B4-BE49-F238E27FC236}">
                <a16:creationId xmlns:a16="http://schemas.microsoft.com/office/drawing/2014/main" id="{CB93A0AB-EDDB-9B43-C76E-64EE43FC8989}"/>
              </a:ext>
            </a:extLst>
          </p:cNvPr>
          <p:cNvSpPr/>
          <p:nvPr/>
        </p:nvSpPr>
        <p:spPr>
          <a:xfrm rot="5400000">
            <a:off x="8159959" y="481519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6" name="Straight Connector 25">
            <a:extLst>
              <a:ext uri="{FF2B5EF4-FFF2-40B4-BE49-F238E27FC236}">
                <a16:creationId xmlns:a16="http://schemas.microsoft.com/office/drawing/2014/main" id="{66EA08EA-10E8-07B3-809B-572189B302D2}"/>
              </a:ext>
            </a:extLst>
          </p:cNvPr>
          <p:cNvCxnSpPr>
            <a:cxnSpLocks/>
            <a:stCxn id="25" idx="4"/>
            <a:endCxn id="23" idx="0"/>
          </p:cNvCxnSpPr>
          <p:nvPr/>
        </p:nvCxnSpPr>
        <p:spPr>
          <a:xfrm flipH="1">
            <a:off x="7583880" y="4887197"/>
            <a:ext cx="576079"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7" name="Straight Connector 26">
            <a:extLst>
              <a:ext uri="{FF2B5EF4-FFF2-40B4-BE49-F238E27FC236}">
                <a16:creationId xmlns:a16="http://schemas.microsoft.com/office/drawing/2014/main" id="{66EA08EA-10E8-07B3-809B-572189B302D2}"/>
              </a:ext>
            </a:extLst>
          </p:cNvPr>
          <p:cNvCxnSpPr>
            <a:cxnSpLocks/>
            <a:stCxn id="23" idx="4"/>
            <a:endCxn id="8" idx="0"/>
          </p:cNvCxnSpPr>
          <p:nvPr/>
        </p:nvCxnSpPr>
        <p:spPr>
          <a:xfrm flipH="1">
            <a:off x="6863799" y="4887197"/>
            <a:ext cx="576081"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 name="Title 1"/>
          <p:cNvSpPr>
            <a:spLocks noGrp="1"/>
          </p:cNvSpPr>
          <p:nvPr>
            <p:ph type="title"/>
          </p:nvPr>
        </p:nvSpPr>
        <p:spPr/>
        <p:txBody>
          <a:bodyPr>
            <a:normAutofit/>
          </a:bodyPr>
          <a:lstStyle/>
          <a:p>
            <a:r>
              <a:rPr lang="en-US" dirty="0"/>
              <a:t>Examples of Special Trees</a:t>
            </a:r>
          </a:p>
        </p:txBody>
      </p:sp>
      <p:sp>
        <p:nvSpPr>
          <p:cNvPr id="5" name="Content Placeholder 4"/>
          <p:cNvSpPr>
            <a:spLocks noGrp="1"/>
          </p:cNvSpPr>
          <p:nvPr>
            <p:ph idx="1"/>
          </p:nvPr>
        </p:nvSpPr>
        <p:spPr>
          <a:xfrm>
            <a:off x="131180" y="863444"/>
            <a:ext cx="11929641" cy="3617116"/>
          </a:xfrm>
        </p:spPr>
        <p:txBody>
          <a:bodyPr/>
          <a:lstStyle/>
          <a:p>
            <a:endParaRPr lang="en-US" dirty="0"/>
          </a:p>
          <a:p>
            <a:pPr>
              <a:lnSpc>
                <a:spcPct val="150000"/>
              </a:lnSpc>
            </a:pPr>
            <a:r>
              <a:rPr lang="en-US" dirty="0"/>
              <a:t>Path tree where:</a:t>
            </a:r>
          </a:p>
          <a:p>
            <a:pPr lvl="1">
              <a:lnSpc>
                <a:spcPct val="150000"/>
              </a:lnSpc>
            </a:pPr>
            <a:r>
              <a:rPr lang="en-US" dirty="0"/>
              <a:t>Internal vertices have degree </a:t>
            </a:r>
            <a:r>
              <a:rPr lang="en-US" b="1" dirty="0"/>
              <a:t>2</a:t>
            </a:r>
            <a:r>
              <a:rPr lang="en-US" dirty="0"/>
              <a:t> </a:t>
            </a:r>
          </a:p>
          <a:p>
            <a:pPr lvl="1">
              <a:lnSpc>
                <a:spcPct val="150000"/>
              </a:lnSpc>
            </a:pPr>
            <a:r>
              <a:rPr lang="en-US" dirty="0"/>
              <a:t>End vertices (</a:t>
            </a:r>
            <a:r>
              <a:rPr lang="en-US" b="1" dirty="0"/>
              <a:t>leaves</a:t>
            </a:r>
            <a:r>
              <a:rPr lang="en-US" dirty="0"/>
              <a:t>) have degree </a:t>
            </a:r>
            <a:r>
              <a:rPr lang="en-US" b="1" dirty="0"/>
              <a:t>1</a:t>
            </a:r>
            <a:endParaRPr lang="en-US" dirty="0"/>
          </a:p>
          <a:p>
            <a:pPr>
              <a:lnSpc>
                <a:spcPct val="150000"/>
              </a:lnSpc>
            </a:pPr>
            <a:r>
              <a:rPr lang="en-US" b="1" dirty="0"/>
              <a:t>Structure:</a:t>
            </a:r>
            <a:r>
              <a:rPr lang="en-US" dirty="0"/>
              <a:t> Linear chain of vertices</a:t>
            </a:r>
          </a:p>
        </p:txBody>
      </p:sp>
    </p:spTree>
    <p:extLst>
      <p:ext uri="{BB962C8B-B14F-4D97-AF65-F5344CB8AC3E}">
        <p14:creationId xmlns:p14="http://schemas.microsoft.com/office/powerpoint/2010/main" val="2532340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left)">
                                      <p:cBhvr>
                                        <p:cTn id="43" dur="500"/>
                                        <p:tgtEl>
                                          <p:spTgt spid="20"/>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2" fill="hold" nodeType="click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wipe(right)">
                                      <p:cBhvr>
                                        <p:cTn id="48" dur="500"/>
                                        <p:tgtEl>
                                          <p:spTgt spid="24"/>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nodeType="click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wipe(down)">
                                      <p:cBhvr>
                                        <p:cTn id="53" dur="500"/>
                                        <p:tgtEl>
                                          <p:spTgt spid="17"/>
                                        </p:tgtEl>
                                      </p:cBhvr>
                                    </p:animEffect>
                                  </p:childTnLst>
                                </p:cTn>
                              </p:par>
                              <p:par>
                                <p:cTn id="54" presetID="22" presetClass="entr" presetSubtype="4" fill="hold"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wipe(down)">
                                      <p:cBhvr>
                                        <p:cTn id="56" dur="500"/>
                                        <p:tgtEl>
                                          <p:spTgt spid="21"/>
                                        </p:tgtEl>
                                      </p:cBhvr>
                                    </p:animEffect>
                                  </p:childTnLst>
                                </p:cTn>
                              </p:par>
                              <p:par>
                                <p:cTn id="57" presetID="22" presetClass="entr" presetSubtype="4" fill="hold" nodeType="with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wipe(down)">
                                      <p:cBhvr>
                                        <p:cTn id="59" dur="500"/>
                                        <p:tgtEl>
                                          <p:spTgt spid="13"/>
                                        </p:tgtEl>
                                      </p:cBhvr>
                                    </p:animEffect>
                                  </p:childTnLst>
                                </p:cTn>
                              </p:par>
                              <p:par>
                                <p:cTn id="60" presetID="22" presetClass="entr" presetSubtype="4" fill="hold" nodeType="withEffect">
                                  <p:stCondLst>
                                    <p:cond delay="0"/>
                                  </p:stCondLst>
                                  <p:childTnLst>
                                    <p:set>
                                      <p:cBhvr>
                                        <p:cTn id="61" dur="1" fill="hold">
                                          <p:stCondLst>
                                            <p:cond delay="0"/>
                                          </p:stCondLst>
                                        </p:cTn>
                                        <p:tgtEl>
                                          <p:spTgt spid="11"/>
                                        </p:tgtEl>
                                        <p:attrNameLst>
                                          <p:attrName>style.visibility</p:attrName>
                                        </p:attrNameLst>
                                      </p:cBhvr>
                                      <p:to>
                                        <p:strVal val="visible"/>
                                      </p:to>
                                    </p:set>
                                    <p:animEffect transition="in" filter="wipe(down)">
                                      <p:cBhvr>
                                        <p:cTn id="62" dur="500"/>
                                        <p:tgtEl>
                                          <p:spTgt spid="11"/>
                                        </p:tgtEl>
                                      </p:cBhvr>
                                    </p:animEffect>
                                  </p:childTnLst>
                                </p:cTn>
                              </p:par>
                              <p:par>
                                <p:cTn id="63" presetID="22" presetClass="entr" presetSubtype="4" fill="hold" nodeType="with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wipe(down)">
                                      <p:cBhvr>
                                        <p:cTn id="65" dur="500"/>
                                        <p:tgtEl>
                                          <p:spTgt spid="27"/>
                                        </p:tgtEl>
                                      </p:cBhvr>
                                    </p:animEffect>
                                  </p:childTnLst>
                                </p:cTn>
                              </p:par>
                              <p:par>
                                <p:cTn id="66" presetID="22" presetClass="entr" presetSubtype="4" fill="hold" nodeType="with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wipe(down)">
                                      <p:cBhvr>
                                        <p:cTn id="6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2" grpId="0" animBg="1"/>
      <p:bldP spid="14" grpId="0" animBg="1"/>
      <p:bldP spid="15" grpId="0" animBg="1"/>
      <p:bldP spid="18" grpId="0" animBg="1"/>
      <p:bldP spid="22" grpId="0" animBg="1"/>
      <p:bldP spid="23" grpId="0" animBg="1"/>
      <p:bldP spid="2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9"/>
            <a:ext cx="11929645" cy="540047"/>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Construct: Path Tree (9 vertices) and Star Tree (10 vertices)</a:t>
            </a:r>
          </a:p>
        </p:txBody>
      </p:sp>
      <p:sp>
        <p:nvSpPr>
          <p:cNvPr id="2" name="Title 1"/>
          <p:cNvSpPr>
            <a:spLocks noGrp="1"/>
          </p:cNvSpPr>
          <p:nvPr>
            <p:ph type="title"/>
          </p:nvPr>
        </p:nvSpPr>
        <p:spPr/>
        <p:txBody>
          <a:bodyPr>
            <a:normAutofit/>
          </a:bodyPr>
          <a:lstStyle/>
          <a:p>
            <a:r>
              <a:rPr lang="en-US" dirty="0"/>
              <a:t>Examples of Special Trees</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131181" y="863444"/>
                <a:ext cx="6193420" cy="3617116"/>
              </a:xfrm>
            </p:spPr>
            <p:txBody>
              <a:bodyPr/>
              <a:lstStyle/>
              <a:p>
                <a:endParaRPr lang="en-US" dirty="0"/>
              </a:p>
              <a:p>
                <a:pPr>
                  <a:lnSpc>
                    <a:spcPct val="150000"/>
                  </a:lnSpc>
                </a:pPr>
                <a:r>
                  <a:rPr lang="en-US" dirty="0"/>
                  <a:t>Star tree where:</a:t>
                </a:r>
              </a:p>
              <a:p>
                <a:pPr lvl="1">
                  <a:lnSpc>
                    <a:spcPct val="150000"/>
                  </a:lnSpc>
                </a:pPr>
                <a:r>
                  <a:rPr lang="en-US" dirty="0"/>
                  <a:t>One central vertex has degree</a:t>
                </a:r>
                <a14:m>
                  <m:oMath xmlns:m="http://schemas.openxmlformats.org/officeDocument/2006/math">
                    <m:r>
                      <a:rPr lang="en-US" b="1" i="0" dirty="0" smtClean="0">
                        <a:latin typeface="Cambria Math" panose="02040503050406030204" pitchFamily="18" charset="0"/>
                      </a:rPr>
                      <m:t> </m:t>
                    </m:r>
                    <m:r>
                      <a:rPr lang="en-US" b="1" i="0" dirty="0" smtClean="0">
                        <a:latin typeface="Cambria Math" panose="02040503050406030204" pitchFamily="18" charset="0"/>
                      </a:rPr>
                      <m:t>𝐧</m:t>
                    </m:r>
                    <m:r>
                      <a:rPr lang="en-US" b="1" i="0" dirty="0" smtClean="0">
                        <a:latin typeface="Cambria Math" panose="02040503050406030204" pitchFamily="18" charset="0"/>
                      </a:rPr>
                      <m:t>−</m:t>
                    </m:r>
                    <m:r>
                      <a:rPr lang="en-US" b="1" i="0" dirty="0" smtClean="0">
                        <a:latin typeface="Cambria Math" panose="02040503050406030204" pitchFamily="18" charset="0"/>
                      </a:rPr>
                      <m:t>𝟏</m:t>
                    </m:r>
                  </m:oMath>
                </a14:m>
                <a:endParaRPr lang="en-US" b="1" dirty="0"/>
              </a:p>
              <a:p>
                <a:pPr lvl="1">
                  <a:lnSpc>
                    <a:spcPct val="150000"/>
                  </a:lnSpc>
                </a:pPr>
                <a:r>
                  <a:rPr lang="en-US" dirty="0"/>
                  <a:t>Remaining vertices (leaves) have degree </a:t>
                </a:r>
                <a:r>
                  <a:rPr lang="en-US" b="1" dirty="0"/>
                  <a:t>1</a:t>
                </a:r>
              </a:p>
              <a:p>
                <a:pPr>
                  <a:lnSpc>
                    <a:spcPct val="150000"/>
                  </a:lnSpc>
                </a:pPr>
                <a:r>
                  <a:rPr lang="en-US" b="1" dirty="0"/>
                  <a:t>Structure:</a:t>
                </a:r>
                <a:r>
                  <a:rPr lang="en-US" dirty="0"/>
                  <a:t> One central node connected to all others</a:t>
                </a: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131181" y="863444"/>
                <a:ext cx="6193420" cy="3617116"/>
              </a:xfrm>
              <a:blipFill rotWithShape="0">
                <a:blip r:embed="rId3"/>
                <a:stretch>
                  <a:fillRect l="-1870" r="-1969" b="-32715"/>
                </a:stretch>
              </a:blipFill>
            </p:spPr>
            <p:txBody>
              <a:bodyPr/>
              <a:lstStyle/>
              <a:p>
                <a:r>
                  <a:rPr lang="en-US">
                    <a:noFill/>
                  </a:rPr>
                  <a:t> </a:t>
                </a:r>
              </a:p>
            </p:txBody>
          </p:sp>
        </mc:Fallback>
      </mc:AlternateContent>
      <p:sp>
        <p:nvSpPr>
          <p:cNvPr id="28" name="Oval 27">
            <a:extLst>
              <a:ext uri="{FF2B5EF4-FFF2-40B4-BE49-F238E27FC236}">
                <a16:creationId xmlns:a16="http://schemas.microsoft.com/office/drawing/2014/main" id="{A4197692-1A04-EA71-457D-175797FDA5CE}"/>
              </a:ext>
            </a:extLst>
          </p:cNvPr>
          <p:cNvSpPr/>
          <p:nvPr/>
        </p:nvSpPr>
        <p:spPr>
          <a:xfrm rot="5400000">
            <a:off x="8552326" y="457662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9" name="Oval 28">
            <a:extLst>
              <a:ext uri="{FF2B5EF4-FFF2-40B4-BE49-F238E27FC236}">
                <a16:creationId xmlns:a16="http://schemas.microsoft.com/office/drawing/2014/main" id="{A4197692-1A04-EA71-457D-175797FDA5CE}"/>
              </a:ext>
            </a:extLst>
          </p:cNvPr>
          <p:cNvSpPr/>
          <p:nvPr/>
        </p:nvSpPr>
        <p:spPr>
          <a:xfrm rot="5400000">
            <a:off x="7833816" y="385540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0" name="Oval 29">
            <a:extLst>
              <a:ext uri="{FF2B5EF4-FFF2-40B4-BE49-F238E27FC236}">
                <a16:creationId xmlns:a16="http://schemas.microsoft.com/office/drawing/2014/main" id="{A4197692-1A04-EA71-457D-175797FDA5CE}"/>
              </a:ext>
            </a:extLst>
          </p:cNvPr>
          <p:cNvSpPr/>
          <p:nvPr/>
        </p:nvSpPr>
        <p:spPr>
          <a:xfrm rot="5400000">
            <a:off x="7832590" y="313419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1" name="Oval 30">
            <a:extLst>
              <a:ext uri="{FF2B5EF4-FFF2-40B4-BE49-F238E27FC236}">
                <a16:creationId xmlns:a16="http://schemas.microsoft.com/office/drawing/2014/main" id="{A4197692-1A04-EA71-457D-175797FDA5CE}"/>
              </a:ext>
            </a:extLst>
          </p:cNvPr>
          <p:cNvSpPr/>
          <p:nvPr/>
        </p:nvSpPr>
        <p:spPr>
          <a:xfrm rot="5400000">
            <a:off x="9229633" y="345616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2" name="Oval 31">
            <a:extLst>
              <a:ext uri="{FF2B5EF4-FFF2-40B4-BE49-F238E27FC236}">
                <a16:creationId xmlns:a16="http://schemas.microsoft.com/office/drawing/2014/main" id="{A4197692-1A04-EA71-457D-175797FDA5CE}"/>
              </a:ext>
            </a:extLst>
          </p:cNvPr>
          <p:cNvSpPr/>
          <p:nvPr/>
        </p:nvSpPr>
        <p:spPr>
          <a:xfrm rot="5400000">
            <a:off x="8547053" y="242585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3" name="Oval 32">
            <a:extLst>
              <a:ext uri="{FF2B5EF4-FFF2-40B4-BE49-F238E27FC236}">
                <a16:creationId xmlns:a16="http://schemas.microsoft.com/office/drawing/2014/main" id="{A4197692-1A04-EA71-457D-175797FDA5CE}"/>
              </a:ext>
            </a:extLst>
          </p:cNvPr>
          <p:cNvSpPr/>
          <p:nvPr/>
        </p:nvSpPr>
        <p:spPr>
          <a:xfrm rot="5400000">
            <a:off x="9992561" y="242585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4" name="Oval 33">
            <a:extLst>
              <a:ext uri="{FF2B5EF4-FFF2-40B4-BE49-F238E27FC236}">
                <a16:creationId xmlns:a16="http://schemas.microsoft.com/office/drawing/2014/main" id="{A4197692-1A04-EA71-457D-175797FDA5CE}"/>
              </a:ext>
            </a:extLst>
          </p:cNvPr>
          <p:cNvSpPr/>
          <p:nvPr/>
        </p:nvSpPr>
        <p:spPr>
          <a:xfrm rot="5400000">
            <a:off x="10712552" y="314707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5" name="Oval 34">
            <a:extLst>
              <a:ext uri="{FF2B5EF4-FFF2-40B4-BE49-F238E27FC236}">
                <a16:creationId xmlns:a16="http://schemas.microsoft.com/office/drawing/2014/main" id="{A4197692-1A04-EA71-457D-175797FDA5CE}"/>
              </a:ext>
            </a:extLst>
          </p:cNvPr>
          <p:cNvSpPr/>
          <p:nvPr/>
        </p:nvSpPr>
        <p:spPr>
          <a:xfrm rot="5400000">
            <a:off x="10711326" y="386828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6" name="Oval 35">
            <a:extLst>
              <a:ext uri="{FF2B5EF4-FFF2-40B4-BE49-F238E27FC236}">
                <a16:creationId xmlns:a16="http://schemas.microsoft.com/office/drawing/2014/main" id="{A4197692-1A04-EA71-457D-175797FDA5CE}"/>
              </a:ext>
            </a:extLst>
          </p:cNvPr>
          <p:cNvSpPr/>
          <p:nvPr/>
        </p:nvSpPr>
        <p:spPr>
          <a:xfrm rot="5400000">
            <a:off x="9988883" y="457662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7" name="Straight Connector 36">
            <a:extLst>
              <a:ext uri="{FF2B5EF4-FFF2-40B4-BE49-F238E27FC236}">
                <a16:creationId xmlns:a16="http://schemas.microsoft.com/office/drawing/2014/main" id="{66EA08EA-10E8-07B3-809B-572189B302D2}"/>
              </a:ext>
            </a:extLst>
          </p:cNvPr>
          <p:cNvCxnSpPr>
            <a:cxnSpLocks/>
            <a:stCxn id="31" idx="6"/>
            <a:endCxn id="36" idx="1"/>
          </p:cNvCxnSpPr>
          <p:nvPr/>
        </p:nvCxnSpPr>
        <p:spPr>
          <a:xfrm>
            <a:off x="9301633" y="3600165"/>
            <a:ext cx="810162" cy="99755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8" name="Straight Connector 37">
            <a:extLst>
              <a:ext uri="{FF2B5EF4-FFF2-40B4-BE49-F238E27FC236}">
                <a16:creationId xmlns:a16="http://schemas.microsoft.com/office/drawing/2014/main" id="{66EA08EA-10E8-07B3-809B-572189B302D2}"/>
              </a:ext>
            </a:extLst>
          </p:cNvPr>
          <p:cNvCxnSpPr>
            <a:cxnSpLocks/>
            <a:stCxn id="29" idx="0"/>
            <a:endCxn id="31" idx="5"/>
          </p:cNvCxnSpPr>
          <p:nvPr/>
        </p:nvCxnSpPr>
        <p:spPr>
          <a:xfrm flipV="1">
            <a:off x="7977816" y="3579077"/>
            <a:ext cx="1272905" cy="34833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9" name="Straight Connector 38">
            <a:extLst>
              <a:ext uri="{FF2B5EF4-FFF2-40B4-BE49-F238E27FC236}">
                <a16:creationId xmlns:a16="http://schemas.microsoft.com/office/drawing/2014/main" id="{66EA08EA-10E8-07B3-809B-572189B302D2}"/>
              </a:ext>
            </a:extLst>
          </p:cNvPr>
          <p:cNvCxnSpPr>
            <a:cxnSpLocks/>
            <a:stCxn id="32" idx="7"/>
            <a:endCxn id="31" idx="3"/>
          </p:cNvCxnSpPr>
          <p:nvPr/>
        </p:nvCxnSpPr>
        <p:spPr>
          <a:xfrm>
            <a:off x="8669965" y="2548768"/>
            <a:ext cx="580756" cy="92848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0" name="Straight Connector 39">
            <a:extLst>
              <a:ext uri="{FF2B5EF4-FFF2-40B4-BE49-F238E27FC236}">
                <a16:creationId xmlns:a16="http://schemas.microsoft.com/office/drawing/2014/main" id="{66EA08EA-10E8-07B3-809B-572189B302D2}"/>
              </a:ext>
            </a:extLst>
          </p:cNvPr>
          <p:cNvCxnSpPr>
            <a:cxnSpLocks/>
            <a:stCxn id="28" idx="1"/>
            <a:endCxn id="31" idx="6"/>
          </p:cNvCxnSpPr>
          <p:nvPr/>
        </p:nvCxnSpPr>
        <p:spPr>
          <a:xfrm flipV="1">
            <a:off x="8675238" y="3600165"/>
            <a:ext cx="626395" cy="99755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1" name="Straight Connector 40">
            <a:extLst>
              <a:ext uri="{FF2B5EF4-FFF2-40B4-BE49-F238E27FC236}">
                <a16:creationId xmlns:a16="http://schemas.microsoft.com/office/drawing/2014/main" id="{66EA08EA-10E8-07B3-809B-572189B302D2}"/>
              </a:ext>
            </a:extLst>
          </p:cNvPr>
          <p:cNvCxnSpPr>
            <a:cxnSpLocks/>
            <a:stCxn id="30" idx="0"/>
            <a:endCxn id="31" idx="4"/>
          </p:cNvCxnSpPr>
          <p:nvPr/>
        </p:nvCxnSpPr>
        <p:spPr>
          <a:xfrm>
            <a:off x="7976590" y="3206192"/>
            <a:ext cx="1253043" cy="32197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2" name="Straight Connector 41">
            <a:extLst>
              <a:ext uri="{FF2B5EF4-FFF2-40B4-BE49-F238E27FC236}">
                <a16:creationId xmlns:a16="http://schemas.microsoft.com/office/drawing/2014/main" id="{66EA08EA-10E8-07B3-809B-572189B302D2}"/>
              </a:ext>
            </a:extLst>
          </p:cNvPr>
          <p:cNvCxnSpPr>
            <a:cxnSpLocks/>
            <a:stCxn id="31" idx="7"/>
            <a:endCxn id="35" idx="4"/>
          </p:cNvCxnSpPr>
          <p:nvPr/>
        </p:nvCxnSpPr>
        <p:spPr>
          <a:xfrm>
            <a:off x="9352545" y="3579077"/>
            <a:ext cx="1358781" cy="36120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3" name="Straight Connector 42">
            <a:extLst>
              <a:ext uri="{FF2B5EF4-FFF2-40B4-BE49-F238E27FC236}">
                <a16:creationId xmlns:a16="http://schemas.microsoft.com/office/drawing/2014/main" id="{66EA08EA-10E8-07B3-809B-572189B302D2}"/>
              </a:ext>
            </a:extLst>
          </p:cNvPr>
          <p:cNvCxnSpPr>
            <a:cxnSpLocks/>
            <a:stCxn id="31" idx="1"/>
            <a:endCxn id="33" idx="5"/>
          </p:cNvCxnSpPr>
          <p:nvPr/>
        </p:nvCxnSpPr>
        <p:spPr>
          <a:xfrm flipV="1">
            <a:off x="9352545" y="2548767"/>
            <a:ext cx="661104" cy="92848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4" name="Straight Connector 43">
            <a:extLst>
              <a:ext uri="{FF2B5EF4-FFF2-40B4-BE49-F238E27FC236}">
                <a16:creationId xmlns:a16="http://schemas.microsoft.com/office/drawing/2014/main" id="{66EA08EA-10E8-07B3-809B-572189B302D2}"/>
              </a:ext>
            </a:extLst>
          </p:cNvPr>
          <p:cNvCxnSpPr>
            <a:cxnSpLocks/>
            <a:stCxn id="31" idx="0"/>
            <a:endCxn id="34" idx="4"/>
          </p:cNvCxnSpPr>
          <p:nvPr/>
        </p:nvCxnSpPr>
        <p:spPr>
          <a:xfrm flipV="1">
            <a:off x="9373633" y="3219072"/>
            <a:ext cx="1338919" cy="30909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5" name="Oval 44">
            <a:extLst>
              <a:ext uri="{FF2B5EF4-FFF2-40B4-BE49-F238E27FC236}">
                <a16:creationId xmlns:a16="http://schemas.microsoft.com/office/drawing/2014/main" id="{A4197692-1A04-EA71-457D-175797FDA5CE}"/>
              </a:ext>
            </a:extLst>
          </p:cNvPr>
          <p:cNvSpPr/>
          <p:nvPr/>
        </p:nvSpPr>
        <p:spPr>
          <a:xfrm rot="5400000">
            <a:off x="9229633" y="239272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6" name="Straight Connector 45">
            <a:extLst>
              <a:ext uri="{FF2B5EF4-FFF2-40B4-BE49-F238E27FC236}">
                <a16:creationId xmlns:a16="http://schemas.microsoft.com/office/drawing/2014/main" id="{66EA08EA-10E8-07B3-809B-572189B302D2}"/>
              </a:ext>
            </a:extLst>
          </p:cNvPr>
          <p:cNvCxnSpPr>
            <a:cxnSpLocks/>
            <a:stCxn id="31" idx="2"/>
            <a:endCxn id="45" idx="6"/>
          </p:cNvCxnSpPr>
          <p:nvPr/>
        </p:nvCxnSpPr>
        <p:spPr>
          <a:xfrm flipV="1">
            <a:off x="9301633" y="2536724"/>
            <a:ext cx="0" cy="91944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151168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fade">
                                      <p:cBhvr>
                                        <p:cTn id="23" dur="500"/>
                                        <p:tgtEl>
                                          <p:spTgt spid="2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fade">
                                      <p:cBhvr>
                                        <p:cTn id="29" dur="500"/>
                                        <p:tgtEl>
                                          <p:spTgt spid="3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fade">
                                      <p:cBhvr>
                                        <p:cTn id="38" dur="500"/>
                                        <p:tgtEl>
                                          <p:spTgt spid="3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4"/>
                                        </p:tgtEl>
                                        <p:attrNameLst>
                                          <p:attrName>style.visibility</p:attrName>
                                        </p:attrNameLst>
                                      </p:cBhvr>
                                      <p:to>
                                        <p:strVal val="visible"/>
                                      </p:to>
                                    </p:set>
                                    <p:animEffect transition="in" filter="fade">
                                      <p:cBhvr>
                                        <p:cTn id="41" dur="500"/>
                                        <p:tgtEl>
                                          <p:spTgt spid="3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5"/>
                                        </p:tgtEl>
                                        <p:attrNameLst>
                                          <p:attrName>style.visibility</p:attrName>
                                        </p:attrNameLst>
                                      </p:cBhvr>
                                      <p:to>
                                        <p:strVal val="visible"/>
                                      </p:to>
                                    </p:set>
                                    <p:animEffect transition="in" filter="fade">
                                      <p:cBhvr>
                                        <p:cTn id="44" dur="500"/>
                                        <p:tgtEl>
                                          <p:spTgt spid="3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fade">
                                      <p:cBhvr>
                                        <p:cTn id="47" dur="500"/>
                                        <p:tgtEl>
                                          <p:spTgt spid="3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5"/>
                                        </p:tgtEl>
                                        <p:attrNameLst>
                                          <p:attrName>style.visibility</p:attrName>
                                        </p:attrNameLst>
                                      </p:cBhvr>
                                      <p:to>
                                        <p:strVal val="visible"/>
                                      </p:to>
                                    </p:set>
                                    <p:animEffect transition="in" filter="fade">
                                      <p:cBhvr>
                                        <p:cTn id="50" dur="500"/>
                                        <p:tgtEl>
                                          <p:spTgt spid="4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2" fill="hold" nodeType="clickEffect">
                                  <p:stCondLst>
                                    <p:cond delay="0"/>
                                  </p:stCondLst>
                                  <p:childTnLst>
                                    <p:set>
                                      <p:cBhvr>
                                        <p:cTn id="54" dur="1" fill="hold">
                                          <p:stCondLst>
                                            <p:cond delay="0"/>
                                          </p:stCondLst>
                                        </p:cTn>
                                        <p:tgtEl>
                                          <p:spTgt spid="39"/>
                                        </p:tgtEl>
                                        <p:attrNameLst>
                                          <p:attrName>style.visibility</p:attrName>
                                        </p:attrNameLst>
                                      </p:cBhvr>
                                      <p:to>
                                        <p:strVal val="visible"/>
                                      </p:to>
                                    </p:set>
                                    <p:animEffect transition="in" filter="wipe(right)">
                                      <p:cBhvr>
                                        <p:cTn id="55" dur="500"/>
                                        <p:tgtEl>
                                          <p:spTgt spid="39"/>
                                        </p:tgtEl>
                                      </p:cBhvr>
                                    </p:animEffect>
                                  </p:childTnLst>
                                </p:cTn>
                              </p:par>
                            </p:childTnLst>
                          </p:cTn>
                        </p:par>
                        <p:par>
                          <p:cTn id="56" fill="hold">
                            <p:stCondLst>
                              <p:cond delay="500"/>
                            </p:stCondLst>
                            <p:childTnLst>
                              <p:par>
                                <p:cTn id="57" presetID="22" presetClass="entr" presetSubtype="4" fill="hold" nodeType="afterEffect">
                                  <p:stCondLst>
                                    <p:cond delay="0"/>
                                  </p:stCondLst>
                                  <p:childTnLst>
                                    <p:set>
                                      <p:cBhvr>
                                        <p:cTn id="58" dur="1" fill="hold">
                                          <p:stCondLst>
                                            <p:cond delay="0"/>
                                          </p:stCondLst>
                                        </p:cTn>
                                        <p:tgtEl>
                                          <p:spTgt spid="46"/>
                                        </p:tgtEl>
                                        <p:attrNameLst>
                                          <p:attrName>style.visibility</p:attrName>
                                        </p:attrNameLst>
                                      </p:cBhvr>
                                      <p:to>
                                        <p:strVal val="visible"/>
                                      </p:to>
                                    </p:set>
                                    <p:animEffect transition="in" filter="wipe(down)">
                                      <p:cBhvr>
                                        <p:cTn id="59" dur="350"/>
                                        <p:tgtEl>
                                          <p:spTgt spid="46"/>
                                        </p:tgtEl>
                                      </p:cBhvr>
                                    </p:animEffect>
                                  </p:childTnLst>
                                </p:cTn>
                              </p:par>
                            </p:childTnLst>
                          </p:cTn>
                        </p:par>
                        <p:par>
                          <p:cTn id="60" fill="hold">
                            <p:stCondLst>
                              <p:cond delay="850"/>
                            </p:stCondLst>
                            <p:childTnLst>
                              <p:par>
                                <p:cTn id="61" presetID="22" presetClass="entr" presetSubtype="8" fill="hold" nodeType="afterEffect">
                                  <p:stCondLst>
                                    <p:cond delay="0"/>
                                  </p:stCondLst>
                                  <p:childTnLst>
                                    <p:set>
                                      <p:cBhvr>
                                        <p:cTn id="62" dur="1" fill="hold">
                                          <p:stCondLst>
                                            <p:cond delay="0"/>
                                          </p:stCondLst>
                                        </p:cTn>
                                        <p:tgtEl>
                                          <p:spTgt spid="43"/>
                                        </p:tgtEl>
                                        <p:attrNameLst>
                                          <p:attrName>style.visibility</p:attrName>
                                        </p:attrNameLst>
                                      </p:cBhvr>
                                      <p:to>
                                        <p:strVal val="visible"/>
                                      </p:to>
                                    </p:set>
                                    <p:animEffect transition="in" filter="wipe(left)">
                                      <p:cBhvr>
                                        <p:cTn id="63" dur="350"/>
                                        <p:tgtEl>
                                          <p:spTgt spid="43"/>
                                        </p:tgtEl>
                                      </p:cBhvr>
                                    </p:animEffect>
                                  </p:childTnLst>
                                </p:cTn>
                              </p:par>
                            </p:childTnLst>
                          </p:cTn>
                        </p:par>
                        <p:par>
                          <p:cTn id="64" fill="hold">
                            <p:stCondLst>
                              <p:cond delay="1200"/>
                            </p:stCondLst>
                            <p:childTnLst>
                              <p:par>
                                <p:cTn id="65" presetID="22" presetClass="entr" presetSubtype="4" fill="hold" nodeType="afterEffect">
                                  <p:stCondLst>
                                    <p:cond delay="0"/>
                                  </p:stCondLst>
                                  <p:childTnLst>
                                    <p:set>
                                      <p:cBhvr>
                                        <p:cTn id="66" dur="1" fill="hold">
                                          <p:stCondLst>
                                            <p:cond delay="0"/>
                                          </p:stCondLst>
                                        </p:cTn>
                                        <p:tgtEl>
                                          <p:spTgt spid="44"/>
                                        </p:tgtEl>
                                        <p:attrNameLst>
                                          <p:attrName>style.visibility</p:attrName>
                                        </p:attrNameLst>
                                      </p:cBhvr>
                                      <p:to>
                                        <p:strVal val="visible"/>
                                      </p:to>
                                    </p:set>
                                    <p:animEffect transition="in" filter="wipe(down)">
                                      <p:cBhvr>
                                        <p:cTn id="67" dur="350"/>
                                        <p:tgtEl>
                                          <p:spTgt spid="44"/>
                                        </p:tgtEl>
                                      </p:cBhvr>
                                    </p:animEffect>
                                  </p:childTnLst>
                                </p:cTn>
                              </p:par>
                            </p:childTnLst>
                          </p:cTn>
                        </p:par>
                        <p:par>
                          <p:cTn id="68" fill="hold">
                            <p:stCondLst>
                              <p:cond delay="1550"/>
                            </p:stCondLst>
                            <p:childTnLst>
                              <p:par>
                                <p:cTn id="69" presetID="22" presetClass="entr" presetSubtype="8" fill="hold" nodeType="after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wipe(left)">
                                      <p:cBhvr>
                                        <p:cTn id="71" dur="350"/>
                                        <p:tgtEl>
                                          <p:spTgt spid="42"/>
                                        </p:tgtEl>
                                      </p:cBhvr>
                                    </p:animEffect>
                                  </p:childTnLst>
                                </p:cTn>
                              </p:par>
                            </p:childTnLst>
                          </p:cTn>
                        </p:par>
                        <p:par>
                          <p:cTn id="72" fill="hold">
                            <p:stCondLst>
                              <p:cond delay="1900"/>
                            </p:stCondLst>
                            <p:childTnLst>
                              <p:par>
                                <p:cTn id="73" presetID="22" presetClass="entr" presetSubtype="8" fill="hold" nodeType="afterEffect">
                                  <p:stCondLst>
                                    <p:cond delay="0"/>
                                  </p:stCondLst>
                                  <p:childTnLst>
                                    <p:set>
                                      <p:cBhvr>
                                        <p:cTn id="74" dur="1" fill="hold">
                                          <p:stCondLst>
                                            <p:cond delay="0"/>
                                          </p:stCondLst>
                                        </p:cTn>
                                        <p:tgtEl>
                                          <p:spTgt spid="37"/>
                                        </p:tgtEl>
                                        <p:attrNameLst>
                                          <p:attrName>style.visibility</p:attrName>
                                        </p:attrNameLst>
                                      </p:cBhvr>
                                      <p:to>
                                        <p:strVal val="visible"/>
                                      </p:to>
                                    </p:set>
                                    <p:animEffect transition="in" filter="wipe(left)">
                                      <p:cBhvr>
                                        <p:cTn id="75" dur="350"/>
                                        <p:tgtEl>
                                          <p:spTgt spid="37"/>
                                        </p:tgtEl>
                                      </p:cBhvr>
                                    </p:animEffect>
                                  </p:childTnLst>
                                </p:cTn>
                              </p:par>
                            </p:childTnLst>
                          </p:cTn>
                        </p:par>
                        <p:par>
                          <p:cTn id="76" fill="hold">
                            <p:stCondLst>
                              <p:cond delay="2250"/>
                            </p:stCondLst>
                            <p:childTnLst>
                              <p:par>
                                <p:cTn id="77" presetID="22" presetClass="entr" presetSubtype="2" fill="hold" nodeType="afterEffect">
                                  <p:stCondLst>
                                    <p:cond delay="0"/>
                                  </p:stCondLst>
                                  <p:childTnLst>
                                    <p:set>
                                      <p:cBhvr>
                                        <p:cTn id="78" dur="1" fill="hold">
                                          <p:stCondLst>
                                            <p:cond delay="0"/>
                                          </p:stCondLst>
                                        </p:cTn>
                                        <p:tgtEl>
                                          <p:spTgt spid="40"/>
                                        </p:tgtEl>
                                        <p:attrNameLst>
                                          <p:attrName>style.visibility</p:attrName>
                                        </p:attrNameLst>
                                      </p:cBhvr>
                                      <p:to>
                                        <p:strVal val="visible"/>
                                      </p:to>
                                    </p:set>
                                    <p:animEffect transition="in" filter="wipe(right)">
                                      <p:cBhvr>
                                        <p:cTn id="79" dur="350"/>
                                        <p:tgtEl>
                                          <p:spTgt spid="40"/>
                                        </p:tgtEl>
                                      </p:cBhvr>
                                    </p:animEffect>
                                  </p:childTnLst>
                                </p:cTn>
                              </p:par>
                            </p:childTnLst>
                          </p:cTn>
                        </p:par>
                        <p:par>
                          <p:cTn id="80" fill="hold">
                            <p:stCondLst>
                              <p:cond delay="2600"/>
                            </p:stCondLst>
                            <p:childTnLst>
                              <p:par>
                                <p:cTn id="81" presetID="22" presetClass="entr" presetSubtype="2" fill="hold" nodeType="afterEffect">
                                  <p:stCondLst>
                                    <p:cond delay="0"/>
                                  </p:stCondLst>
                                  <p:childTnLst>
                                    <p:set>
                                      <p:cBhvr>
                                        <p:cTn id="82" dur="1" fill="hold">
                                          <p:stCondLst>
                                            <p:cond delay="0"/>
                                          </p:stCondLst>
                                        </p:cTn>
                                        <p:tgtEl>
                                          <p:spTgt spid="38"/>
                                        </p:tgtEl>
                                        <p:attrNameLst>
                                          <p:attrName>style.visibility</p:attrName>
                                        </p:attrNameLst>
                                      </p:cBhvr>
                                      <p:to>
                                        <p:strVal val="visible"/>
                                      </p:to>
                                    </p:set>
                                    <p:animEffect transition="in" filter="wipe(right)">
                                      <p:cBhvr>
                                        <p:cTn id="83" dur="350"/>
                                        <p:tgtEl>
                                          <p:spTgt spid="38"/>
                                        </p:tgtEl>
                                      </p:cBhvr>
                                    </p:animEffect>
                                  </p:childTnLst>
                                </p:cTn>
                              </p:par>
                            </p:childTnLst>
                          </p:cTn>
                        </p:par>
                        <p:par>
                          <p:cTn id="84" fill="hold">
                            <p:stCondLst>
                              <p:cond delay="2950"/>
                            </p:stCondLst>
                            <p:childTnLst>
                              <p:par>
                                <p:cTn id="85" presetID="22" presetClass="entr" presetSubtype="2" fill="hold" nodeType="afterEffect">
                                  <p:stCondLst>
                                    <p:cond delay="0"/>
                                  </p:stCondLst>
                                  <p:childTnLst>
                                    <p:set>
                                      <p:cBhvr>
                                        <p:cTn id="86" dur="1" fill="hold">
                                          <p:stCondLst>
                                            <p:cond delay="0"/>
                                          </p:stCondLst>
                                        </p:cTn>
                                        <p:tgtEl>
                                          <p:spTgt spid="41"/>
                                        </p:tgtEl>
                                        <p:attrNameLst>
                                          <p:attrName>style.visibility</p:attrName>
                                        </p:attrNameLst>
                                      </p:cBhvr>
                                      <p:to>
                                        <p:strVal val="visible"/>
                                      </p:to>
                                    </p:set>
                                    <p:animEffect transition="in" filter="wipe(right)">
                                      <p:cBhvr>
                                        <p:cTn id="87" dur="35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P spid="34" grpId="0" animBg="1"/>
      <p:bldP spid="35" grpId="0" animBg="1"/>
      <p:bldP spid="36" grpId="0" animBg="1"/>
      <p:bldP spid="4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Observation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1181" y="863444"/>
                <a:ext cx="11740780" cy="5590565"/>
              </a:xfrm>
            </p:spPr>
            <p:txBody>
              <a:bodyPr/>
              <a:lstStyle/>
              <a:p>
                <a:pPr marL="514350" lvl="0" indent="-514350">
                  <a:lnSpc>
                    <a:spcPct val="150000"/>
                  </a:lnSpc>
                  <a:buFont typeface="+mj-lt"/>
                  <a:buAutoNum type="arabicPeriod"/>
                </a:pPr>
                <a:r>
                  <a:rPr lang="en-US" dirty="0"/>
                  <a:t>A single-vertex tree contains no edges.</a:t>
                </a:r>
              </a:p>
              <a:p>
                <a:pPr marL="514350" lvl="0" indent="-514350">
                  <a:lnSpc>
                    <a:spcPct val="150000"/>
                  </a:lnSpc>
                  <a:buFont typeface="+mj-lt"/>
                  <a:buAutoNum type="arabicPeriod"/>
                </a:pPr>
                <a:r>
                  <a:rPr lang="en-US" dirty="0">
                    <a:solidFill>
                      <a:srgbClr val="FF0000"/>
                    </a:solidFill>
                  </a:rPr>
                  <a:t>For any</a:t>
                </a:r>
                <a14:m>
                  <m:oMath xmlns:m="http://schemas.openxmlformats.org/officeDocument/2006/math">
                    <m:r>
                      <a:rPr lang="en-US" b="0" i="0" smtClean="0">
                        <a:solidFill>
                          <a:srgbClr val="FF0000"/>
                        </a:solidFill>
                        <a:latin typeface="Cambria Math" panose="02040503050406030204" pitchFamily="18" charset="0"/>
                      </a:rPr>
                      <m:t> </m:t>
                    </m:r>
                    <m:r>
                      <m:rPr>
                        <m:sty m:val="p"/>
                      </m:rPr>
                      <a:rPr lang="en-US" b="0" i="0" smtClean="0">
                        <a:solidFill>
                          <a:srgbClr val="FF0000"/>
                        </a:solidFill>
                        <a:latin typeface="Cambria Math" panose="02040503050406030204" pitchFamily="18" charset="0"/>
                      </a:rPr>
                      <m:t>n</m:t>
                    </m:r>
                    <m:r>
                      <a:rPr lang="en-US" b="0" i="0" smtClean="0">
                        <a:solidFill>
                          <a:srgbClr val="FF0000"/>
                        </a:solidFill>
                        <a:latin typeface="Cambria Math" panose="02040503050406030204" pitchFamily="18" charset="0"/>
                      </a:rPr>
                      <m:t>≥2</m:t>
                    </m:r>
                  </m:oMath>
                </a14:m>
                <a:r>
                  <a:rPr lang="en-US" dirty="0">
                    <a:solidFill>
                      <a:srgbClr val="FF0000"/>
                    </a:solidFill>
                  </a:rPr>
                  <a:t> a tree has</a:t>
                </a:r>
                <a14:m>
                  <m:oMath xmlns:m="http://schemas.openxmlformats.org/officeDocument/2006/math">
                    <m:r>
                      <a:rPr lang="en-US" i="0" dirty="0" smtClean="0">
                        <a:solidFill>
                          <a:srgbClr val="FF0000"/>
                        </a:solidFill>
                        <a:latin typeface="Cambria Math" panose="02040503050406030204" pitchFamily="18" charset="0"/>
                      </a:rPr>
                      <m:t> </m:t>
                    </m:r>
                    <m:r>
                      <a:rPr lang="en-US" b="1" i="0" dirty="0">
                        <a:solidFill>
                          <a:srgbClr val="FF0000"/>
                        </a:solidFill>
                        <a:latin typeface="Cambria Math" panose="02040503050406030204" pitchFamily="18" charset="0"/>
                      </a:rPr>
                      <m:t>𝐧</m:t>
                    </m:r>
                    <m:r>
                      <a:rPr lang="en-US" b="1" i="0" dirty="0">
                        <a:solidFill>
                          <a:srgbClr val="FF0000"/>
                        </a:solidFill>
                        <a:latin typeface="Cambria Math" panose="02040503050406030204" pitchFamily="18" charset="0"/>
                      </a:rPr>
                      <m:t>−</m:t>
                    </m:r>
                    <m:r>
                      <a:rPr lang="en-US" b="1" i="0" dirty="0" smtClean="0">
                        <a:solidFill>
                          <a:srgbClr val="FF0000"/>
                        </a:solidFill>
                        <a:latin typeface="Cambria Math" panose="02040503050406030204" pitchFamily="18" charset="0"/>
                      </a:rPr>
                      <m:t>𝟏</m:t>
                    </m:r>
                  </m:oMath>
                </a14:m>
                <a:r>
                  <a:rPr lang="en-US" b="1" dirty="0">
                    <a:solidFill>
                      <a:srgbClr val="FF0000"/>
                    </a:solidFill>
                  </a:rPr>
                  <a:t> edges</a:t>
                </a:r>
                <a:r>
                  <a:rPr lang="en-US" b="1" dirty="0"/>
                  <a:t> </a:t>
                </a:r>
                <a:r>
                  <a:rPr lang="en-US" dirty="0"/>
                  <a:t>(e.g., path tree and star tree)</a:t>
                </a:r>
              </a:p>
              <a:p>
                <a:pPr marL="514350" indent="-514350">
                  <a:lnSpc>
                    <a:spcPct val="150000"/>
                  </a:lnSpc>
                  <a:buFont typeface="+mj-lt"/>
                  <a:buAutoNum type="arabicPeriod" startAt="3"/>
                </a:pPr>
                <a:r>
                  <a:rPr lang="en-US" dirty="0"/>
                  <a:t>For </a:t>
                </a:r>
                <a14:m>
                  <m:oMath xmlns:m="http://schemas.openxmlformats.org/officeDocument/2006/math">
                    <m:r>
                      <m:rPr>
                        <m:sty m:val="p"/>
                      </m:rPr>
                      <a:rPr lang="en-US" i="0" dirty="0" smtClean="0">
                        <a:latin typeface="Cambria Math" panose="02040503050406030204" pitchFamily="18" charset="0"/>
                      </a:rPr>
                      <m:t>n</m:t>
                    </m:r>
                    <m:r>
                      <a:rPr lang="en-US" i="0" dirty="0" smtClean="0">
                        <a:latin typeface="Cambria Math" panose="02040503050406030204" pitchFamily="18" charset="0"/>
                      </a:rPr>
                      <m:t>=4</m:t>
                    </m:r>
                  </m:oMath>
                </a14:m>
                <a:r>
                  <a:rPr lang="en-US" dirty="0"/>
                  <a:t>, there are exactly </a:t>
                </a:r>
                <a:r>
                  <a:rPr lang="en-US" b="1" dirty="0"/>
                  <a:t>two non-isomorphic trees</a:t>
                </a:r>
                <a:r>
                  <a:rPr lang="en-US" dirty="0"/>
                  <a:t>: </a:t>
                </a:r>
                <a:r>
                  <a:rPr lang="en-US" b="1" dirty="0"/>
                  <a:t>path tree</a:t>
                </a:r>
                <a:r>
                  <a:rPr lang="en-US" dirty="0"/>
                  <a:t> and </a:t>
                </a:r>
                <a:r>
                  <a:rPr lang="en-US" b="1" dirty="0"/>
                  <a:t>star tree</a:t>
                </a:r>
              </a:p>
              <a:p>
                <a:pPr marL="514350" indent="-514350">
                  <a:lnSpc>
                    <a:spcPct val="150000"/>
                  </a:lnSpc>
                  <a:buFont typeface="+mj-lt"/>
                  <a:buAutoNum type="arabicPeriod" startAt="3"/>
                </a:pPr>
                <a:r>
                  <a:rPr lang="en-US" dirty="0"/>
                  <a:t>Path tree is like a </a:t>
                </a:r>
                <a:r>
                  <a:rPr lang="en-US" dirty="0">
                    <a:solidFill>
                      <a:srgbClr val="FF0000"/>
                    </a:solidFill>
                  </a:rPr>
                  <a:t>chain</a:t>
                </a:r>
                <a:r>
                  <a:rPr lang="en-US" dirty="0"/>
                  <a:t>, while star tree is like a </a:t>
                </a:r>
                <a:r>
                  <a:rPr lang="en-US" dirty="0">
                    <a:solidFill>
                      <a:srgbClr val="FF0000"/>
                    </a:solidFill>
                  </a:rPr>
                  <a:t>hub</a:t>
                </a:r>
                <a:r>
                  <a:rPr lang="en-US" dirty="0"/>
                  <a:t>. These represent two extreme structures of trees.</a:t>
                </a:r>
              </a:p>
              <a:p>
                <a:pPr marL="514350" indent="-514350">
                  <a:lnSpc>
                    <a:spcPct val="100000"/>
                  </a:lnSpc>
                  <a:buFont typeface="+mj-lt"/>
                  <a:buAutoNum type="arabicPeriod" startAt="3"/>
                </a:pPr>
                <a:r>
                  <a:rPr lang="en-US" dirty="0"/>
                  <a:t>Path tree has </a:t>
                </a:r>
                <a:r>
                  <a:rPr lang="en-US" b="1" dirty="0"/>
                  <a:t>minimum branching</a:t>
                </a:r>
                <a:r>
                  <a:rPr lang="en-US" dirty="0"/>
                  <a:t>, while Star tree has </a:t>
                </a:r>
                <a:r>
                  <a:rPr lang="en-US" b="1" dirty="0"/>
                  <a:t>maximum branching and maximum degree</a:t>
                </a:r>
                <a14:m>
                  <m:oMath xmlns:m="http://schemas.openxmlformats.org/officeDocument/2006/math">
                    <m:r>
                      <a:rPr lang="en-US" b="1" i="0" dirty="0" smtClean="0">
                        <a:latin typeface="Cambria Math" panose="02040503050406030204" pitchFamily="18" charset="0"/>
                      </a:rPr>
                      <m:t> </m:t>
                    </m:r>
                    <m:d>
                      <m:dPr>
                        <m:ctrlPr>
                          <a:rPr lang="en-US" b="1" i="1" dirty="0" smtClean="0">
                            <a:latin typeface="Cambria Math" panose="02040503050406030204" pitchFamily="18" charset="0"/>
                          </a:rPr>
                        </m:ctrlPr>
                      </m:dPr>
                      <m:e>
                        <m:r>
                          <a:rPr lang="en-US" b="1" i="0" dirty="0">
                            <a:latin typeface="Cambria Math" panose="02040503050406030204" pitchFamily="18" charset="0"/>
                          </a:rPr>
                          <m:t>𝚫</m:t>
                        </m:r>
                        <m:r>
                          <a:rPr lang="en-US" b="1" i="0" dirty="0">
                            <a:latin typeface="Cambria Math" panose="02040503050406030204" pitchFamily="18" charset="0"/>
                          </a:rPr>
                          <m:t>=</m:t>
                        </m:r>
                        <m:r>
                          <a:rPr lang="en-US" b="1" i="0" dirty="0">
                            <a:latin typeface="Cambria Math" panose="02040503050406030204" pitchFamily="18" charset="0"/>
                          </a:rPr>
                          <m:t>𝐧</m:t>
                        </m:r>
                        <m:r>
                          <a:rPr lang="en-US" b="1" i="0" dirty="0" smtClean="0">
                            <a:latin typeface="Cambria Math" panose="02040503050406030204" pitchFamily="18" charset="0"/>
                          </a:rPr>
                          <m:t>−</m:t>
                        </m:r>
                        <m:r>
                          <a:rPr lang="en-US" b="1" i="0" dirty="0" smtClean="0">
                            <a:latin typeface="Cambria Math" panose="02040503050406030204" pitchFamily="18" charset="0"/>
                          </a:rPr>
                          <m:t>𝟏</m:t>
                        </m:r>
                      </m:e>
                    </m:d>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1181" y="863444"/>
                <a:ext cx="11740780" cy="5590565"/>
              </a:xfrm>
              <a:blipFill rotWithShape="0">
                <a:blip r:embed="rId2"/>
                <a:stretch>
                  <a:fillRect l="-1090" r="-1038"/>
                </a:stretch>
              </a:blipFill>
            </p:spPr>
            <p:txBody>
              <a:bodyPr/>
              <a:lstStyle/>
              <a:p>
                <a:r>
                  <a:rPr lang="en-US">
                    <a:noFill/>
                  </a:rPr>
                  <a:t> </a:t>
                </a:r>
              </a:p>
            </p:txBody>
          </p:sp>
        </mc:Fallback>
      </mc:AlternateContent>
    </p:spTree>
    <p:extLst>
      <p:ext uri="{BB962C8B-B14F-4D97-AF65-F5344CB8AC3E}">
        <p14:creationId xmlns:p14="http://schemas.microsoft.com/office/powerpoint/2010/main" val="410662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9"/>
            <a:ext cx="11929645" cy="567261"/>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In a tree T, there </a:t>
            </a:r>
            <a:r>
              <a:rPr lang="en-IN" sz="2800" b="1" dirty="0">
                <a:solidFill>
                  <a:schemeClr val="bg1"/>
                </a:solidFill>
              </a:rPr>
              <a:t>exactly one path </a:t>
            </a:r>
            <a:r>
              <a:rPr lang="en-IN" sz="2800" dirty="0">
                <a:solidFill>
                  <a:schemeClr val="bg1"/>
                </a:solidFill>
              </a:rPr>
              <a:t>between every pair of vertices.</a:t>
            </a:r>
          </a:p>
        </p:txBody>
      </p:sp>
      <p:sp>
        <p:nvSpPr>
          <p:cNvPr id="2" name="Title 1"/>
          <p:cNvSpPr>
            <a:spLocks noGrp="1"/>
          </p:cNvSpPr>
          <p:nvPr>
            <p:ph type="title"/>
          </p:nvPr>
        </p:nvSpPr>
        <p:spPr/>
        <p:txBody>
          <a:bodyPr/>
          <a:lstStyle/>
          <a:p>
            <a:r>
              <a:rPr lang="en-GB" dirty="0"/>
              <a:t>Property 1</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1176" y="2328260"/>
                <a:ext cx="6433392" cy="1730328"/>
              </a:xfrm>
            </p:spPr>
            <p:txBody>
              <a:bodyPr/>
              <a:lstStyle/>
              <a:p>
                <a:r>
                  <a:rPr lang="en-US" dirty="0"/>
                  <a:t>Since</a:t>
                </a:r>
                <a14:m>
                  <m:oMath xmlns:m="http://schemas.openxmlformats.org/officeDocument/2006/math">
                    <m:r>
                      <a:rPr lang="en-US" i="1" dirty="0" smtClean="0">
                        <a:latin typeface="Cambria Math" panose="02040503050406030204" pitchFamily="18" charset="0"/>
                      </a:rPr>
                      <m:t> </m:t>
                    </m:r>
                    <m:r>
                      <m:rPr>
                        <m:sty m:val="p"/>
                      </m:rPr>
                      <a:rPr lang="en-US" i="0" dirty="0" smtClean="0">
                        <a:latin typeface="Cambria Math" panose="02040503050406030204" pitchFamily="18" charset="0"/>
                      </a:rPr>
                      <m:t>T</m:t>
                    </m:r>
                  </m:oMath>
                </a14:m>
                <a:r>
                  <a:rPr lang="en-US" dirty="0"/>
                  <a:t> is connected, there exists at least one path between every pair of vertices.</a:t>
                </a:r>
              </a:p>
              <a:p>
                <a:r>
                  <a:rPr lang="en-US" dirty="0"/>
                  <a:t>Suppose there are two different paths between some vertices lets say </a:t>
                </a:r>
                <a14:m>
                  <m:oMath xmlns:m="http://schemas.openxmlformats.org/officeDocument/2006/math">
                    <m:r>
                      <a:rPr lang="en-US" b="1" i="0" smtClean="0">
                        <a:latin typeface="Cambria Math" panose="02040503050406030204" pitchFamily="18" charset="0"/>
                      </a:rPr>
                      <m:t>𝐚</m:t>
                    </m:r>
                  </m:oMath>
                </a14:m>
                <a:r>
                  <a:rPr lang="en-US" dirty="0"/>
                  <a:t> and</a:t>
                </a:r>
                <a14:m>
                  <m:oMath xmlns:m="http://schemas.openxmlformats.org/officeDocument/2006/math">
                    <m:r>
                      <a:rPr lang="en-US" b="0" i="0" dirty="0" smtClean="0">
                        <a:latin typeface="Cambria Math" panose="02040503050406030204" pitchFamily="18" charset="0"/>
                      </a:rPr>
                      <m:t> </m:t>
                    </m:r>
                    <m:r>
                      <a:rPr lang="en-US" b="1" i="0" dirty="0" smtClean="0">
                        <a:latin typeface="Cambria Math" panose="02040503050406030204" pitchFamily="18" charset="0"/>
                      </a:rPr>
                      <m:t>𝐛</m:t>
                    </m:r>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1176" y="2328260"/>
                <a:ext cx="6433392" cy="1730328"/>
              </a:xfrm>
              <a:blipFill rotWithShape="0">
                <a:blip r:embed="rId2"/>
                <a:stretch>
                  <a:fillRect l="-1801" t="-6338" r="-1896" b="-11268"/>
                </a:stretch>
              </a:blipFill>
            </p:spPr>
            <p:txBody>
              <a:bodyPr/>
              <a:lstStyle/>
              <a:p>
                <a:r>
                  <a:rPr lang="en-US">
                    <a:noFill/>
                  </a:rPr>
                  <a:t> </a:t>
                </a:r>
              </a:p>
            </p:txBody>
          </p:sp>
        </mc:Fallback>
      </mc:AlternateContent>
      <p:sp>
        <p:nvSpPr>
          <p:cNvPr id="16" name="Content Placeholder 2">
            <a:extLst>
              <a:ext uri="{FF2B5EF4-FFF2-40B4-BE49-F238E27FC236}">
                <a16:creationId xmlns:a16="http://schemas.microsoft.com/office/drawing/2014/main" id="{635C8299-099D-4E74-A7B7-29B2E1FD450E}"/>
              </a:ext>
            </a:extLst>
          </p:cNvPr>
          <p:cNvSpPr txBox="1">
            <a:spLocks/>
          </p:cNvSpPr>
          <p:nvPr/>
        </p:nvSpPr>
        <p:spPr>
          <a:xfrm>
            <a:off x="131355" y="1526656"/>
            <a:ext cx="1053501"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Proof</a:t>
            </a:r>
            <a:endParaRPr lang="en-US" sz="2800" dirty="0">
              <a:solidFill>
                <a:schemeClr val="bg1"/>
              </a:solidFill>
            </a:endParaRPr>
          </a:p>
        </p:txBody>
      </p:sp>
      <p:pic>
        <p:nvPicPr>
          <p:cNvPr id="5" name="Picture 4"/>
          <p:cNvPicPr>
            <a:picLocks noChangeAspect="1"/>
          </p:cNvPicPr>
          <p:nvPr/>
        </p:nvPicPr>
        <p:blipFill>
          <a:blip r:embed="rId3"/>
          <a:stretch>
            <a:fillRect/>
          </a:stretch>
        </p:blipFill>
        <p:spPr>
          <a:xfrm rot="1118974">
            <a:off x="7039268" y="2212385"/>
            <a:ext cx="4615072" cy="2682472"/>
          </a:xfrm>
          <a:prstGeom prst="rect">
            <a:avLst/>
          </a:prstGeom>
        </p:spPr>
      </p:pic>
      <p:sp>
        <p:nvSpPr>
          <p:cNvPr id="15" name="Content Placeholder 2"/>
          <p:cNvSpPr txBox="1">
            <a:spLocks/>
          </p:cNvSpPr>
          <p:nvPr/>
        </p:nvSpPr>
        <p:spPr>
          <a:xfrm>
            <a:off x="131176" y="4336973"/>
            <a:ext cx="11803604" cy="1730328"/>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Then these paths form a cycle. But a tree has no cycles.</a:t>
            </a:r>
          </a:p>
          <a:p>
            <a:r>
              <a:rPr lang="en-US" dirty="0"/>
              <a:t>This contradicts the assumption that T is a tree.</a:t>
            </a:r>
          </a:p>
          <a:p>
            <a:r>
              <a:rPr lang="en-US" dirty="0"/>
              <a:t>Therefore, there is exactly one path between every pair of vertices.</a:t>
            </a:r>
          </a:p>
        </p:txBody>
      </p:sp>
      <p:pic>
        <p:nvPicPr>
          <p:cNvPr id="17" name="Picture 16"/>
          <p:cNvPicPr>
            <a:picLocks noChangeAspect="1"/>
          </p:cNvPicPr>
          <p:nvPr/>
        </p:nvPicPr>
        <p:blipFill>
          <a:blip r:embed="rId4"/>
          <a:stretch>
            <a:fillRect/>
          </a:stretch>
        </p:blipFill>
        <p:spPr>
          <a:xfrm rot="1128153">
            <a:off x="7030286" y="2270321"/>
            <a:ext cx="5060290" cy="2691675"/>
          </a:xfrm>
          <a:prstGeom prst="rect">
            <a:avLst/>
          </a:prstGeom>
        </p:spPr>
      </p:pic>
      <p:cxnSp>
        <p:nvCxnSpPr>
          <p:cNvPr id="21" name="Straight Connector 20"/>
          <p:cNvCxnSpPr/>
          <p:nvPr/>
        </p:nvCxnSpPr>
        <p:spPr>
          <a:xfrm>
            <a:off x="8679976" y="2836197"/>
            <a:ext cx="3029803" cy="534800"/>
          </a:xfrm>
          <a:prstGeom prst="line">
            <a:avLst/>
          </a:prstGeom>
          <a:ln w="38100">
            <a:solidFill>
              <a:srgbClr val="0070C0"/>
            </a:solidFill>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2091626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5"/>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wipe(down)">
                                      <p:cBhvr>
                                        <p:cTn id="25" dur="500"/>
                                        <p:tgtEl>
                                          <p:spTgt spid="21"/>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9"/>
            <a:ext cx="11929645" cy="973661"/>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If in a graph G, there is exactly one path between every pair of vertices, then G is a tree.</a:t>
            </a:r>
            <a:endParaRPr lang="en-US" sz="2800" dirty="0">
              <a:solidFill>
                <a:schemeClr val="bg1"/>
              </a:solidFill>
            </a:endParaRPr>
          </a:p>
        </p:txBody>
      </p:sp>
      <p:sp>
        <p:nvSpPr>
          <p:cNvPr id="16" name="Content Placeholder 2">
            <a:extLst>
              <a:ext uri="{FF2B5EF4-FFF2-40B4-BE49-F238E27FC236}">
                <a16:creationId xmlns:a16="http://schemas.microsoft.com/office/drawing/2014/main" id="{635C8299-099D-4E74-A7B7-29B2E1FD450E}"/>
              </a:ext>
            </a:extLst>
          </p:cNvPr>
          <p:cNvSpPr txBox="1">
            <a:spLocks/>
          </p:cNvSpPr>
          <p:nvPr/>
        </p:nvSpPr>
        <p:spPr>
          <a:xfrm>
            <a:off x="131355" y="1901306"/>
            <a:ext cx="1014865"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Proof</a:t>
            </a:r>
            <a:endParaRPr lang="en-US" sz="2800" dirty="0">
              <a:solidFill>
                <a:schemeClr val="bg1"/>
              </a:solidFill>
            </a:endParaRPr>
          </a:p>
        </p:txBody>
      </p:sp>
      <p:cxnSp>
        <p:nvCxnSpPr>
          <p:cNvPr id="20" name="Straight Connector 19">
            <a:extLst>
              <a:ext uri="{FF2B5EF4-FFF2-40B4-BE49-F238E27FC236}">
                <a16:creationId xmlns:a16="http://schemas.microsoft.com/office/drawing/2014/main" id="{66EA08EA-10E8-07B3-809B-572189B302D2}"/>
              </a:ext>
            </a:extLst>
          </p:cNvPr>
          <p:cNvCxnSpPr>
            <a:cxnSpLocks/>
          </p:cNvCxnSpPr>
          <p:nvPr/>
        </p:nvCxnSpPr>
        <p:spPr>
          <a:xfrm flipH="1" flipV="1">
            <a:off x="3528519" y="1394730"/>
            <a:ext cx="6361093" cy="2270"/>
          </a:xfrm>
          <a:prstGeom prst="line">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cxn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Property 2</a:t>
            </a:r>
            <a:endParaRPr lang="en-US" dirty="0"/>
          </a:p>
        </p:txBody>
      </p:sp>
      <mc:AlternateContent xmlns:mc="http://schemas.openxmlformats.org/markup-compatibility/2006" xmlns:a14="http://schemas.microsoft.com/office/drawing/2010/main">
        <mc:Choice Requires="a14">
          <p:sp>
            <p:nvSpPr>
              <p:cNvPr id="10" name="Content Placeholder 9"/>
              <p:cNvSpPr>
                <a:spLocks noGrp="1"/>
              </p:cNvSpPr>
              <p:nvPr>
                <p:ph idx="1"/>
              </p:nvPr>
            </p:nvSpPr>
            <p:spPr>
              <a:xfrm>
                <a:off x="131176" y="2669812"/>
                <a:ext cx="11715081" cy="2544286"/>
              </a:xfrm>
              <a:prstGeom prst="rect">
                <a:avLst/>
              </a:prstGeom>
            </p:spPr>
            <p:txBody>
              <a:bodyPr wrap="square">
                <a:spAutoFit/>
              </a:bodyPr>
              <a:lstStyle/>
              <a:p>
                <a:pPr>
                  <a:buClr>
                    <a:srgbClr val="B84742"/>
                  </a:buClr>
                </a:pPr>
                <a:r>
                  <a:rPr lang="en-US" dirty="0"/>
                  <a:t>Since there is exactly one path between every pair of vertices. </a:t>
                </a:r>
              </a:p>
              <a:p>
                <a:pPr>
                  <a:buClr>
                    <a:srgbClr val="B84742"/>
                  </a:buClr>
                </a:pPr>
                <a:r>
                  <a:rPr lang="en-US" dirty="0"/>
                  <a:t>i.e. </a:t>
                </a:r>
                <a14:m>
                  <m:oMath xmlns:m="http://schemas.openxmlformats.org/officeDocument/2006/math">
                    <m:r>
                      <m:rPr>
                        <m:sty m:val="p"/>
                      </m:rPr>
                      <a:rPr lang="en-US" i="0" dirty="0" smtClean="0">
                        <a:latin typeface="Cambria Math" panose="02040503050406030204" pitchFamily="18" charset="0"/>
                      </a:rPr>
                      <m:t>G</m:t>
                    </m:r>
                  </m:oMath>
                </a14:m>
                <a:r>
                  <a:rPr lang="en-US" dirty="0"/>
                  <a:t> is </a:t>
                </a:r>
                <a:r>
                  <a:rPr lang="en-US" b="1" dirty="0"/>
                  <a:t>connected</a:t>
                </a:r>
                <a:r>
                  <a:rPr lang="en-US" dirty="0"/>
                  <a:t>.</a:t>
                </a:r>
              </a:p>
              <a:p>
                <a:pPr>
                  <a:buClr>
                    <a:srgbClr val="B84742"/>
                  </a:buClr>
                </a:pPr>
                <a:r>
                  <a:rPr lang="en-US" dirty="0"/>
                  <a:t>Suppose </a:t>
                </a:r>
                <a14:m>
                  <m:oMath xmlns:m="http://schemas.openxmlformats.org/officeDocument/2006/math">
                    <m:r>
                      <m:rPr>
                        <m:sty m:val="p"/>
                      </m:rPr>
                      <a:rPr lang="en-US" i="0" dirty="0" smtClean="0">
                        <a:latin typeface="Cambria Math" panose="02040503050406030204" pitchFamily="18" charset="0"/>
                      </a:rPr>
                      <m:t>G</m:t>
                    </m:r>
                  </m:oMath>
                </a14:m>
                <a:r>
                  <a:rPr lang="en-US" dirty="0"/>
                  <a:t> contains a cycle. </a:t>
                </a:r>
              </a:p>
              <a:p>
                <a:pPr>
                  <a:buClr>
                    <a:srgbClr val="B84742"/>
                  </a:buClr>
                </a:pPr>
                <a:r>
                  <a:rPr lang="en-US" dirty="0"/>
                  <a:t>Then there exist two vertices having more than one path between them.</a:t>
                </a:r>
              </a:p>
              <a:p>
                <a:pPr>
                  <a:buClr>
                    <a:srgbClr val="B84742"/>
                  </a:buClr>
                </a:pPr>
                <a:r>
                  <a:rPr lang="en-US" dirty="0"/>
                  <a:t>This contradicts the given condition</a:t>
                </a:r>
                <a:endParaRPr lang="en-US" sz="2800" dirty="0">
                  <a:solidFill>
                    <a:srgbClr val="002060"/>
                  </a:solidFill>
                </a:endParaRPr>
              </a:p>
            </p:txBody>
          </p:sp>
        </mc:Choice>
        <mc:Fallback xmlns="">
          <p:sp>
            <p:nvSpPr>
              <p:cNvPr id="10" name="Content Placeholder 9"/>
              <p:cNvSpPr>
                <a:spLocks noGrp="1" noRot="1" noChangeAspect="1" noMove="1" noResize="1" noEditPoints="1" noAdjustHandles="1" noChangeArrowheads="1" noChangeShapeType="1" noTextEdit="1"/>
              </p:cNvSpPr>
              <p:nvPr>
                <p:ph idx="1"/>
              </p:nvPr>
            </p:nvSpPr>
            <p:spPr>
              <a:xfrm>
                <a:off x="131176" y="2669812"/>
                <a:ext cx="11715081" cy="2544286"/>
              </a:xfrm>
              <a:prstGeom prst="rect">
                <a:avLst/>
              </a:prstGeom>
              <a:blipFill rotWithShape="0">
                <a:blip r:embed="rId2"/>
                <a:stretch>
                  <a:fillRect l="-989" t="-4317" b="-5995"/>
                </a:stretch>
              </a:blipFill>
            </p:spPr>
            <p:txBody>
              <a:bodyPr/>
              <a:lstStyle/>
              <a:p>
                <a:r>
                  <a:rPr lang="en-US">
                    <a:noFill/>
                  </a:rPr>
                  <a:t> </a:t>
                </a:r>
              </a:p>
            </p:txBody>
          </p:sp>
        </mc:Fallback>
      </mc:AlternateContent>
    </p:spTree>
    <p:extLst>
      <p:ext uri="{BB962C8B-B14F-4D97-AF65-F5344CB8AC3E}">
        <p14:creationId xmlns:p14="http://schemas.microsoft.com/office/powerpoint/2010/main" val="776764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Minimally connected graph </a:t>
            </a:r>
            <a:endParaRPr lang="en-US" dirty="0"/>
          </a:p>
        </p:txBody>
      </p:sp>
      <p:sp>
        <p:nvSpPr>
          <p:cNvPr id="10" name="Rectangle 9"/>
          <p:cNvSpPr/>
          <p:nvPr/>
        </p:nvSpPr>
        <p:spPr>
          <a:xfrm>
            <a:off x="0" y="6481409"/>
            <a:ext cx="11814425" cy="1082348"/>
          </a:xfrm>
          <a:prstGeom prst="rect">
            <a:avLst/>
          </a:prstGeom>
        </p:spPr>
        <p:txBody>
          <a:bodyPr wrap="square">
            <a:spAutoFit/>
          </a:bodyPr>
          <a:lstStyle/>
          <a:p>
            <a:pPr marL="457200" indent="-457200" algn="just">
              <a:spcBef>
                <a:spcPts val="1000"/>
              </a:spcBef>
              <a:buClr>
                <a:srgbClr val="B84742"/>
              </a:buClr>
              <a:buFont typeface="Wingdings 3" panose="05040102010807070707" pitchFamily="18" charset="2"/>
              <a:buChar char=""/>
            </a:pPr>
            <a:endParaRPr lang="en-US" sz="2800" b="1" dirty="0">
              <a:solidFill>
                <a:srgbClr val="002060"/>
              </a:solidFill>
            </a:endParaRPr>
          </a:p>
          <a:p>
            <a:pPr lvl="1" algn="just">
              <a:spcBef>
                <a:spcPts val="1000"/>
              </a:spcBef>
              <a:buClr>
                <a:srgbClr val="B84742"/>
              </a:buClr>
            </a:pPr>
            <a:endParaRPr lang="en-US" sz="2800" b="1" dirty="0">
              <a:solidFill>
                <a:srgbClr val="002060"/>
              </a:solidFill>
            </a:endParaRPr>
          </a:p>
        </p:txBody>
      </p:sp>
      <p:sp>
        <p:nvSpPr>
          <p:cNvPr id="6" name="Rectangle 5"/>
          <p:cNvSpPr/>
          <p:nvPr/>
        </p:nvSpPr>
        <p:spPr>
          <a:xfrm>
            <a:off x="23135" y="741595"/>
            <a:ext cx="11814425" cy="954107"/>
          </a:xfrm>
          <a:prstGeom prst="rect">
            <a:avLst/>
          </a:prstGeom>
        </p:spPr>
        <p:txBody>
          <a:bodyPr wrap="square">
            <a:spAutoFit/>
          </a:bodyPr>
          <a:lstStyle/>
          <a:p>
            <a:pPr marL="265113" indent="-265113" algn="just">
              <a:spcBef>
                <a:spcPts val="1000"/>
              </a:spcBef>
              <a:buClr>
                <a:srgbClr val="B84742"/>
              </a:buClr>
              <a:buFont typeface="Wingdings 3" panose="05040102010807070707" pitchFamily="18" charset="2"/>
              <a:buChar char=""/>
            </a:pPr>
            <a:r>
              <a:rPr lang="en-US" sz="2800" dirty="0"/>
              <a:t>A minimally connected graph is a connected graph in which </a:t>
            </a:r>
            <a:r>
              <a:rPr lang="en-US" sz="2800" b="1" dirty="0"/>
              <a:t>removing any edge </a:t>
            </a:r>
            <a:r>
              <a:rPr lang="en-US" sz="2800" dirty="0">
                <a:solidFill>
                  <a:srgbClr val="FF0000"/>
                </a:solidFill>
              </a:rPr>
              <a:t>disconnects</a:t>
            </a:r>
            <a:r>
              <a:rPr lang="en-US" sz="2800" dirty="0"/>
              <a:t> the graph.</a:t>
            </a:r>
            <a:endParaRPr lang="en-US" sz="2800" dirty="0">
              <a:solidFill>
                <a:srgbClr val="002060"/>
              </a:solidFill>
            </a:endParaRPr>
          </a:p>
        </p:txBody>
      </p:sp>
      <p:sp>
        <p:nvSpPr>
          <p:cNvPr id="7" name="Oval 6">
            <a:extLst>
              <a:ext uri="{FF2B5EF4-FFF2-40B4-BE49-F238E27FC236}">
                <a16:creationId xmlns:a16="http://schemas.microsoft.com/office/drawing/2014/main" id="{A4197692-1A04-EA71-457D-175797FDA5CE}"/>
              </a:ext>
            </a:extLst>
          </p:cNvPr>
          <p:cNvSpPr/>
          <p:nvPr/>
        </p:nvSpPr>
        <p:spPr>
          <a:xfrm rot="5400000">
            <a:off x="3302894" y="290937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 name="Straight Connector 7">
            <a:extLst>
              <a:ext uri="{FF2B5EF4-FFF2-40B4-BE49-F238E27FC236}">
                <a16:creationId xmlns:a16="http://schemas.microsoft.com/office/drawing/2014/main" id="{761C1F4A-0F54-D84C-6D00-A1EB9F135299}"/>
              </a:ext>
            </a:extLst>
          </p:cNvPr>
          <p:cNvCxnSpPr>
            <a:cxnSpLocks/>
            <a:stCxn id="12" idx="6"/>
            <a:endCxn id="7" idx="2"/>
          </p:cNvCxnSpPr>
          <p:nvPr/>
        </p:nvCxnSpPr>
        <p:spPr>
          <a:xfrm>
            <a:off x="2661822" y="2345186"/>
            <a:ext cx="713072" cy="56418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 name="Straight Connector 10">
            <a:extLst>
              <a:ext uri="{FF2B5EF4-FFF2-40B4-BE49-F238E27FC236}">
                <a16:creationId xmlns:a16="http://schemas.microsoft.com/office/drawing/2014/main" id="{6205DD86-315C-53B6-CEEF-A9919650168E}"/>
              </a:ext>
            </a:extLst>
          </p:cNvPr>
          <p:cNvCxnSpPr>
            <a:cxnSpLocks/>
            <a:stCxn id="7" idx="2"/>
            <a:endCxn id="13" idx="6"/>
          </p:cNvCxnSpPr>
          <p:nvPr/>
        </p:nvCxnSpPr>
        <p:spPr>
          <a:xfrm flipV="1">
            <a:off x="3374894" y="2388731"/>
            <a:ext cx="710007" cy="52064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2" name="Oval 11">
            <a:extLst>
              <a:ext uri="{FF2B5EF4-FFF2-40B4-BE49-F238E27FC236}">
                <a16:creationId xmlns:a16="http://schemas.microsoft.com/office/drawing/2014/main" id="{6C0843A1-C99E-E42B-5017-D5F14DE578E1}"/>
              </a:ext>
            </a:extLst>
          </p:cNvPr>
          <p:cNvSpPr/>
          <p:nvPr/>
        </p:nvSpPr>
        <p:spPr>
          <a:xfrm rot="5400000">
            <a:off x="2589822" y="220118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3" name="Oval 12">
            <a:extLst>
              <a:ext uri="{FF2B5EF4-FFF2-40B4-BE49-F238E27FC236}">
                <a16:creationId xmlns:a16="http://schemas.microsoft.com/office/drawing/2014/main" id="{BDD11F87-DA81-9510-C1CB-0AF4093562CB}"/>
              </a:ext>
            </a:extLst>
          </p:cNvPr>
          <p:cNvSpPr/>
          <p:nvPr/>
        </p:nvSpPr>
        <p:spPr>
          <a:xfrm rot="5400000">
            <a:off x="4012901" y="224473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4" name="Straight Connector 13">
            <a:extLst>
              <a:ext uri="{FF2B5EF4-FFF2-40B4-BE49-F238E27FC236}">
                <a16:creationId xmlns:a16="http://schemas.microsoft.com/office/drawing/2014/main" id="{6205DD86-315C-53B6-CEEF-A9919650168E}"/>
              </a:ext>
            </a:extLst>
          </p:cNvPr>
          <p:cNvCxnSpPr>
            <a:cxnSpLocks/>
            <a:stCxn id="17" idx="2"/>
            <a:endCxn id="7" idx="6"/>
          </p:cNvCxnSpPr>
          <p:nvPr/>
        </p:nvCxnSpPr>
        <p:spPr>
          <a:xfrm flipV="1">
            <a:off x="3373485" y="3053374"/>
            <a:ext cx="1409" cy="59418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5" name="Straight Connector 14">
            <a:extLst>
              <a:ext uri="{FF2B5EF4-FFF2-40B4-BE49-F238E27FC236}">
                <a16:creationId xmlns:a16="http://schemas.microsoft.com/office/drawing/2014/main" id="{6205DD86-315C-53B6-CEEF-A9919650168E}"/>
              </a:ext>
            </a:extLst>
          </p:cNvPr>
          <p:cNvCxnSpPr>
            <a:cxnSpLocks/>
            <a:stCxn id="18" idx="2"/>
            <a:endCxn id="17" idx="6"/>
          </p:cNvCxnSpPr>
          <p:nvPr/>
        </p:nvCxnSpPr>
        <p:spPr>
          <a:xfrm flipH="1" flipV="1">
            <a:off x="3373485" y="3791561"/>
            <a:ext cx="12141" cy="55810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7" name="Oval 16">
            <a:extLst>
              <a:ext uri="{FF2B5EF4-FFF2-40B4-BE49-F238E27FC236}">
                <a16:creationId xmlns:a16="http://schemas.microsoft.com/office/drawing/2014/main" id="{A4197692-1A04-EA71-457D-175797FDA5CE}"/>
              </a:ext>
            </a:extLst>
          </p:cNvPr>
          <p:cNvSpPr/>
          <p:nvPr/>
        </p:nvSpPr>
        <p:spPr>
          <a:xfrm rot="5400000">
            <a:off x="3301485" y="364756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8" name="Oval 17">
            <a:extLst>
              <a:ext uri="{FF2B5EF4-FFF2-40B4-BE49-F238E27FC236}">
                <a16:creationId xmlns:a16="http://schemas.microsoft.com/office/drawing/2014/main" id="{A4197692-1A04-EA71-457D-175797FDA5CE}"/>
              </a:ext>
            </a:extLst>
          </p:cNvPr>
          <p:cNvSpPr/>
          <p:nvPr/>
        </p:nvSpPr>
        <p:spPr>
          <a:xfrm rot="5400000">
            <a:off x="3313626" y="434966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 name="TextBox 1"/>
          <p:cNvSpPr txBox="1"/>
          <p:nvPr/>
        </p:nvSpPr>
        <p:spPr>
          <a:xfrm>
            <a:off x="1837306" y="4541089"/>
            <a:ext cx="3191899" cy="523220"/>
          </a:xfrm>
          <a:prstGeom prst="rect">
            <a:avLst/>
          </a:prstGeom>
          <a:noFill/>
        </p:spPr>
        <p:txBody>
          <a:bodyPr wrap="none" rtlCol="0">
            <a:spAutoFit/>
          </a:bodyPr>
          <a:lstStyle/>
          <a:p>
            <a:r>
              <a:rPr lang="en-US" sz="2800" dirty="0">
                <a:solidFill>
                  <a:srgbClr val="002060"/>
                </a:solidFill>
              </a:rPr>
              <a:t>Minimally connected </a:t>
            </a:r>
          </a:p>
        </p:txBody>
      </p:sp>
      <p:sp>
        <p:nvSpPr>
          <p:cNvPr id="20" name="Oval 19">
            <a:extLst>
              <a:ext uri="{FF2B5EF4-FFF2-40B4-BE49-F238E27FC236}">
                <a16:creationId xmlns:a16="http://schemas.microsoft.com/office/drawing/2014/main" id="{A4197692-1A04-EA71-457D-175797FDA5CE}"/>
              </a:ext>
            </a:extLst>
          </p:cNvPr>
          <p:cNvSpPr/>
          <p:nvPr/>
        </p:nvSpPr>
        <p:spPr>
          <a:xfrm rot="5400000">
            <a:off x="8465802" y="287060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1" name="Straight Connector 20">
            <a:extLst>
              <a:ext uri="{FF2B5EF4-FFF2-40B4-BE49-F238E27FC236}">
                <a16:creationId xmlns:a16="http://schemas.microsoft.com/office/drawing/2014/main" id="{761C1F4A-0F54-D84C-6D00-A1EB9F135299}"/>
              </a:ext>
            </a:extLst>
          </p:cNvPr>
          <p:cNvCxnSpPr>
            <a:cxnSpLocks/>
            <a:stCxn id="23" idx="6"/>
            <a:endCxn id="20" idx="2"/>
          </p:cNvCxnSpPr>
          <p:nvPr/>
        </p:nvCxnSpPr>
        <p:spPr>
          <a:xfrm>
            <a:off x="7824730" y="2306421"/>
            <a:ext cx="713072" cy="56418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2" name="Straight Connector 21">
            <a:extLst>
              <a:ext uri="{FF2B5EF4-FFF2-40B4-BE49-F238E27FC236}">
                <a16:creationId xmlns:a16="http://schemas.microsoft.com/office/drawing/2014/main" id="{6205DD86-315C-53B6-CEEF-A9919650168E}"/>
              </a:ext>
            </a:extLst>
          </p:cNvPr>
          <p:cNvCxnSpPr>
            <a:cxnSpLocks/>
            <a:stCxn id="20" idx="2"/>
            <a:endCxn id="24" idx="6"/>
          </p:cNvCxnSpPr>
          <p:nvPr/>
        </p:nvCxnSpPr>
        <p:spPr>
          <a:xfrm flipV="1">
            <a:off x="8537802" y="2323461"/>
            <a:ext cx="710007" cy="54714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3" name="Oval 22">
            <a:extLst>
              <a:ext uri="{FF2B5EF4-FFF2-40B4-BE49-F238E27FC236}">
                <a16:creationId xmlns:a16="http://schemas.microsoft.com/office/drawing/2014/main" id="{6C0843A1-C99E-E42B-5017-D5F14DE578E1}"/>
              </a:ext>
            </a:extLst>
          </p:cNvPr>
          <p:cNvSpPr/>
          <p:nvPr/>
        </p:nvSpPr>
        <p:spPr>
          <a:xfrm rot="5400000">
            <a:off x="7752730" y="216242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4" name="Oval 23">
            <a:extLst>
              <a:ext uri="{FF2B5EF4-FFF2-40B4-BE49-F238E27FC236}">
                <a16:creationId xmlns:a16="http://schemas.microsoft.com/office/drawing/2014/main" id="{BDD11F87-DA81-9510-C1CB-0AF4093562CB}"/>
              </a:ext>
            </a:extLst>
          </p:cNvPr>
          <p:cNvSpPr/>
          <p:nvPr/>
        </p:nvSpPr>
        <p:spPr>
          <a:xfrm rot="5400000">
            <a:off x="9175809" y="217946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5" name="Straight Connector 24">
            <a:extLst>
              <a:ext uri="{FF2B5EF4-FFF2-40B4-BE49-F238E27FC236}">
                <a16:creationId xmlns:a16="http://schemas.microsoft.com/office/drawing/2014/main" id="{6205DD86-315C-53B6-CEEF-A9919650168E}"/>
              </a:ext>
            </a:extLst>
          </p:cNvPr>
          <p:cNvCxnSpPr>
            <a:cxnSpLocks/>
            <a:stCxn id="27" idx="2"/>
            <a:endCxn id="20" idx="6"/>
          </p:cNvCxnSpPr>
          <p:nvPr/>
        </p:nvCxnSpPr>
        <p:spPr>
          <a:xfrm flipV="1">
            <a:off x="8536393" y="3014609"/>
            <a:ext cx="1409" cy="59418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6" name="Straight Connector 25">
            <a:extLst>
              <a:ext uri="{FF2B5EF4-FFF2-40B4-BE49-F238E27FC236}">
                <a16:creationId xmlns:a16="http://schemas.microsoft.com/office/drawing/2014/main" id="{6205DD86-315C-53B6-CEEF-A9919650168E}"/>
              </a:ext>
            </a:extLst>
          </p:cNvPr>
          <p:cNvCxnSpPr>
            <a:cxnSpLocks/>
            <a:stCxn id="28" idx="2"/>
            <a:endCxn id="27" idx="6"/>
          </p:cNvCxnSpPr>
          <p:nvPr/>
        </p:nvCxnSpPr>
        <p:spPr>
          <a:xfrm flipH="1" flipV="1">
            <a:off x="8536393" y="3752796"/>
            <a:ext cx="12141" cy="55810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7" name="Oval 26">
            <a:extLst>
              <a:ext uri="{FF2B5EF4-FFF2-40B4-BE49-F238E27FC236}">
                <a16:creationId xmlns:a16="http://schemas.microsoft.com/office/drawing/2014/main" id="{A4197692-1A04-EA71-457D-175797FDA5CE}"/>
              </a:ext>
            </a:extLst>
          </p:cNvPr>
          <p:cNvSpPr/>
          <p:nvPr/>
        </p:nvSpPr>
        <p:spPr>
          <a:xfrm rot="5400000">
            <a:off x="8464393" y="360879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8" name="Oval 27">
            <a:extLst>
              <a:ext uri="{FF2B5EF4-FFF2-40B4-BE49-F238E27FC236}">
                <a16:creationId xmlns:a16="http://schemas.microsoft.com/office/drawing/2014/main" id="{A4197692-1A04-EA71-457D-175797FDA5CE}"/>
              </a:ext>
            </a:extLst>
          </p:cNvPr>
          <p:cNvSpPr/>
          <p:nvPr/>
        </p:nvSpPr>
        <p:spPr>
          <a:xfrm rot="5400000">
            <a:off x="8476534" y="431089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9" name="Straight Connector 28">
            <a:extLst>
              <a:ext uri="{FF2B5EF4-FFF2-40B4-BE49-F238E27FC236}">
                <a16:creationId xmlns:a16="http://schemas.microsoft.com/office/drawing/2014/main" id="{761C1F4A-0F54-D84C-6D00-A1EB9F135299}"/>
              </a:ext>
            </a:extLst>
          </p:cNvPr>
          <p:cNvCxnSpPr>
            <a:cxnSpLocks/>
            <a:stCxn id="23" idx="0"/>
            <a:endCxn id="24" idx="4"/>
          </p:cNvCxnSpPr>
          <p:nvPr/>
        </p:nvCxnSpPr>
        <p:spPr>
          <a:xfrm>
            <a:off x="7896730" y="2234421"/>
            <a:ext cx="1279079" cy="170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2" name="TextBox 31"/>
          <p:cNvSpPr txBox="1"/>
          <p:nvPr/>
        </p:nvSpPr>
        <p:spPr>
          <a:xfrm>
            <a:off x="6721918" y="4542079"/>
            <a:ext cx="3781805" cy="523220"/>
          </a:xfrm>
          <a:prstGeom prst="rect">
            <a:avLst/>
          </a:prstGeom>
          <a:noFill/>
        </p:spPr>
        <p:txBody>
          <a:bodyPr wrap="none" rtlCol="0">
            <a:spAutoFit/>
          </a:bodyPr>
          <a:lstStyle/>
          <a:p>
            <a:r>
              <a:rPr lang="en-US" sz="2800" dirty="0">
                <a:solidFill>
                  <a:srgbClr val="002060"/>
                </a:solidFill>
              </a:rPr>
              <a:t>Not Minimally connected </a:t>
            </a:r>
          </a:p>
        </p:txBody>
      </p:sp>
      <p:sp>
        <p:nvSpPr>
          <p:cNvPr id="30" name="Rectangle 29"/>
          <p:cNvSpPr/>
          <p:nvPr/>
        </p:nvSpPr>
        <p:spPr>
          <a:xfrm>
            <a:off x="23135" y="5237934"/>
            <a:ext cx="11814425" cy="523220"/>
          </a:xfrm>
          <a:prstGeom prst="rect">
            <a:avLst/>
          </a:prstGeom>
        </p:spPr>
        <p:txBody>
          <a:bodyPr wrap="square">
            <a:spAutoFit/>
          </a:bodyPr>
          <a:lstStyle/>
          <a:p>
            <a:pPr marL="265113" indent="-265113" algn="just">
              <a:spcBef>
                <a:spcPts val="1000"/>
              </a:spcBef>
              <a:buClr>
                <a:srgbClr val="B84742"/>
              </a:buClr>
              <a:buFont typeface="Wingdings 3" panose="05040102010807070707" pitchFamily="18" charset="2"/>
              <a:buChar char=""/>
            </a:pPr>
            <a:r>
              <a:rPr lang="en-US" sz="2800" b="1" dirty="0">
                <a:solidFill>
                  <a:srgbClr val="002060"/>
                </a:solidFill>
              </a:rPr>
              <a:t>Note:</a:t>
            </a:r>
            <a:r>
              <a:rPr lang="en-US" sz="2800" dirty="0">
                <a:solidFill>
                  <a:srgbClr val="002060"/>
                </a:solidFill>
              </a:rPr>
              <a:t> A minimally connected graph </a:t>
            </a:r>
            <a:r>
              <a:rPr lang="en-US" sz="2800" b="1" dirty="0">
                <a:solidFill>
                  <a:srgbClr val="002060"/>
                </a:solidFill>
              </a:rPr>
              <a:t>does not contain any cycles.</a:t>
            </a:r>
            <a:endParaRPr lang="en-US" sz="2800" dirty="0">
              <a:solidFill>
                <a:srgbClr val="002060"/>
              </a:solidFill>
            </a:endParaRPr>
          </a:p>
        </p:txBody>
      </p:sp>
    </p:spTree>
    <p:extLst>
      <p:ext uri="{BB962C8B-B14F-4D97-AF65-F5344CB8AC3E}">
        <p14:creationId xmlns:p14="http://schemas.microsoft.com/office/powerpoint/2010/main" val="310844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14"/>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8"/>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nodeType="clickEffect">
                                  <p:stCondLst>
                                    <p:cond delay="0"/>
                                  </p:stCondLst>
                                  <p:childTnLst>
                                    <p:set>
                                      <p:cBhvr>
                                        <p:cTn id="46" dur="1" fill="hold">
                                          <p:stCondLst>
                                            <p:cond delay="0"/>
                                          </p:stCondLst>
                                        </p:cTn>
                                        <p:tgtEl>
                                          <p:spTgt spid="11"/>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nodeType="clickEffect">
                                  <p:stCondLst>
                                    <p:cond delay="0"/>
                                  </p:stCondLst>
                                  <p:childTnLst>
                                    <p:set>
                                      <p:cBhvr>
                                        <p:cTn id="54" dur="1" fill="hold">
                                          <p:stCondLst>
                                            <p:cond delay="0"/>
                                          </p:stCondLst>
                                        </p:cTn>
                                        <p:tgtEl>
                                          <p:spTgt spid="15"/>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0"/>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1"/>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4"/>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5"/>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26"/>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8"/>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29"/>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xit" presetSubtype="0" fill="hold" nodeType="clickEffect">
                                  <p:stCondLst>
                                    <p:cond delay="0"/>
                                  </p:stCondLst>
                                  <p:childTnLst>
                                    <p:set>
                                      <p:cBhvr>
                                        <p:cTn id="88" dur="1" fill="hold">
                                          <p:stCondLst>
                                            <p:cond delay="0"/>
                                          </p:stCondLst>
                                        </p:cTn>
                                        <p:tgtEl>
                                          <p:spTgt spid="29"/>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29"/>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32"/>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3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P spid="13" grpId="0" animBg="1"/>
      <p:bldP spid="17" grpId="0" animBg="1"/>
      <p:bldP spid="18" grpId="0" animBg="1"/>
      <p:bldP spid="2" grpId="0"/>
      <p:bldP spid="20" grpId="0" animBg="1"/>
      <p:bldP spid="23" grpId="0" animBg="1"/>
      <p:bldP spid="24" grpId="0" animBg="1"/>
      <p:bldP spid="27" grpId="0" animBg="1"/>
      <p:bldP spid="28" grpId="0" animBg="1"/>
      <p:bldP spid="3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40"/>
            <a:ext cx="11929645" cy="561716"/>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A graph is a tree if and only if it is minimally connected.</a:t>
            </a:r>
          </a:p>
        </p:txBody>
      </p:sp>
      <p:sp>
        <p:nvSpPr>
          <p:cNvPr id="16" name="Content Placeholder 2">
            <a:extLst>
              <a:ext uri="{FF2B5EF4-FFF2-40B4-BE49-F238E27FC236}">
                <a16:creationId xmlns:a16="http://schemas.microsoft.com/office/drawing/2014/main" id="{635C8299-099D-4E74-A7B7-29B2E1FD450E}"/>
              </a:ext>
            </a:extLst>
          </p:cNvPr>
          <p:cNvSpPr txBox="1">
            <a:spLocks/>
          </p:cNvSpPr>
          <p:nvPr/>
        </p:nvSpPr>
        <p:spPr>
          <a:xfrm>
            <a:off x="131356" y="1463425"/>
            <a:ext cx="1008332"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Proof </a:t>
            </a:r>
            <a:endParaRPr lang="en-US" sz="2800" dirty="0">
              <a:solidFill>
                <a:schemeClr val="bg1"/>
              </a:solidFill>
            </a:endParaRP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Property 3</a:t>
            </a:r>
            <a:endParaRPr lang="en-US" dirty="0"/>
          </a:p>
        </p:txBody>
      </p:sp>
      <mc:AlternateContent xmlns:mc="http://schemas.openxmlformats.org/markup-compatibility/2006" xmlns:a14="http://schemas.microsoft.com/office/drawing/2010/main">
        <mc:Choice Requires="a14">
          <p:sp>
            <p:nvSpPr>
              <p:cNvPr id="10" name="Content Placeholder 9"/>
              <p:cNvSpPr>
                <a:spLocks noGrp="1"/>
              </p:cNvSpPr>
              <p:nvPr>
                <p:ph idx="1"/>
              </p:nvPr>
            </p:nvSpPr>
            <p:spPr>
              <a:xfrm>
                <a:off x="131763" y="2265363"/>
                <a:ext cx="11928475" cy="2544286"/>
              </a:xfrm>
              <a:prstGeom prst="rect">
                <a:avLst/>
              </a:prstGeom>
            </p:spPr>
            <p:txBody>
              <a:bodyPr wrap="square">
                <a:spAutoFit/>
              </a:bodyPr>
              <a:lstStyle/>
              <a:p>
                <a:pPr marL="0" indent="0" algn="just">
                  <a:spcBef>
                    <a:spcPts val="1000"/>
                  </a:spcBef>
                  <a:buClr>
                    <a:srgbClr val="B84742"/>
                  </a:buClr>
                  <a:buNone/>
                </a:pPr>
                <a14:m>
                  <m:oMath xmlns:m="http://schemas.openxmlformats.org/officeDocument/2006/math">
                    <m:d>
                      <m:dPr>
                        <m:ctrlPr>
                          <a:rPr lang="en-US" sz="2800" i="1" dirty="0" smtClean="0">
                            <a:solidFill>
                              <a:srgbClr val="002060"/>
                            </a:solidFill>
                            <a:latin typeface="Cambria Math" panose="02040503050406030204" pitchFamily="18" charset="0"/>
                          </a:rPr>
                        </m:ctrlPr>
                      </m:dPr>
                      <m:e>
                        <m:r>
                          <a:rPr lang="en-US" i="1" dirty="0">
                            <a:latin typeface="Cambria Math" panose="02040503050406030204" pitchFamily="18" charset="0"/>
                            <a:ea typeface="Cambria Math" panose="02040503050406030204" pitchFamily="18" charset="0"/>
                          </a:rPr>
                          <m:t>⇒</m:t>
                        </m:r>
                      </m:e>
                    </m:d>
                  </m:oMath>
                </a14:m>
                <a:r>
                  <a:rPr lang="en-US" sz="2800" dirty="0">
                    <a:solidFill>
                      <a:srgbClr val="002060"/>
                    </a:solidFill>
                  </a:rPr>
                  <a:t> </a:t>
                </a:r>
                <a:r>
                  <a:rPr lang="en-US" sz="2800" b="1" dirty="0">
                    <a:solidFill>
                      <a:srgbClr val="002060"/>
                    </a:solidFill>
                  </a:rPr>
                  <a:t>If</a:t>
                </a:r>
                <a14:m>
                  <m:oMath xmlns:m="http://schemas.openxmlformats.org/officeDocument/2006/math">
                    <m:r>
                      <a:rPr lang="en-US" sz="2800" b="1" i="0" dirty="0" smtClean="0">
                        <a:solidFill>
                          <a:srgbClr val="002060"/>
                        </a:solidFill>
                        <a:latin typeface="Cambria Math" panose="02040503050406030204" pitchFamily="18" charset="0"/>
                      </a:rPr>
                      <m:t> </m:t>
                    </m:r>
                    <m:r>
                      <a:rPr lang="en-US" sz="2800" b="1" i="0" dirty="0" smtClean="0">
                        <a:solidFill>
                          <a:srgbClr val="002060"/>
                        </a:solidFill>
                        <a:latin typeface="Cambria Math" panose="02040503050406030204" pitchFamily="18" charset="0"/>
                      </a:rPr>
                      <m:t>𝐆</m:t>
                    </m:r>
                  </m:oMath>
                </a14:m>
                <a:r>
                  <a:rPr lang="en-US" sz="2800" b="1" dirty="0">
                    <a:solidFill>
                      <a:srgbClr val="002060"/>
                    </a:solidFill>
                  </a:rPr>
                  <a:t> is a tree, then it is minimally connected.</a:t>
                </a:r>
              </a:p>
              <a:p>
                <a:pPr>
                  <a:buClr>
                    <a:srgbClr val="B84742"/>
                  </a:buClr>
                </a:pPr>
                <a:r>
                  <a:rPr lang="en-US" b="1" dirty="0"/>
                  <a:t>In a tree</a:t>
                </a:r>
                <a:r>
                  <a:rPr lang="en-US" dirty="0"/>
                  <a:t>, there is exactly one path between every pair of vertices.</a:t>
                </a:r>
              </a:p>
              <a:p>
                <a:pPr>
                  <a:buClr>
                    <a:srgbClr val="B84742"/>
                  </a:buClr>
                </a:pPr>
                <a:r>
                  <a:rPr lang="en-US" dirty="0"/>
                  <a:t>Removing any edge destroys this path. </a:t>
                </a:r>
              </a:p>
              <a:p>
                <a:pPr>
                  <a:buClr>
                    <a:srgbClr val="B84742"/>
                  </a:buClr>
                </a:pPr>
                <a:r>
                  <a:rPr lang="en-US" dirty="0"/>
                  <a:t>Hence, the graph becomes </a:t>
                </a:r>
                <a:r>
                  <a:rPr lang="en-US" b="1" dirty="0"/>
                  <a:t>disconnected.</a:t>
                </a:r>
              </a:p>
              <a:p>
                <a:pPr>
                  <a:buClr>
                    <a:srgbClr val="B84742"/>
                  </a:buClr>
                </a:pPr>
                <a:r>
                  <a:rPr lang="en-US" dirty="0"/>
                  <a:t>Therefore, </a:t>
                </a:r>
                <a14:m>
                  <m:oMath xmlns:m="http://schemas.openxmlformats.org/officeDocument/2006/math">
                    <m:r>
                      <m:rPr>
                        <m:sty m:val="p"/>
                      </m:rPr>
                      <a:rPr lang="en-US" i="0" dirty="0" smtClean="0">
                        <a:latin typeface="Cambria Math" panose="02040503050406030204" pitchFamily="18" charset="0"/>
                      </a:rPr>
                      <m:t>G</m:t>
                    </m:r>
                  </m:oMath>
                </a14:m>
                <a:r>
                  <a:rPr lang="en-US" dirty="0"/>
                  <a:t> is minimally connected.</a:t>
                </a:r>
                <a:endParaRPr lang="en-US" sz="2800" dirty="0">
                  <a:solidFill>
                    <a:srgbClr val="002060"/>
                  </a:solidFill>
                </a:endParaRPr>
              </a:p>
            </p:txBody>
          </p:sp>
        </mc:Choice>
        <mc:Fallback xmlns="">
          <p:sp>
            <p:nvSpPr>
              <p:cNvPr id="10" name="Content Placeholder 9"/>
              <p:cNvSpPr>
                <a:spLocks noGrp="1" noRot="1" noChangeAspect="1" noMove="1" noResize="1" noEditPoints="1" noAdjustHandles="1" noChangeArrowheads="1" noChangeShapeType="1" noTextEdit="1"/>
              </p:cNvSpPr>
              <p:nvPr>
                <p:ph idx="1"/>
              </p:nvPr>
            </p:nvSpPr>
            <p:spPr>
              <a:xfrm>
                <a:off x="131763" y="2265363"/>
                <a:ext cx="11928475" cy="2544286"/>
              </a:xfrm>
              <a:prstGeom prst="rect">
                <a:avLst/>
              </a:prstGeom>
              <a:blipFill rotWithShape="0">
                <a:blip r:embed="rId2"/>
                <a:stretch>
                  <a:fillRect l="-971" t="-4317" b="-5995"/>
                </a:stretch>
              </a:blipFill>
            </p:spPr>
            <p:txBody>
              <a:bodyPr/>
              <a:lstStyle/>
              <a:p>
                <a:r>
                  <a:rPr lang="en-US">
                    <a:noFill/>
                  </a:rPr>
                  <a:t> </a:t>
                </a:r>
              </a:p>
            </p:txBody>
          </p:sp>
        </mc:Fallback>
      </mc:AlternateContent>
    </p:spTree>
    <p:extLst>
      <p:ext uri="{BB962C8B-B14F-4D97-AF65-F5344CB8AC3E}">
        <p14:creationId xmlns:p14="http://schemas.microsoft.com/office/powerpoint/2010/main" val="1254280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40"/>
            <a:ext cx="11929645" cy="535958"/>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A graph is a tree if and only if it is minimally connected.</a:t>
            </a:r>
          </a:p>
          <a:p>
            <a:r>
              <a:rPr lang="en-US" sz="2800" dirty="0">
                <a:solidFill>
                  <a:schemeClr val="bg1"/>
                </a:solidFill>
              </a:rPr>
              <a:t> </a:t>
            </a:r>
          </a:p>
        </p:txBody>
      </p:sp>
      <p:sp>
        <p:nvSpPr>
          <p:cNvPr id="16" name="Content Placeholder 2">
            <a:extLst>
              <a:ext uri="{FF2B5EF4-FFF2-40B4-BE49-F238E27FC236}">
                <a16:creationId xmlns:a16="http://schemas.microsoft.com/office/drawing/2014/main" id="{635C8299-099D-4E74-A7B7-29B2E1FD450E}"/>
              </a:ext>
            </a:extLst>
          </p:cNvPr>
          <p:cNvSpPr txBox="1">
            <a:spLocks/>
          </p:cNvSpPr>
          <p:nvPr/>
        </p:nvSpPr>
        <p:spPr>
          <a:xfrm>
            <a:off x="131356" y="1437666"/>
            <a:ext cx="1021584"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Proof </a:t>
            </a:r>
            <a:endParaRPr lang="en-US" sz="2800" dirty="0">
              <a:solidFill>
                <a:schemeClr val="bg1"/>
              </a:solidFill>
            </a:endParaRP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Property 3(Cont.)</a:t>
            </a:r>
            <a:endParaRPr lang="en-US" dirty="0"/>
          </a:p>
        </p:txBody>
      </p:sp>
      <mc:AlternateContent xmlns:mc="http://schemas.openxmlformats.org/markup-compatibility/2006" xmlns:a14="http://schemas.microsoft.com/office/drawing/2010/main">
        <mc:Choice Requires="a14">
          <p:sp>
            <p:nvSpPr>
              <p:cNvPr id="5" name="Rectangle 4"/>
              <p:cNvSpPr/>
              <p:nvPr/>
            </p:nvSpPr>
            <p:spPr>
              <a:xfrm>
                <a:off x="188685" y="1988922"/>
                <a:ext cx="11872136" cy="2759730"/>
              </a:xfrm>
              <a:prstGeom prst="rect">
                <a:avLst/>
              </a:prstGeom>
            </p:spPr>
            <p:txBody>
              <a:bodyPr wrap="square">
                <a:spAutoFit/>
              </a:bodyPr>
              <a:lstStyle/>
              <a:p>
                <a:pPr algn="just">
                  <a:spcBef>
                    <a:spcPts val="1000"/>
                  </a:spcBef>
                  <a:buClr>
                    <a:srgbClr val="B84742"/>
                  </a:buClr>
                </a:pPr>
                <a14:m>
                  <m:oMath xmlns:m="http://schemas.openxmlformats.org/officeDocument/2006/math">
                    <m:d>
                      <m:dPr>
                        <m:ctrlPr>
                          <a:rPr lang="en-US" sz="2800" b="1" i="1" smtClean="0">
                            <a:solidFill>
                              <a:srgbClr val="002060"/>
                            </a:solidFill>
                            <a:latin typeface="Cambria Math" panose="02040503050406030204" pitchFamily="18" charset="0"/>
                          </a:rPr>
                        </m:ctrlPr>
                      </m:dPr>
                      <m:e>
                        <m:r>
                          <a:rPr lang="en-US" sz="2800" b="1" i="1">
                            <a:solidFill>
                              <a:srgbClr val="002060"/>
                            </a:solidFill>
                            <a:latin typeface="Cambria Math" panose="02040503050406030204" pitchFamily="18" charset="0"/>
                            <a:ea typeface="Cambria Math" panose="02040503050406030204" pitchFamily="18" charset="0"/>
                          </a:rPr>
                          <m:t>⇐</m:t>
                        </m:r>
                      </m:e>
                    </m:d>
                  </m:oMath>
                </a14:m>
                <a:r>
                  <a:rPr lang="en-US" sz="2800" b="1" dirty="0">
                    <a:solidFill>
                      <a:srgbClr val="002060"/>
                    </a:solidFill>
                  </a:rPr>
                  <a:t>If a graph is minimally connected, then it is a tree </a:t>
                </a:r>
              </a:p>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If a graph is minimally connected so it </a:t>
                </a:r>
                <a:r>
                  <a:rPr lang="en-US" sz="2800" b="1" dirty="0">
                    <a:solidFill>
                      <a:srgbClr val="C00000"/>
                    </a:solidFill>
                  </a:rPr>
                  <a:t>does not contain any cycles.</a:t>
                </a:r>
                <a:endParaRPr lang="en-US" sz="2800" dirty="0">
                  <a:solidFill>
                    <a:srgbClr val="002060"/>
                  </a:solidFill>
                </a:endParaRPr>
              </a:p>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So, the graph is </a:t>
                </a:r>
                <a:r>
                  <a:rPr lang="en-US" sz="2800" b="1" dirty="0">
                    <a:solidFill>
                      <a:srgbClr val="FF0000"/>
                    </a:solidFill>
                  </a:rPr>
                  <a:t>connected without cycle</a:t>
                </a:r>
                <a:r>
                  <a:rPr lang="en-US" sz="2800" b="1" dirty="0">
                    <a:solidFill>
                      <a:srgbClr val="002060"/>
                    </a:solidFill>
                  </a:rPr>
                  <a:t>.</a:t>
                </a:r>
              </a:p>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Hence, It is a </a:t>
                </a:r>
                <a:r>
                  <a:rPr lang="en-US" sz="2800" b="1" dirty="0">
                    <a:solidFill>
                      <a:srgbClr val="002060"/>
                    </a:solidFill>
                  </a:rPr>
                  <a:t>tree</a:t>
                </a:r>
                <a:r>
                  <a:rPr lang="en-US" sz="2800" dirty="0">
                    <a:solidFill>
                      <a:srgbClr val="002060"/>
                    </a:solidFill>
                  </a:rPr>
                  <a:t>.</a:t>
                </a:r>
                <a:endParaRPr lang="en-US" sz="2800" b="1" dirty="0">
                  <a:solidFill>
                    <a:srgbClr val="002060"/>
                  </a:solidFill>
                </a:endParaRPr>
              </a:p>
              <a:p>
                <a:pPr lvl="1" algn="just">
                  <a:spcBef>
                    <a:spcPts val="1000"/>
                  </a:spcBef>
                  <a:buClr>
                    <a:srgbClr val="B84742"/>
                  </a:buClr>
                </a:pPr>
                <a:endParaRPr lang="en-US" sz="2800" b="1" dirty="0">
                  <a:solidFill>
                    <a:srgbClr val="002060"/>
                  </a:solidFill>
                </a:endParaRPr>
              </a:p>
            </p:txBody>
          </p:sp>
        </mc:Choice>
        <mc:Fallback xmlns="">
          <p:sp>
            <p:nvSpPr>
              <p:cNvPr id="5" name="Rectangle 4"/>
              <p:cNvSpPr>
                <a:spLocks noRot="1" noChangeAspect="1" noMove="1" noResize="1" noEditPoints="1" noAdjustHandles="1" noChangeArrowheads="1" noChangeShapeType="1" noTextEdit="1"/>
              </p:cNvSpPr>
              <p:nvPr/>
            </p:nvSpPr>
            <p:spPr>
              <a:xfrm>
                <a:off x="188685" y="1988922"/>
                <a:ext cx="11872136" cy="2759730"/>
              </a:xfrm>
              <a:prstGeom prst="rect">
                <a:avLst/>
              </a:prstGeom>
              <a:blipFill rotWithShape="0">
                <a:blip r:embed="rId2"/>
                <a:stretch>
                  <a:fillRect l="-976" t="-2208"/>
                </a:stretch>
              </a:blipFill>
            </p:spPr>
            <p:txBody>
              <a:bodyPr/>
              <a:lstStyle/>
              <a:p>
                <a:r>
                  <a:rPr lang="en-US">
                    <a:noFill/>
                  </a:rPr>
                  <a:t> </a:t>
                </a:r>
              </a:p>
            </p:txBody>
          </p:sp>
        </mc:Fallback>
      </mc:AlternateContent>
    </p:spTree>
    <p:extLst>
      <p:ext uri="{BB962C8B-B14F-4D97-AF65-F5344CB8AC3E}">
        <p14:creationId xmlns:p14="http://schemas.microsoft.com/office/powerpoint/2010/main" val="1466921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US" dirty="0"/>
              <a:t>Key Results</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131180" y="863444"/>
                <a:ext cx="11929641" cy="1156425"/>
              </a:xfrm>
            </p:spPr>
            <p:txBody>
              <a:bodyPr/>
              <a:lstStyle/>
              <a:p>
                <a:r>
                  <a:rPr lang="en-US" dirty="0"/>
                  <a:t>A tree with</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n</m:t>
                    </m:r>
                  </m:oMath>
                </a14:m>
                <a:r>
                  <a:rPr lang="en-US" dirty="0"/>
                  <a:t> vertices has exactly </a:t>
                </a:r>
                <a14:m>
                  <m:oMath xmlns:m="http://schemas.openxmlformats.org/officeDocument/2006/math">
                    <m:r>
                      <m:rPr>
                        <m:sty m:val="p"/>
                      </m:rPr>
                      <a:rPr lang="en-US" i="0" dirty="0" smtClean="0">
                        <a:latin typeface="Cambria Math" panose="02040503050406030204" pitchFamily="18" charset="0"/>
                      </a:rPr>
                      <m:t>n</m:t>
                    </m:r>
                    <m:r>
                      <a:rPr lang="en-US" i="0" dirty="0" smtClean="0">
                        <a:latin typeface="Cambria Math" panose="02040503050406030204" pitchFamily="18" charset="0"/>
                      </a:rPr>
                      <m:t>−1</m:t>
                    </m:r>
                  </m:oMath>
                </a14:m>
                <a:r>
                  <a:rPr lang="en-US" dirty="0"/>
                  <a:t> edges.</a:t>
                </a:r>
              </a:p>
              <a:p>
                <a:r>
                  <a:rPr lang="en-US" dirty="0"/>
                  <a:t>A graph with</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n</m:t>
                    </m:r>
                  </m:oMath>
                </a14:m>
                <a:r>
                  <a:rPr lang="en-US" dirty="0"/>
                  <a:t> vertices is a tree if and only if it is connected and has </a:t>
                </a:r>
                <a14:m>
                  <m:oMath xmlns:m="http://schemas.openxmlformats.org/officeDocument/2006/math">
                    <m:r>
                      <m:rPr>
                        <m:sty m:val="p"/>
                      </m:rPr>
                      <a:rPr lang="en-US" i="0" dirty="0" smtClean="0">
                        <a:latin typeface="Cambria Math" panose="02040503050406030204" pitchFamily="18" charset="0"/>
                      </a:rPr>
                      <m:t>n</m:t>
                    </m:r>
                    <m:r>
                      <a:rPr lang="en-US" i="0" dirty="0" smtClean="0">
                        <a:latin typeface="Cambria Math" panose="02040503050406030204" pitchFamily="18" charset="0"/>
                      </a:rPr>
                      <m:t>−1</m:t>
                    </m:r>
                  </m:oMath>
                </a14:m>
                <a:r>
                  <a:rPr lang="en-US" dirty="0"/>
                  <a:t> edges.</a:t>
                </a: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131180" y="863444"/>
                <a:ext cx="11929641" cy="1156425"/>
              </a:xfrm>
              <a:blipFill rotWithShape="0">
                <a:blip r:embed="rId2"/>
                <a:stretch>
                  <a:fillRect l="-971" t="-9524" r="-920" b="-529"/>
                </a:stretch>
              </a:blipFill>
            </p:spPr>
            <p:txBody>
              <a:bodyPr/>
              <a:lstStyle/>
              <a:p>
                <a:r>
                  <a:rPr lang="en-US">
                    <a:noFill/>
                  </a:rPr>
                  <a:t> </a:t>
                </a:r>
              </a:p>
            </p:txBody>
          </p:sp>
        </mc:Fallback>
      </mc:AlternateContent>
      <p:pic>
        <p:nvPicPr>
          <p:cNvPr id="7" name="Picture 6"/>
          <p:cNvPicPr>
            <a:picLocks noChangeAspect="1"/>
          </p:cNvPicPr>
          <p:nvPr/>
        </p:nvPicPr>
        <p:blipFill>
          <a:blip r:embed="rId3"/>
          <a:stretch>
            <a:fillRect/>
          </a:stretch>
        </p:blipFill>
        <p:spPr>
          <a:xfrm>
            <a:off x="294953" y="2584826"/>
            <a:ext cx="1151710" cy="1116351"/>
          </a:xfrm>
          <a:prstGeom prst="rect">
            <a:avLst/>
          </a:prstGeom>
        </p:spPr>
      </p:pic>
      <p:sp>
        <p:nvSpPr>
          <p:cNvPr id="8" name="Rectangle 7"/>
          <p:cNvSpPr/>
          <p:nvPr/>
        </p:nvSpPr>
        <p:spPr>
          <a:xfrm>
            <a:off x="1166987" y="2623959"/>
            <a:ext cx="10679269" cy="1077218"/>
          </a:xfrm>
          <a:prstGeom prst="rect">
            <a:avLst/>
          </a:prstGeom>
        </p:spPr>
        <p:txBody>
          <a:bodyPr wrap="square">
            <a:spAutoFit/>
          </a:bodyPr>
          <a:lstStyle/>
          <a:p>
            <a:pPr algn="ctr"/>
            <a:r>
              <a:rPr lang="en-US" sz="3200" dirty="0">
                <a:solidFill>
                  <a:srgbClr val="C00000"/>
                </a:solidFill>
              </a:rPr>
              <a:t>These conditions allow us to identify a tree without checking cycles explicitly</a:t>
            </a:r>
          </a:p>
        </p:txBody>
      </p:sp>
    </p:spTree>
    <p:extLst>
      <p:ext uri="{BB962C8B-B14F-4D97-AF65-F5344CB8AC3E}">
        <p14:creationId xmlns:p14="http://schemas.microsoft.com/office/powerpoint/2010/main" val="2706519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Method-1</a:t>
            </a:r>
          </a:p>
        </p:txBody>
      </p:sp>
    </p:spTree>
    <p:extLst>
      <p:ext uri="{BB962C8B-B14F-4D97-AF65-F5344CB8AC3E}">
        <p14:creationId xmlns:p14="http://schemas.microsoft.com/office/powerpoint/2010/main" val="4626176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9"/>
            <a:ext cx="11929645" cy="548837"/>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How many edges does a tree with 7 vertices have? Construct such tree.</a:t>
            </a:r>
          </a:p>
        </p:txBody>
      </p:sp>
      <p:sp>
        <p:nvSpPr>
          <p:cNvPr id="16" name="Content Placeholder 2">
            <a:extLst>
              <a:ext uri="{FF2B5EF4-FFF2-40B4-BE49-F238E27FC236}">
                <a16:creationId xmlns:a16="http://schemas.microsoft.com/office/drawing/2014/main" id="{635C8299-099D-4E74-A7B7-29B2E1FD450E}"/>
              </a:ext>
            </a:extLst>
          </p:cNvPr>
          <p:cNvSpPr txBox="1">
            <a:spLocks/>
          </p:cNvSpPr>
          <p:nvPr/>
        </p:nvSpPr>
        <p:spPr>
          <a:xfrm>
            <a:off x="131355" y="1450541"/>
            <a:ext cx="1419149"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1 ⇝ Example 1</a:t>
            </a:r>
            <a:endParaRPr lang="en-US" dirty="0"/>
          </a:p>
        </p:txBody>
      </p:sp>
      <mc:AlternateContent xmlns:mc="http://schemas.openxmlformats.org/markup-compatibility/2006" xmlns:a14="http://schemas.microsoft.com/office/drawing/2010/main">
        <mc:Choice Requires="a14">
          <p:sp>
            <p:nvSpPr>
              <p:cNvPr id="6" name="Rectangle 5"/>
              <p:cNvSpPr/>
              <p:nvPr/>
            </p:nvSpPr>
            <p:spPr>
              <a:xfrm>
                <a:off x="131176" y="2139047"/>
                <a:ext cx="7384092" cy="2200602"/>
              </a:xfrm>
              <a:prstGeom prst="rect">
                <a:avLst/>
              </a:prstGeom>
            </p:spPr>
            <p:txBody>
              <a:bodyPr wrap="square">
                <a:spAutoFit/>
              </a:bodyPr>
              <a:lstStyle/>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A tree with </a:t>
                </a:r>
                <a14:m>
                  <m:oMath xmlns:m="http://schemas.openxmlformats.org/officeDocument/2006/math">
                    <m:r>
                      <a:rPr lang="en-US" sz="2800" b="1" dirty="0">
                        <a:solidFill>
                          <a:srgbClr val="002060"/>
                        </a:solidFill>
                        <a:latin typeface="Cambria Math" panose="02040503050406030204" pitchFamily="18" charset="0"/>
                      </a:rPr>
                      <m:t>𝐧</m:t>
                    </m:r>
                  </m:oMath>
                </a14:m>
                <a:r>
                  <a:rPr lang="en-US" sz="2800" dirty="0">
                    <a:solidFill>
                      <a:srgbClr val="002060"/>
                    </a:solidFill>
                  </a:rPr>
                  <a:t> vertices have </a:t>
                </a:r>
                <a14:m>
                  <m:oMath xmlns:m="http://schemas.openxmlformats.org/officeDocument/2006/math">
                    <m:r>
                      <a:rPr lang="en-US" sz="2800" b="1" dirty="0">
                        <a:solidFill>
                          <a:srgbClr val="002060"/>
                        </a:solidFill>
                        <a:latin typeface="Cambria Math" panose="02040503050406030204" pitchFamily="18" charset="0"/>
                      </a:rPr>
                      <m:t>𝐧</m:t>
                    </m:r>
                    <m:r>
                      <a:rPr lang="en-US" sz="2800" b="1" dirty="0">
                        <a:solidFill>
                          <a:srgbClr val="002060"/>
                        </a:solidFill>
                        <a:latin typeface="Cambria Math" panose="02040503050406030204" pitchFamily="18" charset="0"/>
                      </a:rPr>
                      <m:t>−</m:t>
                    </m:r>
                    <m:r>
                      <a:rPr lang="en-US" sz="2800" b="1" dirty="0">
                        <a:solidFill>
                          <a:srgbClr val="002060"/>
                        </a:solidFill>
                        <a:latin typeface="Cambria Math" panose="02040503050406030204" pitchFamily="18" charset="0"/>
                      </a:rPr>
                      <m:t>𝟏</m:t>
                    </m:r>
                  </m:oMath>
                </a14:m>
                <a:r>
                  <a:rPr lang="en-US" sz="2800" b="1" dirty="0">
                    <a:solidFill>
                      <a:srgbClr val="002060"/>
                    </a:solidFill>
                  </a:rPr>
                  <a:t> </a:t>
                </a:r>
                <a:r>
                  <a:rPr lang="en-US" sz="2800" dirty="0">
                    <a:solidFill>
                      <a:srgbClr val="002060"/>
                    </a:solidFill>
                  </a:rPr>
                  <a:t>edges.</a:t>
                </a:r>
              </a:p>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Here, </a:t>
                </a:r>
                <a14:m>
                  <m:oMath xmlns:m="http://schemas.openxmlformats.org/officeDocument/2006/math">
                    <m:r>
                      <m:rPr>
                        <m:sty m:val="p"/>
                      </m:rPr>
                      <a:rPr lang="en-US" sz="2800" i="0" dirty="0" smtClean="0">
                        <a:solidFill>
                          <a:srgbClr val="002060"/>
                        </a:solidFill>
                        <a:latin typeface="Cambria Math" panose="02040503050406030204" pitchFamily="18" charset="0"/>
                      </a:rPr>
                      <m:t>n</m:t>
                    </m:r>
                    <m:r>
                      <a:rPr lang="en-US" sz="2800" i="0" dirty="0" smtClean="0">
                        <a:solidFill>
                          <a:srgbClr val="002060"/>
                        </a:solidFill>
                        <a:latin typeface="Cambria Math" panose="02040503050406030204" pitchFamily="18" charset="0"/>
                      </a:rPr>
                      <m:t>=7</m:t>
                    </m:r>
                  </m:oMath>
                </a14:m>
                <a:r>
                  <a:rPr lang="en-US" sz="2800" b="0" dirty="0">
                    <a:solidFill>
                      <a:srgbClr val="002060"/>
                    </a:solidFill>
                  </a:rPr>
                  <a:t>.</a:t>
                </a:r>
              </a:p>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Then we have 6 edges.</a:t>
                </a:r>
              </a:p>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i.e. A tree with 7 vertices have 6 edges.</a:t>
                </a:r>
              </a:p>
            </p:txBody>
          </p:sp>
        </mc:Choice>
        <mc:Fallback xmlns="">
          <p:sp>
            <p:nvSpPr>
              <p:cNvPr id="6" name="Rectangle 5"/>
              <p:cNvSpPr>
                <a:spLocks noRot="1" noChangeAspect="1" noMove="1" noResize="1" noEditPoints="1" noAdjustHandles="1" noChangeArrowheads="1" noChangeShapeType="1" noTextEdit="1"/>
              </p:cNvSpPr>
              <p:nvPr/>
            </p:nvSpPr>
            <p:spPr>
              <a:xfrm>
                <a:off x="131176" y="2139047"/>
                <a:ext cx="7384092" cy="2200602"/>
              </a:xfrm>
              <a:prstGeom prst="rect">
                <a:avLst/>
              </a:prstGeom>
              <a:blipFill rotWithShape="0">
                <a:blip r:embed="rId2"/>
                <a:stretch>
                  <a:fillRect l="-1569" t="-3047" b="-6925"/>
                </a:stretch>
              </a:blipFill>
            </p:spPr>
            <p:txBody>
              <a:bodyPr/>
              <a:lstStyle/>
              <a:p>
                <a:r>
                  <a:rPr lang="en-US">
                    <a:noFill/>
                  </a:rPr>
                  <a:t> </a:t>
                </a:r>
              </a:p>
            </p:txBody>
          </p:sp>
        </mc:Fallback>
      </mc:AlternateContent>
      <p:pic>
        <p:nvPicPr>
          <p:cNvPr id="4" name="Picture 3"/>
          <p:cNvPicPr>
            <a:picLocks noChangeAspect="1"/>
          </p:cNvPicPr>
          <p:nvPr/>
        </p:nvPicPr>
        <p:blipFill>
          <a:blip r:embed="rId3"/>
          <a:stretch>
            <a:fillRect/>
          </a:stretch>
        </p:blipFill>
        <p:spPr>
          <a:xfrm>
            <a:off x="7527226" y="2552435"/>
            <a:ext cx="3036071" cy="1597290"/>
          </a:xfrm>
          <a:prstGeom prst="rect">
            <a:avLst/>
          </a:prstGeom>
        </p:spPr>
      </p:pic>
    </p:spTree>
    <p:extLst>
      <p:ext uri="{BB962C8B-B14F-4D97-AF65-F5344CB8AC3E}">
        <p14:creationId xmlns:p14="http://schemas.microsoft.com/office/powerpoint/2010/main" val="8496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9"/>
            <a:ext cx="11929645" cy="548837"/>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A graph has 7 vertices and 6 edges. Is it a tree? Justify.</a:t>
            </a:r>
          </a:p>
        </p:txBody>
      </p:sp>
      <p:sp>
        <p:nvSpPr>
          <p:cNvPr id="16" name="Content Placeholder 2">
            <a:extLst>
              <a:ext uri="{FF2B5EF4-FFF2-40B4-BE49-F238E27FC236}">
                <a16:creationId xmlns:a16="http://schemas.microsoft.com/office/drawing/2014/main" id="{635C8299-099D-4E74-A7B7-29B2E1FD450E}"/>
              </a:ext>
            </a:extLst>
          </p:cNvPr>
          <p:cNvSpPr txBox="1">
            <a:spLocks/>
          </p:cNvSpPr>
          <p:nvPr/>
        </p:nvSpPr>
        <p:spPr>
          <a:xfrm>
            <a:off x="131355" y="1450541"/>
            <a:ext cx="1419149"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1 ⇝ Example 2</a:t>
            </a:r>
            <a:endParaRPr lang="en-US" dirty="0"/>
          </a:p>
        </p:txBody>
      </p:sp>
      <mc:AlternateContent xmlns:mc="http://schemas.openxmlformats.org/markup-compatibility/2006" xmlns:a14="http://schemas.microsoft.com/office/drawing/2010/main">
        <mc:Choice Requires="a14">
          <p:sp>
            <p:nvSpPr>
              <p:cNvPr id="7" name="Content Placeholder 6"/>
              <p:cNvSpPr>
                <a:spLocks noGrp="1"/>
              </p:cNvSpPr>
              <p:nvPr>
                <p:ph idx="1"/>
              </p:nvPr>
            </p:nvSpPr>
            <p:spPr>
              <a:xfrm>
                <a:off x="131180" y="2138289"/>
                <a:ext cx="11929641" cy="4315720"/>
              </a:xfrm>
            </p:spPr>
            <p:txBody>
              <a:bodyPr/>
              <a:lstStyle/>
              <a:p>
                <a:r>
                  <a:rPr lang="en-US" dirty="0"/>
                  <a:t>Here we have 7 vertices and 6 edges.</a:t>
                </a:r>
              </a:p>
              <a:p>
                <a:r>
                  <a:rPr lang="en-US" dirty="0"/>
                  <a:t>A graph with</a:t>
                </a:r>
                <a14:m>
                  <m:oMath xmlns:m="http://schemas.openxmlformats.org/officeDocument/2006/math">
                    <m:r>
                      <a:rPr lang="en-US" dirty="0">
                        <a:latin typeface="Cambria Math" panose="02040503050406030204" pitchFamily="18" charset="0"/>
                      </a:rPr>
                      <m:t> </m:t>
                    </m:r>
                    <m:r>
                      <m:rPr>
                        <m:sty m:val="p"/>
                      </m:rPr>
                      <a:rPr lang="en-US" dirty="0">
                        <a:latin typeface="Cambria Math" panose="02040503050406030204" pitchFamily="18" charset="0"/>
                      </a:rPr>
                      <m:t>n</m:t>
                    </m:r>
                  </m:oMath>
                </a14:m>
                <a:r>
                  <a:rPr lang="en-US" dirty="0"/>
                  <a:t> vertices is a tree if and only if it is </a:t>
                </a:r>
                <a:r>
                  <a:rPr lang="en-US" dirty="0">
                    <a:solidFill>
                      <a:srgbClr val="C00000"/>
                    </a:solidFill>
                  </a:rPr>
                  <a:t>connected</a:t>
                </a:r>
                <a:r>
                  <a:rPr lang="en-US" dirty="0"/>
                  <a:t> and has </a:t>
                </a:r>
                <a14:m>
                  <m:oMath xmlns:m="http://schemas.openxmlformats.org/officeDocument/2006/math">
                    <m:r>
                      <m:rPr>
                        <m:sty m:val="p"/>
                      </m:rPr>
                      <a:rPr lang="en-US" dirty="0">
                        <a:latin typeface="Cambria Math" panose="02040503050406030204" pitchFamily="18" charset="0"/>
                      </a:rPr>
                      <m:t>n</m:t>
                    </m:r>
                    <m:r>
                      <a:rPr lang="en-US" dirty="0">
                        <a:latin typeface="Cambria Math" panose="02040503050406030204" pitchFamily="18" charset="0"/>
                      </a:rPr>
                      <m:t>−1</m:t>
                    </m:r>
                  </m:oMath>
                </a14:m>
                <a:r>
                  <a:rPr lang="en-US" dirty="0"/>
                  <a:t> edges.</a:t>
                </a:r>
              </a:p>
              <a:p>
                <a:r>
                  <a:rPr lang="en-US" dirty="0"/>
                  <a:t>So, on</a:t>
                </a:r>
                <a:r>
                  <a:rPr lang="en-US" dirty="0" err="1"/>
                  <a:t>ly</a:t>
                </a:r>
                <a:r>
                  <a:rPr lang="en-US" dirty="0"/>
                  <a:t> having</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n</m:t>
                    </m:r>
                    <m:r>
                      <a:rPr lang="en-US" i="0" dirty="0" smtClean="0">
                        <a:latin typeface="Cambria Math" panose="02040503050406030204" pitchFamily="18" charset="0"/>
                      </a:rPr>
                      <m:t>−1</m:t>
                    </m:r>
                  </m:oMath>
                </a14:m>
                <a:r>
                  <a:rPr lang="en-US" dirty="0"/>
                  <a:t> edges is </a:t>
                </a:r>
                <a:r>
                  <a:rPr lang="en-US" b="1" dirty="0"/>
                  <a:t>not sufficient.</a:t>
                </a:r>
              </a:p>
              <a:p>
                <a:r>
                  <a:rPr lang="en-US" dirty="0"/>
                  <a:t>The graph must also be </a:t>
                </a:r>
                <a:r>
                  <a:rPr lang="en-US" b="1" dirty="0"/>
                  <a:t>connected.</a:t>
                </a:r>
              </a:p>
              <a:p>
                <a:r>
                  <a:rPr lang="en-US" dirty="0"/>
                  <a:t>If the graph is connected, then it is a tree.</a:t>
                </a:r>
              </a:p>
              <a:p>
                <a:r>
                  <a:rPr lang="en-US" dirty="0"/>
                  <a:t>If the graph is not connected, then it is not a tree.</a:t>
                </a:r>
              </a:p>
            </p:txBody>
          </p:sp>
        </mc:Choice>
        <mc:Fallback xmlns="">
          <p:sp>
            <p:nvSpPr>
              <p:cNvPr id="7" name="Content Placeholder 6"/>
              <p:cNvSpPr>
                <a:spLocks noGrp="1" noRot="1" noChangeAspect="1" noMove="1" noResize="1" noEditPoints="1" noAdjustHandles="1" noChangeArrowheads="1" noChangeShapeType="1" noTextEdit="1"/>
              </p:cNvSpPr>
              <p:nvPr>
                <p:ph idx="1"/>
              </p:nvPr>
            </p:nvSpPr>
            <p:spPr>
              <a:xfrm>
                <a:off x="131180" y="2138289"/>
                <a:ext cx="11929641" cy="4315720"/>
              </a:xfrm>
              <a:blipFill rotWithShape="0">
                <a:blip r:embed="rId2"/>
                <a:stretch>
                  <a:fillRect l="-971" t="-2542" r="-920"/>
                </a:stretch>
              </a:blipFill>
            </p:spPr>
            <p:txBody>
              <a:bodyPr/>
              <a:lstStyle/>
              <a:p>
                <a:r>
                  <a:rPr lang="en-US">
                    <a:noFill/>
                  </a:rPr>
                  <a:t> </a:t>
                </a:r>
              </a:p>
            </p:txBody>
          </p:sp>
        </mc:Fallback>
      </mc:AlternateContent>
    </p:spTree>
    <p:extLst>
      <p:ext uri="{BB962C8B-B14F-4D97-AF65-F5344CB8AC3E}">
        <p14:creationId xmlns:p14="http://schemas.microsoft.com/office/powerpoint/2010/main" val="3139311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7"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39"/>
                <a:ext cx="11929645" cy="2353664"/>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Solve followings: </a:t>
                </a:r>
              </a:p>
              <a:p>
                <a:pPr marL="514350" indent="-514350">
                  <a:buFont typeface="+mj-lt"/>
                  <a:buAutoNum type="alphaLcParenR"/>
                </a:pPr>
                <a:r>
                  <a:rPr lang="en-US" sz="2800" dirty="0">
                    <a:solidFill>
                      <a:schemeClr val="bg1"/>
                    </a:solidFill>
                  </a:rPr>
                  <a:t>Can a disconnected graph have 6 edges and 7 vertices?</a:t>
                </a:r>
              </a:p>
              <a:p>
                <a:pPr marL="514350" indent="-514350">
                  <a:buFont typeface="+mj-lt"/>
                  <a:buAutoNum type="alphaLcParenR"/>
                </a:pPr>
                <a:r>
                  <a:rPr lang="en-US" sz="2800" dirty="0">
                    <a:solidFill>
                      <a:schemeClr val="bg1"/>
                    </a:solidFill>
                  </a:rPr>
                  <a:t>What is the maximum degree possible in a tree with </a:t>
                </a:r>
                <a14:m>
                  <m:oMath xmlns:m="http://schemas.openxmlformats.org/officeDocument/2006/math">
                    <m:r>
                      <m:rPr>
                        <m:sty m:val="p"/>
                      </m:rPr>
                      <a:rPr lang="en-US" sz="2800" dirty="0">
                        <a:solidFill>
                          <a:schemeClr val="bg1"/>
                        </a:solidFill>
                        <a:latin typeface="Cambria Math" panose="02040503050406030204" pitchFamily="18" charset="0"/>
                      </a:rPr>
                      <m:t>n</m:t>
                    </m:r>
                    <m:r>
                      <a:rPr lang="en-US" sz="2800" b="0" i="1" dirty="0" smtClean="0">
                        <a:solidFill>
                          <a:schemeClr val="bg1"/>
                        </a:solidFill>
                        <a:latin typeface="Cambria Math" panose="02040503050406030204" pitchFamily="18" charset="0"/>
                      </a:rPr>
                      <m:t>≥2</m:t>
                    </m:r>
                  </m:oMath>
                </a14:m>
                <a:r>
                  <a:rPr lang="en-US" sz="2800" dirty="0">
                    <a:solidFill>
                      <a:schemeClr val="bg1"/>
                    </a:solidFill>
                  </a:rPr>
                  <a:t> vertices?</a:t>
                </a:r>
              </a:p>
              <a:p>
                <a:pPr marL="514350" indent="-514350">
                  <a:buFont typeface="+mj-lt"/>
                  <a:buAutoNum type="alphaLcParenR"/>
                </a:pPr>
                <a:r>
                  <a:rPr lang="en-US" sz="2800" dirty="0">
                    <a:solidFill>
                      <a:schemeClr val="bg1"/>
                    </a:solidFill>
                  </a:rPr>
                  <a:t>What is the minimum degree possible in a tree with </a:t>
                </a:r>
                <a14:m>
                  <m:oMath xmlns:m="http://schemas.openxmlformats.org/officeDocument/2006/math">
                    <m:r>
                      <m:rPr>
                        <m:sty m:val="p"/>
                      </m:rPr>
                      <a:rPr lang="en-US" sz="2800" dirty="0">
                        <a:solidFill>
                          <a:schemeClr val="bg1"/>
                        </a:solidFill>
                        <a:latin typeface="Cambria Math" panose="02040503050406030204" pitchFamily="18" charset="0"/>
                      </a:rPr>
                      <m:t>n</m:t>
                    </m:r>
                    <m:r>
                      <a:rPr lang="en-US" sz="2800" b="0" i="1" dirty="0" smtClean="0">
                        <a:solidFill>
                          <a:schemeClr val="bg1"/>
                        </a:solidFill>
                        <a:latin typeface="Cambria Math" panose="02040503050406030204" pitchFamily="18" charset="0"/>
                      </a:rPr>
                      <m:t>≥2</m:t>
                    </m:r>
                  </m:oMath>
                </a14:m>
                <a:r>
                  <a:rPr lang="en-US" sz="2800" dirty="0">
                    <a:solidFill>
                      <a:schemeClr val="bg1"/>
                    </a:solidFill>
                  </a:rPr>
                  <a:t> vertices?</a:t>
                </a:r>
              </a:p>
              <a:p>
                <a:pPr marL="514350" indent="-514350">
                  <a:buFont typeface="+mj-lt"/>
                  <a:buAutoNum type="alphaLcParenR"/>
                </a:pPr>
                <a:r>
                  <a:rPr lang="en-US" sz="2800" dirty="0">
                    <a:solidFill>
                      <a:schemeClr val="bg1"/>
                    </a:solidFill>
                  </a:rPr>
                  <a:t>Why minimum degree cannot be 0?</a:t>
                </a:r>
              </a:p>
              <a:p>
                <a:pPr marL="514350" indent="-514350">
                  <a:buFont typeface="+mj-lt"/>
                  <a:buAutoNum type="alphaLcParenR"/>
                </a:pPr>
                <a:endParaRPr lang="en-US" sz="2800" dirty="0">
                  <a:solidFill>
                    <a:schemeClr val="bg1"/>
                  </a:solidFill>
                </a:endParaRP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39"/>
                <a:ext cx="11929645" cy="2353664"/>
              </a:xfrm>
              <a:prstGeom prst="rect">
                <a:avLst/>
              </a:prstGeom>
              <a:blipFill rotWithShape="0">
                <a:blip r:embed="rId2"/>
                <a:stretch>
                  <a:fillRect l="-1074" t="-2591" b="-1813"/>
                </a:stretch>
              </a:blipFill>
              <a:ln>
                <a:noFill/>
              </a:ln>
            </p:spPr>
            <p:txBody>
              <a:bodyPr/>
              <a:lstStyle/>
              <a:p>
                <a:r>
                  <a:rPr lang="en-US">
                    <a:noFill/>
                  </a:rPr>
                  <a:t> </a:t>
                </a:r>
              </a:p>
            </p:txBody>
          </p:sp>
        </mc:Fallback>
      </mc:AlternateContent>
      <p:sp>
        <p:nvSpPr>
          <p:cNvPr id="16" name="Content Placeholder 2">
            <a:extLst>
              <a:ext uri="{FF2B5EF4-FFF2-40B4-BE49-F238E27FC236}">
                <a16:creationId xmlns:a16="http://schemas.microsoft.com/office/drawing/2014/main" id="{635C8299-099D-4E74-A7B7-29B2E1FD450E}"/>
              </a:ext>
            </a:extLst>
          </p:cNvPr>
          <p:cNvSpPr txBox="1">
            <a:spLocks/>
          </p:cNvSpPr>
          <p:nvPr/>
        </p:nvSpPr>
        <p:spPr>
          <a:xfrm>
            <a:off x="131176" y="3378142"/>
            <a:ext cx="1419149"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1 ⇝ Example 3</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1180" y="4029865"/>
                <a:ext cx="11929641" cy="2818690"/>
              </a:xfrm>
            </p:spPr>
            <p:txBody>
              <a:bodyPr/>
              <a:lstStyle/>
              <a:p>
                <a:pPr marL="514350" indent="-514350">
                  <a:buFont typeface="+mj-lt"/>
                  <a:buAutoNum type="alphaLcParenR"/>
                </a:pPr>
                <a:r>
                  <a:rPr lang="en-US" dirty="0"/>
                  <a:t>Yes, it is possible.</a:t>
                </a:r>
              </a:p>
              <a:p>
                <a:pPr marL="514350" indent="-514350">
                  <a:buFont typeface="+mj-lt"/>
                  <a:buAutoNum type="alphaLcParenR"/>
                </a:pPr>
                <a:r>
                  <a:rPr lang="en-US" b="0" dirty="0"/>
                  <a:t>It is </a:t>
                </a:r>
                <a14:m>
                  <m:oMath xmlns:m="http://schemas.openxmlformats.org/officeDocument/2006/math">
                    <m:r>
                      <m:rPr>
                        <m:sty m:val="p"/>
                      </m:rPr>
                      <a:rPr lang="en-US" b="0" i="0" smtClean="0">
                        <a:latin typeface="Cambria Math" panose="02040503050406030204" pitchFamily="18" charset="0"/>
                      </a:rPr>
                      <m:t>n</m:t>
                    </m:r>
                    <m:r>
                      <a:rPr lang="en-US" b="0" i="0" smtClean="0">
                        <a:latin typeface="Cambria Math" panose="02040503050406030204" pitchFamily="18" charset="0"/>
                      </a:rPr>
                      <m:t>−1</m:t>
                    </m:r>
                  </m:oMath>
                </a14:m>
                <a:r>
                  <a:rPr lang="en-US" dirty="0"/>
                  <a:t>. Achieved in a </a:t>
                </a:r>
                <a:r>
                  <a:rPr lang="en-US" b="1" dirty="0"/>
                  <a:t>star tree.</a:t>
                </a:r>
              </a:p>
              <a:p>
                <a:pPr marL="514350" indent="-514350">
                  <a:buFont typeface="+mj-lt"/>
                  <a:buAutoNum type="alphaLcParenR"/>
                </a:pPr>
                <a:r>
                  <a:rPr lang="en-US" dirty="0"/>
                  <a:t>It is 1. Achieved in </a:t>
                </a:r>
                <a:r>
                  <a:rPr lang="en-US" b="1" dirty="0"/>
                  <a:t>any</a:t>
                </a:r>
                <a:r>
                  <a:rPr lang="en-US" dirty="0"/>
                  <a:t> </a:t>
                </a:r>
                <a:r>
                  <a:rPr lang="en-US" b="1" dirty="0"/>
                  <a:t>tree.</a:t>
                </a:r>
              </a:p>
              <a:p>
                <a:pPr marL="514350" indent="-514350">
                  <a:buFont typeface="+mj-lt"/>
                  <a:buAutoNum type="alphaLcParenR"/>
                </a:pPr>
                <a:r>
                  <a:rPr lang="en-US" dirty="0"/>
                  <a:t>Because tree is </a:t>
                </a:r>
                <a:r>
                  <a:rPr lang="en-US" b="1" dirty="0"/>
                  <a:t>connected.</a:t>
                </a:r>
              </a:p>
              <a:p>
                <a:pPr marL="514350" indent="-514350">
                  <a:buFont typeface="+mj-lt"/>
                  <a:buAutoNum type="alphaLcParenR"/>
                </a:pPr>
                <a:endParaRPr lang="en-US" dirty="0"/>
              </a:p>
              <a:p>
                <a:pPr marL="514350" indent="-514350">
                  <a:buFont typeface="+mj-lt"/>
                  <a:buAutoNum type="alphaLcParenR"/>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1180" y="4029865"/>
                <a:ext cx="11929641" cy="2818690"/>
              </a:xfrm>
              <a:blipFill rotWithShape="0">
                <a:blip r:embed="rId3"/>
                <a:stretch>
                  <a:fillRect l="-1074" t="-3680"/>
                </a:stretch>
              </a:blipFill>
            </p:spPr>
            <p:txBody>
              <a:bodyPr/>
              <a:lstStyle/>
              <a:p>
                <a:r>
                  <a:rPr lang="en-US">
                    <a:noFill/>
                  </a:rPr>
                  <a:t> </a:t>
                </a:r>
              </a:p>
            </p:txBody>
          </p:sp>
        </mc:Fallback>
      </mc:AlternateContent>
    </p:spTree>
    <p:extLst>
      <p:ext uri="{BB962C8B-B14F-4D97-AF65-F5344CB8AC3E}">
        <p14:creationId xmlns:p14="http://schemas.microsoft.com/office/powerpoint/2010/main" val="2820347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9"/>
            <a:ext cx="11929645" cy="523639"/>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Find all non-isomorphic trees with 4 vertices.</a:t>
            </a:r>
          </a:p>
        </p:txBody>
      </p:sp>
      <p:sp>
        <p:nvSpPr>
          <p:cNvPr id="16" name="Content Placeholder 2">
            <a:extLst>
              <a:ext uri="{FF2B5EF4-FFF2-40B4-BE49-F238E27FC236}">
                <a16:creationId xmlns:a16="http://schemas.microsoft.com/office/drawing/2014/main" id="{635C8299-099D-4E74-A7B7-29B2E1FD450E}"/>
              </a:ext>
            </a:extLst>
          </p:cNvPr>
          <p:cNvSpPr txBox="1">
            <a:spLocks/>
          </p:cNvSpPr>
          <p:nvPr/>
        </p:nvSpPr>
        <p:spPr>
          <a:xfrm>
            <a:off x="131355" y="1437479"/>
            <a:ext cx="1419149"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1 ⇝ Example 4</a:t>
            </a:r>
            <a:endParaRPr lang="en-US" dirty="0"/>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131180" y="2129051"/>
                <a:ext cx="11929641" cy="4324958"/>
              </a:xfrm>
            </p:spPr>
            <p:txBody>
              <a:bodyPr/>
              <a:lstStyle/>
              <a:p>
                <a:r>
                  <a:rPr lang="en-US" dirty="0"/>
                  <a:t>Two trees are </a:t>
                </a:r>
                <a:r>
                  <a:rPr lang="en-US" b="1" dirty="0"/>
                  <a:t>non-isomorphic</a:t>
                </a:r>
                <a:r>
                  <a:rPr lang="en-US" dirty="0"/>
                  <a:t> if their </a:t>
                </a:r>
                <a:r>
                  <a:rPr lang="en-US" b="1" dirty="0"/>
                  <a:t>structure (degree sequence) is different</a:t>
                </a:r>
                <a:r>
                  <a:rPr lang="en-US" dirty="0"/>
                  <a:t>.</a:t>
                </a:r>
              </a:p>
              <a:p>
                <a:r>
                  <a:rPr lang="en-US" dirty="0"/>
                  <a:t>As we know A tree with</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n</m:t>
                    </m:r>
                  </m:oMath>
                </a14:m>
                <a:r>
                  <a:rPr lang="en-US" dirty="0"/>
                  <a:t> vertices has </a:t>
                </a:r>
                <a14:m>
                  <m:oMath xmlns:m="http://schemas.openxmlformats.org/officeDocument/2006/math">
                    <m:r>
                      <m:rPr>
                        <m:sty m:val="p"/>
                      </m:rPr>
                      <a:rPr lang="en-US" i="0" dirty="0" smtClean="0">
                        <a:latin typeface="Cambria Math" panose="02040503050406030204" pitchFamily="18" charset="0"/>
                      </a:rPr>
                      <m:t>n</m:t>
                    </m:r>
                    <m:r>
                      <a:rPr lang="en-US" i="0" dirty="0" smtClean="0">
                        <a:latin typeface="Cambria Math" panose="02040503050406030204" pitchFamily="18" charset="0"/>
                      </a:rPr>
                      <m:t>−1</m:t>
                    </m:r>
                  </m:oMath>
                </a14:m>
                <a:r>
                  <a:rPr lang="en-US" dirty="0"/>
                  <a:t> edges.  </a:t>
                </a:r>
              </a:p>
              <a:p>
                <a:r>
                  <a:rPr lang="en-US" dirty="0"/>
                  <a:t>So trees with 4 vertices having 3 edges.</a:t>
                </a:r>
              </a:p>
              <a:p>
                <a:r>
                  <a:rPr lang="en-US" dirty="0"/>
                  <a:t>By Degrees-Sum theorem, </a:t>
                </a:r>
                <a:r>
                  <a:rPr lang="en-US" b="0" i="0" dirty="0">
                    <a:latin typeface="+mj-lt"/>
                  </a:rPr>
                  <a:t>Sum of degree of each vertex is </a:t>
                </a:r>
                <a:r>
                  <a:rPr lang="en-US" i="0" dirty="0">
                    <a:latin typeface="+mj-lt"/>
                  </a:rPr>
                  <a:t>6</a:t>
                </a:r>
                <a:r>
                  <a:rPr lang="en-US" b="1" dirty="0"/>
                  <a:t>.</a:t>
                </a:r>
              </a:p>
              <a:p>
                <a:r>
                  <a:rPr lang="en-US" dirty="0"/>
                  <a:t>Possible degree sequences:</a:t>
                </a:r>
              </a:p>
              <a:p>
                <a:pPr lvl="1"/>
                <a14:m>
                  <m:oMath xmlns:m="http://schemas.openxmlformats.org/officeDocument/2006/math">
                    <m:d>
                      <m:dPr>
                        <m:ctrlPr>
                          <a:rPr lang="en-US" i="1" dirty="0">
                            <a:latin typeface="Cambria Math" panose="02040503050406030204" pitchFamily="18" charset="0"/>
                          </a:rPr>
                        </m:ctrlPr>
                      </m:dPr>
                      <m:e>
                        <m:r>
                          <a:rPr lang="en-US" dirty="0">
                            <a:latin typeface="Cambria Math" panose="02040503050406030204" pitchFamily="18" charset="0"/>
                          </a:rPr>
                          <m:t>3, 1, 1, 1</m:t>
                        </m:r>
                      </m:e>
                    </m:d>
                  </m:oMath>
                </a14:m>
                <a:endParaRPr lang="en-US" dirty="0"/>
              </a:p>
              <a:p>
                <a:pPr lvl="1"/>
                <a14:m>
                  <m:oMath xmlns:m="http://schemas.openxmlformats.org/officeDocument/2006/math">
                    <m:d>
                      <m:dPr>
                        <m:ctrlPr>
                          <a:rPr lang="en-US" i="1" dirty="0">
                            <a:latin typeface="Cambria Math" panose="02040503050406030204" pitchFamily="18" charset="0"/>
                          </a:rPr>
                        </m:ctrlPr>
                      </m:dPr>
                      <m:e>
                        <m:r>
                          <a:rPr lang="en-US" dirty="0">
                            <a:latin typeface="Cambria Math" panose="02040503050406030204" pitchFamily="18" charset="0"/>
                          </a:rPr>
                          <m:t>2, 2, 1, 1</m:t>
                        </m:r>
                      </m:e>
                    </m:d>
                  </m:oMath>
                </a14:m>
                <a:endParaRPr lang="en-US" dirty="0"/>
              </a:p>
              <a:p>
                <a:r>
                  <a:rPr lang="en-US" dirty="0"/>
                  <a:t>There are exactly </a:t>
                </a:r>
                <a:r>
                  <a:rPr lang="en-US" b="1" dirty="0"/>
                  <a:t>2 non-isomorphic trees with 4 vertices</a:t>
                </a:r>
                <a:endParaRPr lang="en-US" dirty="0"/>
              </a:p>
              <a:p>
                <a:pPr lvl="1"/>
                <a:endParaRPr lang="en-US" b="1" dirty="0"/>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131180" y="2129051"/>
                <a:ext cx="11929641" cy="4324958"/>
              </a:xfrm>
              <a:blipFill rotWithShape="0">
                <a:blip r:embed="rId2"/>
                <a:stretch>
                  <a:fillRect l="-971" t="-2394"/>
                </a:stretch>
              </a:blipFill>
            </p:spPr>
            <p:txBody>
              <a:bodyPr/>
              <a:lstStyle/>
              <a:p>
                <a:r>
                  <a:rPr lang="en-US">
                    <a:noFill/>
                  </a:rPr>
                  <a:t> </a:t>
                </a:r>
              </a:p>
            </p:txBody>
          </p:sp>
        </mc:Fallback>
      </mc:AlternateContent>
    </p:spTree>
    <p:extLst>
      <p:ext uri="{BB962C8B-B14F-4D97-AF65-F5344CB8AC3E}">
        <p14:creationId xmlns:p14="http://schemas.microsoft.com/office/powerpoint/2010/main" val="2558658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9"/>
            <a:ext cx="11929645" cy="523639"/>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Find all non-isomorphic trees with 4 vertices.</a:t>
            </a:r>
          </a:p>
        </p:txBody>
      </p:sp>
      <p:sp>
        <p:nvSpPr>
          <p:cNvPr id="16" name="Content Placeholder 2">
            <a:extLst>
              <a:ext uri="{FF2B5EF4-FFF2-40B4-BE49-F238E27FC236}">
                <a16:creationId xmlns:a16="http://schemas.microsoft.com/office/drawing/2014/main" id="{635C8299-099D-4E74-A7B7-29B2E1FD450E}"/>
              </a:ext>
            </a:extLst>
          </p:cNvPr>
          <p:cNvSpPr txBox="1">
            <a:spLocks/>
          </p:cNvSpPr>
          <p:nvPr/>
        </p:nvSpPr>
        <p:spPr>
          <a:xfrm>
            <a:off x="131355" y="1437479"/>
            <a:ext cx="1419149"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1 ⇝ Example 4(Conti.)</a:t>
            </a:r>
            <a:endParaRPr lang="en-US" dirty="0"/>
          </a:p>
        </p:txBody>
      </p:sp>
      <mc:AlternateContent xmlns:mc="http://schemas.openxmlformats.org/markup-compatibility/2006" xmlns:a14="http://schemas.microsoft.com/office/drawing/2010/main">
        <mc:Choice Requires="a14">
          <p:sp>
            <p:nvSpPr>
              <p:cNvPr id="34" name="Rectangle 33"/>
              <p:cNvSpPr/>
              <p:nvPr/>
            </p:nvSpPr>
            <p:spPr>
              <a:xfrm>
                <a:off x="1905633" y="4535996"/>
                <a:ext cx="1760225" cy="867930"/>
              </a:xfrm>
              <a:prstGeom prst="rect">
                <a:avLst/>
              </a:prstGeom>
            </p:spPr>
            <p:txBody>
              <a:bodyPr wrap="none">
                <a:spAutoFit/>
              </a:bodyPr>
              <a:lstStyle/>
              <a:p>
                <a:pPr algn="ctr">
                  <a:lnSpc>
                    <a:spcPct val="90000"/>
                  </a:lnSpc>
                  <a:spcBef>
                    <a:spcPts val="1000"/>
                  </a:spcBef>
                  <a:buClr>
                    <a:srgbClr val="B84742"/>
                  </a:buClr>
                </a:pPr>
                <a:r>
                  <a:rPr lang="en-US" sz="2800" dirty="0">
                    <a:solidFill>
                      <a:srgbClr val="002060"/>
                    </a:solidFill>
                  </a:rPr>
                  <a:t>Path tree </a:t>
                </a:r>
              </a:p>
              <a:p>
                <a:pPr algn="ctr">
                  <a:lnSpc>
                    <a:spcPct val="90000"/>
                  </a:lnSpc>
                  <a:spcBef>
                    <a:spcPts val="1000"/>
                  </a:spcBef>
                  <a:buClr>
                    <a:srgbClr val="B84742"/>
                  </a:buClr>
                </a:pPr>
                <a14:m>
                  <m:oMathPara xmlns:m="http://schemas.openxmlformats.org/officeDocument/2006/math">
                    <m:oMathParaPr>
                      <m:jc m:val="centerGroup"/>
                    </m:oMathParaPr>
                    <m:oMath xmlns:m="http://schemas.openxmlformats.org/officeDocument/2006/math">
                      <m:d>
                        <m:dPr>
                          <m:ctrlPr>
                            <a:rPr lang="en-US" sz="2800" i="1" dirty="0">
                              <a:solidFill>
                                <a:srgbClr val="002060"/>
                              </a:solidFill>
                              <a:latin typeface="Cambria Math" panose="02040503050406030204" pitchFamily="18" charset="0"/>
                            </a:rPr>
                          </m:ctrlPr>
                        </m:dPr>
                        <m:e>
                          <m:r>
                            <a:rPr lang="en-US" sz="2800" dirty="0">
                              <a:solidFill>
                                <a:srgbClr val="002060"/>
                              </a:solidFill>
                              <a:latin typeface="Cambria Math" panose="02040503050406030204" pitchFamily="18" charset="0"/>
                            </a:rPr>
                            <m:t>2, 2, 1, 1</m:t>
                          </m:r>
                        </m:e>
                      </m:d>
                    </m:oMath>
                  </m:oMathPara>
                </a14:m>
                <a:endParaRPr lang="en-US" sz="2800" dirty="0">
                  <a:solidFill>
                    <a:srgbClr val="002060"/>
                  </a:solidFill>
                </a:endParaRPr>
              </a:p>
            </p:txBody>
          </p:sp>
        </mc:Choice>
        <mc:Fallback xmlns="">
          <p:sp>
            <p:nvSpPr>
              <p:cNvPr id="34" name="Rectangle 33"/>
              <p:cNvSpPr>
                <a:spLocks noRot="1" noChangeAspect="1" noMove="1" noResize="1" noEditPoints="1" noAdjustHandles="1" noChangeArrowheads="1" noChangeShapeType="1" noTextEdit="1"/>
              </p:cNvSpPr>
              <p:nvPr/>
            </p:nvSpPr>
            <p:spPr>
              <a:xfrm>
                <a:off x="1905633" y="4535996"/>
                <a:ext cx="1760225" cy="867930"/>
              </a:xfrm>
              <a:prstGeom prst="rect">
                <a:avLst/>
              </a:prstGeom>
              <a:blipFill rotWithShape="0">
                <a:blip r:embed="rId2"/>
                <a:stretch>
                  <a:fillRect l="-3125" t="-119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Rectangle 70"/>
              <p:cNvSpPr/>
              <p:nvPr/>
            </p:nvSpPr>
            <p:spPr>
              <a:xfrm>
                <a:off x="6790942" y="4535996"/>
                <a:ext cx="1760225" cy="867930"/>
              </a:xfrm>
              <a:prstGeom prst="rect">
                <a:avLst/>
              </a:prstGeom>
            </p:spPr>
            <p:txBody>
              <a:bodyPr wrap="none">
                <a:spAutoFit/>
              </a:bodyPr>
              <a:lstStyle/>
              <a:p>
                <a:pPr algn="ctr">
                  <a:lnSpc>
                    <a:spcPct val="90000"/>
                  </a:lnSpc>
                  <a:spcBef>
                    <a:spcPts val="1000"/>
                  </a:spcBef>
                  <a:buClr>
                    <a:srgbClr val="B84742"/>
                  </a:buClr>
                </a:pPr>
                <a:r>
                  <a:rPr lang="en-US" sz="2800" dirty="0">
                    <a:solidFill>
                      <a:srgbClr val="002060"/>
                    </a:solidFill>
                  </a:rPr>
                  <a:t>Star tree </a:t>
                </a:r>
              </a:p>
              <a:p>
                <a:pPr algn="ctr">
                  <a:lnSpc>
                    <a:spcPct val="90000"/>
                  </a:lnSpc>
                  <a:spcBef>
                    <a:spcPts val="1000"/>
                  </a:spcBef>
                  <a:buClr>
                    <a:srgbClr val="B84742"/>
                  </a:buClr>
                </a:pPr>
                <a14:m>
                  <m:oMathPara xmlns:m="http://schemas.openxmlformats.org/officeDocument/2006/math">
                    <m:oMathParaPr>
                      <m:jc m:val="centerGroup"/>
                    </m:oMathParaPr>
                    <m:oMath xmlns:m="http://schemas.openxmlformats.org/officeDocument/2006/math">
                      <m:d>
                        <m:dPr>
                          <m:ctrlPr>
                            <a:rPr lang="en-US" sz="2800" i="1" dirty="0">
                              <a:solidFill>
                                <a:srgbClr val="002060"/>
                              </a:solidFill>
                              <a:latin typeface="Cambria Math" panose="02040503050406030204" pitchFamily="18" charset="0"/>
                            </a:rPr>
                          </m:ctrlPr>
                        </m:dPr>
                        <m:e>
                          <m:r>
                            <a:rPr lang="en-US" sz="2800" dirty="0">
                              <a:solidFill>
                                <a:srgbClr val="002060"/>
                              </a:solidFill>
                              <a:latin typeface="Cambria Math" panose="02040503050406030204" pitchFamily="18" charset="0"/>
                            </a:rPr>
                            <m:t>3, 1, 1, 1</m:t>
                          </m:r>
                        </m:e>
                      </m:d>
                    </m:oMath>
                  </m:oMathPara>
                </a14:m>
                <a:endParaRPr lang="en-US" sz="2800" dirty="0">
                  <a:solidFill>
                    <a:srgbClr val="002060"/>
                  </a:solidFill>
                </a:endParaRPr>
              </a:p>
            </p:txBody>
          </p:sp>
        </mc:Choice>
        <mc:Fallback xmlns="">
          <p:sp>
            <p:nvSpPr>
              <p:cNvPr id="71" name="Rectangle 70"/>
              <p:cNvSpPr>
                <a:spLocks noRot="1" noChangeAspect="1" noMove="1" noResize="1" noEditPoints="1" noAdjustHandles="1" noChangeArrowheads="1" noChangeShapeType="1" noTextEdit="1"/>
              </p:cNvSpPr>
              <p:nvPr/>
            </p:nvSpPr>
            <p:spPr>
              <a:xfrm>
                <a:off x="6790942" y="4535996"/>
                <a:ext cx="1760225" cy="867930"/>
              </a:xfrm>
              <a:prstGeom prst="rect">
                <a:avLst/>
              </a:prstGeom>
              <a:blipFill rotWithShape="0">
                <a:blip r:embed="rId3"/>
                <a:stretch>
                  <a:fillRect l="-692" t="-11972"/>
                </a:stretch>
              </a:blipFill>
            </p:spPr>
            <p:txBody>
              <a:bodyPr/>
              <a:lstStyle/>
              <a:p>
                <a:r>
                  <a:rPr lang="en-US">
                    <a:noFill/>
                  </a:rPr>
                  <a:t> </a:t>
                </a:r>
              </a:p>
            </p:txBody>
          </p:sp>
        </mc:Fallback>
      </mc:AlternateContent>
      <p:pic>
        <p:nvPicPr>
          <p:cNvPr id="2" name="Picture 1"/>
          <p:cNvPicPr>
            <a:picLocks noChangeAspect="1"/>
          </p:cNvPicPr>
          <p:nvPr/>
        </p:nvPicPr>
        <p:blipFill>
          <a:blip r:embed="rId4"/>
          <a:stretch>
            <a:fillRect/>
          </a:stretch>
        </p:blipFill>
        <p:spPr>
          <a:xfrm>
            <a:off x="2621140" y="2300754"/>
            <a:ext cx="164606" cy="2017951"/>
          </a:xfrm>
          <a:prstGeom prst="rect">
            <a:avLst/>
          </a:prstGeom>
        </p:spPr>
      </p:pic>
      <p:pic>
        <p:nvPicPr>
          <p:cNvPr id="3" name="Picture 2"/>
          <p:cNvPicPr>
            <a:picLocks noChangeAspect="1"/>
          </p:cNvPicPr>
          <p:nvPr/>
        </p:nvPicPr>
        <p:blipFill>
          <a:blip r:embed="rId5"/>
          <a:stretch>
            <a:fillRect/>
          </a:stretch>
        </p:blipFill>
        <p:spPr>
          <a:xfrm>
            <a:off x="6953877" y="2504988"/>
            <a:ext cx="1597290" cy="1609483"/>
          </a:xfrm>
          <a:prstGeom prst="rect">
            <a:avLst/>
          </a:prstGeom>
        </p:spPr>
      </p:pic>
    </p:spTree>
    <p:extLst>
      <p:ext uri="{BB962C8B-B14F-4D97-AF65-F5344CB8AC3E}">
        <p14:creationId xmlns:p14="http://schemas.microsoft.com/office/powerpoint/2010/main" val="1473316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7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9"/>
            <a:ext cx="11929645" cy="523639"/>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Find all non-isomorphic trees with 5 vertices.</a:t>
            </a:r>
          </a:p>
        </p:txBody>
      </p:sp>
      <p:sp>
        <p:nvSpPr>
          <p:cNvPr id="16" name="Content Placeholder 2">
            <a:extLst>
              <a:ext uri="{FF2B5EF4-FFF2-40B4-BE49-F238E27FC236}">
                <a16:creationId xmlns:a16="http://schemas.microsoft.com/office/drawing/2014/main" id="{635C8299-099D-4E74-A7B7-29B2E1FD450E}"/>
              </a:ext>
            </a:extLst>
          </p:cNvPr>
          <p:cNvSpPr txBox="1">
            <a:spLocks/>
          </p:cNvSpPr>
          <p:nvPr/>
        </p:nvSpPr>
        <p:spPr>
          <a:xfrm>
            <a:off x="131355" y="1437479"/>
            <a:ext cx="1419149"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1 ⇝ Example 5</a:t>
            </a:r>
            <a:endParaRPr lang="en-US" dirty="0"/>
          </a:p>
        </p:txBody>
      </p:sp>
      <mc:AlternateContent xmlns:mc="http://schemas.openxmlformats.org/markup-compatibility/2006" xmlns:a14="http://schemas.microsoft.com/office/drawing/2010/main">
        <mc:Choice Requires="a14">
          <p:sp>
            <p:nvSpPr>
              <p:cNvPr id="6" name="Content Placeholder 4"/>
              <p:cNvSpPr>
                <a:spLocks noGrp="1"/>
              </p:cNvSpPr>
              <p:nvPr>
                <p:ph idx="1"/>
              </p:nvPr>
            </p:nvSpPr>
            <p:spPr>
              <a:xfrm>
                <a:off x="131180" y="2129051"/>
                <a:ext cx="11929641" cy="4324958"/>
              </a:xfrm>
            </p:spPr>
            <p:txBody>
              <a:bodyPr/>
              <a:lstStyle/>
              <a:p>
                <a:r>
                  <a:rPr lang="en-US" dirty="0"/>
                  <a:t>Two trees are </a:t>
                </a:r>
                <a:r>
                  <a:rPr lang="en-US" b="1" dirty="0"/>
                  <a:t>non-isomorphic</a:t>
                </a:r>
                <a:r>
                  <a:rPr lang="en-US" dirty="0"/>
                  <a:t> if their </a:t>
                </a:r>
                <a:r>
                  <a:rPr lang="en-US" b="1" dirty="0"/>
                  <a:t>structure (degree sequence) is different</a:t>
                </a:r>
                <a:r>
                  <a:rPr lang="en-US" dirty="0"/>
                  <a:t>.</a:t>
                </a:r>
              </a:p>
              <a:p>
                <a:r>
                  <a:rPr lang="en-US" dirty="0"/>
                  <a:t>As we know A tree with</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n</m:t>
                    </m:r>
                  </m:oMath>
                </a14:m>
                <a:r>
                  <a:rPr lang="en-US" dirty="0"/>
                  <a:t> vertices has </a:t>
                </a:r>
                <a14:m>
                  <m:oMath xmlns:m="http://schemas.openxmlformats.org/officeDocument/2006/math">
                    <m:r>
                      <m:rPr>
                        <m:sty m:val="p"/>
                      </m:rPr>
                      <a:rPr lang="en-US" i="0" dirty="0" smtClean="0">
                        <a:latin typeface="Cambria Math" panose="02040503050406030204" pitchFamily="18" charset="0"/>
                      </a:rPr>
                      <m:t>n</m:t>
                    </m:r>
                    <m:r>
                      <a:rPr lang="en-US" i="0" dirty="0" smtClean="0">
                        <a:latin typeface="Cambria Math" panose="02040503050406030204" pitchFamily="18" charset="0"/>
                      </a:rPr>
                      <m:t>−1</m:t>
                    </m:r>
                  </m:oMath>
                </a14:m>
                <a:r>
                  <a:rPr lang="en-US" dirty="0"/>
                  <a:t> edges.  </a:t>
                </a:r>
              </a:p>
              <a:p>
                <a:r>
                  <a:rPr lang="en-US" dirty="0"/>
                  <a:t>So trees with 5 vertices having 4 edges.</a:t>
                </a:r>
              </a:p>
              <a:p>
                <a:r>
                  <a:rPr lang="en-US" dirty="0"/>
                  <a:t>By Degrees-Sum theorem, </a:t>
                </a:r>
                <a:r>
                  <a:rPr lang="en-US" b="0" i="0" dirty="0">
                    <a:latin typeface="+mj-lt"/>
                  </a:rPr>
                  <a:t>Sum of degree of each vertex is </a:t>
                </a:r>
                <a:r>
                  <a:rPr lang="en-US" dirty="0">
                    <a:latin typeface="+mj-lt"/>
                  </a:rPr>
                  <a:t>8</a:t>
                </a:r>
                <a:r>
                  <a:rPr lang="en-US" b="1" dirty="0"/>
                  <a:t>.</a:t>
                </a:r>
              </a:p>
              <a:p>
                <a:r>
                  <a:rPr lang="en-US" dirty="0"/>
                  <a:t>Possible degree sequences:</a:t>
                </a:r>
              </a:p>
              <a:p>
                <a:pPr lvl="1"/>
                <a14:m>
                  <m:oMath xmlns:m="http://schemas.openxmlformats.org/officeDocument/2006/math">
                    <m:d>
                      <m:dPr>
                        <m:ctrlPr>
                          <a:rPr lang="en-US" i="1" dirty="0">
                            <a:latin typeface="Cambria Math" panose="02040503050406030204" pitchFamily="18" charset="0"/>
                          </a:rPr>
                        </m:ctrlPr>
                      </m:dPr>
                      <m:e>
                        <m:r>
                          <a:rPr lang="en-US" i="0" dirty="0">
                            <a:latin typeface="Cambria Math" panose="02040503050406030204" pitchFamily="18" charset="0"/>
                          </a:rPr>
                          <m:t>4,1,1,1,1</m:t>
                        </m:r>
                      </m:e>
                    </m:d>
                    <m:r>
                      <a:rPr lang="en-US" i="0" dirty="0">
                        <a:latin typeface="Cambria Math" panose="02040503050406030204" pitchFamily="18" charset="0"/>
                      </a:rPr>
                      <m:t>→ </m:t>
                    </m:r>
                  </m:oMath>
                </a14:m>
                <a:r>
                  <a:rPr lang="en-US" i="0" dirty="0">
                    <a:latin typeface="+mj-lt"/>
                  </a:rPr>
                  <a:t>Star tree</a:t>
                </a:r>
                <a:endParaRPr lang="en-US" dirty="0">
                  <a:latin typeface="Cambria Math" panose="02040503050406030204" pitchFamily="18" charset="0"/>
                </a:endParaRPr>
              </a:p>
              <a:p>
                <a:pPr lvl="1"/>
                <a14:m>
                  <m:oMath xmlns:m="http://schemas.openxmlformats.org/officeDocument/2006/math">
                    <m:d>
                      <m:dPr>
                        <m:ctrlPr>
                          <a:rPr lang="en-US" i="1" dirty="0">
                            <a:latin typeface="Cambria Math" panose="02040503050406030204" pitchFamily="18" charset="0"/>
                          </a:rPr>
                        </m:ctrlPr>
                      </m:dPr>
                      <m:e>
                        <m:r>
                          <a:rPr lang="en-US" i="0" dirty="0">
                            <a:latin typeface="Cambria Math" panose="02040503050406030204" pitchFamily="18" charset="0"/>
                          </a:rPr>
                          <m:t>3,2,1,1,1</m:t>
                        </m:r>
                      </m:e>
                    </m:d>
                    <m:r>
                      <a:rPr lang="en-US" i="0" dirty="0">
                        <a:latin typeface="Cambria Math" panose="02040503050406030204" pitchFamily="18" charset="0"/>
                      </a:rPr>
                      <m:t>→ </m:t>
                    </m:r>
                  </m:oMath>
                </a14:m>
                <a:r>
                  <a:rPr lang="en-US" i="0" dirty="0">
                    <a:latin typeface="+mj-lt"/>
                  </a:rPr>
                  <a:t>Y tree</a:t>
                </a:r>
                <a:endParaRPr lang="en-US" dirty="0">
                  <a:latin typeface="Cambria Math" panose="02040503050406030204" pitchFamily="18" charset="0"/>
                </a:endParaRPr>
              </a:p>
              <a:p>
                <a:pPr lvl="1"/>
                <a14:m>
                  <m:oMath xmlns:m="http://schemas.openxmlformats.org/officeDocument/2006/math">
                    <m:r>
                      <a:rPr lang="en-US" i="0" dirty="0">
                        <a:latin typeface="Cambria Math" panose="02040503050406030204" pitchFamily="18" charset="0"/>
                      </a:rPr>
                      <m:t>(2,2,2,1,1)→ </m:t>
                    </m:r>
                  </m:oMath>
                </a14:m>
                <a:r>
                  <a:rPr lang="en-US" i="0" dirty="0">
                    <a:latin typeface="+mj-lt"/>
                  </a:rPr>
                  <a:t>Path tree</a:t>
                </a:r>
                <a:endParaRPr lang="en-US" dirty="0"/>
              </a:p>
              <a:p>
                <a:r>
                  <a:rPr lang="en-US" dirty="0"/>
                  <a:t>There are exactly 3</a:t>
                </a:r>
                <a:r>
                  <a:rPr lang="en-US" b="1" dirty="0"/>
                  <a:t> non-isomorphic trees with 5 vertices</a:t>
                </a:r>
                <a:endParaRPr lang="en-US" dirty="0"/>
              </a:p>
              <a:p>
                <a:pPr lvl="1"/>
                <a:endParaRPr lang="en-US" b="1" dirty="0"/>
              </a:p>
            </p:txBody>
          </p:sp>
        </mc:Choice>
        <mc:Fallback xmlns="">
          <p:sp>
            <p:nvSpPr>
              <p:cNvPr id="6" name="Content Placeholder 4"/>
              <p:cNvSpPr>
                <a:spLocks noGrp="1" noRot="1" noChangeAspect="1" noMove="1" noResize="1" noEditPoints="1" noAdjustHandles="1" noChangeArrowheads="1" noChangeShapeType="1" noTextEdit="1"/>
              </p:cNvSpPr>
              <p:nvPr>
                <p:ph idx="1"/>
              </p:nvPr>
            </p:nvSpPr>
            <p:spPr>
              <a:xfrm>
                <a:off x="131180" y="2129051"/>
                <a:ext cx="11929641" cy="4324958"/>
              </a:xfrm>
              <a:blipFill rotWithShape="0">
                <a:blip r:embed="rId2"/>
                <a:stretch>
                  <a:fillRect l="-971" t="-2394" b="-5070"/>
                </a:stretch>
              </a:blipFill>
            </p:spPr>
            <p:txBody>
              <a:bodyPr/>
              <a:lstStyle/>
              <a:p>
                <a:r>
                  <a:rPr lang="en-US">
                    <a:noFill/>
                  </a:rPr>
                  <a:t> </a:t>
                </a:r>
              </a:p>
            </p:txBody>
          </p:sp>
        </mc:Fallback>
      </mc:AlternateContent>
    </p:spTree>
    <p:extLst>
      <p:ext uri="{BB962C8B-B14F-4D97-AF65-F5344CB8AC3E}">
        <p14:creationId xmlns:p14="http://schemas.microsoft.com/office/powerpoint/2010/main" val="860435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9"/>
            <a:ext cx="11929645" cy="523639"/>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Find all non-isomorphic trees with 5 vertices.</a:t>
            </a:r>
          </a:p>
        </p:txBody>
      </p:sp>
      <p:sp>
        <p:nvSpPr>
          <p:cNvPr id="16" name="Content Placeholder 2">
            <a:extLst>
              <a:ext uri="{FF2B5EF4-FFF2-40B4-BE49-F238E27FC236}">
                <a16:creationId xmlns:a16="http://schemas.microsoft.com/office/drawing/2014/main" id="{635C8299-099D-4E74-A7B7-29B2E1FD450E}"/>
              </a:ext>
            </a:extLst>
          </p:cNvPr>
          <p:cNvSpPr txBox="1">
            <a:spLocks/>
          </p:cNvSpPr>
          <p:nvPr/>
        </p:nvSpPr>
        <p:spPr>
          <a:xfrm>
            <a:off x="131355" y="1437479"/>
            <a:ext cx="1419149"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1 ⇝ Example 5(Conti.)</a:t>
            </a:r>
            <a:endParaRPr lang="en-US" dirty="0"/>
          </a:p>
        </p:txBody>
      </p:sp>
      <mc:AlternateContent xmlns:mc="http://schemas.openxmlformats.org/markup-compatibility/2006" xmlns:a14="http://schemas.microsoft.com/office/drawing/2010/main">
        <mc:Choice Requires="a14">
          <p:sp>
            <p:nvSpPr>
              <p:cNvPr id="34" name="Rectangle 33"/>
              <p:cNvSpPr/>
              <p:nvPr/>
            </p:nvSpPr>
            <p:spPr>
              <a:xfrm>
                <a:off x="1240266" y="4963142"/>
                <a:ext cx="2092560" cy="867930"/>
              </a:xfrm>
              <a:prstGeom prst="rect">
                <a:avLst/>
              </a:prstGeom>
            </p:spPr>
            <p:txBody>
              <a:bodyPr wrap="none">
                <a:spAutoFit/>
              </a:bodyPr>
              <a:lstStyle/>
              <a:p>
                <a:pPr algn="ctr">
                  <a:lnSpc>
                    <a:spcPct val="90000"/>
                  </a:lnSpc>
                  <a:spcBef>
                    <a:spcPts val="1000"/>
                  </a:spcBef>
                  <a:buClr>
                    <a:srgbClr val="B84742"/>
                  </a:buClr>
                </a:pPr>
                <a:r>
                  <a:rPr lang="en-US" sz="2800" dirty="0">
                    <a:solidFill>
                      <a:srgbClr val="002060"/>
                    </a:solidFill>
                  </a:rPr>
                  <a:t>Path tree </a:t>
                </a:r>
              </a:p>
              <a:p>
                <a:pPr algn="ctr">
                  <a:lnSpc>
                    <a:spcPct val="90000"/>
                  </a:lnSpc>
                  <a:spcBef>
                    <a:spcPts val="1000"/>
                  </a:spcBef>
                  <a:buClr>
                    <a:srgbClr val="B84742"/>
                  </a:buClr>
                </a:pPr>
                <a14:m>
                  <m:oMathPara xmlns:m="http://schemas.openxmlformats.org/officeDocument/2006/math">
                    <m:oMathParaPr>
                      <m:jc m:val="centerGroup"/>
                    </m:oMathParaPr>
                    <m:oMath xmlns:m="http://schemas.openxmlformats.org/officeDocument/2006/math">
                      <m:d>
                        <m:dPr>
                          <m:ctrlPr>
                            <a:rPr lang="en-US" sz="2800" i="1" dirty="0">
                              <a:solidFill>
                                <a:srgbClr val="002060"/>
                              </a:solidFill>
                              <a:latin typeface="Cambria Math" panose="02040503050406030204" pitchFamily="18" charset="0"/>
                            </a:rPr>
                          </m:ctrlPr>
                        </m:dPr>
                        <m:e>
                          <m:r>
                            <a:rPr lang="en-US" sz="2800" i="1" dirty="0">
                              <a:solidFill>
                                <a:srgbClr val="002060"/>
                              </a:solidFill>
                              <a:latin typeface="Cambria Math" panose="02040503050406030204" pitchFamily="18" charset="0"/>
                            </a:rPr>
                            <m:t>1, 1, 2, 2, 2</m:t>
                          </m:r>
                        </m:e>
                      </m:d>
                    </m:oMath>
                  </m:oMathPara>
                </a14:m>
                <a:endParaRPr lang="en-US" sz="2800" dirty="0">
                  <a:solidFill>
                    <a:srgbClr val="002060"/>
                  </a:solidFill>
                </a:endParaRPr>
              </a:p>
            </p:txBody>
          </p:sp>
        </mc:Choice>
        <mc:Fallback xmlns="">
          <p:sp>
            <p:nvSpPr>
              <p:cNvPr id="34" name="Rectangle 33"/>
              <p:cNvSpPr>
                <a:spLocks noRot="1" noChangeAspect="1" noMove="1" noResize="1" noEditPoints="1" noAdjustHandles="1" noChangeArrowheads="1" noChangeShapeType="1" noTextEdit="1"/>
              </p:cNvSpPr>
              <p:nvPr/>
            </p:nvSpPr>
            <p:spPr>
              <a:xfrm>
                <a:off x="1240266" y="4963142"/>
                <a:ext cx="2092560" cy="867930"/>
              </a:xfrm>
              <a:prstGeom prst="rect">
                <a:avLst/>
              </a:prstGeom>
              <a:blipFill rotWithShape="0">
                <a:blip r:embed="rId2"/>
                <a:stretch>
                  <a:fillRect t="-118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Rectangle 70"/>
              <p:cNvSpPr/>
              <p:nvPr/>
            </p:nvSpPr>
            <p:spPr>
              <a:xfrm>
                <a:off x="4893739" y="4932435"/>
                <a:ext cx="2092560" cy="867930"/>
              </a:xfrm>
              <a:prstGeom prst="rect">
                <a:avLst/>
              </a:prstGeom>
            </p:spPr>
            <p:txBody>
              <a:bodyPr wrap="none">
                <a:spAutoFit/>
              </a:bodyPr>
              <a:lstStyle/>
              <a:p>
                <a:pPr algn="ctr">
                  <a:lnSpc>
                    <a:spcPct val="90000"/>
                  </a:lnSpc>
                  <a:spcBef>
                    <a:spcPts val="1000"/>
                  </a:spcBef>
                  <a:buClr>
                    <a:srgbClr val="B84742"/>
                  </a:buClr>
                </a:pPr>
                <a:r>
                  <a:rPr lang="en-US" sz="2800" dirty="0">
                    <a:solidFill>
                      <a:srgbClr val="002060"/>
                    </a:solidFill>
                  </a:rPr>
                  <a:t>Star tree </a:t>
                </a:r>
              </a:p>
              <a:p>
                <a:pPr algn="ctr">
                  <a:lnSpc>
                    <a:spcPct val="90000"/>
                  </a:lnSpc>
                  <a:spcBef>
                    <a:spcPts val="1000"/>
                  </a:spcBef>
                  <a:buClr>
                    <a:srgbClr val="B84742"/>
                  </a:buClr>
                </a:pPr>
                <a14:m>
                  <m:oMathPara xmlns:m="http://schemas.openxmlformats.org/officeDocument/2006/math">
                    <m:oMathParaPr>
                      <m:jc m:val="centerGroup"/>
                    </m:oMathParaPr>
                    <m:oMath xmlns:m="http://schemas.openxmlformats.org/officeDocument/2006/math">
                      <m:d>
                        <m:dPr>
                          <m:ctrlPr>
                            <a:rPr lang="en-US" sz="2800" i="1" dirty="0">
                              <a:solidFill>
                                <a:srgbClr val="002060"/>
                              </a:solidFill>
                              <a:latin typeface="Cambria Math" panose="02040503050406030204" pitchFamily="18" charset="0"/>
                            </a:rPr>
                          </m:ctrlPr>
                        </m:dPr>
                        <m:e>
                          <m:r>
                            <a:rPr lang="en-US" sz="2800" i="1" dirty="0">
                              <a:solidFill>
                                <a:srgbClr val="002060"/>
                              </a:solidFill>
                              <a:latin typeface="Cambria Math" panose="02040503050406030204" pitchFamily="18" charset="0"/>
                            </a:rPr>
                            <m:t>1, 1, </m:t>
                          </m:r>
                          <m:r>
                            <a:rPr lang="en-US" sz="2800" b="0" i="1" dirty="0" smtClean="0">
                              <a:solidFill>
                                <a:srgbClr val="002060"/>
                              </a:solidFill>
                              <a:latin typeface="Cambria Math" panose="02040503050406030204" pitchFamily="18" charset="0"/>
                            </a:rPr>
                            <m:t>1</m:t>
                          </m:r>
                          <m:r>
                            <a:rPr lang="en-US" sz="2800" i="1" dirty="0">
                              <a:solidFill>
                                <a:srgbClr val="002060"/>
                              </a:solidFill>
                              <a:latin typeface="Cambria Math" panose="02040503050406030204" pitchFamily="18" charset="0"/>
                            </a:rPr>
                            <m:t>, </m:t>
                          </m:r>
                          <m:r>
                            <a:rPr lang="en-US" sz="2800" b="0" i="1" dirty="0" smtClean="0">
                              <a:solidFill>
                                <a:srgbClr val="002060"/>
                              </a:solidFill>
                              <a:latin typeface="Cambria Math" panose="02040503050406030204" pitchFamily="18" charset="0"/>
                            </a:rPr>
                            <m:t>1</m:t>
                          </m:r>
                          <m:r>
                            <a:rPr lang="en-US" sz="2800" i="1" dirty="0">
                              <a:solidFill>
                                <a:srgbClr val="002060"/>
                              </a:solidFill>
                              <a:latin typeface="Cambria Math" panose="02040503050406030204" pitchFamily="18" charset="0"/>
                            </a:rPr>
                            <m:t>, </m:t>
                          </m:r>
                          <m:r>
                            <a:rPr lang="en-US" sz="2800" b="0" i="1" dirty="0" smtClean="0">
                              <a:solidFill>
                                <a:srgbClr val="002060"/>
                              </a:solidFill>
                              <a:latin typeface="Cambria Math" panose="02040503050406030204" pitchFamily="18" charset="0"/>
                            </a:rPr>
                            <m:t>4</m:t>
                          </m:r>
                        </m:e>
                      </m:d>
                    </m:oMath>
                  </m:oMathPara>
                </a14:m>
                <a:endParaRPr lang="en-US" sz="2800" dirty="0">
                  <a:solidFill>
                    <a:srgbClr val="002060"/>
                  </a:solidFill>
                </a:endParaRPr>
              </a:p>
            </p:txBody>
          </p:sp>
        </mc:Choice>
        <mc:Fallback xmlns="">
          <p:sp>
            <p:nvSpPr>
              <p:cNvPr id="71" name="Rectangle 70"/>
              <p:cNvSpPr>
                <a:spLocks noRot="1" noChangeAspect="1" noMove="1" noResize="1" noEditPoints="1" noAdjustHandles="1" noChangeArrowheads="1" noChangeShapeType="1" noTextEdit="1"/>
              </p:cNvSpPr>
              <p:nvPr/>
            </p:nvSpPr>
            <p:spPr>
              <a:xfrm>
                <a:off x="4893739" y="4932435"/>
                <a:ext cx="2092560" cy="867930"/>
              </a:xfrm>
              <a:prstGeom prst="rect">
                <a:avLst/>
              </a:prstGeom>
              <a:blipFill rotWithShape="0">
                <a:blip r:embed="rId3"/>
                <a:stretch>
                  <a:fillRect t="-118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Rectangle 94"/>
              <p:cNvSpPr/>
              <p:nvPr/>
            </p:nvSpPr>
            <p:spPr>
              <a:xfrm>
                <a:off x="8426677" y="5006800"/>
                <a:ext cx="2092560" cy="867930"/>
              </a:xfrm>
              <a:prstGeom prst="rect">
                <a:avLst/>
              </a:prstGeom>
            </p:spPr>
            <p:txBody>
              <a:bodyPr wrap="none">
                <a:spAutoFit/>
              </a:bodyPr>
              <a:lstStyle/>
              <a:p>
                <a:pPr algn="ctr">
                  <a:lnSpc>
                    <a:spcPct val="90000"/>
                  </a:lnSpc>
                  <a:spcBef>
                    <a:spcPts val="1000"/>
                  </a:spcBef>
                  <a:buClr>
                    <a:srgbClr val="B84742"/>
                  </a:buClr>
                </a:pPr>
                <a:r>
                  <a:rPr lang="en-US" sz="2800" dirty="0">
                    <a:solidFill>
                      <a:srgbClr val="002060"/>
                    </a:solidFill>
                  </a:rPr>
                  <a:t>Y tree </a:t>
                </a:r>
              </a:p>
              <a:p>
                <a:pPr algn="ctr">
                  <a:lnSpc>
                    <a:spcPct val="90000"/>
                  </a:lnSpc>
                  <a:spcBef>
                    <a:spcPts val="1000"/>
                  </a:spcBef>
                  <a:buClr>
                    <a:srgbClr val="B84742"/>
                  </a:buClr>
                </a:pPr>
                <a14:m>
                  <m:oMathPara xmlns:m="http://schemas.openxmlformats.org/officeDocument/2006/math">
                    <m:oMathParaPr>
                      <m:jc m:val="centerGroup"/>
                    </m:oMathParaPr>
                    <m:oMath xmlns:m="http://schemas.openxmlformats.org/officeDocument/2006/math">
                      <m:d>
                        <m:dPr>
                          <m:ctrlPr>
                            <a:rPr lang="en-US" sz="2800" i="1" dirty="0">
                              <a:solidFill>
                                <a:srgbClr val="002060"/>
                              </a:solidFill>
                              <a:latin typeface="Cambria Math" panose="02040503050406030204" pitchFamily="18" charset="0"/>
                            </a:rPr>
                          </m:ctrlPr>
                        </m:dPr>
                        <m:e>
                          <m:r>
                            <a:rPr lang="en-US" sz="2800" i="1" dirty="0">
                              <a:solidFill>
                                <a:srgbClr val="002060"/>
                              </a:solidFill>
                              <a:latin typeface="Cambria Math" panose="02040503050406030204" pitchFamily="18" charset="0"/>
                            </a:rPr>
                            <m:t>1, 1, </m:t>
                          </m:r>
                          <m:r>
                            <a:rPr lang="en-US" sz="2800" b="0" i="1" dirty="0" smtClean="0">
                              <a:solidFill>
                                <a:srgbClr val="002060"/>
                              </a:solidFill>
                              <a:latin typeface="Cambria Math" panose="02040503050406030204" pitchFamily="18" charset="0"/>
                            </a:rPr>
                            <m:t>1</m:t>
                          </m:r>
                          <m:r>
                            <a:rPr lang="en-US" sz="2800" i="1" dirty="0">
                              <a:solidFill>
                                <a:srgbClr val="002060"/>
                              </a:solidFill>
                              <a:latin typeface="Cambria Math" panose="02040503050406030204" pitchFamily="18" charset="0"/>
                            </a:rPr>
                            <m:t>, </m:t>
                          </m:r>
                          <m:r>
                            <a:rPr lang="en-US" sz="2800" b="0" i="1" dirty="0" smtClean="0">
                              <a:solidFill>
                                <a:srgbClr val="002060"/>
                              </a:solidFill>
                              <a:latin typeface="Cambria Math" panose="02040503050406030204" pitchFamily="18" charset="0"/>
                            </a:rPr>
                            <m:t>2</m:t>
                          </m:r>
                          <m:r>
                            <a:rPr lang="en-US" sz="2800" i="1" dirty="0">
                              <a:solidFill>
                                <a:srgbClr val="002060"/>
                              </a:solidFill>
                              <a:latin typeface="Cambria Math" panose="02040503050406030204" pitchFamily="18" charset="0"/>
                            </a:rPr>
                            <m:t>, </m:t>
                          </m:r>
                          <m:r>
                            <a:rPr lang="en-US" sz="2800" b="0" i="1" dirty="0" smtClean="0">
                              <a:solidFill>
                                <a:srgbClr val="002060"/>
                              </a:solidFill>
                              <a:latin typeface="Cambria Math" panose="02040503050406030204" pitchFamily="18" charset="0"/>
                            </a:rPr>
                            <m:t>3</m:t>
                          </m:r>
                        </m:e>
                      </m:d>
                    </m:oMath>
                  </m:oMathPara>
                </a14:m>
                <a:endParaRPr lang="en-US" sz="2800" dirty="0">
                  <a:solidFill>
                    <a:srgbClr val="002060"/>
                  </a:solidFill>
                </a:endParaRPr>
              </a:p>
            </p:txBody>
          </p:sp>
        </mc:Choice>
        <mc:Fallback xmlns="">
          <p:sp>
            <p:nvSpPr>
              <p:cNvPr id="95" name="Rectangle 94"/>
              <p:cNvSpPr>
                <a:spLocks noRot="1" noChangeAspect="1" noMove="1" noResize="1" noEditPoints="1" noAdjustHandles="1" noChangeArrowheads="1" noChangeShapeType="1" noTextEdit="1"/>
              </p:cNvSpPr>
              <p:nvPr/>
            </p:nvSpPr>
            <p:spPr>
              <a:xfrm>
                <a:off x="8426677" y="5006800"/>
                <a:ext cx="2092560" cy="867930"/>
              </a:xfrm>
              <a:prstGeom prst="rect">
                <a:avLst/>
              </a:prstGeom>
              <a:blipFill rotWithShape="0">
                <a:blip r:embed="rId4"/>
                <a:stretch>
                  <a:fillRect t="-11888"/>
                </a:stretch>
              </a:blipFill>
            </p:spPr>
            <p:txBody>
              <a:bodyPr/>
              <a:lstStyle/>
              <a:p>
                <a:r>
                  <a:rPr lang="en-US">
                    <a:noFill/>
                  </a:rPr>
                  <a:t> </a:t>
                </a:r>
              </a:p>
            </p:txBody>
          </p:sp>
        </mc:Fallback>
      </mc:AlternateContent>
      <p:pic>
        <p:nvPicPr>
          <p:cNvPr id="96" name="Picture 95"/>
          <p:cNvPicPr>
            <a:picLocks noChangeAspect="1"/>
          </p:cNvPicPr>
          <p:nvPr/>
        </p:nvPicPr>
        <p:blipFill>
          <a:blip r:embed="rId5"/>
          <a:stretch>
            <a:fillRect/>
          </a:stretch>
        </p:blipFill>
        <p:spPr>
          <a:xfrm>
            <a:off x="2207291" y="1961793"/>
            <a:ext cx="158510" cy="3011685"/>
          </a:xfrm>
          <a:prstGeom prst="rect">
            <a:avLst/>
          </a:prstGeom>
        </p:spPr>
      </p:pic>
      <p:pic>
        <p:nvPicPr>
          <p:cNvPr id="97" name="Picture 96"/>
          <p:cNvPicPr>
            <a:picLocks noChangeAspect="1"/>
          </p:cNvPicPr>
          <p:nvPr/>
        </p:nvPicPr>
        <p:blipFill>
          <a:blip r:embed="rId6"/>
          <a:stretch>
            <a:fillRect/>
          </a:stretch>
        </p:blipFill>
        <p:spPr>
          <a:xfrm>
            <a:off x="5135278" y="3090453"/>
            <a:ext cx="1609483" cy="1603387"/>
          </a:xfrm>
          <a:prstGeom prst="rect">
            <a:avLst/>
          </a:prstGeom>
        </p:spPr>
      </p:pic>
      <p:pic>
        <p:nvPicPr>
          <p:cNvPr id="98" name="Picture 97"/>
          <p:cNvPicPr>
            <a:picLocks noChangeAspect="1"/>
          </p:cNvPicPr>
          <p:nvPr/>
        </p:nvPicPr>
        <p:blipFill>
          <a:blip r:embed="rId7"/>
          <a:stretch>
            <a:fillRect/>
          </a:stretch>
        </p:blipFill>
        <p:spPr>
          <a:xfrm>
            <a:off x="8683457" y="1888941"/>
            <a:ext cx="1579001" cy="3054361"/>
          </a:xfrm>
          <a:prstGeom prst="rect">
            <a:avLst/>
          </a:prstGeom>
        </p:spPr>
      </p:pic>
    </p:spTree>
    <p:extLst>
      <p:ext uri="{BB962C8B-B14F-4D97-AF65-F5344CB8AC3E}">
        <p14:creationId xmlns:p14="http://schemas.microsoft.com/office/powerpoint/2010/main" val="3632503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71" grpId="0"/>
      <p:bldP spid="9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US" dirty="0"/>
              <a:t>?</a:t>
            </a:r>
          </a:p>
        </p:txBody>
      </p:sp>
      <p:sp>
        <p:nvSpPr>
          <p:cNvPr id="3" name="Content Placeholder 2"/>
          <p:cNvSpPr>
            <a:spLocks noGrp="1"/>
          </p:cNvSpPr>
          <p:nvPr>
            <p:ph idx="1"/>
          </p:nvPr>
        </p:nvSpPr>
        <p:spPr/>
        <p:txBody>
          <a:bodyPr/>
          <a:lstStyle/>
          <a:p>
            <a:r>
              <a:rPr lang="en-US" dirty="0"/>
              <a:t>A tree has 12 vertices. Exactly one vertex has degree 5. Exactly two vertices have degree 3. All remaining vertices are leaves. Determine whether such a tree can exist. If yes, draw one example. If no, prove that it is impossible.</a:t>
            </a:r>
          </a:p>
        </p:txBody>
      </p:sp>
    </p:spTree>
    <p:extLst>
      <p:ext uri="{BB962C8B-B14F-4D97-AF65-F5344CB8AC3E}">
        <p14:creationId xmlns:p14="http://schemas.microsoft.com/office/powerpoint/2010/main" val="41768398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uFill>
                  <a:solidFill>
                    <a:schemeClr val="bg1"/>
                  </a:solidFill>
                </a:uFill>
              </a:rPr>
              <a:t>Method – 2</a:t>
            </a:r>
            <a:br>
              <a:rPr lang="en-US" dirty="0">
                <a:hlinkClick r:id="rId2" action="ppaction://hlinksldjump">
                  <a:extLst>
                    <a:ext uri="{A12FA001-AC4F-418D-AE19-62706E023703}">
                      <ahyp:hlinkClr xmlns:ahyp="http://schemas.microsoft.com/office/drawing/2018/hyperlinkcolor" val="tx"/>
                    </a:ext>
                  </a:extLst>
                </a:hlinkClick>
              </a:rPr>
            </a:br>
            <a:r>
              <a:rPr lang="en-US" dirty="0"/>
              <a:t>Pendent Vertices, Distance and Center in Trees</a:t>
            </a:r>
          </a:p>
        </p:txBody>
      </p:sp>
    </p:spTree>
    <p:extLst>
      <p:ext uri="{BB962C8B-B14F-4D97-AF65-F5344CB8AC3E}">
        <p14:creationId xmlns:p14="http://schemas.microsoft.com/office/powerpoint/2010/main" val="13105684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US" dirty="0"/>
              <a:t>Pendent Vertices (leaf/leaves) in Trees</a:t>
            </a:r>
          </a:p>
        </p:txBody>
      </p:sp>
      <p:sp>
        <p:nvSpPr>
          <p:cNvPr id="5" name="Rectangle 4"/>
          <p:cNvSpPr/>
          <p:nvPr/>
        </p:nvSpPr>
        <p:spPr>
          <a:xfrm>
            <a:off x="106561" y="729966"/>
            <a:ext cx="11183359" cy="523220"/>
          </a:xfrm>
          <a:prstGeom prst="rect">
            <a:avLst/>
          </a:prstGeom>
        </p:spPr>
        <p:txBody>
          <a:bodyPr wrap="square">
            <a:spAutoFit/>
          </a:bodyPr>
          <a:lstStyle/>
          <a:p>
            <a:pPr marL="265113" indent="-265113" algn="just">
              <a:spcBef>
                <a:spcPts val="1000"/>
              </a:spcBef>
              <a:buClr>
                <a:srgbClr val="B84742"/>
              </a:buClr>
              <a:buFont typeface="Wingdings 3" panose="05040102010807070707" pitchFamily="18" charset="2"/>
              <a:buChar char=""/>
            </a:pPr>
            <a:r>
              <a:rPr lang="en-IN" sz="2800" b="1" dirty="0">
                <a:solidFill>
                  <a:srgbClr val="002060"/>
                </a:solidFill>
              </a:rPr>
              <a:t>Definition:</a:t>
            </a:r>
            <a:r>
              <a:rPr lang="en-IN" sz="2800" b="1" dirty="0"/>
              <a:t> </a:t>
            </a:r>
            <a:r>
              <a:rPr lang="en-IN" sz="2800" dirty="0">
                <a:solidFill>
                  <a:srgbClr val="002060"/>
                </a:solidFill>
              </a:rPr>
              <a:t>A </a:t>
            </a:r>
            <a:r>
              <a:rPr lang="en-IN" sz="2800" dirty="0">
                <a:solidFill>
                  <a:srgbClr val="FF0000"/>
                </a:solidFill>
              </a:rPr>
              <a:t>pendant vertex </a:t>
            </a:r>
            <a:r>
              <a:rPr lang="en-IN" sz="2800" dirty="0">
                <a:solidFill>
                  <a:srgbClr val="002060"/>
                </a:solidFill>
              </a:rPr>
              <a:t>is defined as </a:t>
            </a:r>
            <a:r>
              <a:rPr lang="en-IN" sz="2800" b="1" dirty="0">
                <a:solidFill>
                  <a:srgbClr val="002060"/>
                </a:solidFill>
              </a:rPr>
              <a:t>a vertex with degree one</a:t>
            </a:r>
            <a:r>
              <a:rPr lang="en-IN" sz="2800" dirty="0"/>
              <a:t>. </a:t>
            </a:r>
          </a:p>
        </p:txBody>
      </p:sp>
      <p:sp>
        <p:nvSpPr>
          <p:cNvPr id="54" name="Rectangle 53"/>
          <p:cNvSpPr/>
          <p:nvPr/>
        </p:nvSpPr>
        <p:spPr>
          <a:xfrm>
            <a:off x="570479" y="4339010"/>
            <a:ext cx="2642231" cy="461665"/>
          </a:xfrm>
          <a:prstGeom prst="rect">
            <a:avLst/>
          </a:prstGeom>
        </p:spPr>
        <p:txBody>
          <a:bodyPr wrap="square">
            <a:spAutoFit/>
          </a:bodyPr>
          <a:lstStyle/>
          <a:p>
            <a:pPr algn="ctr">
              <a:spcBef>
                <a:spcPts val="1000"/>
              </a:spcBef>
              <a:buClr>
                <a:srgbClr val="B84742"/>
              </a:buClr>
            </a:pPr>
            <a:r>
              <a:rPr lang="en-IN" sz="2400" b="1" dirty="0">
                <a:solidFill>
                  <a:srgbClr val="002060"/>
                </a:solidFill>
              </a:rPr>
              <a:t>2 pendant vertices</a:t>
            </a:r>
          </a:p>
        </p:txBody>
      </p:sp>
      <p:sp>
        <p:nvSpPr>
          <p:cNvPr id="55" name="Rectangle 54"/>
          <p:cNvSpPr/>
          <p:nvPr/>
        </p:nvSpPr>
        <p:spPr>
          <a:xfrm>
            <a:off x="4075166" y="4343734"/>
            <a:ext cx="2586350" cy="461665"/>
          </a:xfrm>
          <a:prstGeom prst="rect">
            <a:avLst/>
          </a:prstGeom>
        </p:spPr>
        <p:txBody>
          <a:bodyPr wrap="square">
            <a:spAutoFit/>
          </a:bodyPr>
          <a:lstStyle/>
          <a:p>
            <a:pPr algn="ctr">
              <a:spcBef>
                <a:spcPts val="1000"/>
              </a:spcBef>
              <a:buClr>
                <a:srgbClr val="B84742"/>
              </a:buClr>
            </a:pPr>
            <a:r>
              <a:rPr lang="en-IN" sz="2400" b="1" dirty="0">
                <a:solidFill>
                  <a:srgbClr val="002060"/>
                </a:solidFill>
              </a:rPr>
              <a:t>3 pendant vertices</a:t>
            </a:r>
          </a:p>
        </p:txBody>
      </p:sp>
      <p:sp>
        <p:nvSpPr>
          <p:cNvPr id="63" name="Rectangle 62"/>
          <p:cNvSpPr/>
          <p:nvPr/>
        </p:nvSpPr>
        <p:spPr>
          <a:xfrm>
            <a:off x="8175276" y="4339010"/>
            <a:ext cx="2572185" cy="461665"/>
          </a:xfrm>
          <a:prstGeom prst="rect">
            <a:avLst/>
          </a:prstGeom>
        </p:spPr>
        <p:txBody>
          <a:bodyPr wrap="square">
            <a:spAutoFit/>
          </a:bodyPr>
          <a:lstStyle/>
          <a:p>
            <a:pPr algn="ctr">
              <a:spcBef>
                <a:spcPts val="1000"/>
              </a:spcBef>
              <a:buClr>
                <a:srgbClr val="B84742"/>
              </a:buClr>
            </a:pPr>
            <a:r>
              <a:rPr lang="en-IN" sz="2400" b="1" dirty="0">
                <a:solidFill>
                  <a:srgbClr val="002060"/>
                </a:solidFill>
              </a:rPr>
              <a:t>4 pendant vertices</a:t>
            </a:r>
          </a:p>
        </p:txBody>
      </p:sp>
      <mc:AlternateContent xmlns:mc="http://schemas.openxmlformats.org/markup-compatibility/2006" xmlns:a14="http://schemas.microsoft.com/office/drawing/2010/main">
        <mc:Choice Requires="a14">
          <p:sp>
            <p:nvSpPr>
              <p:cNvPr id="65" name="Rectangle 64"/>
              <p:cNvSpPr/>
              <p:nvPr/>
            </p:nvSpPr>
            <p:spPr>
              <a:xfrm>
                <a:off x="311167" y="5251166"/>
                <a:ext cx="11517976" cy="523220"/>
              </a:xfrm>
              <a:prstGeom prst="rect">
                <a:avLst/>
              </a:prstGeom>
            </p:spPr>
            <p:txBody>
              <a:bodyPr wrap="square">
                <a:spAutoFit/>
              </a:bodyPr>
              <a:lstStyle/>
              <a:p>
                <a:pPr marL="265113" indent="-265113" algn="just">
                  <a:spcBef>
                    <a:spcPts val="1000"/>
                  </a:spcBef>
                  <a:buClr>
                    <a:srgbClr val="B84742"/>
                  </a:buClr>
                  <a:buFont typeface="Wingdings 3" panose="05040102010807070707" pitchFamily="18" charset="2"/>
                  <a:buChar char=""/>
                </a:pPr>
                <a:r>
                  <a:rPr lang="en-IN" sz="2800" dirty="0">
                    <a:solidFill>
                      <a:srgbClr val="002060"/>
                    </a:solidFill>
                  </a:rPr>
                  <a:t>Observation: Is a</a:t>
                </a:r>
                <a:r>
                  <a:rPr lang="en-US" sz="2800" dirty="0">
                    <a:solidFill>
                      <a:srgbClr val="002060"/>
                    </a:solidFill>
                  </a:rPr>
                  <a:t>ny tree with</a:t>
                </a:r>
                <a14:m>
                  <m:oMath xmlns:m="http://schemas.openxmlformats.org/officeDocument/2006/math">
                    <m:r>
                      <a:rPr lang="en-US" sz="2800" dirty="0">
                        <a:solidFill>
                          <a:srgbClr val="002060"/>
                        </a:solidFill>
                        <a:latin typeface="Cambria Math" panose="02040503050406030204" pitchFamily="18" charset="0"/>
                      </a:rPr>
                      <m:t> </m:t>
                    </m:r>
                    <m:r>
                      <m:rPr>
                        <m:sty m:val="p"/>
                      </m:rPr>
                      <a:rPr lang="en-US" sz="2800" dirty="0">
                        <a:solidFill>
                          <a:srgbClr val="002060"/>
                        </a:solidFill>
                        <a:latin typeface="Cambria Math" panose="02040503050406030204" pitchFamily="18" charset="0"/>
                      </a:rPr>
                      <m:t>n</m:t>
                    </m:r>
                    <m:r>
                      <a:rPr lang="en-US" sz="2800" dirty="0">
                        <a:solidFill>
                          <a:srgbClr val="002060"/>
                        </a:solidFill>
                        <a:latin typeface="Cambria Math" panose="02040503050406030204" pitchFamily="18" charset="0"/>
                      </a:rPr>
                      <m:t>≥2</m:t>
                    </m:r>
                  </m:oMath>
                </a14:m>
                <a:r>
                  <a:rPr lang="en-US" sz="2800" dirty="0">
                    <a:solidFill>
                      <a:srgbClr val="002060"/>
                    </a:solidFill>
                  </a:rPr>
                  <a:t> vertices always has at least two </a:t>
                </a:r>
                <a:r>
                  <a:rPr lang="en-US" sz="2800" b="1" dirty="0">
                    <a:solidFill>
                      <a:srgbClr val="C00000"/>
                    </a:solidFill>
                  </a:rPr>
                  <a:t>leaves </a:t>
                </a:r>
                <a:r>
                  <a:rPr lang="en-US" sz="2800" b="1" dirty="0">
                    <a:solidFill>
                      <a:srgbClr val="002060"/>
                    </a:solidFill>
                  </a:rPr>
                  <a:t>?</a:t>
                </a:r>
                <a:endParaRPr lang="en-IN" sz="2800" dirty="0">
                  <a:solidFill>
                    <a:srgbClr val="002060"/>
                  </a:solidFill>
                </a:endParaRPr>
              </a:p>
            </p:txBody>
          </p:sp>
        </mc:Choice>
        <mc:Fallback xmlns="">
          <p:sp>
            <p:nvSpPr>
              <p:cNvPr id="65" name="Rectangle 64"/>
              <p:cNvSpPr>
                <a:spLocks noRot="1" noChangeAspect="1" noMove="1" noResize="1" noEditPoints="1" noAdjustHandles="1" noChangeArrowheads="1" noChangeShapeType="1" noTextEdit="1"/>
              </p:cNvSpPr>
              <p:nvPr/>
            </p:nvSpPr>
            <p:spPr>
              <a:xfrm>
                <a:off x="311167" y="5251166"/>
                <a:ext cx="11517976" cy="523220"/>
              </a:xfrm>
              <a:prstGeom prst="rect">
                <a:avLst/>
              </a:prstGeom>
              <a:blipFill rotWithShape="0">
                <a:blip r:embed="rId2"/>
                <a:stretch>
                  <a:fillRect l="-953" t="-11628" b="-31395"/>
                </a:stretch>
              </a:blipFill>
            </p:spPr>
            <p:txBody>
              <a:bodyPr/>
              <a:lstStyle/>
              <a:p>
                <a:r>
                  <a:rPr lang="en-US">
                    <a:noFill/>
                  </a:rPr>
                  <a:t> </a:t>
                </a:r>
              </a:p>
            </p:txBody>
          </p:sp>
        </mc:Fallback>
      </mc:AlternateContent>
      <p:pic>
        <p:nvPicPr>
          <p:cNvPr id="19" name="Picture 18"/>
          <p:cNvPicPr>
            <a:picLocks noChangeAspect="1"/>
          </p:cNvPicPr>
          <p:nvPr/>
        </p:nvPicPr>
        <p:blipFill>
          <a:blip r:embed="rId3"/>
          <a:stretch>
            <a:fillRect/>
          </a:stretch>
        </p:blipFill>
        <p:spPr>
          <a:xfrm>
            <a:off x="1733085" y="2782239"/>
            <a:ext cx="158510" cy="810838"/>
          </a:xfrm>
          <a:prstGeom prst="rect">
            <a:avLst/>
          </a:prstGeom>
        </p:spPr>
      </p:pic>
      <p:pic>
        <p:nvPicPr>
          <p:cNvPr id="20" name="Picture 19"/>
          <p:cNvPicPr>
            <a:picLocks noChangeAspect="1"/>
          </p:cNvPicPr>
          <p:nvPr/>
        </p:nvPicPr>
        <p:blipFill>
          <a:blip r:embed="rId4"/>
          <a:stretch>
            <a:fillRect/>
          </a:stretch>
        </p:blipFill>
        <p:spPr>
          <a:xfrm>
            <a:off x="4569696" y="2484516"/>
            <a:ext cx="1597290" cy="1609483"/>
          </a:xfrm>
          <a:prstGeom prst="rect">
            <a:avLst/>
          </a:prstGeom>
        </p:spPr>
      </p:pic>
      <p:pic>
        <p:nvPicPr>
          <p:cNvPr id="21" name="Picture 20"/>
          <p:cNvPicPr>
            <a:picLocks noChangeAspect="1"/>
          </p:cNvPicPr>
          <p:nvPr/>
        </p:nvPicPr>
        <p:blipFill>
          <a:blip r:embed="rId5"/>
          <a:stretch>
            <a:fillRect/>
          </a:stretch>
        </p:blipFill>
        <p:spPr>
          <a:xfrm>
            <a:off x="8495070" y="1778799"/>
            <a:ext cx="1932599" cy="2353260"/>
          </a:xfrm>
          <a:prstGeom prst="rect">
            <a:avLst/>
          </a:prstGeom>
        </p:spPr>
      </p:pic>
      <p:sp>
        <p:nvSpPr>
          <p:cNvPr id="2" name="Oval 1"/>
          <p:cNvSpPr/>
          <p:nvPr/>
        </p:nvSpPr>
        <p:spPr>
          <a:xfrm>
            <a:off x="1598715" y="2623881"/>
            <a:ext cx="437882" cy="45076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1598715" y="3275115"/>
            <a:ext cx="437882" cy="45076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4411816" y="2358862"/>
            <a:ext cx="437882" cy="45076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5859193" y="2331278"/>
            <a:ext cx="437882" cy="45076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4439607" y="3782276"/>
            <a:ext cx="437882" cy="45076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8303821" y="1691831"/>
            <a:ext cx="437882" cy="45076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10130363" y="3093003"/>
            <a:ext cx="437882" cy="45076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9859154" y="1639508"/>
            <a:ext cx="437882" cy="45076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9063211" y="3831745"/>
            <a:ext cx="437882" cy="45076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06867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4">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5">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3">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2" grpId="0" animBg="1"/>
      <p:bldP spid="13" grpId="0" animBg="1"/>
      <p:bldP spid="14" grpId="0" animBg="1"/>
      <p:bldP spid="15" grpId="0" animBg="1"/>
      <p:bldP spid="16" grpId="0" animBg="1"/>
      <p:bldP spid="17" grpId="0" animBg="1"/>
      <p:bldP spid="18" grpId="0" animBg="1"/>
      <p:bldP spid="2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pPr algn="just">
                  <a:spcBef>
                    <a:spcPts val="1000"/>
                  </a:spcBef>
                  <a:buClr>
                    <a:srgbClr val="B84742"/>
                  </a:buClr>
                </a:pPr>
                <a:r>
                  <a:rPr lang="en-IN" sz="3600" dirty="0">
                    <a:solidFill>
                      <a:srgbClr val="002060"/>
                    </a:solidFill>
                  </a:rPr>
                  <a:t>A</a:t>
                </a:r>
                <a:r>
                  <a:rPr lang="en-US" sz="3600" dirty="0">
                    <a:solidFill>
                      <a:srgbClr val="002060"/>
                    </a:solidFill>
                  </a:rPr>
                  <a:t>ny tree with</a:t>
                </a:r>
                <a14:m>
                  <m:oMath xmlns:m="http://schemas.openxmlformats.org/officeDocument/2006/math">
                    <m:r>
                      <a:rPr lang="en-US" sz="3600" dirty="0">
                        <a:solidFill>
                          <a:srgbClr val="002060"/>
                        </a:solidFill>
                        <a:latin typeface="Cambria Math" panose="02040503050406030204" pitchFamily="18" charset="0"/>
                      </a:rPr>
                      <m:t> </m:t>
                    </m:r>
                    <m:r>
                      <m:rPr>
                        <m:sty m:val="p"/>
                      </m:rPr>
                      <a:rPr lang="en-US" sz="3600" dirty="0">
                        <a:solidFill>
                          <a:srgbClr val="002060"/>
                        </a:solidFill>
                        <a:latin typeface="Cambria Math" panose="02040503050406030204" pitchFamily="18" charset="0"/>
                      </a:rPr>
                      <m:t>n</m:t>
                    </m:r>
                    <m:r>
                      <a:rPr lang="en-US" sz="3600" dirty="0">
                        <a:solidFill>
                          <a:srgbClr val="002060"/>
                        </a:solidFill>
                        <a:latin typeface="Cambria Math" panose="02040503050406030204" pitchFamily="18" charset="0"/>
                      </a:rPr>
                      <m:t>≥2</m:t>
                    </m:r>
                  </m:oMath>
                </a14:m>
                <a:r>
                  <a:rPr lang="en-US" sz="3600" dirty="0">
                    <a:solidFill>
                      <a:srgbClr val="002060"/>
                    </a:solidFill>
                  </a:rPr>
                  <a:t> vertices always has at least two </a:t>
                </a:r>
                <a:r>
                  <a:rPr lang="en-US" sz="3600" dirty="0">
                    <a:solidFill>
                      <a:srgbClr val="C00000"/>
                    </a:solidFill>
                  </a:rPr>
                  <a:t>leaves.</a:t>
                </a:r>
                <a:endParaRPr lang="en-IN" sz="3600" dirty="0">
                  <a:solidFill>
                    <a:srgbClr val="C00000"/>
                  </a:solidFill>
                </a:endParaRPr>
              </a:p>
              <a:p>
                <a:pPr algn="just">
                  <a:spcBef>
                    <a:spcPts val="1000"/>
                  </a:spcBef>
                  <a:buClr>
                    <a:srgbClr val="B84742"/>
                  </a:buClr>
                </a:pPr>
                <a:endParaRPr lang="en-US" sz="3600" dirty="0">
                  <a:solidFill>
                    <a:srgbClr val="002060"/>
                  </a:solidFill>
                </a:endParaRPr>
              </a:p>
            </p:txBody>
          </p:sp>
        </mc:Choice>
        <mc:Fallback xmlns="">
          <p:sp>
            <p:nvSpPr>
              <p:cNvPr id="9" name="Title 1">
                <a:extLst>
                  <a:ext uri="{FF2B5EF4-FFF2-40B4-BE49-F238E27FC236}">
                    <a16:creationId xmlns="" xmlns:a16="http://schemas.microsoft.com/office/drawing/2014/main" id="{D5CD07E8-CBAA-45BA-85CF-1233D4AA86C9}"/>
                  </a:ext>
                </a:extLst>
              </p:cNvPr>
              <p:cNvSpPr txBox="1">
                <a:spLocks noRot="1" noChangeAspect="1" noMove="1" noResize="1" noEditPoints="1" noAdjustHandles="1" noChangeArrowheads="1" noChangeShapeType="1" noTextEdit="1"/>
              </p:cNvSpPr>
              <p:nvPr/>
            </p:nvSpPr>
            <p:spPr>
              <a:xfrm>
                <a:off x="0" y="0"/>
                <a:ext cx="12192000" cy="711200"/>
              </a:xfrm>
              <a:prstGeom prst="rect">
                <a:avLst/>
              </a:prstGeom>
              <a:blipFill rotWithShape="0">
                <a:blip r:embed="rId2"/>
                <a:stretch>
                  <a:fillRect l="-500" t="-11966" b="-23077"/>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3884" y="863444"/>
                <a:ext cx="11756020" cy="5590565"/>
              </a:xfrm>
            </p:spPr>
            <p:txBody>
              <a:bodyPr/>
              <a:lstStyle/>
              <a:p>
                <a:pPr>
                  <a:buClr>
                    <a:srgbClr val="B84742"/>
                  </a:buClr>
                </a:pPr>
                <a:r>
                  <a:rPr lang="en-US" dirty="0"/>
                  <a:t>Let</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T</m:t>
                    </m:r>
                  </m:oMath>
                </a14:m>
                <a:r>
                  <a:rPr lang="en-US" dirty="0"/>
                  <a:t> be a tree with</a:t>
                </a:r>
                <a14:m>
                  <m:oMath xmlns:m="http://schemas.openxmlformats.org/officeDocument/2006/math">
                    <m:r>
                      <a:rPr lang="en-US" dirty="0">
                        <a:latin typeface="Cambria Math" panose="02040503050406030204" pitchFamily="18" charset="0"/>
                      </a:rPr>
                      <m:t> </m:t>
                    </m:r>
                    <m:r>
                      <m:rPr>
                        <m:sty m:val="p"/>
                      </m:rPr>
                      <a:rPr lang="en-US" dirty="0">
                        <a:latin typeface="Cambria Math" panose="02040503050406030204" pitchFamily="18" charset="0"/>
                      </a:rPr>
                      <m:t>n</m:t>
                    </m:r>
                    <m:r>
                      <a:rPr lang="en-US" dirty="0">
                        <a:latin typeface="Cambria Math" panose="02040503050406030204" pitchFamily="18" charset="0"/>
                      </a:rPr>
                      <m:t>≥2 </m:t>
                    </m:r>
                  </m:oMath>
                </a14:m>
                <a:r>
                  <a:rPr lang="en-US" dirty="0"/>
                  <a:t>vertices.</a:t>
                </a:r>
              </a:p>
              <a:p>
                <a:pPr>
                  <a:buClr>
                    <a:srgbClr val="B84742"/>
                  </a:buClr>
                </a:pPr>
                <a:r>
                  <a:rPr lang="en-US" dirty="0"/>
                  <a:t>Since</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T</m:t>
                    </m:r>
                  </m:oMath>
                </a14:m>
                <a:r>
                  <a:rPr lang="en-US" dirty="0"/>
                  <a:t> is connected and acyclic, there exists a </a:t>
                </a:r>
                <a:r>
                  <a:rPr lang="en-US" b="1" dirty="0"/>
                  <a:t>longest path</a:t>
                </a:r>
                <a:r>
                  <a:rPr lang="en-US" dirty="0"/>
                  <a:t> in</a:t>
                </a:r>
                <a14:m>
                  <m:oMath xmlns:m="http://schemas.openxmlformats.org/officeDocument/2006/math">
                    <m:r>
                      <a:rPr lang="en-US" i="0" dirty="0" smtClean="0">
                        <a:latin typeface="Cambria Math" panose="02040503050406030204" pitchFamily="18" charset="0"/>
                      </a:rPr>
                      <m:t> </m:t>
                    </m:r>
                    <m:r>
                      <m:rPr>
                        <m:sty m:val="p"/>
                      </m:rPr>
                      <a:rPr lang="en-US" i="0" dirty="0" err="1" smtClean="0">
                        <a:latin typeface="Cambria Math" panose="02040503050406030204" pitchFamily="18" charset="0"/>
                      </a:rPr>
                      <m:t>T</m:t>
                    </m:r>
                  </m:oMath>
                </a14:m>
                <a:r>
                  <a:rPr lang="en-US" dirty="0"/>
                  <a:t>.</a:t>
                </a:r>
              </a:p>
              <a:p>
                <a:r>
                  <a:rPr lang="en-US" dirty="0"/>
                  <a:t>Let this path be:</a:t>
                </a:r>
                <a14:m>
                  <m:oMath xmlns:m="http://schemas.openxmlformats.org/officeDocument/2006/math">
                    <m:r>
                      <a:rPr lang="en-US" i="1" dirty="0" smtClean="0">
                        <a:latin typeface="Cambria Math" panose="02040503050406030204" pitchFamily="18" charset="0"/>
                      </a:rPr>
                      <m:t> </m:t>
                    </m:r>
                    <m:sSub>
                      <m:sSubPr>
                        <m:ctrlPr>
                          <a:rPr lang="en-US" i="1" dirty="0" smtClean="0">
                            <a:latin typeface="Cambria Math" panose="02040503050406030204" pitchFamily="18" charset="0"/>
                          </a:rPr>
                        </m:ctrlPr>
                      </m:sSubPr>
                      <m:e>
                        <m:r>
                          <m:rPr>
                            <m:sty m:val="p"/>
                          </m:rPr>
                          <a:rPr lang="en-US" i="0" dirty="0" smtClean="0">
                            <a:latin typeface="Cambria Math" panose="02040503050406030204" pitchFamily="18" charset="0"/>
                          </a:rPr>
                          <m:t>v</m:t>
                        </m:r>
                      </m:e>
                      <m:sub>
                        <m:r>
                          <a:rPr lang="en-US" i="0" dirty="0" smtClean="0">
                            <a:latin typeface="Cambria Math" panose="02040503050406030204" pitchFamily="18" charset="0"/>
                          </a:rPr>
                          <m:t>1</m:t>
                        </m:r>
                      </m:sub>
                    </m:sSub>
                    <m:r>
                      <a:rPr lang="en-US" b="0" i="0" dirty="0" smtClean="0">
                        <a:latin typeface="Cambria Math" panose="02040503050406030204" pitchFamily="18" charset="0"/>
                      </a:rPr>
                      <m:t>−</m:t>
                    </m:r>
                    <m:r>
                      <a:rPr lang="en-US" i="0" dirty="0">
                        <a:latin typeface="Cambria Math" panose="02040503050406030204" pitchFamily="18" charset="0"/>
                      </a:rPr>
                      <m:t> </m:t>
                    </m:r>
                    <m:sSub>
                      <m:sSubPr>
                        <m:ctrlPr>
                          <a:rPr lang="en-US" i="1" dirty="0" smtClean="0">
                            <a:latin typeface="Cambria Math" panose="02040503050406030204" pitchFamily="18" charset="0"/>
                          </a:rPr>
                        </m:ctrlPr>
                      </m:sSubPr>
                      <m:e>
                        <m:r>
                          <m:rPr>
                            <m:sty m:val="p"/>
                          </m:rPr>
                          <a:rPr lang="en-US" i="0" dirty="0" smtClean="0">
                            <a:latin typeface="Cambria Math" panose="02040503050406030204" pitchFamily="18" charset="0"/>
                          </a:rPr>
                          <m:t>v</m:t>
                        </m:r>
                      </m:e>
                      <m:sub>
                        <m:r>
                          <a:rPr lang="en-US" i="0" dirty="0" smtClean="0">
                            <a:latin typeface="Cambria Math" panose="02040503050406030204" pitchFamily="18" charset="0"/>
                          </a:rPr>
                          <m:t>2</m:t>
                        </m:r>
                      </m:sub>
                    </m:sSub>
                    <m:r>
                      <a:rPr lang="en-US" i="0" dirty="0">
                        <a:latin typeface="Cambria Math" panose="02040503050406030204" pitchFamily="18" charset="0"/>
                      </a:rPr>
                      <m:t> −⋯−</m:t>
                    </m:r>
                    <m:sSub>
                      <m:sSubPr>
                        <m:ctrlPr>
                          <a:rPr lang="en-US" i="1" dirty="0" err="1" smtClean="0">
                            <a:latin typeface="Cambria Math" panose="02040503050406030204" pitchFamily="18" charset="0"/>
                          </a:rPr>
                        </m:ctrlPr>
                      </m:sSubPr>
                      <m:e>
                        <m:r>
                          <m:rPr>
                            <m:sty m:val="p"/>
                          </m:rPr>
                          <a:rPr lang="en-US" i="0" dirty="0" err="1" smtClean="0">
                            <a:latin typeface="Cambria Math" panose="02040503050406030204" pitchFamily="18" charset="0"/>
                          </a:rPr>
                          <m:t>v</m:t>
                        </m:r>
                      </m:e>
                      <m:sub>
                        <m:r>
                          <m:rPr>
                            <m:sty m:val="p"/>
                          </m:rPr>
                          <a:rPr lang="en-US" i="0" dirty="0" err="1" smtClean="0">
                            <a:latin typeface="Cambria Math" panose="02040503050406030204" pitchFamily="18" charset="0"/>
                          </a:rPr>
                          <m:t>k</m:t>
                        </m:r>
                      </m:sub>
                    </m:sSub>
                  </m:oMath>
                </a14:m>
                <a:r>
                  <a:rPr lang="en-US" dirty="0"/>
                  <a:t>​.</a:t>
                </a:r>
              </a:p>
              <a:p>
                <a:r>
                  <a:rPr lang="en-US" dirty="0"/>
                  <a:t>Consider the endpoints</a:t>
                </a:r>
                <a14:m>
                  <m:oMath xmlns:m="http://schemas.openxmlformats.org/officeDocument/2006/math">
                    <m:r>
                      <a:rPr lang="en-US" i="0" dirty="0" smtClean="0">
                        <a:latin typeface="Cambria Math" panose="02040503050406030204" pitchFamily="18" charset="0"/>
                      </a:rPr>
                      <m:t> </m:t>
                    </m:r>
                    <m:sSub>
                      <m:sSubPr>
                        <m:ctrlPr>
                          <a:rPr lang="en-US" i="1" dirty="0" smtClean="0">
                            <a:latin typeface="Cambria Math" panose="02040503050406030204" pitchFamily="18" charset="0"/>
                          </a:rPr>
                        </m:ctrlPr>
                      </m:sSubPr>
                      <m:e>
                        <m:r>
                          <m:rPr>
                            <m:sty m:val="p"/>
                          </m:rPr>
                          <a:rPr lang="en-US" i="0" dirty="0" smtClean="0">
                            <a:latin typeface="Cambria Math" panose="02040503050406030204" pitchFamily="18" charset="0"/>
                          </a:rPr>
                          <m:t>v</m:t>
                        </m:r>
                      </m:e>
                      <m:sub>
                        <m:r>
                          <a:rPr lang="en-US" i="0" dirty="0" smtClean="0">
                            <a:latin typeface="Cambria Math" panose="02040503050406030204" pitchFamily="18" charset="0"/>
                          </a:rPr>
                          <m:t>1</m:t>
                        </m:r>
                      </m:sub>
                    </m:sSub>
                  </m:oMath>
                </a14:m>
                <a:r>
                  <a:rPr lang="en-US" dirty="0"/>
                  <a:t>and</a:t>
                </a:r>
                <a14:m>
                  <m:oMath xmlns:m="http://schemas.openxmlformats.org/officeDocument/2006/math">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m:rPr>
                            <m:sty m:val="p"/>
                          </m:rPr>
                          <a:rPr lang="en-US" i="0" dirty="0" err="1" smtClean="0">
                            <a:latin typeface="Cambria Math" panose="02040503050406030204" pitchFamily="18" charset="0"/>
                          </a:rPr>
                          <m:t>v</m:t>
                        </m:r>
                      </m:e>
                      <m:sub>
                        <m:r>
                          <m:rPr>
                            <m:sty m:val="p"/>
                          </m:rPr>
                          <a:rPr lang="en-US" i="0" dirty="0" err="1" smtClean="0">
                            <a:latin typeface="Cambria Math" panose="02040503050406030204" pitchFamily="18" charset="0"/>
                          </a:rPr>
                          <m:t>k</m:t>
                        </m:r>
                      </m:sub>
                    </m:sSub>
                  </m:oMath>
                </a14:m>
                <a:r>
                  <a:rPr lang="en-US" dirty="0"/>
                  <a:t>.​</a:t>
                </a:r>
              </a:p>
              <a:p>
                <a:r>
                  <a:rPr lang="en-US" dirty="0"/>
                  <a:t>Suppose </a:t>
                </a:r>
                <a14:m>
                  <m:oMath xmlns:m="http://schemas.openxmlformats.org/officeDocument/2006/math">
                    <m:sSub>
                      <m:sSubPr>
                        <m:ctrlPr>
                          <a:rPr lang="en-US" i="1" dirty="0">
                            <a:latin typeface="Cambria Math" panose="02040503050406030204" pitchFamily="18" charset="0"/>
                          </a:rPr>
                        </m:ctrlPr>
                      </m:sSubPr>
                      <m:e>
                        <m:r>
                          <m:rPr>
                            <m:sty m:val="p"/>
                          </m:rPr>
                          <a:rPr lang="en-US" dirty="0">
                            <a:latin typeface="Cambria Math" panose="02040503050406030204" pitchFamily="18" charset="0"/>
                          </a:rPr>
                          <m:t>v</m:t>
                        </m:r>
                      </m:e>
                      <m:sub>
                        <m:r>
                          <a:rPr lang="en-US" dirty="0">
                            <a:latin typeface="Cambria Math" panose="02040503050406030204" pitchFamily="18" charset="0"/>
                          </a:rPr>
                          <m:t>1</m:t>
                        </m:r>
                      </m:sub>
                    </m:sSub>
                    <m:r>
                      <a:rPr lang="en-US" b="0" i="0" dirty="0" smtClean="0">
                        <a:latin typeface="Cambria Math" panose="02040503050406030204" pitchFamily="18" charset="0"/>
                      </a:rPr>
                      <m:t> </m:t>
                    </m:r>
                  </m:oMath>
                </a14:m>
                <a:r>
                  <a:rPr lang="en-US" dirty="0"/>
                  <a:t>is </a:t>
                </a:r>
                <a:r>
                  <a:rPr lang="en-US" b="1" dirty="0"/>
                  <a:t>not</a:t>
                </a:r>
                <a:r>
                  <a:rPr lang="en-US" dirty="0"/>
                  <a:t> a pendant vertex.</a:t>
                </a:r>
              </a:p>
              <a:p>
                <a:r>
                  <a:rPr lang="en-US" dirty="0"/>
                  <a:t>Then it has degree ≥ 2.</a:t>
                </a:r>
              </a:p>
              <a:p>
                <a:r>
                  <a:rPr lang="en-US" dirty="0"/>
                  <a:t>So, there exists another vertex connected to</a:t>
                </a:r>
                <a14:m>
                  <m:oMath xmlns:m="http://schemas.openxmlformats.org/officeDocument/2006/math">
                    <m:r>
                      <a:rPr lang="en-US" i="0" dirty="0" smtClean="0">
                        <a:latin typeface="Cambria Math" panose="02040503050406030204" pitchFamily="18" charset="0"/>
                      </a:rPr>
                      <m:t> </m:t>
                    </m:r>
                    <m:sSub>
                      <m:sSubPr>
                        <m:ctrlPr>
                          <a:rPr lang="en-US" i="1" dirty="0" smtClean="0">
                            <a:latin typeface="Cambria Math" panose="02040503050406030204" pitchFamily="18" charset="0"/>
                          </a:rPr>
                        </m:ctrlPr>
                      </m:sSubPr>
                      <m:e>
                        <m:r>
                          <m:rPr>
                            <m:sty m:val="p"/>
                          </m:rPr>
                          <a:rPr lang="en-US" i="0" dirty="0" smtClean="0">
                            <a:latin typeface="Cambria Math" panose="02040503050406030204" pitchFamily="18" charset="0"/>
                          </a:rPr>
                          <m:t>v</m:t>
                        </m:r>
                      </m:e>
                      <m:sub>
                        <m:r>
                          <a:rPr lang="en-US" i="0" dirty="0" smtClean="0">
                            <a:latin typeface="Cambria Math" panose="02040503050406030204" pitchFamily="18" charset="0"/>
                          </a:rPr>
                          <m:t>1</m:t>
                        </m:r>
                      </m:sub>
                    </m:sSub>
                  </m:oMath>
                </a14:m>
                <a:r>
                  <a:rPr lang="en-US" dirty="0"/>
                  <a:t>​outside the path.</a:t>
                </a:r>
              </a:p>
              <a:p>
                <a:r>
                  <a:rPr lang="en-US" dirty="0"/>
                  <a:t>This would create a </a:t>
                </a:r>
                <a:r>
                  <a:rPr lang="en-US" b="1" dirty="0"/>
                  <a:t>longer path</a:t>
                </a:r>
                <a:r>
                  <a:rPr lang="en-US" dirty="0"/>
                  <a:t>, which contradicts the assumption that the path is longest.</a:t>
                </a:r>
              </a:p>
              <a:p>
                <a:r>
                  <a:rPr lang="en-US" dirty="0"/>
                  <a:t>Therefore,</a:t>
                </a:r>
                <a14:m>
                  <m:oMath xmlns:m="http://schemas.openxmlformats.org/officeDocument/2006/math">
                    <m:r>
                      <a:rPr lang="en-US" i="0" dirty="0" smtClean="0">
                        <a:latin typeface="Cambria Math" panose="02040503050406030204" pitchFamily="18" charset="0"/>
                      </a:rPr>
                      <m:t> </m:t>
                    </m:r>
                    <m:r>
                      <a:rPr lang="en-US" b="0" i="0" dirty="0" smtClean="0">
                        <a:latin typeface="Cambria Math" panose="02040503050406030204" pitchFamily="18" charset="0"/>
                      </a:rPr>
                      <m:t> </m:t>
                    </m:r>
                    <m:sSub>
                      <m:sSubPr>
                        <m:ctrlPr>
                          <a:rPr lang="en-US" b="0" i="1" dirty="0" smtClean="0">
                            <a:latin typeface="Cambria Math" panose="02040503050406030204" pitchFamily="18" charset="0"/>
                          </a:rPr>
                        </m:ctrlPr>
                      </m:sSubPr>
                      <m:e>
                        <m:r>
                          <m:rPr>
                            <m:sty m:val="p"/>
                          </m:rPr>
                          <a:rPr lang="en-US" i="0" dirty="0" smtClean="0">
                            <a:latin typeface="Cambria Math" panose="02040503050406030204" pitchFamily="18" charset="0"/>
                          </a:rPr>
                          <m:t>v</m:t>
                        </m:r>
                      </m:e>
                      <m:sub>
                        <m:r>
                          <a:rPr lang="en-US" i="0" dirty="0" smtClean="0">
                            <a:latin typeface="Cambria Math" panose="02040503050406030204" pitchFamily="18" charset="0"/>
                          </a:rPr>
                          <m:t>1</m:t>
                        </m:r>
                      </m:sub>
                    </m:sSub>
                  </m:oMath>
                </a14:m>
                <a:r>
                  <a:rPr lang="en-US" dirty="0"/>
                  <a:t>must be a pendant vertex and similarly,</a:t>
                </a:r>
                <a14:m>
                  <m:oMath xmlns:m="http://schemas.openxmlformats.org/officeDocument/2006/math">
                    <m:r>
                      <a:rPr lang="en-US" i="1" dirty="0" smtClean="0">
                        <a:latin typeface="Cambria Math" panose="02040503050406030204" pitchFamily="18" charset="0"/>
                      </a:rPr>
                      <m:t> </m:t>
                    </m:r>
                    <m:sSub>
                      <m:sSubPr>
                        <m:ctrlPr>
                          <a:rPr lang="en-US" i="1" dirty="0" err="1" smtClean="0">
                            <a:latin typeface="Cambria Math" panose="02040503050406030204" pitchFamily="18" charset="0"/>
                          </a:rPr>
                        </m:ctrlPr>
                      </m:sSubPr>
                      <m:e>
                        <m:r>
                          <a:rPr lang="en-US" b="0" i="0" dirty="0" smtClean="0">
                            <a:latin typeface="Cambria Math" panose="02040503050406030204" pitchFamily="18" charset="0"/>
                          </a:rPr>
                          <m:t> </m:t>
                        </m:r>
                        <m:r>
                          <m:rPr>
                            <m:sty m:val="p"/>
                          </m:rPr>
                          <a:rPr lang="en-US" i="0" dirty="0" err="1" smtClean="0">
                            <a:latin typeface="Cambria Math" panose="02040503050406030204" pitchFamily="18" charset="0"/>
                          </a:rPr>
                          <m:t>v</m:t>
                        </m:r>
                      </m:e>
                      <m:sub>
                        <m:r>
                          <m:rPr>
                            <m:sty m:val="p"/>
                          </m:rPr>
                          <a:rPr lang="en-US" i="0" dirty="0" err="1" smtClean="0">
                            <a:latin typeface="Cambria Math" panose="02040503050406030204" pitchFamily="18" charset="0"/>
                          </a:rPr>
                          <m:t>k</m:t>
                        </m:r>
                      </m:sub>
                    </m:sSub>
                  </m:oMath>
                </a14:m>
                <a:r>
                  <a:rPr lang="en-US" dirty="0"/>
                  <a:t> is also a pendant vertex.</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3884" y="863444"/>
                <a:ext cx="11756020" cy="5590565"/>
              </a:xfrm>
              <a:blipFill rotWithShape="0">
                <a:blip r:embed="rId3"/>
                <a:stretch>
                  <a:fillRect l="-933" t="-1963" r="-1037"/>
                </a:stretch>
              </a:blipFill>
            </p:spPr>
            <p:txBody>
              <a:bodyPr/>
              <a:lstStyle/>
              <a:p>
                <a:r>
                  <a:rPr lang="en-US">
                    <a:noFill/>
                  </a:rPr>
                  <a:t> </a:t>
                </a:r>
              </a:p>
            </p:txBody>
          </p:sp>
        </mc:Fallback>
      </mc:AlternateContent>
    </p:spTree>
    <p:extLst>
      <p:ext uri="{BB962C8B-B14F-4D97-AF65-F5344CB8AC3E}">
        <p14:creationId xmlns:p14="http://schemas.microsoft.com/office/powerpoint/2010/main" val="2498206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pPr algn="just">
              <a:spcBef>
                <a:spcPts val="1000"/>
              </a:spcBef>
              <a:buClr>
                <a:srgbClr val="B84742"/>
              </a:buClr>
            </a:pPr>
            <a:r>
              <a:rPr lang="en-US" dirty="0"/>
              <a:t>Centers of Tree</a:t>
            </a:r>
          </a:p>
        </p:txBody>
      </p:sp>
      <p:pic>
        <p:nvPicPr>
          <p:cNvPr id="3" name="Picture 2"/>
          <p:cNvPicPr>
            <a:picLocks noChangeAspect="1"/>
          </p:cNvPicPr>
          <p:nvPr/>
        </p:nvPicPr>
        <p:blipFill>
          <a:blip r:embed="rId2"/>
          <a:stretch>
            <a:fillRect/>
          </a:stretch>
        </p:blipFill>
        <p:spPr>
          <a:xfrm>
            <a:off x="9986045" y="1210322"/>
            <a:ext cx="1814645" cy="1821572"/>
          </a:xfrm>
          <a:prstGeom prst="rect">
            <a:avLst/>
          </a:prstGeom>
        </p:spPr>
      </p:pic>
      <p:sp>
        <p:nvSpPr>
          <p:cNvPr id="4" name="Content Placeholder 3"/>
          <p:cNvSpPr>
            <a:spLocks noGrp="1"/>
          </p:cNvSpPr>
          <p:nvPr>
            <p:ph idx="1"/>
          </p:nvPr>
        </p:nvSpPr>
        <p:spPr>
          <a:xfrm>
            <a:off x="131180" y="863444"/>
            <a:ext cx="8835399" cy="5590565"/>
          </a:xfrm>
        </p:spPr>
        <p:txBody>
          <a:bodyPr/>
          <a:lstStyle/>
          <a:p>
            <a:pPr>
              <a:buClr>
                <a:srgbClr val="B84742"/>
              </a:buClr>
            </a:pPr>
            <a:r>
              <a:rPr lang="en-US" dirty="0"/>
              <a:t>Here we have tree with four vertices. </a:t>
            </a:r>
          </a:p>
          <a:p>
            <a:pPr>
              <a:buClr>
                <a:srgbClr val="B84742"/>
              </a:buClr>
            </a:pPr>
            <a:r>
              <a:rPr lang="en-US" dirty="0"/>
              <a:t>If you look at it, vertex </a:t>
            </a:r>
            <a:r>
              <a:rPr lang="en-US" b="1" dirty="0"/>
              <a:t>b </a:t>
            </a:r>
            <a:r>
              <a:rPr lang="en-US" dirty="0"/>
              <a:t>appears to be more </a:t>
            </a:r>
            <a:r>
              <a:rPr lang="en-US" b="1" dirty="0"/>
              <a:t>“central”</a:t>
            </a:r>
            <a:r>
              <a:rPr lang="en-US" dirty="0"/>
              <a:t> than the other three vertices.</a:t>
            </a:r>
          </a:p>
          <a:p>
            <a:pPr>
              <a:buClr>
                <a:srgbClr val="B84742"/>
              </a:buClr>
            </a:pPr>
            <a:r>
              <a:rPr lang="en-US" dirty="0"/>
              <a:t>Is the center of a tree always unique? </a:t>
            </a:r>
          </a:p>
          <a:p>
            <a:pPr>
              <a:buClr>
                <a:srgbClr val="B84742"/>
              </a:buClr>
            </a:pPr>
            <a:r>
              <a:rPr lang="en-US" dirty="0"/>
              <a:t>Can a tree have more than one center? </a:t>
            </a:r>
          </a:p>
          <a:p>
            <a:pPr>
              <a:buClr>
                <a:srgbClr val="B84742"/>
              </a:buClr>
            </a:pPr>
            <a:r>
              <a:rPr lang="en-US" dirty="0"/>
              <a:t>What happens in: A path with odd length? A path with even length?</a:t>
            </a:r>
          </a:p>
          <a:p>
            <a:pPr>
              <a:buClr>
                <a:srgbClr val="B84742"/>
              </a:buClr>
            </a:pPr>
            <a:r>
              <a:rPr lang="en-US" dirty="0"/>
              <a:t>The center of a tree can be found using two methods:</a:t>
            </a:r>
          </a:p>
          <a:p>
            <a:pPr lvl="1">
              <a:lnSpc>
                <a:spcPct val="150000"/>
              </a:lnSpc>
              <a:buClr>
                <a:srgbClr val="B84742"/>
              </a:buClr>
            </a:pPr>
            <a:r>
              <a:rPr lang="en-US" dirty="0"/>
              <a:t>Distance Method (theoretical &amp; formula-based)</a:t>
            </a:r>
          </a:p>
          <a:p>
            <a:pPr lvl="1">
              <a:lnSpc>
                <a:spcPct val="150000"/>
              </a:lnSpc>
              <a:buClr>
                <a:srgbClr val="B84742"/>
              </a:buClr>
            </a:pPr>
            <a:r>
              <a:rPr lang="en-US" dirty="0"/>
              <a:t>Leaf Pruning Method (intuitive &amp; visual)</a:t>
            </a:r>
          </a:p>
          <a:p>
            <a:pPr lvl="1">
              <a:lnSpc>
                <a:spcPct val="150000"/>
              </a:lnSpc>
              <a:buClr>
                <a:srgbClr val="B84742"/>
              </a:buClr>
            </a:pPr>
            <a:endParaRPr lang="en-US" dirty="0"/>
          </a:p>
          <a:p>
            <a:endParaRPr lang="en-US" dirty="0"/>
          </a:p>
        </p:txBody>
      </p:sp>
    </p:spTree>
    <p:extLst>
      <p:ext uri="{BB962C8B-B14F-4D97-AF65-F5344CB8AC3E}">
        <p14:creationId xmlns:p14="http://schemas.microsoft.com/office/powerpoint/2010/main" val="4158045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xEl>
                                              <p:pRg st="6" end="6"/>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pPr algn="just">
              <a:spcBef>
                <a:spcPts val="1000"/>
              </a:spcBef>
              <a:buClr>
                <a:srgbClr val="B84742"/>
              </a:buClr>
            </a:pPr>
            <a:r>
              <a:rPr lang="en-US" dirty="0"/>
              <a:t>Distance And Centers in Tree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buClr>
                    <a:srgbClr val="B84742"/>
                  </a:buClr>
                </a:pPr>
                <a:r>
                  <a:rPr lang="en-IN" b="1" dirty="0"/>
                  <a:t>Definition: </a:t>
                </a:r>
                <a:r>
                  <a:rPr lang="en-US" dirty="0"/>
                  <a:t>In a connected graph</a:t>
                </a:r>
                <a14:m>
                  <m:oMath xmlns:m="http://schemas.openxmlformats.org/officeDocument/2006/math">
                    <m:r>
                      <a:rPr lang="en-US" dirty="0">
                        <a:latin typeface="Cambria Math" panose="02040503050406030204" pitchFamily="18" charset="0"/>
                      </a:rPr>
                      <m:t> </m:t>
                    </m:r>
                    <m:r>
                      <m:rPr>
                        <m:sty m:val="p"/>
                      </m:rPr>
                      <a:rPr lang="en-US" dirty="0">
                        <a:latin typeface="Cambria Math" panose="02040503050406030204" pitchFamily="18" charset="0"/>
                      </a:rPr>
                      <m:t>G</m:t>
                    </m:r>
                  </m:oMath>
                </a14:m>
                <a:r>
                  <a:rPr lang="en-US" dirty="0"/>
                  <a:t>, </a:t>
                </a:r>
                <a:r>
                  <a:rPr lang="en-US" b="1" dirty="0">
                    <a:solidFill>
                      <a:srgbClr val="FF0000"/>
                    </a:solidFill>
                  </a:rPr>
                  <a:t>the distance</a:t>
                </a:r>
                <a14:m>
                  <m:oMath xmlns:m="http://schemas.openxmlformats.org/officeDocument/2006/math">
                    <m:r>
                      <a:rPr lang="en-US" b="1">
                        <a:solidFill>
                          <a:srgbClr val="FF0000"/>
                        </a:solidFill>
                        <a:latin typeface="Cambria Math" panose="02040503050406030204" pitchFamily="18" charset="0"/>
                      </a:rPr>
                      <m:t> </m:t>
                    </m:r>
                  </m:oMath>
                </a14:m>
                <a:r>
                  <a:rPr lang="en-US" dirty="0"/>
                  <a:t>between two of its vertices </a:t>
                </a:r>
                <a14:m>
                  <m:oMath xmlns:m="http://schemas.openxmlformats.org/officeDocument/2006/math">
                    <m:sSub>
                      <m:sSubPr>
                        <m:ctrlPr>
                          <a:rPr lang="en-US" i="1">
                            <a:latin typeface="Cambria Math" panose="02040503050406030204" pitchFamily="18" charset="0"/>
                          </a:rPr>
                        </m:ctrlPr>
                      </m:sSubPr>
                      <m:e>
                        <m:r>
                          <m:rPr>
                            <m:sty m:val="p"/>
                          </m:rPr>
                          <a:rPr lang="en-US">
                            <a:latin typeface="Cambria Math" panose="02040503050406030204" pitchFamily="18" charset="0"/>
                          </a:rPr>
                          <m:t>v</m:t>
                        </m:r>
                      </m:e>
                      <m:sub>
                        <m:r>
                          <m:rPr>
                            <m:sty m:val="p"/>
                          </m:rPr>
                          <a:rPr lang="en-US">
                            <a:latin typeface="Cambria Math" panose="02040503050406030204" pitchFamily="18" charset="0"/>
                          </a:rPr>
                          <m:t>i</m:t>
                        </m:r>
                      </m:sub>
                    </m:sSub>
                  </m:oMath>
                </a14:m>
                <a:r>
                  <a:rPr lang="en-US" dirty="0"/>
                  <a:t> and</a:t>
                </a:r>
                <a14:m>
                  <m:oMath xmlns:m="http://schemas.openxmlformats.org/officeDocument/2006/math">
                    <m:r>
                      <a:rPr lang="en-US">
                        <a:latin typeface="Cambria Math" panose="02040503050406030204" pitchFamily="18" charset="0"/>
                      </a:rPr>
                      <m:t> </m:t>
                    </m:r>
                    <m:sSub>
                      <m:sSubPr>
                        <m:ctrlPr>
                          <a:rPr lang="en-US" i="1">
                            <a:latin typeface="Cambria Math" panose="02040503050406030204" pitchFamily="18" charset="0"/>
                          </a:rPr>
                        </m:ctrlPr>
                      </m:sSubPr>
                      <m:e>
                        <m:r>
                          <m:rPr>
                            <m:sty m:val="p"/>
                          </m:rPr>
                          <a:rPr lang="en-US">
                            <a:latin typeface="Cambria Math" panose="02040503050406030204" pitchFamily="18" charset="0"/>
                          </a:rPr>
                          <m:t>v</m:t>
                        </m:r>
                      </m:e>
                      <m:sub>
                        <m:r>
                          <m:rPr>
                            <m:sty m:val="p"/>
                          </m:rPr>
                          <a:rPr lang="en-US">
                            <a:latin typeface="Cambria Math" panose="02040503050406030204" pitchFamily="18" charset="0"/>
                          </a:rPr>
                          <m:t>j</m:t>
                        </m:r>
                      </m:sub>
                    </m:sSub>
                  </m:oMath>
                </a14:m>
                <a:r>
                  <a:rPr lang="en-US" dirty="0"/>
                  <a:t> (</a:t>
                </a:r>
                <a14:m>
                  <m:oMath xmlns:m="http://schemas.openxmlformats.org/officeDocument/2006/math">
                    <m:r>
                      <a:rPr lang="en-US" b="1">
                        <a:solidFill>
                          <a:srgbClr val="FF0000"/>
                        </a:solidFill>
                        <a:latin typeface="Cambria Math" panose="02040503050406030204" pitchFamily="18" charset="0"/>
                      </a:rPr>
                      <m:t>𝐝</m:t>
                    </m:r>
                    <m:d>
                      <m:dPr>
                        <m:ctrlPr>
                          <a:rPr lang="en-US" b="1" i="1">
                            <a:solidFill>
                              <a:srgbClr val="FF0000"/>
                            </a:solidFill>
                            <a:latin typeface="Cambria Math" panose="02040503050406030204" pitchFamily="18" charset="0"/>
                          </a:rPr>
                        </m:ctrlPr>
                      </m:dPr>
                      <m:e>
                        <m:sSub>
                          <m:sSubPr>
                            <m:ctrlPr>
                              <a:rPr lang="en-US" b="1" i="1">
                                <a:solidFill>
                                  <a:srgbClr val="FF0000"/>
                                </a:solidFill>
                                <a:latin typeface="Cambria Math" panose="02040503050406030204" pitchFamily="18" charset="0"/>
                              </a:rPr>
                            </m:ctrlPr>
                          </m:sSubPr>
                          <m:e>
                            <m:r>
                              <a:rPr lang="en-US" b="1">
                                <a:solidFill>
                                  <a:srgbClr val="FF0000"/>
                                </a:solidFill>
                                <a:latin typeface="Cambria Math" panose="02040503050406030204" pitchFamily="18" charset="0"/>
                              </a:rPr>
                              <m:t>𝐯</m:t>
                            </m:r>
                          </m:e>
                          <m:sub>
                            <m:r>
                              <a:rPr lang="en-US" b="1">
                                <a:solidFill>
                                  <a:srgbClr val="FF0000"/>
                                </a:solidFill>
                                <a:latin typeface="Cambria Math" panose="02040503050406030204" pitchFamily="18" charset="0"/>
                              </a:rPr>
                              <m:t>𝐢</m:t>
                            </m:r>
                          </m:sub>
                        </m:sSub>
                        <m:r>
                          <a:rPr lang="en-US" b="1">
                            <a:solidFill>
                              <a:srgbClr val="FF0000"/>
                            </a:solidFill>
                            <a:latin typeface="Cambria Math" panose="02040503050406030204" pitchFamily="18" charset="0"/>
                          </a:rPr>
                          <m:t>, </m:t>
                        </m:r>
                        <m:sSub>
                          <m:sSubPr>
                            <m:ctrlPr>
                              <a:rPr lang="en-US" b="1" i="1">
                                <a:solidFill>
                                  <a:srgbClr val="FF0000"/>
                                </a:solidFill>
                                <a:latin typeface="Cambria Math" panose="02040503050406030204" pitchFamily="18" charset="0"/>
                              </a:rPr>
                            </m:ctrlPr>
                          </m:sSubPr>
                          <m:e>
                            <m:r>
                              <a:rPr lang="en-US" b="1">
                                <a:solidFill>
                                  <a:srgbClr val="FF0000"/>
                                </a:solidFill>
                                <a:latin typeface="Cambria Math" panose="02040503050406030204" pitchFamily="18" charset="0"/>
                              </a:rPr>
                              <m:t>𝐯</m:t>
                            </m:r>
                          </m:e>
                          <m:sub>
                            <m:r>
                              <a:rPr lang="en-US" b="1">
                                <a:solidFill>
                                  <a:srgbClr val="FF0000"/>
                                </a:solidFill>
                                <a:latin typeface="Cambria Math" panose="02040503050406030204" pitchFamily="18" charset="0"/>
                              </a:rPr>
                              <m:t>𝐣</m:t>
                            </m:r>
                          </m:sub>
                        </m:sSub>
                      </m:e>
                    </m:d>
                  </m:oMath>
                </a14:m>
                <a:r>
                  <a:rPr lang="en-US" dirty="0"/>
                  <a:t>), is </a:t>
                </a:r>
                <a:r>
                  <a:rPr lang="en-US" b="1" dirty="0"/>
                  <a:t>the length of the shortest path.</a:t>
                </a:r>
                <a:endParaRPr lang="en-US" dirty="0"/>
              </a:p>
              <a:p>
                <a:pPr>
                  <a:buClr>
                    <a:srgbClr val="B84742"/>
                  </a:buClr>
                </a:pPr>
                <a:r>
                  <a:rPr lang="en-US" dirty="0"/>
                  <a:t>The definition of distance between any two vertices is valid for any connected graph (</a:t>
                </a:r>
                <a:r>
                  <a:rPr lang="en-US" b="1" dirty="0"/>
                  <a:t>not necessarily a tree</a:t>
                </a:r>
                <a:r>
                  <a:rPr lang="en-US" dirty="0"/>
                  <a:t>). </a:t>
                </a:r>
              </a:p>
              <a:p>
                <a:pPr>
                  <a:buClr>
                    <a:srgbClr val="B84742"/>
                  </a:buClr>
                </a:pPr>
                <a:r>
                  <a:rPr lang="en-US" dirty="0"/>
                  <a:t>In a graph that is not a tree, there are generally several paths between a pair of vertices.</a:t>
                </a:r>
              </a:p>
              <a:p>
                <a:pPr>
                  <a:buClr>
                    <a:srgbClr val="B84742"/>
                  </a:buClr>
                </a:pPr>
                <a:r>
                  <a:rPr lang="en-US" dirty="0"/>
                  <a:t>We have to enumerate all these paths and find the length of the shortest one. (There may be several shortest paths.)</a:t>
                </a:r>
              </a:p>
              <a:p>
                <a:pPr>
                  <a:buClr>
                    <a:srgbClr val="B84742"/>
                  </a:buClr>
                </a:pPr>
                <a:r>
                  <a:rPr lang="en-US" b="1" dirty="0">
                    <a:solidFill>
                      <a:srgbClr val="FF0000"/>
                    </a:solidFill>
                  </a:rPr>
                  <a:t>In a tree, since there is exactly one path between any two vertices, the determination of distance is much easier.</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71" t="-1963" r="-1074"/>
                </a:stretch>
              </a:blipFill>
            </p:spPr>
            <p:txBody>
              <a:bodyPr/>
              <a:lstStyle/>
              <a:p>
                <a:r>
                  <a:rPr lang="en-US">
                    <a:noFill/>
                  </a:rPr>
                  <a:t> </a:t>
                </a:r>
              </a:p>
            </p:txBody>
          </p:sp>
        </mc:Fallback>
      </mc:AlternateContent>
    </p:spTree>
    <p:extLst>
      <p:ext uri="{BB962C8B-B14F-4D97-AF65-F5344CB8AC3E}">
        <p14:creationId xmlns:p14="http://schemas.microsoft.com/office/powerpoint/2010/main" val="1985981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pPr algn="just">
              <a:spcBef>
                <a:spcPts val="1000"/>
              </a:spcBef>
              <a:buClr>
                <a:srgbClr val="B84742"/>
              </a:buClr>
            </a:pPr>
            <a:r>
              <a:rPr lang="en-GB" dirty="0"/>
              <a:t>Example : </a:t>
            </a:r>
            <a:r>
              <a:rPr lang="en-US" dirty="0"/>
              <a:t>Distance in a tree</a:t>
            </a:r>
          </a:p>
        </p:txBody>
      </p:sp>
      <mc:AlternateContent xmlns:mc="http://schemas.openxmlformats.org/markup-compatibility/2006" xmlns:a14="http://schemas.microsoft.com/office/drawing/2010/main">
        <mc:Choice Requires="a14">
          <p:sp>
            <p:nvSpPr>
              <p:cNvPr id="5" name="Rectangle 4"/>
              <p:cNvSpPr/>
              <p:nvPr/>
            </p:nvSpPr>
            <p:spPr>
              <a:xfrm>
                <a:off x="16409" y="729966"/>
                <a:ext cx="12175591" cy="2759730"/>
              </a:xfrm>
              <a:prstGeom prst="rect">
                <a:avLst/>
              </a:prstGeom>
            </p:spPr>
            <p:txBody>
              <a:bodyPr wrap="square">
                <a:spAutoFit/>
              </a:bodyPr>
              <a:lstStyle/>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In a given tree determine the distance between every vertex to</a:t>
                </a:r>
                <a14:m>
                  <m:oMath xmlns:m="http://schemas.openxmlformats.org/officeDocument/2006/math">
                    <m:r>
                      <a:rPr lang="en-US" sz="2800" dirty="0">
                        <a:solidFill>
                          <a:srgbClr val="002060"/>
                        </a:solidFill>
                        <a:latin typeface="Cambria Math" panose="02040503050406030204" pitchFamily="18" charset="0"/>
                      </a:rPr>
                      <m:t> </m:t>
                    </m:r>
                    <m:r>
                      <m:rPr>
                        <m:sty m:val="p"/>
                      </m:rPr>
                      <a:rPr lang="en-US" sz="2800" dirty="0">
                        <a:solidFill>
                          <a:srgbClr val="002060"/>
                        </a:solidFill>
                        <a:latin typeface="Cambria Math" panose="02040503050406030204" pitchFamily="18" charset="0"/>
                      </a:rPr>
                      <m:t>a</m:t>
                    </m:r>
                    <m:r>
                      <a:rPr lang="en-US" sz="2800" dirty="0">
                        <a:solidFill>
                          <a:srgbClr val="002060"/>
                        </a:solidFill>
                        <a:latin typeface="Cambria Math" panose="02040503050406030204" pitchFamily="18" charset="0"/>
                      </a:rPr>
                      <m:t>.</m:t>
                    </m:r>
                  </m:oMath>
                </a14:m>
                <a:endParaRPr lang="en-US" sz="2800" dirty="0">
                  <a:solidFill>
                    <a:srgbClr val="002060"/>
                  </a:solidFill>
                </a:endParaRPr>
              </a:p>
              <a:p>
                <a:pPr marL="265113" indent="-265113" algn="just">
                  <a:spcBef>
                    <a:spcPts val="1000"/>
                  </a:spcBef>
                  <a:buClr>
                    <a:srgbClr val="B84742"/>
                  </a:buClr>
                  <a:buFont typeface="Wingdings 3" panose="05040102010807070707" pitchFamily="18" charset="2"/>
                  <a:buChar char=""/>
                </a:pPr>
                <a:endParaRPr lang="en-US" sz="2800" dirty="0">
                  <a:solidFill>
                    <a:srgbClr val="002060"/>
                  </a:solidFill>
                </a:endParaRPr>
              </a:p>
              <a:p>
                <a:pPr marL="265113" indent="-265113" algn="just">
                  <a:spcBef>
                    <a:spcPts val="1000"/>
                  </a:spcBef>
                  <a:buClr>
                    <a:srgbClr val="B84742"/>
                  </a:buClr>
                  <a:buFont typeface="Wingdings 3" panose="05040102010807070707" pitchFamily="18" charset="2"/>
                  <a:buChar char=""/>
                </a:pPr>
                <a:endParaRPr lang="en-US" sz="2800" dirty="0">
                  <a:solidFill>
                    <a:srgbClr val="002060"/>
                  </a:solidFill>
                </a:endParaRPr>
              </a:p>
              <a:p>
                <a:pPr marL="265113" indent="-265113" algn="just">
                  <a:spcBef>
                    <a:spcPts val="1000"/>
                  </a:spcBef>
                  <a:buClr>
                    <a:srgbClr val="B84742"/>
                  </a:buClr>
                  <a:buFont typeface="Wingdings 3" panose="05040102010807070707" pitchFamily="18" charset="2"/>
                  <a:buChar char=""/>
                </a:pPr>
                <a:endParaRPr lang="en-US" sz="2800" dirty="0">
                  <a:solidFill>
                    <a:srgbClr val="002060"/>
                  </a:solidFill>
                </a:endParaRPr>
              </a:p>
              <a:p>
                <a:pPr marL="265113" indent="-265113" algn="just">
                  <a:spcBef>
                    <a:spcPts val="1000"/>
                  </a:spcBef>
                  <a:buClr>
                    <a:srgbClr val="B84742"/>
                  </a:buClr>
                  <a:buFont typeface="Wingdings 3" panose="05040102010807070707" pitchFamily="18" charset="2"/>
                  <a:buChar char=""/>
                </a:pPr>
                <a:endParaRPr lang="en-US" sz="2800" dirty="0">
                  <a:solidFill>
                    <a:srgbClr val="002060"/>
                  </a:solidFill>
                </a:endParaRPr>
              </a:p>
            </p:txBody>
          </p:sp>
        </mc:Choice>
        <mc:Fallback xmlns="">
          <p:sp>
            <p:nvSpPr>
              <p:cNvPr id="5" name="Rectangle 4"/>
              <p:cNvSpPr>
                <a:spLocks noRot="1" noChangeAspect="1" noMove="1" noResize="1" noEditPoints="1" noAdjustHandles="1" noChangeArrowheads="1" noChangeShapeType="1" noTextEdit="1"/>
              </p:cNvSpPr>
              <p:nvPr/>
            </p:nvSpPr>
            <p:spPr>
              <a:xfrm>
                <a:off x="16409" y="729966"/>
                <a:ext cx="12175591" cy="2759730"/>
              </a:xfrm>
              <a:prstGeom prst="rect">
                <a:avLst/>
              </a:prstGeom>
              <a:blipFill rotWithShape="0">
                <a:blip r:embed="rId3"/>
                <a:stretch>
                  <a:fillRect l="-951" t="-243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2"/>
              <p:cNvSpPr/>
              <p:nvPr/>
            </p:nvSpPr>
            <p:spPr>
              <a:xfrm>
                <a:off x="247650" y="4070423"/>
                <a:ext cx="1895061" cy="1641475"/>
              </a:xfrm>
              <a:prstGeom prst="rect">
                <a:avLst/>
              </a:prstGeom>
            </p:spPr>
            <p:txBody>
              <a:bodyPr wrap="square">
                <a:spAutoFit/>
              </a:bodyPr>
              <a:lstStyle/>
              <a:p>
                <a:pPr marL="265113" indent="-265113" algn="just">
                  <a:spcBef>
                    <a:spcPts val="1000"/>
                  </a:spcBef>
                  <a:buClr>
                    <a:srgbClr val="B84742"/>
                  </a:buClr>
                  <a:buFont typeface="Wingdings 3" panose="05040102010807070707" pitchFamily="18" charset="2"/>
                  <a:buChar char=""/>
                </a:pPr>
                <a14:m>
                  <m:oMath xmlns:m="http://schemas.openxmlformats.org/officeDocument/2006/math">
                    <m:r>
                      <m:rPr>
                        <m:sty m:val="p"/>
                      </m:rPr>
                      <a:rPr lang="en-US" sz="2800">
                        <a:solidFill>
                          <a:srgbClr val="002060"/>
                        </a:solidFill>
                        <a:latin typeface="Cambria Math" panose="02040503050406030204" pitchFamily="18" charset="0"/>
                      </a:rPr>
                      <m:t>d</m:t>
                    </m:r>
                    <m:d>
                      <m:dPr>
                        <m:ctrlPr>
                          <a:rPr lang="en-US"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a</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b</m:t>
                        </m:r>
                      </m:e>
                    </m:d>
                    <m:r>
                      <a:rPr lang="en-US" sz="2800">
                        <a:solidFill>
                          <a:srgbClr val="002060"/>
                        </a:solidFill>
                        <a:latin typeface="Cambria Math" panose="02040503050406030204" pitchFamily="18" charset="0"/>
                      </a:rPr>
                      <m:t>=</m:t>
                    </m:r>
                  </m:oMath>
                </a14:m>
                <a:endParaRPr lang="en-US" sz="2800" dirty="0">
                  <a:solidFill>
                    <a:srgbClr val="002060"/>
                  </a:solidFill>
                </a:endParaRPr>
              </a:p>
              <a:p>
                <a:pPr marL="265113" indent="-265113" algn="just">
                  <a:spcBef>
                    <a:spcPts val="1000"/>
                  </a:spcBef>
                  <a:buClr>
                    <a:srgbClr val="B84742"/>
                  </a:buClr>
                  <a:buFont typeface="Wingdings 3" panose="05040102010807070707" pitchFamily="18" charset="2"/>
                  <a:buChar char=""/>
                </a:pPr>
                <a14:m>
                  <m:oMath xmlns:m="http://schemas.openxmlformats.org/officeDocument/2006/math">
                    <m:r>
                      <m:rPr>
                        <m:sty m:val="p"/>
                      </m:rPr>
                      <a:rPr lang="en-US" sz="2800">
                        <a:solidFill>
                          <a:srgbClr val="002060"/>
                        </a:solidFill>
                        <a:latin typeface="Cambria Math" panose="02040503050406030204" pitchFamily="18" charset="0"/>
                      </a:rPr>
                      <m:t>d</m:t>
                    </m:r>
                    <m:d>
                      <m:dPr>
                        <m:ctrlPr>
                          <a:rPr lang="en-US"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a</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c</m:t>
                        </m:r>
                      </m:e>
                    </m:d>
                    <m:r>
                      <a:rPr lang="en-US" sz="2800">
                        <a:solidFill>
                          <a:srgbClr val="002060"/>
                        </a:solidFill>
                        <a:latin typeface="Cambria Math" panose="02040503050406030204" pitchFamily="18" charset="0"/>
                      </a:rPr>
                      <m:t>=</m:t>
                    </m:r>
                  </m:oMath>
                </a14:m>
                <a:endParaRPr lang="en-US" sz="2800" dirty="0">
                  <a:solidFill>
                    <a:srgbClr val="002060"/>
                  </a:solidFill>
                </a:endParaRPr>
              </a:p>
              <a:p>
                <a:pPr marL="265113" indent="-265113" algn="just">
                  <a:spcBef>
                    <a:spcPts val="1000"/>
                  </a:spcBef>
                  <a:buClr>
                    <a:srgbClr val="B84742"/>
                  </a:buClr>
                  <a:buFont typeface="Wingdings 3" panose="05040102010807070707" pitchFamily="18" charset="2"/>
                  <a:buChar char=""/>
                </a:pPr>
                <a14:m>
                  <m:oMath xmlns:m="http://schemas.openxmlformats.org/officeDocument/2006/math">
                    <m:r>
                      <m:rPr>
                        <m:sty m:val="p"/>
                      </m:rPr>
                      <a:rPr lang="en-US" sz="2800">
                        <a:solidFill>
                          <a:srgbClr val="002060"/>
                        </a:solidFill>
                        <a:latin typeface="Cambria Math" panose="02040503050406030204" pitchFamily="18" charset="0"/>
                      </a:rPr>
                      <m:t>d</m:t>
                    </m:r>
                    <m:d>
                      <m:dPr>
                        <m:ctrlPr>
                          <a:rPr lang="en-US"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a</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d</m:t>
                        </m:r>
                      </m:e>
                    </m:d>
                    <m:r>
                      <a:rPr lang="en-US" sz="2800">
                        <a:solidFill>
                          <a:srgbClr val="002060"/>
                        </a:solidFill>
                        <a:latin typeface="Cambria Math" panose="02040503050406030204" pitchFamily="18" charset="0"/>
                      </a:rPr>
                      <m:t>=</m:t>
                    </m:r>
                  </m:oMath>
                </a14:m>
                <a:endParaRPr lang="en-US" sz="2800" dirty="0">
                  <a:solidFill>
                    <a:srgbClr val="002060"/>
                  </a:solidFill>
                </a:endParaRPr>
              </a:p>
            </p:txBody>
          </p:sp>
        </mc:Choice>
        <mc:Fallback xmlns="">
          <p:sp>
            <p:nvSpPr>
              <p:cNvPr id="33" name="Rectangle 32"/>
              <p:cNvSpPr>
                <a:spLocks noRot="1" noChangeAspect="1" noMove="1" noResize="1" noEditPoints="1" noAdjustHandles="1" noChangeArrowheads="1" noChangeShapeType="1" noTextEdit="1"/>
              </p:cNvSpPr>
              <p:nvPr/>
            </p:nvSpPr>
            <p:spPr>
              <a:xfrm>
                <a:off x="247650" y="4070423"/>
                <a:ext cx="1895061" cy="1641475"/>
              </a:xfrm>
              <a:prstGeom prst="rect">
                <a:avLst/>
              </a:prstGeom>
              <a:blipFill rotWithShape="0">
                <a:blip r:embed="rId4"/>
                <a:stretch>
                  <a:fillRect/>
                </a:stretch>
              </a:blipFill>
            </p:spPr>
            <p:txBody>
              <a:bodyPr/>
              <a:lstStyle/>
              <a:p>
                <a:r>
                  <a:rPr lang="en-US">
                    <a:noFill/>
                  </a:rPr>
                  <a:t> </a:t>
                </a:r>
              </a:p>
            </p:txBody>
          </p:sp>
        </mc:Fallback>
      </mc:AlternateContent>
      <p:sp>
        <p:nvSpPr>
          <p:cNvPr id="34" name="TextBox 33"/>
          <p:cNvSpPr txBox="1"/>
          <p:nvPr/>
        </p:nvSpPr>
        <p:spPr>
          <a:xfrm>
            <a:off x="2169215" y="4093800"/>
            <a:ext cx="362600" cy="523220"/>
          </a:xfrm>
          <a:prstGeom prst="rect">
            <a:avLst/>
          </a:prstGeom>
          <a:noFill/>
        </p:spPr>
        <p:txBody>
          <a:bodyPr wrap="none" rtlCol="0">
            <a:spAutoFit/>
          </a:bodyPr>
          <a:lstStyle/>
          <a:p>
            <a:r>
              <a:rPr lang="en-US" sz="2800" dirty="0">
                <a:solidFill>
                  <a:srgbClr val="002060"/>
                </a:solidFill>
              </a:rPr>
              <a:t>1</a:t>
            </a:r>
          </a:p>
        </p:txBody>
      </p:sp>
      <p:sp>
        <p:nvSpPr>
          <p:cNvPr id="35" name="TextBox 34"/>
          <p:cNvSpPr txBox="1"/>
          <p:nvPr/>
        </p:nvSpPr>
        <p:spPr>
          <a:xfrm>
            <a:off x="2162589" y="4643765"/>
            <a:ext cx="362600" cy="523220"/>
          </a:xfrm>
          <a:prstGeom prst="rect">
            <a:avLst/>
          </a:prstGeom>
          <a:noFill/>
        </p:spPr>
        <p:txBody>
          <a:bodyPr wrap="none" rtlCol="0">
            <a:spAutoFit/>
          </a:bodyPr>
          <a:lstStyle/>
          <a:p>
            <a:r>
              <a:rPr lang="en-US" sz="2800" dirty="0">
                <a:solidFill>
                  <a:srgbClr val="002060"/>
                </a:solidFill>
              </a:rPr>
              <a:t>2</a:t>
            </a:r>
          </a:p>
        </p:txBody>
      </p:sp>
      <p:sp>
        <p:nvSpPr>
          <p:cNvPr id="36" name="TextBox 35"/>
          <p:cNvSpPr txBox="1"/>
          <p:nvPr/>
        </p:nvSpPr>
        <p:spPr>
          <a:xfrm>
            <a:off x="2169215" y="5206983"/>
            <a:ext cx="362600" cy="523220"/>
          </a:xfrm>
          <a:prstGeom prst="rect">
            <a:avLst/>
          </a:prstGeom>
          <a:noFill/>
        </p:spPr>
        <p:txBody>
          <a:bodyPr wrap="none" rtlCol="0">
            <a:spAutoFit/>
          </a:bodyPr>
          <a:lstStyle/>
          <a:p>
            <a:r>
              <a:rPr lang="en-US" sz="2800" dirty="0">
                <a:solidFill>
                  <a:srgbClr val="002060"/>
                </a:solidFill>
              </a:rPr>
              <a:t>2</a:t>
            </a:r>
          </a:p>
        </p:txBody>
      </p:sp>
      <p:sp>
        <p:nvSpPr>
          <p:cNvPr id="38" name="Oval 37">
            <a:extLst>
              <a:ext uri="{FF2B5EF4-FFF2-40B4-BE49-F238E27FC236}">
                <a16:creationId xmlns:a16="http://schemas.microsoft.com/office/drawing/2014/main" id="{A4197692-1A04-EA71-457D-175797FDA5CE}"/>
              </a:ext>
            </a:extLst>
          </p:cNvPr>
          <p:cNvSpPr/>
          <p:nvPr/>
        </p:nvSpPr>
        <p:spPr>
          <a:xfrm rot="5400000">
            <a:off x="4163047" y="239852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9" name="Straight Connector 38">
            <a:extLst>
              <a:ext uri="{FF2B5EF4-FFF2-40B4-BE49-F238E27FC236}">
                <a16:creationId xmlns:a16="http://schemas.microsoft.com/office/drawing/2014/main" id="{761C1F4A-0F54-D84C-6D00-A1EB9F135299}"/>
              </a:ext>
            </a:extLst>
          </p:cNvPr>
          <p:cNvCxnSpPr>
            <a:cxnSpLocks/>
            <a:stCxn id="41" idx="7"/>
            <a:endCxn id="38" idx="3"/>
          </p:cNvCxnSpPr>
          <p:nvPr/>
        </p:nvCxnSpPr>
        <p:spPr>
          <a:xfrm>
            <a:off x="3753861" y="2048997"/>
            <a:ext cx="430274" cy="37062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0" name="Straight Connector 39">
            <a:extLst>
              <a:ext uri="{FF2B5EF4-FFF2-40B4-BE49-F238E27FC236}">
                <a16:creationId xmlns:a16="http://schemas.microsoft.com/office/drawing/2014/main" id="{6205DD86-315C-53B6-CEEF-A9919650168E}"/>
              </a:ext>
            </a:extLst>
          </p:cNvPr>
          <p:cNvCxnSpPr>
            <a:cxnSpLocks/>
            <a:stCxn id="38" idx="1"/>
            <a:endCxn id="42" idx="5"/>
          </p:cNvCxnSpPr>
          <p:nvPr/>
        </p:nvCxnSpPr>
        <p:spPr>
          <a:xfrm flipV="1">
            <a:off x="4285959" y="2045252"/>
            <a:ext cx="383037" cy="37436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1" name="Oval 40">
            <a:extLst>
              <a:ext uri="{FF2B5EF4-FFF2-40B4-BE49-F238E27FC236}">
                <a16:creationId xmlns:a16="http://schemas.microsoft.com/office/drawing/2014/main" id="{6C0843A1-C99E-E42B-5017-D5F14DE578E1}"/>
              </a:ext>
            </a:extLst>
          </p:cNvPr>
          <p:cNvSpPr/>
          <p:nvPr/>
        </p:nvSpPr>
        <p:spPr>
          <a:xfrm rot="5400000">
            <a:off x="3630949" y="192608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2" name="Oval 41">
            <a:extLst>
              <a:ext uri="{FF2B5EF4-FFF2-40B4-BE49-F238E27FC236}">
                <a16:creationId xmlns:a16="http://schemas.microsoft.com/office/drawing/2014/main" id="{BDD11F87-DA81-9510-C1CB-0AF4093562CB}"/>
              </a:ext>
            </a:extLst>
          </p:cNvPr>
          <p:cNvSpPr/>
          <p:nvPr/>
        </p:nvSpPr>
        <p:spPr>
          <a:xfrm rot="5400000">
            <a:off x="4647908" y="192234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3" name="Straight Connector 42">
            <a:extLst>
              <a:ext uri="{FF2B5EF4-FFF2-40B4-BE49-F238E27FC236}">
                <a16:creationId xmlns:a16="http://schemas.microsoft.com/office/drawing/2014/main" id="{6205DD86-315C-53B6-CEEF-A9919650168E}"/>
              </a:ext>
            </a:extLst>
          </p:cNvPr>
          <p:cNvCxnSpPr>
            <a:cxnSpLocks/>
            <a:stCxn id="44" idx="2"/>
            <a:endCxn id="38" idx="6"/>
          </p:cNvCxnSpPr>
          <p:nvPr/>
        </p:nvCxnSpPr>
        <p:spPr>
          <a:xfrm flipH="1" flipV="1">
            <a:off x="4235047" y="2542529"/>
            <a:ext cx="4147" cy="59895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4" name="Oval 43">
            <a:extLst>
              <a:ext uri="{FF2B5EF4-FFF2-40B4-BE49-F238E27FC236}">
                <a16:creationId xmlns:a16="http://schemas.microsoft.com/office/drawing/2014/main" id="{A4197692-1A04-EA71-457D-175797FDA5CE}"/>
              </a:ext>
            </a:extLst>
          </p:cNvPr>
          <p:cNvSpPr/>
          <p:nvPr/>
        </p:nvSpPr>
        <p:spPr>
          <a:xfrm rot="5400000">
            <a:off x="4167194" y="314147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mc:AlternateContent xmlns:mc="http://schemas.openxmlformats.org/markup-compatibility/2006" xmlns:a14="http://schemas.microsoft.com/office/drawing/2010/main">
        <mc:Choice Requires="a14">
          <p:sp>
            <p:nvSpPr>
              <p:cNvPr id="45" name="TextBox 44"/>
              <p:cNvSpPr txBox="1"/>
              <p:nvPr/>
            </p:nvSpPr>
            <p:spPr>
              <a:xfrm>
                <a:off x="3522027" y="1616120"/>
                <a:ext cx="36420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0" dirty="0" smtClean="0">
                          <a:latin typeface="Cambria Math" panose="02040503050406030204" pitchFamily="18" charset="0"/>
                        </a:rPr>
                        <m:t>𝐚</m:t>
                      </m:r>
                    </m:oMath>
                  </m:oMathPara>
                </a14:m>
                <a:endParaRPr lang="en-US" b="1" dirty="0"/>
              </a:p>
            </p:txBody>
          </p:sp>
        </mc:Choice>
        <mc:Fallback xmlns="">
          <p:sp>
            <p:nvSpPr>
              <p:cNvPr id="45" name="TextBox 44"/>
              <p:cNvSpPr txBox="1">
                <a:spLocks noRot="1" noChangeAspect="1" noMove="1" noResize="1" noEditPoints="1" noAdjustHandles="1" noChangeArrowheads="1" noChangeShapeType="1" noTextEdit="1"/>
              </p:cNvSpPr>
              <p:nvPr/>
            </p:nvSpPr>
            <p:spPr>
              <a:xfrm>
                <a:off x="3522027" y="1616120"/>
                <a:ext cx="364202" cy="369332"/>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p:cNvSpPr txBox="1"/>
              <p:nvPr/>
            </p:nvSpPr>
            <p:spPr>
              <a:xfrm>
                <a:off x="4538027" y="1622470"/>
                <a:ext cx="34977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0" smtClean="0">
                          <a:latin typeface="Cambria Math" panose="02040503050406030204" pitchFamily="18" charset="0"/>
                        </a:rPr>
                        <m:t>𝐜</m:t>
                      </m:r>
                    </m:oMath>
                  </m:oMathPara>
                </a14:m>
                <a:endParaRPr lang="en-US" b="1" dirty="0"/>
              </a:p>
            </p:txBody>
          </p:sp>
        </mc:Choice>
        <mc:Fallback xmlns="">
          <p:sp>
            <p:nvSpPr>
              <p:cNvPr id="46" name="TextBox 45"/>
              <p:cNvSpPr txBox="1">
                <a:spLocks noRot="1" noChangeAspect="1" noMove="1" noResize="1" noEditPoints="1" noAdjustHandles="1" noChangeArrowheads="1" noChangeShapeType="1" noTextEdit="1"/>
              </p:cNvSpPr>
              <p:nvPr/>
            </p:nvSpPr>
            <p:spPr>
              <a:xfrm>
                <a:off x="4538027" y="1622470"/>
                <a:ext cx="349776" cy="369332"/>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p:cNvSpPr txBox="1"/>
              <p:nvPr/>
            </p:nvSpPr>
            <p:spPr>
              <a:xfrm>
                <a:off x="4055427" y="2079670"/>
                <a:ext cx="37702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0" smtClean="0">
                          <a:latin typeface="Cambria Math" panose="02040503050406030204" pitchFamily="18" charset="0"/>
                        </a:rPr>
                        <m:t>𝐛</m:t>
                      </m:r>
                    </m:oMath>
                  </m:oMathPara>
                </a14:m>
                <a:endParaRPr lang="en-US" b="1" dirty="0"/>
              </a:p>
            </p:txBody>
          </p:sp>
        </mc:Choice>
        <mc:Fallback xmlns="">
          <p:sp>
            <p:nvSpPr>
              <p:cNvPr id="47" name="TextBox 46"/>
              <p:cNvSpPr txBox="1">
                <a:spLocks noRot="1" noChangeAspect="1" noMove="1" noResize="1" noEditPoints="1" noAdjustHandles="1" noChangeArrowheads="1" noChangeShapeType="1" noTextEdit="1"/>
              </p:cNvSpPr>
              <p:nvPr/>
            </p:nvSpPr>
            <p:spPr>
              <a:xfrm>
                <a:off x="4055427" y="2079670"/>
                <a:ext cx="377026" cy="369332"/>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p:cNvSpPr txBox="1"/>
              <p:nvPr/>
            </p:nvSpPr>
            <p:spPr>
              <a:xfrm>
                <a:off x="4243940" y="3079381"/>
                <a:ext cx="37863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0" smtClean="0">
                          <a:latin typeface="Cambria Math" panose="02040503050406030204" pitchFamily="18" charset="0"/>
                        </a:rPr>
                        <m:t>𝐝</m:t>
                      </m:r>
                    </m:oMath>
                  </m:oMathPara>
                </a14:m>
                <a:endParaRPr lang="en-US" b="1" dirty="0"/>
              </a:p>
            </p:txBody>
          </p:sp>
        </mc:Choice>
        <mc:Fallback xmlns="">
          <p:sp>
            <p:nvSpPr>
              <p:cNvPr id="48" name="TextBox 47"/>
              <p:cNvSpPr txBox="1">
                <a:spLocks noRot="1" noChangeAspect="1" noMove="1" noResize="1" noEditPoints="1" noAdjustHandles="1" noChangeArrowheads="1" noChangeShapeType="1" noTextEdit="1"/>
              </p:cNvSpPr>
              <p:nvPr/>
            </p:nvSpPr>
            <p:spPr>
              <a:xfrm>
                <a:off x="4243940" y="3079381"/>
                <a:ext cx="378630" cy="369332"/>
              </a:xfrm>
              <a:prstGeom prst="rect">
                <a:avLst/>
              </a:prstGeom>
              <a:blipFill rotWithShape="0">
                <a:blip r:embed="rId8"/>
                <a:stretch>
                  <a:fillRect/>
                </a:stretch>
              </a:blipFill>
            </p:spPr>
            <p:txBody>
              <a:bodyPr/>
              <a:lstStyle/>
              <a:p>
                <a:r>
                  <a:rPr lang="en-US">
                    <a:noFill/>
                  </a:rPr>
                  <a:t> </a:t>
                </a:r>
              </a:p>
            </p:txBody>
          </p:sp>
        </mc:Fallback>
      </mc:AlternateContent>
      <p:pic>
        <p:nvPicPr>
          <p:cNvPr id="71" name="Picture 70"/>
          <p:cNvPicPr>
            <a:picLocks noChangeAspect="1"/>
          </p:cNvPicPr>
          <p:nvPr/>
        </p:nvPicPr>
        <p:blipFill>
          <a:blip r:embed="rId9"/>
          <a:stretch>
            <a:fillRect/>
          </a:stretch>
        </p:blipFill>
        <p:spPr>
          <a:xfrm>
            <a:off x="6101129" y="1619712"/>
            <a:ext cx="1365622" cy="1835055"/>
          </a:xfrm>
          <a:prstGeom prst="rect">
            <a:avLst/>
          </a:prstGeom>
        </p:spPr>
      </p:pic>
    </p:spTree>
    <p:extLst>
      <p:ext uri="{BB962C8B-B14F-4D97-AF65-F5344CB8AC3E}">
        <p14:creationId xmlns:p14="http://schemas.microsoft.com/office/powerpoint/2010/main" val="3811072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wipe(left)">
                                      <p:cBhvr>
                                        <p:cTn id="13" dur="500"/>
                                        <p:tgtEl>
                                          <p:spTgt spid="39"/>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wipe(left)">
                                      <p:cBhvr>
                                        <p:cTn id="22" dur="500"/>
                                        <p:tgtEl>
                                          <p:spTgt spid="3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wipe(left)">
                                      <p:cBhvr>
                                        <p:cTn id="27" dur="500"/>
                                        <p:tgtEl>
                                          <p:spTgt spid="40"/>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5"/>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39"/>
                                        </p:tgtEl>
                                        <p:attrNameLst>
                                          <p:attrName>style.visibility</p:attrName>
                                        </p:attrNameLst>
                                      </p:cBhvr>
                                      <p:to>
                                        <p:strVal val="visible"/>
                                      </p:to>
                                    </p:set>
                                    <p:animEffect transition="in" filter="wipe(left)">
                                      <p:cBhvr>
                                        <p:cTn id="36" dur="500"/>
                                        <p:tgtEl>
                                          <p:spTgt spid="3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nodeType="clickEffect">
                                  <p:stCondLst>
                                    <p:cond delay="0"/>
                                  </p:stCondLst>
                                  <p:childTnLst>
                                    <p:set>
                                      <p:cBhvr>
                                        <p:cTn id="40" dur="1" fill="hold">
                                          <p:stCondLst>
                                            <p:cond delay="0"/>
                                          </p:stCondLst>
                                        </p:cTn>
                                        <p:tgtEl>
                                          <p:spTgt spid="43"/>
                                        </p:tgtEl>
                                        <p:attrNameLst>
                                          <p:attrName>style.visibility</p:attrName>
                                        </p:attrNameLst>
                                      </p:cBhvr>
                                      <p:to>
                                        <p:strVal val="visible"/>
                                      </p:to>
                                    </p:set>
                                    <p:animEffect transition="in" filter="wipe(up)">
                                      <p:cBhvr>
                                        <p:cTn id="41" dur="500"/>
                                        <p:tgtEl>
                                          <p:spTgt spid="43"/>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36"/>
                                        </p:tgtEl>
                                        <p:attrNameLst>
                                          <p:attrName>style.visibility</p:attrName>
                                        </p:attrNameLst>
                                      </p:cBhvr>
                                      <p:to>
                                        <p:strVal val="visible"/>
                                      </p:to>
                                    </p:set>
                                  </p:childTnLst>
                                </p:cTn>
                              </p:par>
                              <p:par>
                                <p:cTn id="46" presetID="1" presetClass="exit" presetSubtype="0" fill="hold" nodeType="withEffect">
                                  <p:stCondLst>
                                    <p:cond delay="0"/>
                                  </p:stCondLst>
                                  <p:childTnLst>
                                    <p:set>
                                      <p:cBhvr>
                                        <p:cTn id="47" dur="1" fill="hold">
                                          <p:stCondLst>
                                            <p:cond delay="0"/>
                                          </p:stCondLst>
                                        </p:cTn>
                                        <p:tgtEl>
                                          <p:spTgt spid="39"/>
                                        </p:tgtEl>
                                        <p:attrNameLst>
                                          <p:attrName>style.visibility</p:attrName>
                                        </p:attrNameLst>
                                      </p:cBhvr>
                                      <p:to>
                                        <p:strVal val="hidden"/>
                                      </p:to>
                                    </p:set>
                                  </p:childTnLst>
                                </p:cTn>
                              </p:par>
                              <p:par>
                                <p:cTn id="48" presetID="1" presetClass="exit" presetSubtype="0" fill="hold" nodeType="withEffect">
                                  <p:stCondLst>
                                    <p:cond delay="0"/>
                                  </p:stCondLst>
                                  <p:childTnLst>
                                    <p:set>
                                      <p:cBhvr>
                                        <p:cTn id="49" dur="1" fill="hold">
                                          <p:stCondLst>
                                            <p:cond delay="0"/>
                                          </p:stCondLst>
                                        </p:cTn>
                                        <p:tgtEl>
                                          <p:spTgt spid="40"/>
                                        </p:tgtEl>
                                        <p:attrNameLst>
                                          <p:attrName>style.visibility</p:attrName>
                                        </p:attrNameLst>
                                      </p:cBhvr>
                                      <p:to>
                                        <p:strVal val="hidden"/>
                                      </p:to>
                                    </p:set>
                                  </p:childTnLst>
                                </p:cTn>
                              </p:par>
                              <p:par>
                                <p:cTn id="50" presetID="1" presetClass="exit" presetSubtype="0" fill="hold" nodeType="withEffect">
                                  <p:stCondLst>
                                    <p:cond delay="0"/>
                                  </p:stCondLst>
                                  <p:childTnLst>
                                    <p:set>
                                      <p:cBhvr>
                                        <p:cTn id="51" dur="1" fill="hold">
                                          <p:stCondLst>
                                            <p:cond delay="0"/>
                                          </p:stCondLst>
                                        </p:cTn>
                                        <p:tgtEl>
                                          <p:spTgt spid="4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3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Important terms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a:lnSpc>
                    <a:spcPct val="150000"/>
                  </a:lnSpc>
                  <a:buClr>
                    <a:srgbClr val="B84742"/>
                  </a:buClr>
                </a:pPr>
                <a:r>
                  <a:rPr lang="en-IN" b="1" dirty="0"/>
                  <a:t>Definition: </a:t>
                </a:r>
                <a:r>
                  <a:rPr lang="en-US" dirty="0"/>
                  <a:t>The distance from</a:t>
                </a:r>
                <a14:m>
                  <m:oMath xmlns:m="http://schemas.openxmlformats.org/officeDocument/2006/math">
                    <m:r>
                      <a:rPr lang="en-US" dirty="0">
                        <a:latin typeface="Cambria Math" panose="02040503050406030204" pitchFamily="18" charset="0"/>
                      </a:rPr>
                      <m:t> </m:t>
                    </m:r>
                    <m:r>
                      <m:rPr>
                        <m:sty m:val="p"/>
                      </m:rPr>
                      <a:rPr lang="en-US" dirty="0">
                        <a:latin typeface="Cambria Math" panose="02040503050406030204" pitchFamily="18" charset="0"/>
                      </a:rPr>
                      <m:t>v</m:t>
                    </m:r>
                  </m:oMath>
                </a14:m>
                <a:r>
                  <a:rPr lang="en-US" dirty="0"/>
                  <a:t> to the vertex most distant from</a:t>
                </a:r>
                <a14:m>
                  <m:oMath xmlns:m="http://schemas.openxmlformats.org/officeDocument/2006/math">
                    <m:r>
                      <a:rPr lang="en-US" dirty="0">
                        <a:latin typeface="Cambria Math" panose="02040503050406030204" pitchFamily="18" charset="0"/>
                      </a:rPr>
                      <m:t> </m:t>
                    </m:r>
                    <m:r>
                      <m:rPr>
                        <m:sty m:val="p"/>
                      </m:rPr>
                      <a:rPr lang="en-US" dirty="0">
                        <a:latin typeface="Cambria Math" panose="02040503050406030204" pitchFamily="18" charset="0"/>
                      </a:rPr>
                      <m:t>v</m:t>
                    </m:r>
                  </m:oMath>
                </a14:m>
                <a:r>
                  <a:rPr lang="en-US" dirty="0"/>
                  <a:t> is called </a:t>
                </a:r>
                <a14:m>
                  <m:oMath xmlns:m="http://schemas.openxmlformats.org/officeDocument/2006/math">
                    <m:r>
                      <m:rPr>
                        <m:sty m:val="p"/>
                      </m:rPr>
                      <a:rPr lang="en-US" dirty="0">
                        <a:latin typeface="Cambria Math" panose="02040503050406030204" pitchFamily="18" charset="0"/>
                      </a:rPr>
                      <m:t>E</m:t>
                    </m:r>
                    <m:d>
                      <m:dPr>
                        <m:ctrlPr>
                          <a:rPr lang="en-US" i="1" dirty="0">
                            <a:latin typeface="Cambria Math" panose="02040503050406030204" pitchFamily="18" charset="0"/>
                          </a:rPr>
                        </m:ctrlPr>
                      </m:dPr>
                      <m:e>
                        <m:r>
                          <m:rPr>
                            <m:sty m:val="p"/>
                          </m:rPr>
                          <a:rPr lang="en-US" dirty="0">
                            <a:latin typeface="Cambria Math" panose="02040503050406030204" pitchFamily="18" charset="0"/>
                          </a:rPr>
                          <m:t>v</m:t>
                        </m:r>
                      </m:e>
                    </m:d>
                  </m:oMath>
                </a14:m>
                <a:r>
                  <a:rPr lang="en-US" dirty="0">
                    <a:solidFill>
                      <a:srgbClr val="FF0000"/>
                    </a:solidFill>
                  </a:rPr>
                  <a:t> eccentricity of </a:t>
                </a:r>
                <a14:m>
                  <m:oMath xmlns:m="http://schemas.openxmlformats.org/officeDocument/2006/math">
                    <m:r>
                      <m:rPr>
                        <m:sty m:val="p"/>
                      </m:rPr>
                      <a:rPr lang="en-US" dirty="0">
                        <a:solidFill>
                          <a:srgbClr val="FF0000"/>
                        </a:solidFill>
                        <a:latin typeface="Cambria Math" panose="02040503050406030204" pitchFamily="18" charset="0"/>
                      </a:rPr>
                      <m:t>v</m:t>
                    </m:r>
                    <m:r>
                      <a:rPr lang="en-US" dirty="0">
                        <a:latin typeface="Cambria Math" panose="02040503050406030204" pitchFamily="18" charset="0"/>
                      </a:rPr>
                      <m:t>.</m:t>
                    </m:r>
                  </m:oMath>
                </a14:m>
                <a:r>
                  <a:rPr lang="en-US" dirty="0">
                    <a:latin typeface="Cambria Math" panose="02040503050406030204" pitchFamily="18" charset="0"/>
                  </a:rPr>
                  <a:t> </a:t>
                </a:r>
                <a:endParaRPr lang="en-US" b="1" dirty="0">
                  <a:solidFill>
                    <a:srgbClr val="FF0000"/>
                  </a:solidFill>
                </a:endParaRPr>
              </a:p>
              <a:p>
                <a:pPr>
                  <a:lnSpc>
                    <a:spcPct val="150000"/>
                  </a:lnSpc>
                  <a:buClr>
                    <a:srgbClr val="B84742"/>
                  </a:buClr>
                </a:pPr>
                <a:r>
                  <a:rPr lang="en-US" b="1" dirty="0"/>
                  <a:t>Definition:</a:t>
                </a:r>
                <a:r>
                  <a:rPr lang="en-US" b="1" dirty="0">
                    <a:solidFill>
                      <a:srgbClr val="FF0000"/>
                    </a:solidFill>
                  </a:rPr>
                  <a:t> </a:t>
                </a:r>
                <a:r>
                  <a:rPr lang="en-US" dirty="0"/>
                  <a:t>A vertex with </a:t>
                </a:r>
                <a:r>
                  <a:rPr lang="en-US" b="1" dirty="0"/>
                  <a:t>minimum eccentricity</a:t>
                </a:r>
                <a:r>
                  <a:rPr lang="en-US" dirty="0"/>
                  <a:t> in graph G is called a </a:t>
                </a:r>
                <a:r>
                  <a:rPr lang="en-US" dirty="0">
                    <a:solidFill>
                      <a:srgbClr val="FF0000"/>
                    </a:solidFill>
                  </a:rPr>
                  <a:t>center</a:t>
                </a:r>
                <a:r>
                  <a:rPr lang="en-US" dirty="0"/>
                  <a:t> of G.</a:t>
                </a:r>
              </a:p>
              <a:p>
                <a:pPr>
                  <a:lnSpc>
                    <a:spcPct val="150000"/>
                  </a:lnSpc>
                  <a:buClr>
                    <a:srgbClr val="B84742"/>
                  </a:buClr>
                </a:pPr>
                <a:r>
                  <a:rPr lang="en-US" b="1" dirty="0"/>
                  <a:t>Definition</a:t>
                </a:r>
                <a:r>
                  <a:rPr lang="en-US" dirty="0"/>
                  <a:t>: The </a:t>
                </a:r>
                <a:r>
                  <a:rPr lang="en-US" b="1" dirty="0"/>
                  <a:t>eccentricity of a center </a:t>
                </a:r>
                <a:r>
                  <a:rPr lang="en-US" dirty="0"/>
                  <a:t>in a tree is called the </a:t>
                </a:r>
                <a:r>
                  <a:rPr lang="en-US" dirty="0">
                    <a:solidFill>
                      <a:srgbClr val="FF0000"/>
                    </a:solidFill>
                  </a:rPr>
                  <a:t>radius</a:t>
                </a:r>
                <a:r>
                  <a:rPr lang="en-US" dirty="0"/>
                  <a:t> of the tree.</a:t>
                </a:r>
              </a:p>
              <a:p>
                <a:pPr>
                  <a:lnSpc>
                    <a:spcPct val="150000"/>
                  </a:lnSpc>
                  <a:buClr>
                    <a:srgbClr val="B84742"/>
                  </a:buClr>
                </a:pPr>
                <a:r>
                  <a:rPr lang="en-US" b="1" dirty="0"/>
                  <a:t>Definition</a:t>
                </a:r>
                <a:r>
                  <a:rPr lang="en-US" dirty="0"/>
                  <a:t>: The </a:t>
                </a:r>
                <a:r>
                  <a:rPr lang="en-US" b="1" dirty="0"/>
                  <a:t>length of the longest path </a:t>
                </a:r>
                <a:r>
                  <a:rPr lang="en-US" dirty="0"/>
                  <a:t>in T is called the </a:t>
                </a:r>
                <a:r>
                  <a:rPr lang="en-US" dirty="0">
                    <a:solidFill>
                      <a:srgbClr val="FF0000"/>
                    </a:solidFill>
                  </a:rPr>
                  <a:t>diameter</a:t>
                </a:r>
                <a:r>
                  <a:rPr lang="en-US" dirty="0"/>
                  <a:t> of a tree.</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71"/>
                </a:stretch>
              </a:blipFill>
            </p:spPr>
            <p:txBody>
              <a:bodyPr/>
              <a:lstStyle/>
              <a:p>
                <a:r>
                  <a:rPr lang="en-US">
                    <a:noFill/>
                  </a:rPr>
                  <a:t> </a:t>
                </a:r>
              </a:p>
            </p:txBody>
          </p:sp>
        </mc:Fallback>
      </mc:AlternateContent>
    </p:spTree>
    <p:extLst>
      <p:ext uri="{BB962C8B-B14F-4D97-AF65-F5344CB8AC3E}">
        <p14:creationId xmlns:p14="http://schemas.microsoft.com/office/powerpoint/2010/main" val="146406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pPr algn="just">
              <a:spcBef>
                <a:spcPts val="1000"/>
              </a:spcBef>
              <a:buClr>
                <a:srgbClr val="B84742"/>
              </a:buClr>
            </a:pPr>
            <a:r>
              <a:rPr lang="en-US" dirty="0"/>
              <a:t>Example </a:t>
            </a:r>
          </a:p>
        </p:txBody>
      </p:sp>
      <p:sp>
        <p:nvSpPr>
          <p:cNvPr id="5" name="Rectangle 4"/>
          <p:cNvSpPr/>
          <p:nvPr/>
        </p:nvSpPr>
        <p:spPr>
          <a:xfrm>
            <a:off x="167425" y="703461"/>
            <a:ext cx="10251583" cy="4996240"/>
          </a:xfrm>
          <a:prstGeom prst="rect">
            <a:avLst/>
          </a:prstGeom>
        </p:spPr>
        <p:txBody>
          <a:bodyPr wrap="square">
            <a:spAutoFit/>
          </a:bodyPr>
          <a:lstStyle/>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In the given tree,</a:t>
            </a:r>
          </a:p>
          <a:p>
            <a:pPr marL="265113" indent="-265113" algn="just">
              <a:spcBef>
                <a:spcPts val="1000"/>
              </a:spcBef>
              <a:buClr>
                <a:srgbClr val="B84742"/>
              </a:buClr>
              <a:buFont typeface="Wingdings 3" panose="05040102010807070707" pitchFamily="18" charset="2"/>
              <a:buChar char=""/>
            </a:pPr>
            <a:endParaRPr lang="en-US" sz="2800" dirty="0">
              <a:solidFill>
                <a:srgbClr val="002060"/>
              </a:solidFill>
            </a:endParaRPr>
          </a:p>
          <a:p>
            <a:pPr marL="265113" indent="-265113" algn="just">
              <a:spcBef>
                <a:spcPts val="1000"/>
              </a:spcBef>
              <a:buClr>
                <a:srgbClr val="B84742"/>
              </a:buClr>
              <a:buFont typeface="Wingdings 3" panose="05040102010807070707" pitchFamily="18" charset="2"/>
              <a:buChar char=""/>
            </a:pPr>
            <a:endParaRPr lang="en-US" sz="2800" dirty="0">
              <a:solidFill>
                <a:srgbClr val="002060"/>
              </a:solidFill>
            </a:endParaRPr>
          </a:p>
          <a:p>
            <a:pPr marL="265113" indent="-265113" algn="just">
              <a:spcBef>
                <a:spcPts val="1000"/>
              </a:spcBef>
              <a:buClr>
                <a:srgbClr val="B84742"/>
              </a:buClr>
              <a:buFont typeface="Wingdings 3" panose="05040102010807070707" pitchFamily="18" charset="2"/>
              <a:buChar char=""/>
            </a:pPr>
            <a:endParaRPr lang="en-US" sz="2800" dirty="0">
              <a:solidFill>
                <a:srgbClr val="002060"/>
              </a:solidFill>
            </a:endParaRPr>
          </a:p>
          <a:p>
            <a:pPr marL="265113" indent="-265113" algn="just">
              <a:spcBef>
                <a:spcPts val="1000"/>
              </a:spcBef>
              <a:buClr>
                <a:srgbClr val="B84742"/>
              </a:buClr>
              <a:buFont typeface="Wingdings 3" panose="05040102010807070707" pitchFamily="18" charset="2"/>
              <a:buChar char=""/>
            </a:pPr>
            <a:endParaRPr lang="en-US" sz="2800" dirty="0">
              <a:solidFill>
                <a:srgbClr val="002060"/>
              </a:solidFill>
            </a:endParaRPr>
          </a:p>
          <a:p>
            <a:pPr marL="265113" indent="-265113" algn="just">
              <a:spcBef>
                <a:spcPts val="1000"/>
              </a:spcBef>
              <a:buClr>
                <a:srgbClr val="B84742"/>
              </a:buClr>
              <a:buFont typeface="Wingdings 3" panose="05040102010807070707" pitchFamily="18" charset="2"/>
              <a:buChar char=""/>
            </a:pPr>
            <a:endParaRPr lang="en-US" sz="2800" dirty="0">
              <a:solidFill>
                <a:srgbClr val="002060"/>
              </a:solidFill>
            </a:endParaRPr>
          </a:p>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Center of tree = </a:t>
            </a:r>
          </a:p>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Radius of tree =</a:t>
            </a:r>
          </a:p>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Diameter of tree =</a:t>
            </a:r>
          </a:p>
        </p:txBody>
      </p:sp>
      <p:sp>
        <p:nvSpPr>
          <p:cNvPr id="28" name="Rectangle 27"/>
          <p:cNvSpPr/>
          <p:nvPr/>
        </p:nvSpPr>
        <p:spPr>
          <a:xfrm>
            <a:off x="5491431" y="1512357"/>
            <a:ext cx="1944826" cy="569844"/>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31" name="Rectangle 30"/>
              <p:cNvSpPr/>
              <p:nvPr/>
            </p:nvSpPr>
            <p:spPr>
              <a:xfrm>
                <a:off x="2973427" y="3411633"/>
                <a:ext cx="2046516" cy="523220"/>
              </a:xfrm>
              <a:prstGeom prst="rect">
                <a:avLst/>
              </a:prstGeom>
            </p:spPr>
            <p:txBody>
              <a:bodyPr wrap="square">
                <a:spAutoFit/>
              </a:bodyPr>
              <a:lstStyle/>
              <a:p>
                <a:pPr algn="just">
                  <a:spcBef>
                    <a:spcPts val="1000"/>
                  </a:spcBef>
                  <a:buClr>
                    <a:srgbClr val="B84742"/>
                  </a:buClr>
                </a:pPr>
                <a14:m>
                  <m:oMathPara xmlns:m="http://schemas.openxmlformats.org/officeDocument/2006/math">
                    <m:oMathParaPr>
                      <m:jc m:val="centerGroup"/>
                    </m:oMathParaPr>
                    <m:oMath xmlns:m="http://schemas.openxmlformats.org/officeDocument/2006/math">
                      <m:r>
                        <m:rPr>
                          <m:sty m:val="p"/>
                        </m:rPr>
                        <a:rPr lang="en-US" sz="2800">
                          <a:solidFill>
                            <a:srgbClr val="002060"/>
                          </a:solidFill>
                          <a:latin typeface="Cambria Math" panose="02040503050406030204" pitchFamily="18" charset="0"/>
                        </a:rPr>
                        <m:t>d</m:t>
                      </m:r>
                      <m:d>
                        <m:dPr>
                          <m:ctrlPr>
                            <a:rPr lang="en-US"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c</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d</m:t>
                          </m:r>
                        </m:e>
                      </m:d>
                      <m:r>
                        <a:rPr lang="en-US" sz="2800">
                          <a:solidFill>
                            <a:srgbClr val="002060"/>
                          </a:solidFill>
                          <a:latin typeface="Cambria Math" panose="02040503050406030204" pitchFamily="18" charset="0"/>
                        </a:rPr>
                        <m:t>=2</m:t>
                      </m:r>
                    </m:oMath>
                  </m:oMathPara>
                </a14:m>
                <a:endParaRPr lang="en-US" sz="2800" dirty="0">
                  <a:solidFill>
                    <a:srgbClr val="002060"/>
                  </a:solidFill>
                </a:endParaRPr>
              </a:p>
            </p:txBody>
          </p:sp>
        </mc:Choice>
        <mc:Fallback xmlns="">
          <p:sp>
            <p:nvSpPr>
              <p:cNvPr id="31" name="Rectangle 30"/>
              <p:cNvSpPr>
                <a:spLocks noRot="1" noChangeAspect="1" noMove="1" noResize="1" noEditPoints="1" noAdjustHandles="1" noChangeArrowheads="1" noChangeShapeType="1" noTextEdit="1"/>
              </p:cNvSpPr>
              <p:nvPr/>
            </p:nvSpPr>
            <p:spPr>
              <a:xfrm>
                <a:off x="2973427" y="3411633"/>
                <a:ext cx="2046516" cy="523220"/>
              </a:xfrm>
              <a:prstGeom prst="rect">
                <a:avLst/>
              </a:prstGeom>
              <a:blipFill rotWithShape="0">
                <a:blip r:embed="rId2"/>
                <a:stretch>
                  <a:fillRect/>
                </a:stretch>
              </a:blipFill>
            </p:spPr>
            <p:txBody>
              <a:bodyPr/>
              <a:lstStyle/>
              <a:p>
                <a:r>
                  <a:rPr lang="en-US">
                    <a:noFill/>
                  </a:rPr>
                  <a:t> </a:t>
                </a:r>
              </a:p>
            </p:txBody>
          </p:sp>
        </mc:Fallback>
      </mc:AlternateContent>
      <p:sp>
        <p:nvSpPr>
          <p:cNvPr id="32" name="Rectangle 31"/>
          <p:cNvSpPr/>
          <p:nvPr/>
        </p:nvSpPr>
        <p:spPr>
          <a:xfrm>
            <a:off x="7966746" y="1475974"/>
            <a:ext cx="1944826" cy="569844"/>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34" name="Rectangle 33"/>
              <p:cNvSpPr/>
              <p:nvPr/>
            </p:nvSpPr>
            <p:spPr>
              <a:xfrm>
                <a:off x="2919562" y="744199"/>
                <a:ext cx="131343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a:solidFill>
                            <a:srgbClr val="002060"/>
                          </a:solidFill>
                          <a:latin typeface="Cambria Math" panose="02040503050406030204" pitchFamily="18" charset="0"/>
                        </a:rPr>
                        <m:t>E</m:t>
                      </m:r>
                      <m:d>
                        <m:dPr>
                          <m:ctrlPr>
                            <a:rPr lang="en-US"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a</m:t>
                          </m:r>
                        </m:e>
                      </m:d>
                      <m:r>
                        <a:rPr lang="en-US" sz="2800">
                          <a:solidFill>
                            <a:srgbClr val="002060"/>
                          </a:solidFill>
                          <a:latin typeface="Cambria Math" panose="02040503050406030204" pitchFamily="18" charset="0"/>
                        </a:rPr>
                        <m:t>=</m:t>
                      </m:r>
                    </m:oMath>
                  </m:oMathPara>
                </a14:m>
                <a:endParaRPr lang="en-US" sz="2800" dirty="0">
                  <a:solidFill>
                    <a:srgbClr val="002060"/>
                  </a:solidFill>
                </a:endParaRPr>
              </a:p>
            </p:txBody>
          </p:sp>
        </mc:Choice>
        <mc:Fallback xmlns="">
          <p:sp>
            <p:nvSpPr>
              <p:cNvPr id="34" name="Rectangle 33"/>
              <p:cNvSpPr>
                <a:spLocks noRot="1" noChangeAspect="1" noMove="1" noResize="1" noEditPoints="1" noAdjustHandles="1" noChangeArrowheads="1" noChangeShapeType="1" noTextEdit="1"/>
              </p:cNvSpPr>
              <p:nvPr/>
            </p:nvSpPr>
            <p:spPr>
              <a:xfrm>
                <a:off x="2919562" y="744199"/>
                <a:ext cx="1313436"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p:cNvSpPr/>
              <p:nvPr/>
            </p:nvSpPr>
            <p:spPr>
              <a:xfrm>
                <a:off x="4105607" y="746804"/>
                <a:ext cx="53892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smtClean="0">
                          <a:solidFill>
                            <a:srgbClr val="002060"/>
                          </a:solidFill>
                          <a:latin typeface="Cambria Math" panose="02040503050406030204" pitchFamily="18" charset="0"/>
                        </a:rPr>
                        <m:t>2</m:t>
                      </m:r>
                      <m:r>
                        <a:rPr lang="en-US" sz="2800" b="0" i="0" smtClean="0">
                          <a:solidFill>
                            <a:srgbClr val="002060"/>
                          </a:solidFill>
                          <a:latin typeface="Cambria Math" panose="02040503050406030204" pitchFamily="18" charset="0"/>
                        </a:rPr>
                        <m:t>,</m:t>
                      </m:r>
                    </m:oMath>
                  </m:oMathPara>
                </a14:m>
                <a:endParaRPr lang="en-US" sz="2800" dirty="0">
                  <a:solidFill>
                    <a:srgbClr val="002060"/>
                  </a:solidFill>
                </a:endParaRPr>
              </a:p>
            </p:txBody>
          </p:sp>
        </mc:Choice>
        <mc:Fallback xmlns="">
          <p:sp>
            <p:nvSpPr>
              <p:cNvPr id="35" name="Rectangle 34"/>
              <p:cNvSpPr>
                <a:spLocks noRot="1" noChangeAspect="1" noMove="1" noResize="1" noEditPoints="1" noAdjustHandles="1" noChangeArrowheads="1" noChangeShapeType="1" noTextEdit="1"/>
              </p:cNvSpPr>
              <p:nvPr/>
            </p:nvSpPr>
            <p:spPr>
              <a:xfrm>
                <a:off x="4105607" y="746804"/>
                <a:ext cx="538929"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Rectangle 41"/>
              <p:cNvSpPr/>
              <p:nvPr/>
            </p:nvSpPr>
            <p:spPr>
              <a:xfrm>
                <a:off x="4478487" y="750549"/>
                <a:ext cx="133587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smtClean="0">
                          <a:solidFill>
                            <a:srgbClr val="002060"/>
                          </a:solidFill>
                          <a:latin typeface="Cambria Math" panose="02040503050406030204" pitchFamily="18" charset="0"/>
                        </a:rPr>
                        <m:t>E</m:t>
                      </m:r>
                      <m:d>
                        <m:dPr>
                          <m:ctrlPr>
                            <a:rPr lang="en-US" sz="2800" i="1">
                              <a:solidFill>
                                <a:srgbClr val="002060"/>
                              </a:solidFill>
                              <a:latin typeface="Cambria Math" panose="02040503050406030204" pitchFamily="18" charset="0"/>
                            </a:rPr>
                          </m:ctrlPr>
                        </m:dPr>
                        <m:e>
                          <m:r>
                            <m:rPr>
                              <m:sty m:val="p"/>
                            </m:rPr>
                            <a:rPr lang="en-US" sz="2800" b="0" i="0" smtClean="0">
                              <a:solidFill>
                                <a:srgbClr val="002060"/>
                              </a:solidFill>
                              <a:latin typeface="Cambria Math" panose="02040503050406030204" pitchFamily="18" charset="0"/>
                            </a:rPr>
                            <m:t>b</m:t>
                          </m:r>
                        </m:e>
                      </m:d>
                      <m:r>
                        <a:rPr lang="en-US" sz="2800">
                          <a:solidFill>
                            <a:srgbClr val="002060"/>
                          </a:solidFill>
                          <a:latin typeface="Cambria Math" panose="02040503050406030204" pitchFamily="18" charset="0"/>
                        </a:rPr>
                        <m:t>=</m:t>
                      </m:r>
                    </m:oMath>
                  </m:oMathPara>
                </a14:m>
                <a:endParaRPr lang="en-US" sz="2800" dirty="0">
                  <a:solidFill>
                    <a:srgbClr val="002060"/>
                  </a:solidFill>
                </a:endParaRPr>
              </a:p>
            </p:txBody>
          </p:sp>
        </mc:Choice>
        <mc:Fallback xmlns="">
          <p:sp>
            <p:nvSpPr>
              <p:cNvPr id="42" name="Rectangle 41"/>
              <p:cNvSpPr>
                <a:spLocks noRot="1" noChangeAspect="1" noMove="1" noResize="1" noEditPoints="1" noAdjustHandles="1" noChangeArrowheads="1" noChangeShapeType="1" noTextEdit="1"/>
              </p:cNvSpPr>
              <p:nvPr/>
            </p:nvSpPr>
            <p:spPr>
              <a:xfrm>
                <a:off x="4478487" y="750549"/>
                <a:ext cx="1335879" cy="5232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Rectangle 42"/>
              <p:cNvSpPr/>
              <p:nvPr/>
            </p:nvSpPr>
            <p:spPr>
              <a:xfrm>
                <a:off x="5674057" y="743629"/>
                <a:ext cx="53893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a:solidFill>
                            <a:srgbClr val="002060"/>
                          </a:solidFill>
                          <a:latin typeface="Cambria Math" panose="02040503050406030204" pitchFamily="18" charset="0"/>
                        </a:rPr>
                        <m:t>1</m:t>
                      </m:r>
                      <m:r>
                        <a:rPr lang="en-US" sz="2800" b="0" i="0" smtClean="0">
                          <a:solidFill>
                            <a:srgbClr val="002060"/>
                          </a:solidFill>
                          <a:latin typeface="Cambria Math" panose="02040503050406030204" pitchFamily="18" charset="0"/>
                        </a:rPr>
                        <m:t>,</m:t>
                      </m:r>
                    </m:oMath>
                  </m:oMathPara>
                </a14:m>
                <a:endParaRPr lang="en-US" sz="2800" dirty="0">
                  <a:solidFill>
                    <a:srgbClr val="002060"/>
                  </a:solidFill>
                </a:endParaRPr>
              </a:p>
            </p:txBody>
          </p:sp>
        </mc:Choice>
        <mc:Fallback xmlns="">
          <p:sp>
            <p:nvSpPr>
              <p:cNvPr id="43" name="Rectangle 42"/>
              <p:cNvSpPr>
                <a:spLocks noRot="1" noChangeAspect="1" noMove="1" noResize="1" noEditPoints="1" noAdjustHandles="1" noChangeArrowheads="1" noChangeShapeType="1" noTextEdit="1"/>
              </p:cNvSpPr>
              <p:nvPr/>
            </p:nvSpPr>
            <p:spPr>
              <a:xfrm>
                <a:off x="5674057" y="743629"/>
                <a:ext cx="538930" cy="52322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Rectangle 43"/>
              <p:cNvSpPr/>
              <p:nvPr/>
            </p:nvSpPr>
            <p:spPr>
              <a:xfrm>
                <a:off x="6018362" y="744199"/>
                <a:ext cx="1297406"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smtClean="0">
                          <a:solidFill>
                            <a:srgbClr val="002060"/>
                          </a:solidFill>
                          <a:latin typeface="Cambria Math" panose="02040503050406030204" pitchFamily="18" charset="0"/>
                        </a:rPr>
                        <m:t>E</m:t>
                      </m:r>
                      <m:d>
                        <m:dPr>
                          <m:ctrlPr>
                            <a:rPr lang="en-US" sz="2800" i="1">
                              <a:solidFill>
                                <a:srgbClr val="002060"/>
                              </a:solidFill>
                              <a:latin typeface="Cambria Math" panose="02040503050406030204" pitchFamily="18" charset="0"/>
                            </a:rPr>
                          </m:ctrlPr>
                        </m:dPr>
                        <m:e>
                          <m:r>
                            <m:rPr>
                              <m:sty m:val="p"/>
                            </m:rPr>
                            <a:rPr lang="en-US" sz="2800" b="0" i="0" smtClean="0">
                              <a:solidFill>
                                <a:srgbClr val="002060"/>
                              </a:solidFill>
                              <a:latin typeface="Cambria Math" panose="02040503050406030204" pitchFamily="18" charset="0"/>
                            </a:rPr>
                            <m:t>c</m:t>
                          </m:r>
                        </m:e>
                      </m:d>
                      <m:r>
                        <a:rPr lang="en-US" sz="2800">
                          <a:solidFill>
                            <a:srgbClr val="002060"/>
                          </a:solidFill>
                          <a:latin typeface="Cambria Math" panose="02040503050406030204" pitchFamily="18" charset="0"/>
                        </a:rPr>
                        <m:t>=</m:t>
                      </m:r>
                    </m:oMath>
                  </m:oMathPara>
                </a14:m>
                <a:endParaRPr lang="en-US" sz="2800" dirty="0">
                  <a:solidFill>
                    <a:srgbClr val="002060"/>
                  </a:solidFill>
                </a:endParaRPr>
              </a:p>
            </p:txBody>
          </p:sp>
        </mc:Choice>
        <mc:Fallback xmlns="">
          <p:sp>
            <p:nvSpPr>
              <p:cNvPr id="44" name="Rectangle 43"/>
              <p:cNvSpPr>
                <a:spLocks noRot="1" noChangeAspect="1" noMove="1" noResize="1" noEditPoints="1" noAdjustHandles="1" noChangeArrowheads="1" noChangeShapeType="1" noTextEdit="1"/>
              </p:cNvSpPr>
              <p:nvPr/>
            </p:nvSpPr>
            <p:spPr>
              <a:xfrm>
                <a:off x="6018362" y="744199"/>
                <a:ext cx="1297406" cy="523220"/>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Rectangle 44"/>
              <p:cNvSpPr/>
              <p:nvPr/>
            </p:nvSpPr>
            <p:spPr>
              <a:xfrm>
                <a:off x="7213932" y="746804"/>
                <a:ext cx="53892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smtClean="0">
                          <a:solidFill>
                            <a:srgbClr val="002060"/>
                          </a:solidFill>
                          <a:latin typeface="Cambria Math" panose="02040503050406030204" pitchFamily="18" charset="0"/>
                        </a:rPr>
                        <m:t>2</m:t>
                      </m:r>
                      <m:r>
                        <a:rPr lang="en-US" sz="2800" b="0" i="0" smtClean="0">
                          <a:solidFill>
                            <a:srgbClr val="002060"/>
                          </a:solidFill>
                          <a:latin typeface="Cambria Math" panose="02040503050406030204" pitchFamily="18" charset="0"/>
                        </a:rPr>
                        <m:t>,</m:t>
                      </m:r>
                    </m:oMath>
                  </m:oMathPara>
                </a14:m>
                <a:endParaRPr lang="en-US" sz="2800" dirty="0">
                  <a:solidFill>
                    <a:srgbClr val="002060"/>
                  </a:solidFill>
                </a:endParaRPr>
              </a:p>
            </p:txBody>
          </p:sp>
        </mc:Choice>
        <mc:Fallback xmlns="">
          <p:sp>
            <p:nvSpPr>
              <p:cNvPr id="45" name="Rectangle 44"/>
              <p:cNvSpPr>
                <a:spLocks noRot="1" noChangeAspect="1" noMove="1" noResize="1" noEditPoints="1" noAdjustHandles="1" noChangeArrowheads="1" noChangeShapeType="1" noTextEdit="1"/>
              </p:cNvSpPr>
              <p:nvPr/>
            </p:nvSpPr>
            <p:spPr>
              <a:xfrm>
                <a:off x="7213932" y="746804"/>
                <a:ext cx="538929" cy="523220"/>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Rectangle 45"/>
              <p:cNvSpPr/>
              <p:nvPr/>
            </p:nvSpPr>
            <p:spPr>
              <a:xfrm>
                <a:off x="7577287" y="744199"/>
                <a:ext cx="133748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smtClean="0">
                          <a:solidFill>
                            <a:srgbClr val="002060"/>
                          </a:solidFill>
                          <a:latin typeface="Cambria Math" panose="02040503050406030204" pitchFamily="18" charset="0"/>
                        </a:rPr>
                        <m:t>E</m:t>
                      </m:r>
                      <m:d>
                        <m:dPr>
                          <m:ctrlPr>
                            <a:rPr lang="en-US" sz="2800" i="1">
                              <a:solidFill>
                                <a:srgbClr val="002060"/>
                              </a:solidFill>
                              <a:latin typeface="Cambria Math" panose="02040503050406030204" pitchFamily="18" charset="0"/>
                            </a:rPr>
                          </m:ctrlPr>
                        </m:dPr>
                        <m:e>
                          <m:r>
                            <m:rPr>
                              <m:sty m:val="p"/>
                            </m:rPr>
                            <a:rPr lang="en-US" sz="2800" b="0" i="0" smtClean="0">
                              <a:solidFill>
                                <a:srgbClr val="002060"/>
                              </a:solidFill>
                              <a:latin typeface="Cambria Math" panose="02040503050406030204" pitchFamily="18" charset="0"/>
                            </a:rPr>
                            <m:t>d</m:t>
                          </m:r>
                        </m:e>
                      </m:d>
                      <m:r>
                        <a:rPr lang="en-US" sz="2800">
                          <a:solidFill>
                            <a:srgbClr val="002060"/>
                          </a:solidFill>
                          <a:latin typeface="Cambria Math" panose="02040503050406030204" pitchFamily="18" charset="0"/>
                        </a:rPr>
                        <m:t>=</m:t>
                      </m:r>
                    </m:oMath>
                  </m:oMathPara>
                </a14:m>
                <a:endParaRPr lang="en-US" sz="2800" dirty="0">
                  <a:solidFill>
                    <a:srgbClr val="002060"/>
                  </a:solidFill>
                </a:endParaRPr>
              </a:p>
            </p:txBody>
          </p:sp>
        </mc:Choice>
        <mc:Fallback xmlns="">
          <p:sp>
            <p:nvSpPr>
              <p:cNvPr id="46" name="Rectangle 45"/>
              <p:cNvSpPr>
                <a:spLocks noRot="1" noChangeAspect="1" noMove="1" noResize="1" noEditPoints="1" noAdjustHandles="1" noChangeArrowheads="1" noChangeShapeType="1" noTextEdit="1"/>
              </p:cNvSpPr>
              <p:nvPr/>
            </p:nvSpPr>
            <p:spPr>
              <a:xfrm>
                <a:off x="7577287" y="744199"/>
                <a:ext cx="1337481" cy="523220"/>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Rectangle 46"/>
              <p:cNvSpPr/>
              <p:nvPr/>
            </p:nvSpPr>
            <p:spPr>
              <a:xfrm>
                <a:off x="8753807" y="746804"/>
                <a:ext cx="46519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smtClean="0">
                          <a:solidFill>
                            <a:srgbClr val="002060"/>
                          </a:solidFill>
                          <a:latin typeface="Cambria Math" panose="02040503050406030204" pitchFamily="18" charset="0"/>
                        </a:rPr>
                        <m:t>2</m:t>
                      </m:r>
                    </m:oMath>
                  </m:oMathPara>
                </a14:m>
                <a:endParaRPr lang="en-US" sz="2800" dirty="0">
                  <a:solidFill>
                    <a:srgbClr val="002060"/>
                  </a:solidFill>
                </a:endParaRPr>
              </a:p>
            </p:txBody>
          </p:sp>
        </mc:Choice>
        <mc:Fallback xmlns="">
          <p:sp>
            <p:nvSpPr>
              <p:cNvPr id="47" name="Rectangle 46"/>
              <p:cNvSpPr>
                <a:spLocks noRot="1" noChangeAspect="1" noMove="1" noResize="1" noEditPoints="1" noAdjustHandles="1" noChangeArrowheads="1" noChangeShapeType="1" noTextEdit="1"/>
              </p:cNvSpPr>
              <p:nvPr/>
            </p:nvSpPr>
            <p:spPr>
              <a:xfrm>
                <a:off x="8753807" y="746804"/>
                <a:ext cx="465192" cy="523220"/>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Rectangle 47"/>
              <p:cNvSpPr/>
              <p:nvPr/>
            </p:nvSpPr>
            <p:spPr>
              <a:xfrm>
                <a:off x="3062297" y="1520637"/>
                <a:ext cx="6818149" cy="523220"/>
              </a:xfrm>
              <a:prstGeom prst="rect">
                <a:avLst/>
              </a:prstGeom>
            </p:spPr>
            <p:txBody>
              <a:bodyPr wrap="none">
                <a:spAutoFit/>
              </a:bodyPr>
              <a:lstStyle/>
              <a:p>
                <a:pPr algn="just">
                  <a:spcBef>
                    <a:spcPts val="1000"/>
                  </a:spcBef>
                </a:pPr>
                <a14:m>
                  <m:oMathPara xmlns:m="http://schemas.openxmlformats.org/officeDocument/2006/math">
                    <m:oMathParaPr>
                      <m:jc m:val="centerGroup"/>
                    </m:oMathParaPr>
                    <m:oMath xmlns:m="http://schemas.openxmlformats.org/officeDocument/2006/math">
                      <m:r>
                        <m:rPr>
                          <m:sty m:val="p"/>
                        </m:rPr>
                        <a:rPr lang="en-US" sz="2800">
                          <a:solidFill>
                            <a:srgbClr val="002060"/>
                          </a:solidFill>
                          <a:latin typeface="Cambria Math" panose="02040503050406030204" pitchFamily="18" charset="0"/>
                        </a:rPr>
                        <m:t>d</m:t>
                      </m:r>
                      <m:d>
                        <m:dPr>
                          <m:ctrlPr>
                            <a:rPr lang="en-US"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a</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b</m:t>
                          </m:r>
                        </m:e>
                      </m:d>
                      <m:r>
                        <a:rPr lang="en-US" sz="2800">
                          <a:solidFill>
                            <a:srgbClr val="002060"/>
                          </a:solidFill>
                          <a:latin typeface="Cambria Math" panose="02040503050406030204" pitchFamily="18" charset="0"/>
                        </a:rPr>
                        <m:t>=1,</m:t>
                      </m:r>
                      <m:r>
                        <a:rPr lang="en-US" sz="2800" i="1">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d</m:t>
                      </m:r>
                      <m:d>
                        <m:dPr>
                          <m:ctrlPr>
                            <a:rPr lang="en-US"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a</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c</m:t>
                          </m:r>
                        </m:e>
                      </m:d>
                      <m:r>
                        <a:rPr lang="en-US" sz="2800">
                          <a:solidFill>
                            <a:srgbClr val="002060"/>
                          </a:solidFill>
                          <a:latin typeface="Cambria Math" panose="02040503050406030204" pitchFamily="18" charset="0"/>
                        </a:rPr>
                        <m:t>=2,</m:t>
                      </m:r>
                      <m:r>
                        <a:rPr lang="en-US" sz="2800" i="1">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d</m:t>
                      </m:r>
                      <m:d>
                        <m:dPr>
                          <m:ctrlPr>
                            <a:rPr lang="en-US"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a</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d</m:t>
                          </m:r>
                        </m:e>
                      </m:d>
                      <m:r>
                        <a:rPr lang="en-US" sz="2800">
                          <a:solidFill>
                            <a:srgbClr val="002060"/>
                          </a:solidFill>
                          <a:latin typeface="Cambria Math" panose="02040503050406030204" pitchFamily="18" charset="0"/>
                        </a:rPr>
                        <m:t>=2</m:t>
                      </m:r>
                    </m:oMath>
                  </m:oMathPara>
                </a14:m>
                <a:endParaRPr lang="en-US" sz="2800" dirty="0">
                  <a:effectLst/>
                </a:endParaRPr>
              </a:p>
            </p:txBody>
          </p:sp>
        </mc:Choice>
        <mc:Fallback xmlns="">
          <p:sp>
            <p:nvSpPr>
              <p:cNvPr id="48" name="Rectangle 47"/>
              <p:cNvSpPr>
                <a:spLocks noRot="1" noChangeAspect="1" noMove="1" noResize="1" noEditPoints="1" noAdjustHandles="1" noChangeArrowheads="1" noChangeShapeType="1" noTextEdit="1"/>
              </p:cNvSpPr>
              <p:nvPr/>
            </p:nvSpPr>
            <p:spPr>
              <a:xfrm>
                <a:off x="3062297" y="1520637"/>
                <a:ext cx="6818149" cy="523220"/>
              </a:xfrm>
              <a:prstGeom prst="rect">
                <a:avLst/>
              </a:prstGeom>
              <a:blipFill rotWithShape="0">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Rectangle 48"/>
              <p:cNvSpPr/>
              <p:nvPr/>
            </p:nvSpPr>
            <p:spPr>
              <a:xfrm>
                <a:off x="3054915" y="2493095"/>
                <a:ext cx="440287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smtClean="0">
                          <a:solidFill>
                            <a:srgbClr val="002060"/>
                          </a:solidFill>
                          <a:latin typeface="Cambria Math" panose="02040503050406030204" pitchFamily="18" charset="0"/>
                        </a:rPr>
                        <m:t>d</m:t>
                      </m:r>
                      <m:d>
                        <m:dPr>
                          <m:ctrlPr>
                            <a:rPr lang="en-US"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b</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c</m:t>
                          </m:r>
                        </m:e>
                      </m:d>
                      <m:r>
                        <a:rPr lang="en-US" sz="2800">
                          <a:solidFill>
                            <a:srgbClr val="002060"/>
                          </a:solidFill>
                          <a:latin typeface="Cambria Math" panose="02040503050406030204" pitchFamily="18" charset="0"/>
                        </a:rPr>
                        <m:t>=1,</m:t>
                      </m:r>
                      <m:r>
                        <a:rPr lang="en-US" sz="2800" b="0" i="0" smtClean="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d</m:t>
                      </m:r>
                      <m:d>
                        <m:dPr>
                          <m:ctrlPr>
                            <a:rPr lang="en-US"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b</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d</m:t>
                          </m:r>
                        </m:e>
                      </m:d>
                      <m:r>
                        <a:rPr lang="en-US" sz="2800">
                          <a:solidFill>
                            <a:srgbClr val="002060"/>
                          </a:solidFill>
                          <a:latin typeface="Cambria Math" panose="02040503050406030204" pitchFamily="18" charset="0"/>
                        </a:rPr>
                        <m:t>=1</m:t>
                      </m:r>
                    </m:oMath>
                  </m:oMathPara>
                </a14:m>
                <a:endParaRPr lang="en-US" sz="2800" dirty="0"/>
              </a:p>
            </p:txBody>
          </p:sp>
        </mc:Choice>
        <mc:Fallback xmlns="">
          <p:sp>
            <p:nvSpPr>
              <p:cNvPr id="49" name="Rectangle 48"/>
              <p:cNvSpPr>
                <a:spLocks noRot="1" noChangeAspect="1" noMove="1" noResize="1" noEditPoints="1" noAdjustHandles="1" noChangeArrowheads="1" noChangeShapeType="1" noTextEdit="1"/>
              </p:cNvSpPr>
              <p:nvPr/>
            </p:nvSpPr>
            <p:spPr>
              <a:xfrm>
                <a:off x="3054915" y="2493095"/>
                <a:ext cx="4402872" cy="523220"/>
              </a:xfrm>
              <a:prstGeom prst="rect">
                <a:avLst/>
              </a:prstGeom>
              <a:blipFill rotWithShape="0">
                <a:blip r:embed="rId12"/>
                <a:stretch>
                  <a:fillRect/>
                </a:stretch>
              </a:blipFill>
            </p:spPr>
            <p:txBody>
              <a:bodyPr/>
              <a:lstStyle/>
              <a:p>
                <a:r>
                  <a:rPr lang="en-US">
                    <a:noFill/>
                  </a:rPr>
                  <a:t> </a:t>
                </a:r>
              </a:p>
            </p:txBody>
          </p:sp>
        </mc:Fallback>
      </mc:AlternateContent>
      <p:sp>
        <p:nvSpPr>
          <p:cNvPr id="50" name="Rectangle 49"/>
          <p:cNvSpPr/>
          <p:nvPr/>
        </p:nvSpPr>
        <p:spPr>
          <a:xfrm>
            <a:off x="5498687" y="2477557"/>
            <a:ext cx="1944826" cy="569844"/>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50"/>
          <p:cNvSpPr/>
          <p:nvPr/>
        </p:nvSpPr>
        <p:spPr>
          <a:xfrm>
            <a:off x="3154630" y="2484814"/>
            <a:ext cx="1944826" cy="569844"/>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p:cNvSpPr/>
          <p:nvPr/>
        </p:nvSpPr>
        <p:spPr>
          <a:xfrm>
            <a:off x="3132857" y="3391957"/>
            <a:ext cx="1944826" cy="569844"/>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p:cNvSpPr/>
          <p:nvPr/>
        </p:nvSpPr>
        <p:spPr>
          <a:xfrm>
            <a:off x="3147371" y="1534128"/>
            <a:ext cx="1944826" cy="569844"/>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4" name="Picture 53"/>
          <p:cNvPicPr>
            <a:picLocks noChangeAspect="1"/>
          </p:cNvPicPr>
          <p:nvPr/>
        </p:nvPicPr>
        <p:blipFill>
          <a:blip r:embed="rId13"/>
          <a:stretch>
            <a:fillRect/>
          </a:stretch>
        </p:blipFill>
        <p:spPr>
          <a:xfrm>
            <a:off x="451191" y="1570934"/>
            <a:ext cx="2054530" cy="2591025"/>
          </a:xfrm>
          <a:prstGeom prst="rect">
            <a:avLst/>
          </a:prstGeom>
        </p:spPr>
      </p:pic>
      <p:sp>
        <p:nvSpPr>
          <p:cNvPr id="2" name="Rectangle 1"/>
          <p:cNvSpPr/>
          <p:nvPr/>
        </p:nvSpPr>
        <p:spPr>
          <a:xfrm>
            <a:off x="2789487" y="4043380"/>
            <a:ext cx="5338321" cy="954107"/>
          </a:xfrm>
          <a:prstGeom prst="rect">
            <a:avLst/>
          </a:prstGeom>
        </p:spPr>
        <p:txBody>
          <a:bodyPr wrap="none">
            <a:spAutoFit/>
          </a:bodyPr>
          <a:lstStyle/>
          <a:p>
            <a:r>
              <a:rPr lang="en-US" sz="2800" b="1" dirty="0">
                <a:solidFill>
                  <a:srgbClr val="FF0000"/>
                </a:solidFill>
              </a:rPr>
              <a:t>b </a:t>
            </a:r>
            <a:r>
              <a:rPr lang="en-US" sz="2800" dirty="0">
                <a:solidFill>
                  <a:srgbClr val="002060"/>
                </a:solidFill>
              </a:rPr>
              <a:t>(vertex with minimum eccentricity)</a:t>
            </a:r>
          </a:p>
          <a:p>
            <a:r>
              <a:rPr lang="en-US" sz="2800" b="1" dirty="0">
                <a:solidFill>
                  <a:srgbClr val="FF0000"/>
                </a:solidFill>
              </a:rPr>
              <a:t> </a:t>
            </a:r>
            <a:endParaRPr lang="en-US" dirty="0"/>
          </a:p>
        </p:txBody>
      </p:sp>
      <p:sp>
        <p:nvSpPr>
          <p:cNvPr id="23" name="Rectangle 22"/>
          <p:cNvSpPr/>
          <p:nvPr/>
        </p:nvSpPr>
        <p:spPr>
          <a:xfrm>
            <a:off x="4579486" y="703060"/>
            <a:ext cx="1506109" cy="569844"/>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p:cNvSpPr/>
          <p:nvPr/>
        </p:nvSpPr>
        <p:spPr>
          <a:xfrm>
            <a:off x="2794851" y="4599599"/>
            <a:ext cx="3663182" cy="523220"/>
          </a:xfrm>
          <a:prstGeom prst="rect">
            <a:avLst/>
          </a:prstGeom>
        </p:spPr>
        <p:txBody>
          <a:bodyPr wrap="none">
            <a:spAutoFit/>
          </a:bodyPr>
          <a:lstStyle/>
          <a:p>
            <a:r>
              <a:rPr lang="en-US" sz="2800" b="1" dirty="0">
                <a:solidFill>
                  <a:srgbClr val="FF0000"/>
                </a:solidFill>
              </a:rPr>
              <a:t>1 </a:t>
            </a:r>
            <a:r>
              <a:rPr lang="en-US" sz="2800" dirty="0">
                <a:solidFill>
                  <a:srgbClr val="002060"/>
                </a:solidFill>
              </a:rPr>
              <a:t>(eccentricity of center)</a:t>
            </a:r>
          </a:p>
        </p:txBody>
      </p:sp>
      <p:sp>
        <p:nvSpPr>
          <p:cNvPr id="4" name="Rectangle 3"/>
          <p:cNvSpPr/>
          <p:nvPr/>
        </p:nvSpPr>
        <p:spPr>
          <a:xfrm>
            <a:off x="3060694" y="5137214"/>
            <a:ext cx="4166525" cy="523220"/>
          </a:xfrm>
          <a:prstGeom prst="rect">
            <a:avLst/>
          </a:prstGeom>
        </p:spPr>
        <p:txBody>
          <a:bodyPr wrap="none">
            <a:spAutoFit/>
          </a:bodyPr>
          <a:lstStyle/>
          <a:p>
            <a:pPr algn="just">
              <a:spcBef>
                <a:spcPts val="1000"/>
              </a:spcBef>
              <a:buClr>
                <a:srgbClr val="B84742"/>
              </a:buClr>
            </a:pPr>
            <a:r>
              <a:rPr lang="en-US" sz="2800" b="1" dirty="0">
                <a:solidFill>
                  <a:srgbClr val="FF0000"/>
                </a:solidFill>
              </a:rPr>
              <a:t>2</a:t>
            </a:r>
            <a:r>
              <a:rPr lang="en-US" sz="2800" dirty="0">
                <a:solidFill>
                  <a:srgbClr val="002060"/>
                </a:solidFill>
              </a:rPr>
              <a:t> (maximum of eccentricity)</a:t>
            </a:r>
          </a:p>
        </p:txBody>
      </p:sp>
    </p:spTree>
    <p:extLst>
      <p:ext uri="{BB962C8B-B14F-4D97-AF65-F5344CB8AC3E}">
        <p14:creationId xmlns:p14="http://schemas.microsoft.com/office/powerpoint/2010/main" val="4122610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par>
                                <p:cTn id="37" presetID="1" presetClass="exit" presetSubtype="0" fill="hold" grpId="1" nodeType="withEffect">
                                  <p:stCondLst>
                                    <p:cond delay="0"/>
                                  </p:stCondLst>
                                  <p:childTnLst>
                                    <p:set>
                                      <p:cBhvr>
                                        <p:cTn id="38" dur="1" fill="hold">
                                          <p:stCondLst>
                                            <p:cond delay="0"/>
                                          </p:stCondLst>
                                        </p:cTn>
                                        <p:tgtEl>
                                          <p:spTgt spid="32"/>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28"/>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1"/>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5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3"/>
                                        </p:tgtEl>
                                        <p:attrNameLst>
                                          <p:attrName>style.visibility</p:attrName>
                                        </p:attrNameLst>
                                      </p:cBhvr>
                                      <p:to>
                                        <p:strVal val="visible"/>
                                      </p:to>
                                    </p:set>
                                  </p:childTnLst>
                                </p:cTn>
                              </p:par>
                              <p:par>
                                <p:cTn id="57" presetID="1" presetClass="exit" presetSubtype="0" fill="hold" grpId="1" nodeType="withEffect">
                                  <p:stCondLst>
                                    <p:cond delay="0"/>
                                  </p:stCondLst>
                                  <p:childTnLst>
                                    <p:set>
                                      <p:cBhvr>
                                        <p:cTn id="58" dur="1" fill="hold">
                                          <p:stCondLst>
                                            <p:cond delay="0"/>
                                          </p:stCondLst>
                                        </p:cTn>
                                        <p:tgtEl>
                                          <p:spTgt spid="53"/>
                                        </p:tgtEl>
                                        <p:attrNameLst>
                                          <p:attrName>style.visibility</p:attrName>
                                        </p:attrNameLst>
                                      </p:cBhvr>
                                      <p:to>
                                        <p:strVal val="hidden"/>
                                      </p:to>
                                    </p:set>
                                  </p:childTnLst>
                                </p:cTn>
                              </p:par>
                              <p:par>
                                <p:cTn id="59" presetID="1" presetClass="exit" presetSubtype="0" fill="hold" grpId="1" nodeType="withEffect">
                                  <p:stCondLst>
                                    <p:cond delay="0"/>
                                  </p:stCondLst>
                                  <p:childTnLst>
                                    <p:set>
                                      <p:cBhvr>
                                        <p:cTn id="60" dur="1" fill="hold">
                                          <p:stCondLst>
                                            <p:cond delay="0"/>
                                          </p:stCondLst>
                                        </p:cTn>
                                        <p:tgtEl>
                                          <p:spTgt spid="51"/>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50"/>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2" nodeType="clickEffect">
                                  <p:stCondLst>
                                    <p:cond delay="0"/>
                                  </p:stCondLst>
                                  <p:childTnLst>
                                    <p:set>
                                      <p:cBhvr>
                                        <p:cTn id="70" dur="1" fill="hold">
                                          <p:stCondLst>
                                            <p:cond delay="0"/>
                                          </p:stCondLst>
                                        </p:cTn>
                                        <p:tgtEl>
                                          <p:spTgt spid="2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5"/>
                                        </p:tgtEl>
                                        <p:attrNameLst>
                                          <p:attrName>style.visibility</p:attrName>
                                        </p:attrNameLst>
                                      </p:cBhvr>
                                      <p:to>
                                        <p:strVal val="visible"/>
                                      </p:to>
                                    </p:set>
                                  </p:childTnLst>
                                </p:cTn>
                              </p:par>
                              <p:par>
                                <p:cTn id="75" presetID="1" presetClass="exit" presetSubtype="0" fill="hold" grpId="3" nodeType="withEffect">
                                  <p:stCondLst>
                                    <p:cond delay="0"/>
                                  </p:stCondLst>
                                  <p:childTnLst>
                                    <p:set>
                                      <p:cBhvr>
                                        <p:cTn id="76" dur="1" fill="hold">
                                          <p:stCondLst>
                                            <p:cond delay="0"/>
                                          </p:stCondLst>
                                        </p:cTn>
                                        <p:tgtEl>
                                          <p:spTgt spid="28"/>
                                        </p:tgtEl>
                                        <p:attrNameLst>
                                          <p:attrName>style.visibility</p:attrName>
                                        </p:attrNameLst>
                                      </p:cBhvr>
                                      <p:to>
                                        <p:strVal val="hidden"/>
                                      </p:to>
                                    </p:set>
                                  </p:childTnLst>
                                </p:cTn>
                              </p:par>
                              <p:par>
                                <p:cTn id="77" presetID="1" presetClass="exit" presetSubtype="0" fill="hold" grpId="1" nodeType="withEffect">
                                  <p:stCondLst>
                                    <p:cond delay="0"/>
                                  </p:stCondLst>
                                  <p:childTnLst>
                                    <p:set>
                                      <p:cBhvr>
                                        <p:cTn id="78" dur="1" fill="hold">
                                          <p:stCondLst>
                                            <p:cond delay="0"/>
                                          </p:stCondLst>
                                        </p:cTn>
                                        <p:tgtEl>
                                          <p:spTgt spid="52"/>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2" nodeType="clickEffect">
                                  <p:stCondLst>
                                    <p:cond delay="0"/>
                                  </p:stCondLst>
                                  <p:childTnLst>
                                    <p:set>
                                      <p:cBhvr>
                                        <p:cTn id="82" dur="1" fill="hold">
                                          <p:stCondLst>
                                            <p:cond delay="0"/>
                                          </p:stCondLst>
                                        </p:cTn>
                                        <p:tgtEl>
                                          <p:spTgt spid="52"/>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2" nodeType="clickEffect">
                                  <p:stCondLst>
                                    <p:cond delay="0"/>
                                  </p:stCondLst>
                                  <p:childTnLst>
                                    <p:set>
                                      <p:cBhvr>
                                        <p:cTn id="86" dur="1" fill="hold">
                                          <p:stCondLst>
                                            <p:cond delay="0"/>
                                          </p:stCondLst>
                                        </p:cTn>
                                        <p:tgtEl>
                                          <p:spTgt spid="32"/>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47"/>
                                        </p:tgtEl>
                                        <p:attrNameLst>
                                          <p:attrName>style.visibility</p:attrName>
                                        </p:attrNameLst>
                                      </p:cBhvr>
                                      <p:to>
                                        <p:strVal val="visible"/>
                                      </p:to>
                                    </p:set>
                                  </p:childTnLst>
                                </p:cTn>
                              </p:par>
                              <p:par>
                                <p:cTn id="91" presetID="1" presetClass="exit" presetSubtype="0" fill="hold" grpId="3" nodeType="withEffect">
                                  <p:stCondLst>
                                    <p:cond delay="0"/>
                                  </p:stCondLst>
                                  <p:childTnLst>
                                    <p:set>
                                      <p:cBhvr>
                                        <p:cTn id="92" dur="1" fill="hold">
                                          <p:stCondLst>
                                            <p:cond delay="0"/>
                                          </p:stCondLst>
                                        </p:cTn>
                                        <p:tgtEl>
                                          <p:spTgt spid="52"/>
                                        </p:tgtEl>
                                        <p:attrNameLst>
                                          <p:attrName>style.visibility</p:attrName>
                                        </p:attrNameLst>
                                      </p:cBhvr>
                                      <p:to>
                                        <p:strVal val="hidden"/>
                                      </p:to>
                                    </p:set>
                                  </p:childTnLst>
                                </p:cTn>
                              </p:par>
                              <p:par>
                                <p:cTn id="93" presetID="1" presetClass="exit" presetSubtype="0" fill="hold" grpId="3" nodeType="withEffect">
                                  <p:stCondLst>
                                    <p:cond delay="0"/>
                                  </p:stCondLst>
                                  <p:childTnLst>
                                    <p:set>
                                      <p:cBhvr>
                                        <p:cTn id="94" dur="1" fill="hold">
                                          <p:stCondLst>
                                            <p:cond delay="0"/>
                                          </p:stCondLst>
                                        </p:cTn>
                                        <p:tgtEl>
                                          <p:spTgt spid="32"/>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23"/>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2"/>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3"/>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xit" presetSubtype="0" fill="hold" grpId="1" nodeType="clickEffect">
                                  <p:stCondLst>
                                    <p:cond delay="0"/>
                                  </p:stCondLst>
                                  <p:childTnLst>
                                    <p:set>
                                      <p:cBhvr>
                                        <p:cTn id="118" dur="1" fill="hold">
                                          <p:stCondLst>
                                            <p:cond delay="0"/>
                                          </p:stCondLst>
                                        </p:cTn>
                                        <p:tgtEl>
                                          <p:spTgt spid="23"/>
                                        </p:tgtEl>
                                        <p:attrNameLst>
                                          <p:attrName>style.visibility</p:attrName>
                                        </p:attrNameLst>
                                      </p:cBhvr>
                                      <p:to>
                                        <p:strVal val="hidden"/>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8" grpId="1" animBg="1"/>
      <p:bldP spid="28" grpId="2" animBg="1"/>
      <p:bldP spid="28" grpId="3" animBg="1"/>
      <p:bldP spid="31" grpId="0"/>
      <p:bldP spid="32" grpId="0" animBg="1"/>
      <p:bldP spid="32" grpId="1" animBg="1"/>
      <p:bldP spid="32" grpId="2" animBg="1"/>
      <p:bldP spid="32" grpId="3" animBg="1"/>
      <p:bldP spid="34" grpId="0"/>
      <p:bldP spid="35" grpId="0"/>
      <p:bldP spid="42" grpId="0"/>
      <p:bldP spid="43" grpId="0"/>
      <p:bldP spid="44" grpId="0"/>
      <p:bldP spid="45" grpId="0"/>
      <p:bldP spid="46" grpId="0"/>
      <p:bldP spid="47" grpId="0"/>
      <p:bldP spid="48" grpId="0"/>
      <p:bldP spid="49" grpId="0"/>
      <p:bldP spid="50" grpId="0" animBg="1"/>
      <p:bldP spid="50" grpId="1" animBg="1"/>
      <p:bldP spid="51" grpId="0" animBg="1"/>
      <p:bldP spid="51" grpId="1" animBg="1"/>
      <p:bldP spid="52" grpId="0" animBg="1"/>
      <p:bldP spid="52" grpId="1" animBg="1"/>
      <p:bldP spid="52" grpId="2" animBg="1"/>
      <p:bldP spid="52" grpId="3" animBg="1"/>
      <p:bldP spid="53" grpId="0" animBg="1"/>
      <p:bldP spid="53" grpId="1" animBg="1"/>
      <p:bldP spid="2" grpId="0"/>
      <p:bldP spid="23" grpId="0" animBg="1"/>
      <p:bldP spid="23" grpId="1" animBg="1"/>
      <p:bldP spid="3" grpId="0"/>
      <p:bldP spid="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pPr algn="just">
              <a:spcBef>
                <a:spcPts val="1000"/>
              </a:spcBef>
              <a:buClr>
                <a:srgbClr val="B84742"/>
              </a:buClr>
            </a:pPr>
            <a:r>
              <a:rPr lang="en-US" dirty="0"/>
              <a:t>Leaf Pruning Method (intuitive &amp; visual)</a:t>
            </a:r>
          </a:p>
        </p:txBody>
      </p:sp>
      <p:sp>
        <p:nvSpPr>
          <p:cNvPr id="4" name="Content Placeholder 3"/>
          <p:cNvSpPr>
            <a:spLocks noGrp="1"/>
          </p:cNvSpPr>
          <p:nvPr>
            <p:ph idx="1"/>
          </p:nvPr>
        </p:nvSpPr>
        <p:spPr>
          <a:xfrm>
            <a:off x="131180" y="863444"/>
            <a:ext cx="11742372" cy="5590565"/>
          </a:xfrm>
        </p:spPr>
        <p:txBody>
          <a:bodyPr/>
          <a:lstStyle/>
          <a:p>
            <a:pPr>
              <a:buClr>
                <a:srgbClr val="B84742"/>
              </a:buClr>
            </a:pPr>
            <a:r>
              <a:rPr lang="en-US" dirty="0"/>
              <a:t>The </a:t>
            </a:r>
            <a:r>
              <a:rPr lang="en-US" b="1" dirty="0"/>
              <a:t>center of a tree</a:t>
            </a:r>
            <a:r>
              <a:rPr lang="en-US" dirty="0"/>
              <a:t> is found by </a:t>
            </a:r>
            <a:r>
              <a:rPr lang="en-US" b="1" dirty="0"/>
              <a:t>removing leaves layer by layer.</a:t>
            </a:r>
          </a:p>
          <a:p>
            <a:pPr marL="0" indent="0">
              <a:buClr>
                <a:srgbClr val="B84742"/>
              </a:buClr>
              <a:buNone/>
            </a:pPr>
            <a:r>
              <a:rPr lang="en-US" dirty="0"/>
              <a:t>Steps: </a:t>
            </a:r>
          </a:p>
          <a:p>
            <a:pPr marL="514350" indent="-514350">
              <a:lnSpc>
                <a:spcPct val="150000"/>
              </a:lnSpc>
              <a:buClr>
                <a:srgbClr val="B84742"/>
              </a:buClr>
              <a:buFont typeface="+mj-lt"/>
              <a:buAutoNum type="arabicPeriod"/>
            </a:pPr>
            <a:r>
              <a:rPr lang="en-US" dirty="0"/>
              <a:t>Remove all pendant vertices.</a:t>
            </a:r>
          </a:p>
          <a:p>
            <a:pPr marL="514350" indent="-514350">
              <a:lnSpc>
                <a:spcPct val="150000"/>
              </a:lnSpc>
              <a:buClr>
                <a:srgbClr val="B84742"/>
              </a:buClr>
              <a:buFont typeface="+mj-lt"/>
              <a:buAutoNum type="arabicPeriod"/>
            </a:pPr>
            <a:r>
              <a:rPr lang="en-US" dirty="0"/>
              <a:t>Repeat the process on the remaining tree.</a:t>
            </a:r>
          </a:p>
          <a:p>
            <a:pPr marL="514350" indent="-514350">
              <a:lnSpc>
                <a:spcPct val="150000"/>
              </a:lnSpc>
              <a:buClr>
                <a:srgbClr val="B84742"/>
              </a:buClr>
              <a:buFont typeface="+mj-lt"/>
              <a:buAutoNum type="arabicPeriod"/>
            </a:pPr>
            <a:r>
              <a:rPr lang="en-US" dirty="0"/>
              <a:t>Continue until:</a:t>
            </a:r>
          </a:p>
          <a:p>
            <a:pPr marL="1058862" lvl="1" indent="-514350">
              <a:lnSpc>
                <a:spcPct val="150000"/>
              </a:lnSpc>
              <a:buClr>
                <a:srgbClr val="B84742"/>
              </a:buClr>
              <a:buFont typeface="+mj-lt"/>
              <a:buAutoNum type="arabicPeriod"/>
            </a:pPr>
            <a:r>
              <a:rPr lang="en-US" dirty="0"/>
              <a:t>Only 1 vertex remains → 1 center</a:t>
            </a:r>
          </a:p>
          <a:p>
            <a:pPr marL="1058862" lvl="1" indent="-514350">
              <a:lnSpc>
                <a:spcPct val="150000"/>
              </a:lnSpc>
              <a:buClr>
                <a:srgbClr val="B84742"/>
              </a:buClr>
              <a:buFont typeface="+mj-lt"/>
              <a:buAutoNum type="arabicPeriod"/>
            </a:pPr>
            <a:r>
              <a:rPr lang="en-US" dirty="0"/>
              <a:t>Or 2 vertices remain → 2 centers</a:t>
            </a:r>
          </a:p>
        </p:txBody>
      </p:sp>
    </p:spTree>
    <p:extLst>
      <p:ext uri="{BB962C8B-B14F-4D97-AF65-F5344CB8AC3E}">
        <p14:creationId xmlns:p14="http://schemas.microsoft.com/office/powerpoint/2010/main" val="163537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pPr algn="just">
              <a:spcBef>
                <a:spcPts val="1000"/>
              </a:spcBef>
              <a:buClr>
                <a:srgbClr val="B84742"/>
              </a:buClr>
            </a:pPr>
            <a:r>
              <a:rPr lang="en-US" dirty="0"/>
              <a:t>Find Center of tree using algorithm</a:t>
            </a:r>
          </a:p>
        </p:txBody>
      </p:sp>
      <p:sp>
        <p:nvSpPr>
          <p:cNvPr id="5" name="Rectangle 4"/>
          <p:cNvSpPr/>
          <p:nvPr/>
        </p:nvSpPr>
        <p:spPr>
          <a:xfrm>
            <a:off x="5547597" y="820601"/>
            <a:ext cx="6528289" cy="954107"/>
          </a:xfrm>
          <a:prstGeom prst="rect">
            <a:avLst/>
          </a:prstGeom>
        </p:spPr>
        <p:txBody>
          <a:bodyPr wrap="square">
            <a:spAutoFit/>
          </a:bodyPr>
          <a:lstStyle/>
          <a:p>
            <a:pPr marL="0" lvl="1" algn="just">
              <a:spcBef>
                <a:spcPts val="1000"/>
              </a:spcBef>
              <a:buClr>
                <a:srgbClr val="B84742"/>
              </a:buClr>
            </a:pPr>
            <a:r>
              <a:rPr lang="en-US" sz="2800" dirty="0">
                <a:solidFill>
                  <a:srgbClr val="002060"/>
                </a:solidFill>
              </a:rPr>
              <a:t>We use </a:t>
            </a:r>
            <a:r>
              <a:rPr lang="en-US" sz="2800" b="1" dirty="0">
                <a:solidFill>
                  <a:srgbClr val="002060"/>
                </a:solidFill>
              </a:rPr>
              <a:t>iterative leaf pruning for finding center of tree</a:t>
            </a:r>
          </a:p>
        </p:txBody>
      </p:sp>
      <p:sp>
        <p:nvSpPr>
          <p:cNvPr id="6" name="Oval 5">
            <a:extLst>
              <a:ext uri="{FF2B5EF4-FFF2-40B4-BE49-F238E27FC236}">
                <a16:creationId xmlns:a16="http://schemas.microsoft.com/office/drawing/2014/main" id="{A4197692-1A04-EA71-457D-175797FDA5CE}"/>
              </a:ext>
            </a:extLst>
          </p:cNvPr>
          <p:cNvSpPr/>
          <p:nvPr/>
        </p:nvSpPr>
        <p:spPr>
          <a:xfrm rot="5400000">
            <a:off x="4055898" y="360756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 name="Oval 6">
            <a:extLst>
              <a:ext uri="{FF2B5EF4-FFF2-40B4-BE49-F238E27FC236}">
                <a16:creationId xmlns:a16="http://schemas.microsoft.com/office/drawing/2014/main" id="{CB93A0AB-EDDB-9B43-C76E-64EE43FC8989}"/>
              </a:ext>
            </a:extLst>
          </p:cNvPr>
          <p:cNvSpPr/>
          <p:nvPr/>
        </p:nvSpPr>
        <p:spPr>
          <a:xfrm rot="5400000">
            <a:off x="2615739" y="360756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 name="Straight Connector 7">
            <a:extLst>
              <a:ext uri="{FF2B5EF4-FFF2-40B4-BE49-F238E27FC236}">
                <a16:creationId xmlns:a16="http://schemas.microsoft.com/office/drawing/2014/main" id="{66EA08EA-10E8-07B3-809B-572189B302D2}"/>
              </a:ext>
            </a:extLst>
          </p:cNvPr>
          <p:cNvCxnSpPr>
            <a:cxnSpLocks/>
            <a:stCxn id="6" idx="4"/>
            <a:endCxn id="10" idx="0"/>
          </p:cNvCxnSpPr>
          <p:nvPr/>
        </p:nvCxnSpPr>
        <p:spPr>
          <a:xfrm flipH="1">
            <a:off x="3479818" y="3679569"/>
            <a:ext cx="57608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0" name="Oval 9">
            <a:extLst>
              <a:ext uri="{FF2B5EF4-FFF2-40B4-BE49-F238E27FC236}">
                <a16:creationId xmlns:a16="http://schemas.microsoft.com/office/drawing/2014/main" id="{CB93A0AB-EDDB-9B43-C76E-64EE43FC8989}"/>
              </a:ext>
            </a:extLst>
          </p:cNvPr>
          <p:cNvSpPr/>
          <p:nvPr/>
        </p:nvSpPr>
        <p:spPr>
          <a:xfrm rot="5400000">
            <a:off x="3335818" y="360756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 name="Oval 10">
            <a:extLst>
              <a:ext uri="{FF2B5EF4-FFF2-40B4-BE49-F238E27FC236}">
                <a16:creationId xmlns:a16="http://schemas.microsoft.com/office/drawing/2014/main" id="{CB93A0AB-EDDB-9B43-C76E-64EE43FC8989}"/>
              </a:ext>
            </a:extLst>
          </p:cNvPr>
          <p:cNvSpPr/>
          <p:nvPr/>
        </p:nvSpPr>
        <p:spPr>
          <a:xfrm rot="5400000">
            <a:off x="1895658" y="288400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2" name="Straight Connector 11">
            <a:extLst>
              <a:ext uri="{FF2B5EF4-FFF2-40B4-BE49-F238E27FC236}">
                <a16:creationId xmlns:a16="http://schemas.microsoft.com/office/drawing/2014/main" id="{66EA08EA-10E8-07B3-809B-572189B302D2}"/>
              </a:ext>
            </a:extLst>
          </p:cNvPr>
          <p:cNvCxnSpPr>
            <a:cxnSpLocks/>
            <a:stCxn id="11" idx="6"/>
          </p:cNvCxnSpPr>
          <p:nvPr/>
        </p:nvCxnSpPr>
        <p:spPr>
          <a:xfrm flipH="1">
            <a:off x="1965555" y="3028005"/>
            <a:ext cx="2103" cy="60662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a:extLst>
              <a:ext uri="{FF2B5EF4-FFF2-40B4-BE49-F238E27FC236}">
                <a16:creationId xmlns:a16="http://schemas.microsoft.com/office/drawing/2014/main" id="{66EA08EA-10E8-07B3-809B-572189B302D2}"/>
              </a:ext>
            </a:extLst>
          </p:cNvPr>
          <p:cNvCxnSpPr>
            <a:cxnSpLocks/>
            <a:stCxn id="10" idx="4"/>
            <a:endCxn id="7" idx="0"/>
          </p:cNvCxnSpPr>
          <p:nvPr/>
        </p:nvCxnSpPr>
        <p:spPr>
          <a:xfrm flipH="1">
            <a:off x="2759739" y="3679569"/>
            <a:ext cx="576079"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4" name="Oval 13">
            <a:extLst>
              <a:ext uri="{FF2B5EF4-FFF2-40B4-BE49-F238E27FC236}">
                <a16:creationId xmlns:a16="http://schemas.microsoft.com/office/drawing/2014/main" id="{A4197692-1A04-EA71-457D-175797FDA5CE}"/>
              </a:ext>
            </a:extLst>
          </p:cNvPr>
          <p:cNvSpPr/>
          <p:nvPr/>
        </p:nvSpPr>
        <p:spPr>
          <a:xfrm rot="5400000">
            <a:off x="1895658" y="360498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5" name="Oval 14">
            <a:extLst>
              <a:ext uri="{FF2B5EF4-FFF2-40B4-BE49-F238E27FC236}">
                <a16:creationId xmlns:a16="http://schemas.microsoft.com/office/drawing/2014/main" id="{CB93A0AB-EDDB-9B43-C76E-64EE43FC8989}"/>
              </a:ext>
            </a:extLst>
          </p:cNvPr>
          <p:cNvSpPr/>
          <p:nvPr/>
        </p:nvSpPr>
        <p:spPr>
          <a:xfrm rot="5400000">
            <a:off x="455499" y="360498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6" name="Straight Connector 15">
            <a:extLst>
              <a:ext uri="{FF2B5EF4-FFF2-40B4-BE49-F238E27FC236}">
                <a16:creationId xmlns:a16="http://schemas.microsoft.com/office/drawing/2014/main" id="{66EA08EA-10E8-07B3-809B-572189B302D2}"/>
              </a:ext>
            </a:extLst>
          </p:cNvPr>
          <p:cNvCxnSpPr>
            <a:cxnSpLocks/>
            <a:stCxn id="14" idx="4"/>
            <a:endCxn id="17" idx="0"/>
          </p:cNvCxnSpPr>
          <p:nvPr/>
        </p:nvCxnSpPr>
        <p:spPr>
          <a:xfrm flipH="1">
            <a:off x="1319578" y="3676986"/>
            <a:ext cx="57608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7" name="Oval 16">
            <a:extLst>
              <a:ext uri="{FF2B5EF4-FFF2-40B4-BE49-F238E27FC236}">
                <a16:creationId xmlns:a16="http://schemas.microsoft.com/office/drawing/2014/main" id="{CB93A0AB-EDDB-9B43-C76E-64EE43FC8989}"/>
              </a:ext>
            </a:extLst>
          </p:cNvPr>
          <p:cNvSpPr/>
          <p:nvPr/>
        </p:nvSpPr>
        <p:spPr>
          <a:xfrm rot="5400000">
            <a:off x="1175578" y="360498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8" name="Straight Connector 17">
            <a:extLst>
              <a:ext uri="{FF2B5EF4-FFF2-40B4-BE49-F238E27FC236}">
                <a16:creationId xmlns:a16="http://schemas.microsoft.com/office/drawing/2014/main" id="{66EA08EA-10E8-07B3-809B-572189B302D2}"/>
              </a:ext>
            </a:extLst>
          </p:cNvPr>
          <p:cNvCxnSpPr>
            <a:cxnSpLocks/>
            <a:stCxn id="17" idx="4"/>
            <a:endCxn id="15" idx="0"/>
          </p:cNvCxnSpPr>
          <p:nvPr/>
        </p:nvCxnSpPr>
        <p:spPr>
          <a:xfrm flipH="1">
            <a:off x="599499" y="3676986"/>
            <a:ext cx="576079"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a:extLst>
              <a:ext uri="{FF2B5EF4-FFF2-40B4-BE49-F238E27FC236}">
                <a16:creationId xmlns:a16="http://schemas.microsoft.com/office/drawing/2014/main" id="{66EA08EA-10E8-07B3-809B-572189B302D2}"/>
              </a:ext>
            </a:extLst>
          </p:cNvPr>
          <p:cNvCxnSpPr>
            <a:cxnSpLocks/>
            <a:stCxn id="7" idx="4"/>
            <a:endCxn id="14" idx="0"/>
          </p:cNvCxnSpPr>
          <p:nvPr/>
        </p:nvCxnSpPr>
        <p:spPr>
          <a:xfrm flipH="1" flipV="1">
            <a:off x="2039658" y="3676986"/>
            <a:ext cx="576081" cy="258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0" name="Straight Connector 19">
            <a:extLst>
              <a:ext uri="{FF2B5EF4-FFF2-40B4-BE49-F238E27FC236}">
                <a16:creationId xmlns:a16="http://schemas.microsoft.com/office/drawing/2014/main" id="{66EA08EA-10E8-07B3-809B-572189B302D2}"/>
              </a:ext>
            </a:extLst>
          </p:cNvPr>
          <p:cNvCxnSpPr>
            <a:cxnSpLocks/>
            <a:stCxn id="21" idx="5"/>
            <a:endCxn id="11" idx="1"/>
          </p:cNvCxnSpPr>
          <p:nvPr/>
        </p:nvCxnSpPr>
        <p:spPr>
          <a:xfrm flipH="1">
            <a:off x="2018570" y="2287738"/>
            <a:ext cx="610793" cy="61735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1" name="Oval 20">
            <a:extLst>
              <a:ext uri="{FF2B5EF4-FFF2-40B4-BE49-F238E27FC236}">
                <a16:creationId xmlns:a16="http://schemas.microsoft.com/office/drawing/2014/main" id="{CB93A0AB-EDDB-9B43-C76E-64EE43FC8989}"/>
              </a:ext>
            </a:extLst>
          </p:cNvPr>
          <p:cNvSpPr/>
          <p:nvPr/>
        </p:nvSpPr>
        <p:spPr>
          <a:xfrm rot="5400000">
            <a:off x="2608275" y="216482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2" name="Oval 21">
            <a:extLst>
              <a:ext uri="{FF2B5EF4-FFF2-40B4-BE49-F238E27FC236}">
                <a16:creationId xmlns:a16="http://schemas.microsoft.com/office/drawing/2014/main" id="{CB93A0AB-EDDB-9B43-C76E-64EE43FC8989}"/>
              </a:ext>
            </a:extLst>
          </p:cNvPr>
          <p:cNvSpPr/>
          <p:nvPr/>
        </p:nvSpPr>
        <p:spPr>
          <a:xfrm rot="5400000">
            <a:off x="1895658" y="216482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3" name="Straight Connector 22">
            <a:extLst>
              <a:ext uri="{FF2B5EF4-FFF2-40B4-BE49-F238E27FC236}">
                <a16:creationId xmlns:a16="http://schemas.microsoft.com/office/drawing/2014/main" id="{66EA08EA-10E8-07B3-809B-572189B302D2}"/>
              </a:ext>
            </a:extLst>
          </p:cNvPr>
          <p:cNvCxnSpPr>
            <a:cxnSpLocks/>
            <a:stCxn id="22" idx="6"/>
            <a:endCxn id="11" idx="2"/>
          </p:cNvCxnSpPr>
          <p:nvPr/>
        </p:nvCxnSpPr>
        <p:spPr>
          <a:xfrm>
            <a:off x="1967658" y="2308826"/>
            <a:ext cx="0" cy="57517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4" name="Oval 23">
            <a:extLst>
              <a:ext uri="{FF2B5EF4-FFF2-40B4-BE49-F238E27FC236}">
                <a16:creationId xmlns:a16="http://schemas.microsoft.com/office/drawing/2014/main" id="{CB93A0AB-EDDB-9B43-C76E-64EE43FC8989}"/>
              </a:ext>
            </a:extLst>
          </p:cNvPr>
          <p:cNvSpPr/>
          <p:nvPr/>
        </p:nvSpPr>
        <p:spPr>
          <a:xfrm rot="5400000">
            <a:off x="1175579" y="215722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5" name="Straight Connector 24">
            <a:extLst>
              <a:ext uri="{FF2B5EF4-FFF2-40B4-BE49-F238E27FC236}">
                <a16:creationId xmlns:a16="http://schemas.microsoft.com/office/drawing/2014/main" id="{66EA08EA-10E8-07B3-809B-572189B302D2}"/>
              </a:ext>
            </a:extLst>
          </p:cNvPr>
          <p:cNvCxnSpPr>
            <a:cxnSpLocks/>
            <a:stCxn id="24" idx="7"/>
            <a:endCxn id="11" idx="3"/>
          </p:cNvCxnSpPr>
          <p:nvPr/>
        </p:nvCxnSpPr>
        <p:spPr>
          <a:xfrm>
            <a:off x="1298491" y="2280140"/>
            <a:ext cx="618255" cy="62495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6" name="Straight Connector 25">
            <a:extLst>
              <a:ext uri="{FF2B5EF4-FFF2-40B4-BE49-F238E27FC236}">
                <a16:creationId xmlns:a16="http://schemas.microsoft.com/office/drawing/2014/main" id="{66EA08EA-10E8-07B3-809B-572189B302D2}"/>
              </a:ext>
            </a:extLst>
          </p:cNvPr>
          <p:cNvCxnSpPr>
            <a:cxnSpLocks/>
            <a:stCxn id="27" idx="0"/>
            <a:endCxn id="11" idx="4"/>
          </p:cNvCxnSpPr>
          <p:nvPr/>
        </p:nvCxnSpPr>
        <p:spPr>
          <a:xfrm flipV="1">
            <a:off x="1320854" y="2956005"/>
            <a:ext cx="574804" cy="435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7" name="Oval 26">
            <a:extLst>
              <a:ext uri="{FF2B5EF4-FFF2-40B4-BE49-F238E27FC236}">
                <a16:creationId xmlns:a16="http://schemas.microsoft.com/office/drawing/2014/main" id="{CB93A0AB-EDDB-9B43-C76E-64EE43FC8989}"/>
              </a:ext>
            </a:extLst>
          </p:cNvPr>
          <p:cNvSpPr/>
          <p:nvPr/>
        </p:nvSpPr>
        <p:spPr>
          <a:xfrm rot="5400000">
            <a:off x="1176854" y="288835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8" name="Straight Connector 27">
            <a:extLst>
              <a:ext uri="{FF2B5EF4-FFF2-40B4-BE49-F238E27FC236}">
                <a16:creationId xmlns:a16="http://schemas.microsoft.com/office/drawing/2014/main" id="{66EA08EA-10E8-07B3-809B-572189B302D2}"/>
              </a:ext>
            </a:extLst>
          </p:cNvPr>
          <p:cNvCxnSpPr>
            <a:cxnSpLocks/>
            <a:stCxn id="14" idx="6"/>
            <a:endCxn id="29" idx="2"/>
          </p:cNvCxnSpPr>
          <p:nvPr/>
        </p:nvCxnSpPr>
        <p:spPr>
          <a:xfrm flipH="1">
            <a:off x="1965555" y="3748986"/>
            <a:ext cx="2103" cy="57263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9" name="Oval 28">
            <a:extLst>
              <a:ext uri="{FF2B5EF4-FFF2-40B4-BE49-F238E27FC236}">
                <a16:creationId xmlns:a16="http://schemas.microsoft.com/office/drawing/2014/main" id="{CB93A0AB-EDDB-9B43-C76E-64EE43FC8989}"/>
              </a:ext>
            </a:extLst>
          </p:cNvPr>
          <p:cNvSpPr/>
          <p:nvPr/>
        </p:nvSpPr>
        <p:spPr>
          <a:xfrm rot="5400000">
            <a:off x="1893555" y="432161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0" name="Straight Connector 29">
            <a:extLst>
              <a:ext uri="{FF2B5EF4-FFF2-40B4-BE49-F238E27FC236}">
                <a16:creationId xmlns:a16="http://schemas.microsoft.com/office/drawing/2014/main" id="{66EA08EA-10E8-07B3-809B-572189B302D2}"/>
              </a:ext>
            </a:extLst>
          </p:cNvPr>
          <p:cNvCxnSpPr>
            <a:cxnSpLocks/>
            <a:stCxn id="32" idx="5"/>
            <a:endCxn id="6" idx="1"/>
          </p:cNvCxnSpPr>
          <p:nvPr/>
        </p:nvCxnSpPr>
        <p:spPr>
          <a:xfrm flipH="1">
            <a:off x="4178810" y="3013916"/>
            <a:ext cx="610793" cy="61474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1" name="Straight Connector 30">
            <a:extLst>
              <a:ext uri="{FF2B5EF4-FFF2-40B4-BE49-F238E27FC236}">
                <a16:creationId xmlns:a16="http://schemas.microsoft.com/office/drawing/2014/main" id="{66EA08EA-10E8-07B3-809B-572189B302D2}"/>
              </a:ext>
            </a:extLst>
          </p:cNvPr>
          <p:cNvCxnSpPr>
            <a:cxnSpLocks/>
            <a:stCxn id="6" idx="7"/>
            <a:endCxn id="33" idx="3"/>
          </p:cNvCxnSpPr>
          <p:nvPr/>
        </p:nvCxnSpPr>
        <p:spPr>
          <a:xfrm>
            <a:off x="4178810" y="3730481"/>
            <a:ext cx="631637" cy="61222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2" name="Oval 31">
            <a:extLst>
              <a:ext uri="{FF2B5EF4-FFF2-40B4-BE49-F238E27FC236}">
                <a16:creationId xmlns:a16="http://schemas.microsoft.com/office/drawing/2014/main" id="{A4197692-1A04-EA71-457D-175797FDA5CE}"/>
              </a:ext>
            </a:extLst>
          </p:cNvPr>
          <p:cNvSpPr/>
          <p:nvPr/>
        </p:nvSpPr>
        <p:spPr>
          <a:xfrm rot="5400000">
            <a:off x="4768515" y="289100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3" name="Oval 32">
            <a:extLst>
              <a:ext uri="{FF2B5EF4-FFF2-40B4-BE49-F238E27FC236}">
                <a16:creationId xmlns:a16="http://schemas.microsoft.com/office/drawing/2014/main" id="{A4197692-1A04-EA71-457D-175797FDA5CE}"/>
              </a:ext>
            </a:extLst>
          </p:cNvPr>
          <p:cNvSpPr/>
          <p:nvPr/>
        </p:nvSpPr>
        <p:spPr>
          <a:xfrm rot="5400000">
            <a:off x="4789359" y="432161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4" name="TextBox 33"/>
          <p:cNvSpPr txBox="1"/>
          <p:nvPr/>
        </p:nvSpPr>
        <p:spPr>
          <a:xfrm>
            <a:off x="321445" y="3757559"/>
            <a:ext cx="328936" cy="461665"/>
          </a:xfrm>
          <a:prstGeom prst="rect">
            <a:avLst/>
          </a:prstGeom>
          <a:noFill/>
        </p:spPr>
        <p:txBody>
          <a:bodyPr wrap="none" rtlCol="0">
            <a:spAutoFit/>
          </a:bodyPr>
          <a:lstStyle/>
          <a:p>
            <a:r>
              <a:rPr lang="en-US" sz="2400" b="1" dirty="0">
                <a:latin typeface="Roboto Condensed" panose="02000000000000000000" pitchFamily="2" charset="0"/>
                <a:ea typeface="Roboto Condensed" panose="02000000000000000000" pitchFamily="2" charset="0"/>
              </a:rPr>
              <a:t>a</a:t>
            </a:r>
          </a:p>
        </p:txBody>
      </p:sp>
      <p:sp>
        <p:nvSpPr>
          <p:cNvPr id="35" name="TextBox 34"/>
          <p:cNvSpPr txBox="1"/>
          <p:nvPr/>
        </p:nvSpPr>
        <p:spPr>
          <a:xfrm>
            <a:off x="3258566" y="3757559"/>
            <a:ext cx="332142" cy="461665"/>
          </a:xfrm>
          <a:prstGeom prst="rect">
            <a:avLst/>
          </a:prstGeom>
          <a:noFill/>
        </p:spPr>
        <p:txBody>
          <a:bodyPr wrap="none" rtlCol="0">
            <a:spAutoFit/>
          </a:bodyPr>
          <a:lstStyle/>
          <a:p>
            <a:r>
              <a:rPr lang="en-US" sz="2400" b="1" dirty="0">
                <a:latin typeface="Roboto Condensed" panose="02000000000000000000" pitchFamily="2" charset="0"/>
                <a:ea typeface="Roboto Condensed" panose="02000000000000000000" pitchFamily="2" charset="0"/>
              </a:rPr>
              <a:t>e</a:t>
            </a:r>
          </a:p>
        </p:txBody>
      </p:sp>
      <p:sp>
        <p:nvSpPr>
          <p:cNvPr id="36" name="TextBox 35"/>
          <p:cNvSpPr txBox="1"/>
          <p:nvPr/>
        </p:nvSpPr>
        <p:spPr>
          <a:xfrm>
            <a:off x="2480637" y="3776390"/>
            <a:ext cx="336952" cy="461665"/>
          </a:xfrm>
          <a:prstGeom prst="rect">
            <a:avLst/>
          </a:prstGeom>
          <a:noFill/>
        </p:spPr>
        <p:txBody>
          <a:bodyPr wrap="none" rtlCol="0">
            <a:spAutoFit/>
          </a:bodyPr>
          <a:lstStyle/>
          <a:p>
            <a:r>
              <a:rPr lang="en-US" sz="2400" b="1" dirty="0">
                <a:latin typeface="Roboto Condensed" panose="02000000000000000000" pitchFamily="2" charset="0"/>
                <a:ea typeface="Roboto Condensed" panose="02000000000000000000" pitchFamily="2" charset="0"/>
              </a:rPr>
              <a:t>d</a:t>
            </a:r>
          </a:p>
        </p:txBody>
      </p:sp>
      <p:sp>
        <p:nvSpPr>
          <p:cNvPr id="37" name="TextBox 36"/>
          <p:cNvSpPr txBox="1"/>
          <p:nvPr/>
        </p:nvSpPr>
        <p:spPr>
          <a:xfrm>
            <a:off x="1097580" y="3799343"/>
            <a:ext cx="336952" cy="461665"/>
          </a:xfrm>
          <a:prstGeom prst="rect">
            <a:avLst/>
          </a:prstGeom>
          <a:noFill/>
        </p:spPr>
        <p:txBody>
          <a:bodyPr wrap="none" rtlCol="0">
            <a:spAutoFit/>
          </a:bodyPr>
          <a:lstStyle/>
          <a:p>
            <a:r>
              <a:rPr lang="en-US" sz="2400" b="1" dirty="0">
                <a:latin typeface="Roboto Condensed" panose="02000000000000000000" pitchFamily="2" charset="0"/>
                <a:ea typeface="Roboto Condensed" panose="02000000000000000000" pitchFamily="2" charset="0"/>
              </a:rPr>
              <a:t>b</a:t>
            </a:r>
          </a:p>
        </p:txBody>
      </p:sp>
      <p:sp>
        <p:nvSpPr>
          <p:cNvPr id="38" name="TextBox 37"/>
          <p:cNvSpPr txBox="1"/>
          <p:nvPr/>
        </p:nvSpPr>
        <p:spPr>
          <a:xfrm>
            <a:off x="1931122" y="3780538"/>
            <a:ext cx="325730" cy="461665"/>
          </a:xfrm>
          <a:prstGeom prst="rect">
            <a:avLst/>
          </a:prstGeom>
          <a:noFill/>
        </p:spPr>
        <p:txBody>
          <a:bodyPr wrap="none" rtlCol="0">
            <a:spAutoFit/>
          </a:bodyPr>
          <a:lstStyle/>
          <a:p>
            <a:r>
              <a:rPr lang="en-US" sz="2400" b="1" dirty="0">
                <a:latin typeface="Roboto Condensed" panose="02000000000000000000" pitchFamily="2" charset="0"/>
                <a:ea typeface="Roboto Condensed" panose="02000000000000000000" pitchFamily="2" charset="0"/>
              </a:rPr>
              <a:t>c</a:t>
            </a:r>
          </a:p>
        </p:txBody>
      </p:sp>
      <p:sp>
        <p:nvSpPr>
          <p:cNvPr id="39" name="TextBox 38"/>
          <p:cNvSpPr txBox="1"/>
          <p:nvPr/>
        </p:nvSpPr>
        <p:spPr>
          <a:xfrm>
            <a:off x="4014342" y="3757559"/>
            <a:ext cx="285656" cy="461665"/>
          </a:xfrm>
          <a:prstGeom prst="rect">
            <a:avLst/>
          </a:prstGeom>
          <a:noFill/>
        </p:spPr>
        <p:txBody>
          <a:bodyPr wrap="none" rtlCol="0">
            <a:spAutoFit/>
          </a:bodyPr>
          <a:lstStyle/>
          <a:p>
            <a:r>
              <a:rPr lang="en-US" sz="2400" b="1" dirty="0">
                <a:latin typeface="Roboto Condensed" panose="02000000000000000000" pitchFamily="2" charset="0"/>
                <a:ea typeface="Roboto Condensed" panose="02000000000000000000" pitchFamily="2" charset="0"/>
              </a:rPr>
              <a:t>f</a:t>
            </a:r>
          </a:p>
        </p:txBody>
      </p:sp>
      <p:sp>
        <p:nvSpPr>
          <p:cNvPr id="40" name="TextBox 39"/>
          <p:cNvSpPr txBox="1"/>
          <p:nvPr/>
        </p:nvSpPr>
        <p:spPr>
          <a:xfrm>
            <a:off x="4779743" y="2522427"/>
            <a:ext cx="340158" cy="461665"/>
          </a:xfrm>
          <a:prstGeom prst="rect">
            <a:avLst/>
          </a:prstGeom>
          <a:noFill/>
        </p:spPr>
        <p:txBody>
          <a:bodyPr wrap="none" rtlCol="0">
            <a:spAutoFit/>
          </a:bodyPr>
          <a:lstStyle/>
          <a:p>
            <a:r>
              <a:rPr lang="en-US" sz="2400" b="1" dirty="0">
                <a:latin typeface="Roboto Condensed" panose="02000000000000000000" pitchFamily="2" charset="0"/>
                <a:ea typeface="Roboto Condensed" panose="02000000000000000000" pitchFamily="2" charset="0"/>
              </a:rPr>
              <a:t>g</a:t>
            </a:r>
          </a:p>
        </p:txBody>
      </p:sp>
      <p:sp>
        <p:nvSpPr>
          <p:cNvPr id="41" name="TextBox 40"/>
          <p:cNvSpPr txBox="1"/>
          <p:nvPr/>
        </p:nvSpPr>
        <p:spPr>
          <a:xfrm>
            <a:off x="4696891" y="4372529"/>
            <a:ext cx="336952" cy="461665"/>
          </a:xfrm>
          <a:prstGeom prst="rect">
            <a:avLst/>
          </a:prstGeom>
          <a:noFill/>
        </p:spPr>
        <p:txBody>
          <a:bodyPr wrap="none" rtlCol="0">
            <a:spAutoFit/>
          </a:bodyPr>
          <a:lstStyle/>
          <a:p>
            <a:r>
              <a:rPr lang="en-US" sz="2400" b="1" dirty="0">
                <a:latin typeface="Roboto Condensed" panose="02000000000000000000" pitchFamily="2" charset="0"/>
                <a:ea typeface="Roboto Condensed" panose="02000000000000000000" pitchFamily="2" charset="0"/>
              </a:rPr>
              <a:t>h</a:t>
            </a:r>
          </a:p>
        </p:txBody>
      </p:sp>
      <p:sp>
        <p:nvSpPr>
          <p:cNvPr id="42" name="TextBox 41"/>
          <p:cNvSpPr txBox="1"/>
          <p:nvPr/>
        </p:nvSpPr>
        <p:spPr>
          <a:xfrm>
            <a:off x="2521668" y="2315336"/>
            <a:ext cx="332142" cy="461665"/>
          </a:xfrm>
          <a:prstGeom prst="rect">
            <a:avLst/>
          </a:prstGeom>
          <a:noFill/>
        </p:spPr>
        <p:txBody>
          <a:bodyPr wrap="none" rtlCol="0">
            <a:spAutoFit/>
          </a:bodyPr>
          <a:lstStyle/>
          <a:p>
            <a:r>
              <a:rPr lang="en-US" sz="2400" b="1" dirty="0">
                <a:latin typeface="Roboto Condensed" panose="02000000000000000000" pitchFamily="2" charset="0"/>
                <a:ea typeface="Roboto Condensed" panose="02000000000000000000" pitchFamily="2" charset="0"/>
              </a:rPr>
              <a:t>k</a:t>
            </a:r>
          </a:p>
        </p:txBody>
      </p:sp>
      <p:sp>
        <p:nvSpPr>
          <p:cNvPr id="43" name="TextBox 42"/>
          <p:cNvSpPr txBox="1"/>
          <p:nvPr/>
        </p:nvSpPr>
        <p:spPr>
          <a:xfrm>
            <a:off x="2037555" y="2768479"/>
            <a:ext cx="260008" cy="461665"/>
          </a:xfrm>
          <a:prstGeom prst="rect">
            <a:avLst/>
          </a:prstGeom>
          <a:noFill/>
        </p:spPr>
        <p:txBody>
          <a:bodyPr wrap="none" rtlCol="0">
            <a:spAutoFit/>
          </a:bodyPr>
          <a:lstStyle/>
          <a:p>
            <a:r>
              <a:rPr lang="en-US" sz="2400" b="1" dirty="0">
                <a:latin typeface="Roboto Condensed" panose="02000000000000000000" pitchFamily="2" charset="0"/>
                <a:ea typeface="Roboto Condensed" panose="02000000000000000000" pitchFamily="2" charset="0"/>
              </a:rPr>
              <a:t>j</a:t>
            </a:r>
          </a:p>
        </p:txBody>
      </p:sp>
      <p:sp>
        <p:nvSpPr>
          <p:cNvPr id="44" name="TextBox 43"/>
          <p:cNvSpPr txBox="1"/>
          <p:nvPr/>
        </p:nvSpPr>
        <p:spPr>
          <a:xfrm>
            <a:off x="1858500" y="1774708"/>
            <a:ext cx="261610" cy="461665"/>
          </a:xfrm>
          <a:prstGeom prst="rect">
            <a:avLst/>
          </a:prstGeom>
          <a:noFill/>
        </p:spPr>
        <p:txBody>
          <a:bodyPr wrap="none" rtlCol="0">
            <a:spAutoFit/>
          </a:bodyPr>
          <a:lstStyle/>
          <a:p>
            <a:r>
              <a:rPr lang="en-US" sz="2400" b="1" dirty="0">
                <a:latin typeface="Roboto Condensed" panose="02000000000000000000" pitchFamily="2" charset="0"/>
                <a:ea typeface="Roboto Condensed" panose="02000000000000000000" pitchFamily="2" charset="0"/>
              </a:rPr>
              <a:t>l</a:t>
            </a:r>
          </a:p>
        </p:txBody>
      </p:sp>
      <p:sp>
        <p:nvSpPr>
          <p:cNvPr id="45" name="TextBox 44"/>
          <p:cNvSpPr txBox="1"/>
          <p:nvPr/>
        </p:nvSpPr>
        <p:spPr>
          <a:xfrm>
            <a:off x="1097580" y="2934194"/>
            <a:ext cx="336952" cy="461665"/>
          </a:xfrm>
          <a:prstGeom prst="rect">
            <a:avLst/>
          </a:prstGeom>
          <a:noFill/>
        </p:spPr>
        <p:txBody>
          <a:bodyPr wrap="none" rtlCol="0">
            <a:spAutoFit/>
          </a:bodyPr>
          <a:lstStyle/>
          <a:p>
            <a:r>
              <a:rPr lang="en-US" sz="2400" b="1" dirty="0">
                <a:latin typeface="Roboto Condensed" panose="02000000000000000000" pitchFamily="2" charset="0"/>
                <a:ea typeface="Roboto Condensed" panose="02000000000000000000" pitchFamily="2" charset="0"/>
              </a:rPr>
              <a:t>n</a:t>
            </a:r>
          </a:p>
        </p:txBody>
      </p:sp>
      <p:sp>
        <p:nvSpPr>
          <p:cNvPr id="46" name="TextBox 45"/>
          <p:cNvSpPr txBox="1"/>
          <p:nvPr/>
        </p:nvSpPr>
        <p:spPr>
          <a:xfrm>
            <a:off x="1039913" y="2205634"/>
            <a:ext cx="412292" cy="461665"/>
          </a:xfrm>
          <a:prstGeom prst="rect">
            <a:avLst/>
          </a:prstGeom>
          <a:noFill/>
        </p:spPr>
        <p:txBody>
          <a:bodyPr wrap="none" rtlCol="0">
            <a:spAutoFit/>
          </a:bodyPr>
          <a:lstStyle/>
          <a:p>
            <a:r>
              <a:rPr lang="en-US" sz="2400" b="1" dirty="0">
                <a:latin typeface="Roboto Condensed" panose="02000000000000000000" pitchFamily="2" charset="0"/>
                <a:ea typeface="Roboto Condensed" panose="02000000000000000000" pitchFamily="2" charset="0"/>
              </a:rPr>
              <a:t>m</a:t>
            </a:r>
          </a:p>
        </p:txBody>
      </p:sp>
      <p:sp>
        <p:nvSpPr>
          <p:cNvPr id="47" name="TextBox 46"/>
          <p:cNvSpPr txBox="1"/>
          <p:nvPr/>
        </p:nvSpPr>
        <p:spPr>
          <a:xfrm>
            <a:off x="1799459" y="4372529"/>
            <a:ext cx="261610" cy="461665"/>
          </a:xfrm>
          <a:prstGeom prst="rect">
            <a:avLst/>
          </a:prstGeom>
          <a:noFill/>
        </p:spPr>
        <p:txBody>
          <a:bodyPr wrap="none" rtlCol="0">
            <a:spAutoFit/>
          </a:bodyPr>
          <a:lstStyle/>
          <a:p>
            <a:r>
              <a:rPr lang="en-US" sz="2400" b="1" dirty="0" err="1">
                <a:latin typeface="Roboto Condensed" panose="02000000000000000000" pitchFamily="2" charset="0"/>
                <a:ea typeface="Roboto Condensed" panose="02000000000000000000" pitchFamily="2" charset="0"/>
              </a:rPr>
              <a:t>i</a:t>
            </a:r>
            <a:endParaRPr lang="en-US" sz="2400" b="1" dirty="0">
              <a:latin typeface="Roboto Condensed" panose="02000000000000000000" pitchFamily="2" charset="0"/>
              <a:ea typeface="Roboto Condensed" panose="02000000000000000000" pitchFamily="2" charset="0"/>
            </a:endParaRPr>
          </a:p>
        </p:txBody>
      </p:sp>
      <p:sp>
        <p:nvSpPr>
          <p:cNvPr id="2" name="Rectangle 1"/>
          <p:cNvSpPr/>
          <p:nvPr/>
        </p:nvSpPr>
        <p:spPr>
          <a:xfrm>
            <a:off x="4468004" y="2663638"/>
            <a:ext cx="653410" cy="59873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5488556" y="1774708"/>
            <a:ext cx="6633117" cy="2934137"/>
          </a:xfrm>
          <a:prstGeom prst="rect">
            <a:avLst/>
          </a:prstGeom>
        </p:spPr>
        <p:txBody>
          <a:bodyPr wrap="square">
            <a:spAutoFit/>
          </a:bodyPr>
          <a:lstStyle/>
          <a:p>
            <a:pPr marL="0" lvl="1" algn="just">
              <a:lnSpc>
                <a:spcPct val="150000"/>
              </a:lnSpc>
              <a:spcBef>
                <a:spcPts val="1000"/>
              </a:spcBef>
              <a:buClr>
                <a:srgbClr val="B84742"/>
              </a:buClr>
            </a:pPr>
            <a:r>
              <a:rPr lang="en-US" sz="2800" dirty="0">
                <a:solidFill>
                  <a:srgbClr val="002060"/>
                </a:solidFill>
              </a:rPr>
              <a:t>Step 1: Remove all pendant vertices</a:t>
            </a:r>
          </a:p>
          <a:p>
            <a:pPr marL="0" lvl="1" algn="just">
              <a:lnSpc>
                <a:spcPct val="150000"/>
              </a:lnSpc>
              <a:spcBef>
                <a:spcPts val="1000"/>
              </a:spcBef>
              <a:buClr>
                <a:srgbClr val="B84742"/>
              </a:buClr>
            </a:pPr>
            <a:r>
              <a:rPr lang="en-US" sz="2800" dirty="0">
                <a:solidFill>
                  <a:srgbClr val="002060"/>
                </a:solidFill>
              </a:rPr>
              <a:t>Step 2 : Repeat the process on the remaining tree.</a:t>
            </a:r>
          </a:p>
          <a:p>
            <a:pPr marL="0" lvl="1" algn="just">
              <a:lnSpc>
                <a:spcPct val="150000"/>
              </a:lnSpc>
              <a:spcBef>
                <a:spcPts val="1000"/>
              </a:spcBef>
              <a:buClr>
                <a:srgbClr val="B84742"/>
              </a:buClr>
            </a:pPr>
            <a:r>
              <a:rPr lang="en-US" sz="2800" dirty="0">
                <a:solidFill>
                  <a:srgbClr val="002060"/>
                </a:solidFill>
              </a:rPr>
              <a:t>So, </a:t>
            </a:r>
            <a:r>
              <a:rPr lang="en-US" sz="2800" b="1" dirty="0">
                <a:solidFill>
                  <a:srgbClr val="002060"/>
                </a:solidFill>
              </a:rPr>
              <a:t>d is center of tree. </a:t>
            </a:r>
          </a:p>
        </p:txBody>
      </p:sp>
      <p:sp>
        <p:nvSpPr>
          <p:cNvPr id="48" name="Rectangle 47"/>
          <p:cNvSpPr/>
          <p:nvPr/>
        </p:nvSpPr>
        <p:spPr>
          <a:xfrm>
            <a:off x="4554911" y="4214815"/>
            <a:ext cx="653410" cy="59873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p:cNvSpPr/>
          <p:nvPr/>
        </p:nvSpPr>
        <p:spPr>
          <a:xfrm>
            <a:off x="1638850" y="4227381"/>
            <a:ext cx="653410" cy="59873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p:cNvSpPr/>
          <p:nvPr/>
        </p:nvSpPr>
        <p:spPr>
          <a:xfrm>
            <a:off x="2389269" y="2096781"/>
            <a:ext cx="653410" cy="59873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p:cNvSpPr/>
          <p:nvPr/>
        </p:nvSpPr>
        <p:spPr>
          <a:xfrm>
            <a:off x="1638850" y="1789581"/>
            <a:ext cx="653410" cy="59873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p:cNvSpPr/>
          <p:nvPr/>
        </p:nvSpPr>
        <p:spPr>
          <a:xfrm>
            <a:off x="856151" y="2008496"/>
            <a:ext cx="653410" cy="59873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p:cNvSpPr/>
          <p:nvPr/>
        </p:nvSpPr>
        <p:spPr>
          <a:xfrm>
            <a:off x="869952" y="2732808"/>
            <a:ext cx="653410" cy="59873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p:cNvSpPr/>
          <p:nvPr/>
        </p:nvSpPr>
        <p:spPr>
          <a:xfrm>
            <a:off x="201678" y="3551325"/>
            <a:ext cx="653410" cy="59873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p:cNvSpPr/>
          <p:nvPr/>
        </p:nvSpPr>
        <p:spPr>
          <a:xfrm>
            <a:off x="1672646" y="2736027"/>
            <a:ext cx="653410" cy="59873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p:cNvSpPr/>
          <p:nvPr/>
        </p:nvSpPr>
        <p:spPr>
          <a:xfrm>
            <a:off x="971755" y="3552065"/>
            <a:ext cx="653410" cy="59873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p:cNvSpPr/>
          <p:nvPr/>
        </p:nvSpPr>
        <p:spPr>
          <a:xfrm>
            <a:off x="3814594" y="3551325"/>
            <a:ext cx="653410" cy="59873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p:cNvSpPr/>
          <p:nvPr/>
        </p:nvSpPr>
        <p:spPr>
          <a:xfrm>
            <a:off x="3067815" y="3551325"/>
            <a:ext cx="653410" cy="59873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p:cNvSpPr/>
          <p:nvPr/>
        </p:nvSpPr>
        <p:spPr>
          <a:xfrm>
            <a:off x="1703006" y="3551325"/>
            <a:ext cx="653410" cy="59873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687438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42" presetClass="exit" presetSubtype="0" fill="hold" grpId="0" nodeType="clickEffect">
                                  <p:stCondLst>
                                    <p:cond delay="0"/>
                                  </p:stCondLst>
                                  <p:childTnLst>
                                    <p:animEffect transition="out" filter="fade">
                                      <p:cBhvr>
                                        <p:cTn id="34" dur="1000"/>
                                        <p:tgtEl>
                                          <p:spTgt spid="32"/>
                                        </p:tgtEl>
                                      </p:cBhvr>
                                    </p:animEffect>
                                    <p:anim calcmode="lin" valueType="num">
                                      <p:cBhvr>
                                        <p:cTn id="35" dur="1000"/>
                                        <p:tgtEl>
                                          <p:spTgt spid="32"/>
                                        </p:tgtEl>
                                        <p:attrNameLst>
                                          <p:attrName>ppt_x</p:attrName>
                                        </p:attrNameLst>
                                      </p:cBhvr>
                                      <p:tavLst>
                                        <p:tav tm="0">
                                          <p:val>
                                            <p:strVal val="ppt_x"/>
                                          </p:val>
                                        </p:tav>
                                        <p:tav tm="100000">
                                          <p:val>
                                            <p:strVal val="ppt_x"/>
                                          </p:val>
                                        </p:tav>
                                      </p:tavLst>
                                    </p:anim>
                                    <p:anim calcmode="lin" valueType="num">
                                      <p:cBhvr>
                                        <p:cTn id="36" dur="1000"/>
                                        <p:tgtEl>
                                          <p:spTgt spid="32"/>
                                        </p:tgtEl>
                                        <p:attrNameLst>
                                          <p:attrName>ppt_y</p:attrName>
                                        </p:attrNameLst>
                                      </p:cBhvr>
                                      <p:tavLst>
                                        <p:tav tm="0">
                                          <p:val>
                                            <p:strVal val="ppt_y"/>
                                          </p:val>
                                        </p:tav>
                                        <p:tav tm="100000">
                                          <p:val>
                                            <p:strVal val="ppt_y+.1"/>
                                          </p:val>
                                        </p:tav>
                                      </p:tavLst>
                                    </p:anim>
                                    <p:set>
                                      <p:cBhvr>
                                        <p:cTn id="37" dur="1" fill="hold">
                                          <p:stCondLst>
                                            <p:cond delay="999"/>
                                          </p:stCondLst>
                                        </p:cTn>
                                        <p:tgtEl>
                                          <p:spTgt spid="32"/>
                                        </p:tgtEl>
                                        <p:attrNameLst>
                                          <p:attrName>style.visibility</p:attrName>
                                        </p:attrNameLst>
                                      </p:cBhvr>
                                      <p:to>
                                        <p:strVal val="hidden"/>
                                      </p:to>
                                    </p:set>
                                  </p:childTnLst>
                                </p:cTn>
                              </p:par>
                              <p:par>
                                <p:cTn id="38" presetID="42" presetClass="exit" presetSubtype="0" fill="hold" grpId="0" nodeType="withEffect">
                                  <p:stCondLst>
                                    <p:cond delay="0"/>
                                  </p:stCondLst>
                                  <p:childTnLst>
                                    <p:animEffect transition="out" filter="fade">
                                      <p:cBhvr>
                                        <p:cTn id="39" dur="1000"/>
                                        <p:tgtEl>
                                          <p:spTgt spid="40"/>
                                        </p:tgtEl>
                                      </p:cBhvr>
                                    </p:animEffect>
                                    <p:anim calcmode="lin" valueType="num">
                                      <p:cBhvr>
                                        <p:cTn id="40" dur="1000"/>
                                        <p:tgtEl>
                                          <p:spTgt spid="40"/>
                                        </p:tgtEl>
                                        <p:attrNameLst>
                                          <p:attrName>ppt_x</p:attrName>
                                        </p:attrNameLst>
                                      </p:cBhvr>
                                      <p:tavLst>
                                        <p:tav tm="0">
                                          <p:val>
                                            <p:strVal val="ppt_x"/>
                                          </p:val>
                                        </p:tav>
                                        <p:tav tm="100000">
                                          <p:val>
                                            <p:strVal val="ppt_x"/>
                                          </p:val>
                                        </p:tav>
                                      </p:tavLst>
                                    </p:anim>
                                    <p:anim calcmode="lin" valueType="num">
                                      <p:cBhvr>
                                        <p:cTn id="41" dur="1000"/>
                                        <p:tgtEl>
                                          <p:spTgt spid="40"/>
                                        </p:tgtEl>
                                        <p:attrNameLst>
                                          <p:attrName>ppt_y</p:attrName>
                                        </p:attrNameLst>
                                      </p:cBhvr>
                                      <p:tavLst>
                                        <p:tav tm="0">
                                          <p:val>
                                            <p:strVal val="ppt_y"/>
                                          </p:val>
                                        </p:tav>
                                        <p:tav tm="100000">
                                          <p:val>
                                            <p:strVal val="ppt_y+.1"/>
                                          </p:val>
                                        </p:tav>
                                      </p:tavLst>
                                    </p:anim>
                                    <p:set>
                                      <p:cBhvr>
                                        <p:cTn id="42" dur="1" fill="hold">
                                          <p:stCondLst>
                                            <p:cond delay="999"/>
                                          </p:stCondLst>
                                        </p:cTn>
                                        <p:tgtEl>
                                          <p:spTgt spid="40"/>
                                        </p:tgtEl>
                                        <p:attrNameLst>
                                          <p:attrName>style.visibility</p:attrName>
                                        </p:attrNameLst>
                                      </p:cBhvr>
                                      <p:to>
                                        <p:strVal val="hidden"/>
                                      </p:to>
                                    </p:set>
                                  </p:childTnLst>
                                </p:cTn>
                              </p:par>
                              <p:par>
                                <p:cTn id="43" presetID="42" presetClass="exit" presetSubtype="0" fill="hold" nodeType="withEffect">
                                  <p:stCondLst>
                                    <p:cond delay="0"/>
                                  </p:stCondLst>
                                  <p:childTnLst>
                                    <p:animEffect transition="out" filter="fade">
                                      <p:cBhvr>
                                        <p:cTn id="44" dur="1000"/>
                                        <p:tgtEl>
                                          <p:spTgt spid="30"/>
                                        </p:tgtEl>
                                      </p:cBhvr>
                                    </p:animEffect>
                                    <p:anim calcmode="lin" valueType="num">
                                      <p:cBhvr>
                                        <p:cTn id="45" dur="1000"/>
                                        <p:tgtEl>
                                          <p:spTgt spid="30"/>
                                        </p:tgtEl>
                                        <p:attrNameLst>
                                          <p:attrName>ppt_x</p:attrName>
                                        </p:attrNameLst>
                                      </p:cBhvr>
                                      <p:tavLst>
                                        <p:tav tm="0">
                                          <p:val>
                                            <p:strVal val="ppt_x"/>
                                          </p:val>
                                        </p:tav>
                                        <p:tav tm="100000">
                                          <p:val>
                                            <p:strVal val="ppt_x"/>
                                          </p:val>
                                        </p:tav>
                                      </p:tavLst>
                                    </p:anim>
                                    <p:anim calcmode="lin" valueType="num">
                                      <p:cBhvr>
                                        <p:cTn id="46" dur="1000"/>
                                        <p:tgtEl>
                                          <p:spTgt spid="30"/>
                                        </p:tgtEl>
                                        <p:attrNameLst>
                                          <p:attrName>ppt_y</p:attrName>
                                        </p:attrNameLst>
                                      </p:cBhvr>
                                      <p:tavLst>
                                        <p:tav tm="0">
                                          <p:val>
                                            <p:strVal val="ppt_y"/>
                                          </p:val>
                                        </p:tav>
                                        <p:tav tm="100000">
                                          <p:val>
                                            <p:strVal val="ppt_y+.1"/>
                                          </p:val>
                                        </p:tav>
                                      </p:tavLst>
                                    </p:anim>
                                    <p:set>
                                      <p:cBhvr>
                                        <p:cTn id="47" dur="1" fill="hold">
                                          <p:stCondLst>
                                            <p:cond delay="999"/>
                                          </p:stCondLst>
                                        </p:cTn>
                                        <p:tgtEl>
                                          <p:spTgt spid="30"/>
                                        </p:tgtEl>
                                        <p:attrNameLst>
                                          <p:attrName>style.visibility</p:attrName>
                                        </p:attrNameLst>
                                      </p:cBhvr>
                                      <p:to>
                                        <p:strVal val="hidden"/>
                                      </p:to>
                                    </p:set>
                                  </p:childTnLst>
                                </p:cTn>
                              </p:par>
                              <p:par>
                                <p:cTn id="48" presetID="42" presetClass="exit" presetSubtype="0" fill="hold" grpId="1" nodeType="withEffect">
                                  <p:stCondLst>
                                    <p:cond delay="0"/>
                                  </p:stCondLst>
                                  <p:childTnLst>
                                    <p:animEffect transition="out" filter="fade">
                                      <p:cBhvr>
                                        <p:cTn id="49" dur="1000"/>
                                        <p:tgtEl>
                                          <p:spTgt spid="2"/>
                                        </p:tgtEl>
                                      </p:cBhvr>
                                    </p:animEffect>
                                    <p:anim calcmode="lin" valueType="num">
                                      <p:cBhvr>
                                        <p:cTn id="50" dur="1000"/>
                                        <p:tgtEl>
                                          <p:spTgt spid="2"/>
                                        </p:tgtEl>
                                        <p:attrNameLst>
                                          <p:attrName>ppt_x</p:attrName>
                                        </p:attrNameLst>
                                      </p:cBhvr>
                                      <p:tavLst>
                                        <p:tav tm="0">
                                          <p:val>
                                            <p:strVal val="ppt_x"/>
                                          </p:val>
                                        </p:tav>
                                        <p:tav tm="100000">
                                          <p:val>
                                            <p:strVal val="ppt_x"/>
                                          </p:val>
                                        </p:tav>
                                      </p:tavLst>
                                    </p:anim>
                                    <p:anim calcmode="lin" valueType="num">
                                      <p:cBhvr>
                                        <p:cTn id="51" dur="1000"/>
                                        <p:tgtEl>
                                          <p:spTgt spid="2"/>
                                        </p:tgtEl>
                                        <p:attrNameLst>
                                          <p:attrName>ppt_y</p:attrName>
                                        </p:attrNameLst>
                                      </p:cBhvr>
                                      <p:tavLst>
                                        <p:tav tm="0">
                                          <p:val>
                                            <p:strVal val="ppt_y"/>
                                          </p:val>
                                        </p:tav>
                                        <p:tav tm="100000">
                                          <p:val>
                                            <p:strVal val="ppt_y+.1"/>
                                          </p:val>
                                        </p:tav>
                                      </p:tavLst>
                                    </p:anim>
                                    <p:set>
                                      <p:cBhvr>
                                        <p:cTn id="52" dur="1" fill="hold">
                                          <p:stCondLst>
                                            <p:cond delay="999"/>
                                          </p:stCondLst>
                                        </p:cTn>
                                        <p:tgtEl>
                                          <p:spTgt spid="2"/>
                                        </p:tgtEl>
                                        <p:attrNameLst>
                                          <p:attrName>style.visibility</p:attrName>
                                        </p:attrNameLst>
                                      </p:cBhvr>
                                      <p:to>
                                        <p:strVal val="hidden"/>
                                      </p:to>
                                    </p:set>
                                  </p:childTnLst>
                                </p:cTn>
                              </p:par>
                              <p:par>
                                <p:cTn id="53" presetID="42" presetClass="exit" presetSubtype="0" fill="hold" grpId="1" nodeType="withEffect">
                                  <p:stCondLst>
                                    <p:cond delay="0"/>
                                  </p:stCondLst>
                                  <p:childTnLst>
                                    <p:animEffect transition="out" filter="fade">
                                      <p:cBhvr>
                                        <p:cTn id="54" dur="1000"/>
                                        <p:tgtEl>
                                          <p:spTgt spid="48"/>
                                        </p:tgtEl>
                                      </p:cBhvr>
                                    </p:animEffect>
                                    <p:anim calcmode="lin" valueType="num">
                                      <p:cBhvr>
                                        <p:cTn id="55" dur="1000"/>
                                        <p:tgtEl>
                                          <p:spTgt spid="48"/>
                                        </p:tgtEl>
                                        <p:attrNameLst>
                                          <p:attrName>ppt_x</p:attrName>
                                        </p:attrNameLst>
                                      </p:cBhvr>
                                      <p:tavLst>
                                        <p:tav tm="0">
                                          <p:val>
                                            <p:strVal val="ppt_x"/>
                                          </p:val>
                                        </p:tav>
                                        <p:tav tm="100000">
                                          <p:val>
                                            <p:strVal val="ppt_x"/>
                                          </p:val>
                                        </p:tav>
                                      </p:tavLst>
                                    </p:anim>
                                    <p:anim calcmode="lin" valueType="num">
                                      <p:cBhvr>
                                        <p:cTn id="56" dur="1000"/>
                                        <p:tgtEl>
                                          <p:spTgt spid="48"/>
                                        </p:tgtEl>
                                        <p:attrNameLst>
                                          <p:attrName>ppt_y</p:attrName>
                                        </p:attrNameLst>
                                      </p:cBhvr>
                                      <p:tavLst>
                                        <p:tav tm="0">
                                          <p:val>
                                            <p:strVal val="ppt_y"/>
                                          </p:val>
                                        </p:tav>
                                        <p:tav tm="100000">
                                          <p:val>
                                            <p:strVal val="ppt_y+.1"/>
                                          </p:val>
                                        </p:tav>
                                      </p:tavLst>
                                    </p:anim>
                                    <p:set>
                                      <p:cBhvr>
                                        <p:cTn id="57" dur="1" fill="hold">
                                          <p:stCondLst>
                                            <p:cond delay="999"/>
                                          </p:stCondLst>
                                        </p:cTn>
                                        <p:tgtEl>
                                          <p:spTgt spid="48"/>
                                        </p:tgtEl>
                                        <p:attrNameLst>
                                          <p:attrName>style.visibility</p:attrName>
                                        </p:attrNameLst>
                                      </p:cBhvr>
                                      <p:to>
                                        <p:strVal val="hidden"/>
                                      </p:to>
                                    </p:set>
                                  </p:childTnLst>
                                </p:cTn>
                              </p:par>
                              <p:par>
                                <p:cTn id="58" presetID="42" presetClass="exit" presetSubtype="0" fill="hold" grpId="0" nodeType="withEffect">
                                  <p:stCondLst>
                                    <p:cond delay="0"/>
                                  </p:stCondLst>
                                  <p:childTnLst>
                                    <p:animEffect transition="out" filter="fade">
                                      <p:cBhvr>
                                        <p:cTn id="59" dur="1000"/>
                                        <p:tgtEl>
                                          <p:spTgt spid="41"/>
                                        </p:tgtEl>
                                      </p:cBhvr>
                                    </p:animEffect>
                                    <p:anim calcmode="lin" valueType="num">
                                      <p:cBhvr>
                                        <p:cTn id="60" dur="1000"/>
                                        <p:tgtEl>
                                          <p:spTgt spid="41"/>
                                        </p:tgtEl>
                                        <p:attrNameLst>
                                          <p:attrName>ppt_x</p:attrName>
                                        </p:attrNameLst>
                                      </p:cBhvr>
                                      <p:tavLst>
                                        <p:tav tm="0">
                                          <p:val>
                                            <p:strVal val="ppt_x"/>
                                          </p:val>
                                        </p:tav>
                                        <p:tav tm="100000">
                                          <p:val>
                                            <p:strVal val="ppt_x"/>
                                          </p:val>
                                        </p:tav>
                                      </p:tavLst>
                                    </p:anim>
                                    <p:anim calcmode="lin" valueType="num">
                                      <p:cBhvr>
                                        <p:cTn id="61" dur="1000"/>
                                        <p:tgtEl>
                                          <p:spTgt spid="41"/>
                                        </p:tgtEl>
                                        <p:attrNameLst>
                                          <p:attrName>ppt_y</p:attrName>
                                        </p:attrNameLst>
                                      </p:cBhvr>
                                      <p:tavLst>
                                        <p:tav tm="0">
                                          <p:val>
                                            <p:strVal val="ppt_y"/>
                                          </p:val>
                                        </p:tav>
                                        <p:tav tm="100000">
                                          <p:val>
                                            <p:strVal val="ppt_y+.1"/>
                                          </p:val>
                                        </p:tav>
                                      </p:tavLst>
                                    </p:anim>
                                    <p:set>
                                      <p:cBhvr>
                                        <p:cTn id="62" dur="1" fill="hold">
                                          <p:stCondLst>
                                            <p:cond delay="999"/>
                                          </p:stCondLst>
                                        </p:cTn>
                                        <p:tgtEl>
                                          <p:spTgt spid="41"/>
                                        </p:tgtEl>
                                        <p:attrNameLst>
                                          <p:attrName>style.visibility</p:attrName>
                                        </p:attrNameLst>
                                      </p:cBhvr>
                                      <p:to>
                                        <p:strVal val="hidden"/>
                                      </p:to>
                                    </p:set>
                                  </p:childTnLst>
                                </p:cTn>
                              </p:par>
                              <p:par>
                                <p:cTn id="63" presetID="42" presetClass="exit" presetSubtype="0" fill="hold" grpId="0" nodeType="withEffect">
                                  <p:stCondLst>
                                    <p:cond delay="0"/>
                                  </p:stCondLst>
                                  <p:childTnLst>
                                    <p:animEffect transition="out" filter="fade">
                                      <p:cBhvr>
                                        <p:cTn id="64" dur="1000"/>
                                        <p:tgtEl>
                                          <p:spTgt spid="33"/>
                                        </p:tgtEl>
                                      </p:cBhvr>
                                    </p:animEffect>
                                    <p:anim calcmode="lin" valueType="num">
                                      <p:cBhvr>
                                        <p:cTn id="65" dur="1000"/>
                                        <p:tgtEl>
                                          <p:spTgt spid="33"/>
                                        </p:tgtEl>
                                        <p:attrNameLst>
                                          <p:attrName>ppt_x</p:attrName>
                                        </p:attrNameLst>
                                      </p:cBhvr>
                                      <p:tavLst>
                                        <p:tav tm="0">
                                          <p:val>
                                            <p:strVal val="ppt_x"/>
                                          </p:val>
                                        </p:tav>
                                        <p:tav tm="100000">
                                          <p:val>
                                            <p:strVal val="ppt_x"/>
                                          </p:val>
                                        </p:tav>
                                      </p:tavLst>
                                    </p:anim>
                                    <p:anim calcmode="lin" valueType="num">
                                      <p:cBhvr>
                                        <p:cTn id="66" dur="1000"/>
                                        <p:tgtEl>
                                          <p:spTgt spid="33"/>
                                        </p:tgtEl>
                                        <p:attrNameLst>
                                          <p:attrName>ppt_y</p:attrName>
                                        </p:attrNameLst>
                                      </p:cBhvr>
                                      <p:tavLst>
                                        <p:tav tm="0">
                                          <p:val>
                                            <p:strVal val="ppt_y"/>
                                          </p:val>
                                        </p:tav>
                                        <p:tav tm="100000">
                                          <p:val>
                                            <p:strVal val="ppt_y+.1"/>
                                          </p:val>
                                        </p:tav>
                                      </p:tavLst>
                                    </p:anim>
                                    <p:set>
                                      <p:cBhvr>
                                        <p:cTn id="67" dur="1" fill="hold">
                                          <p:stCondLst>
                                            <p:cond delay="999"/>
                                          </p:stCondLst>
                                        </p:cTn>
                                        <p:tgtEl>
                                          <p:spTgt spid="33"/>
                                        </p:tgtEl>
                                        <p:attrNameLst>
                                          <p:attrName>style.visibility</p:attrName>
                                        </p:attrNameLst>
                                      </p:cBhvr>
                                      <p:to>
                                        <p:strVal val="hidden"/>
                                      </p:to>
                                    </p:set>
                                  </p:childTnLst>
                                </p:cTn>
                              </p:par>
                              <p:par>
                                <p:cTn id="68" presetID="42" presetClass="exit" presetSubtype="0" fill="hold" nodeType="withEffect">
                                  <p:stCondLst>
                                    <p:cond delay="0"/>
                                  </p:stCondLst>
                                  <p:childTnLst>
                                    <p:animEffect transition="out" filter="fade">
                                      <p:cBhvr>
                                        <p:cTn id="69" dur="1000"/>
                                        <p:tgtEl>
                                          <p:spTgt spid="31"/>
                                        </p:tgtEl>
                                      </p:cBhvr>
                                    </p:animEffect>
                                    <p:anim calcmode="lin" valueType="num">
                                      <p:cBhvr>
                                        <p:cTn id="70" dur="1000"/>
                                        <p:tgtEl>
                                          <p:spTgt spid="31"/>
                                        </p:tgtEl>
                                        <p:attrNameLst>
                                          <p:attrName>ppt_x</p:attrName>
                                        </p:attrNameLst>
                                      </p:cBhvr>
                                      <p:tavLst>
                                        <p:tav tm="0">
                                          <p:val>
                                            <p:strVal val="ppt_x"/>
                                          </p:val>
                                        </p:tav>
                                        <p:tav tm="100000">
                                          <p:val>
                                            <p:strVal val="ppt_x"/>
                                          </p:val>
                                        </p:tav>
                                      </p:tavLst>
                                    </p:anim>
                                    <p:anim calcmode="lin" valueType="num">
                                      <p:cBhvr>
                                        <p:cTn id="71" dur="1000"/>
                                        <p:tgtEl>
                                          <p:spTgt spid="31"/>
                                        </p:tgtEl>
                                        <p:attrNameLst>
                                          <p:attrName>ppt_y</p:attrName>
                                        </p:attrNameLst>
                                      </p:cBhvr>
                                      <p:tavLst>
                                        <p:tav tm="0">
                                          <p:val>
                                            <p:strVal val="ppt_y"/>
                                          </p:val>
                                        </p:tav>
                                        <p:tav tm="100000">
                                          <p:val>
                                            <p:strVal val="ppt_y+.1"/>
                                          </p:val>
                                        </p:tav>
                                      </p:tavLst>
                                    </p:anim>
                                    <p:set>
                                      <p:cBhvr>
                                        <p:cTn id="72" dur="1" fill="hold">
                                          <p:stCondLst>
                                            <p:cond delay="999"/>
                                          </p:stCondLst>
                                        </p:cTn>
                                        <p:tgtEl>
                                          <p:spTgt spid="31"/>
                                        </p:tgtEl>
                                        <p:attrNameLst>
                                          <p:attrName>style.visibility</p:attrName>
                                        </p:attrNameLst>
                                      </p:cBhvr>
                                      <p:to>
                                        <p:strVal val="hidden"/>
                                      </p:to>
                                    </p:set>
                                  </p:childTnLst>
                                </p:cTn>
                              </p:par>
                              <p:par>
                                <p:cTn id="73" presetID="42" presetClass="exit" presetSubtype="0" fill="hold" grpId="1" nodeType="withEffect">
                                  <p:stCondLst>
                                    <p:cond delay="0"/>
                                  </p:stCondLst>
                                  <p:childTnLst>
                                    <p:animEffect transition="out" filter="fade">
                                      <p:cBhvr>
                                        <p:cTn id="74" dur="1000"/>
                                        <p:tgtEl>
                                          <p:spTgt spid="49"/>
                                        </p:tgtEl>
                                      </p:cBhvr>
                                    </p:animEffect>
                                    <p:anim calcmode="lin" valueType="num">
                                      <p:cBhvr>
                                        <p:cTn id="75" dur="1000"/>
                                        <p:tgtEl>
                                          <p:spTgt spid="49"/>
                                        </p:tgtEl>
                                        <p:attrNameLst>
                                          <p:attrName>ppt_x</p:attrName>
                                        </p:attrNameLst>
                                      </p:cBhvr>
                                      <p:tavLst>
                                        <p:tav tm="0">
                                          <p:val>
                                            <p:strVal val="ppt_x"/>
                                          </p:val>
                                        </p:tav>
                                        <p:tav tm="100000">
                                          <p:val>
                                            <p:strVal val="ppt_x"/>
                                          </p:val>
                                        </p:tav>
                                      </p:tavLst>
                                    </p:anim>
                                    <p:anim calcmode="lin" valueType="num">
                                      <p:cBhvr>
                                        <p:cTn id="76" dur="1000"/>
                                        <p:tgtEl>
                                          <p:spTgt spid="49"/>
                                        </p:tgtEl>
                                        <p:attrNameLst>
                                          <p:attrName>ppt_y</p:attrName>
                                        </p:attrNameLst>
                                      </p:cBhvr>
                                      <p:tavLst>
                                        <p:tav tm="0">
                                          <p:val>
                                            <p:strVal val="ppt_y"/>
                                          </p:val>
                                        </p:tav>
                                        <p:tav tm="100000">
                                          <p:val>
                                            <p:strVal val="ppt_y+.1"/>
                                          </p:val>
                                        </p:tav>
                                      </p:tavLst>
                                    </p:anim>
                                    <p:set>
                                      <p:cBhvr>
                                        <p:cTn id="77" dur="1" fill="hold">
                                          <p:stCondLst>
                                            <p:cond delay="999"/>
                                          </p:stCondLst>
                                        </p:cTn>
                                        <p:tgtEl>
                                          <p:spTgt spid="49"/>
                                        </p:tgtEl>
                                        <p:attrNameLst>
                                          <p:attrName>style.visibility</p:attrName>
                                        </p:attrNameLst>
                                      </p:cBhvr>
                                      <p:to>
                                        <p:strVal val="hidden"/>
                                      </p:to>
                                    </p:set>
                                  </p:childTnLst>
                                </p:cTn>
                              </p:par>
                              <p:par>
                                <p:cTn id="78" presetID="42" presetClass="exit" presetSubtype="0" fill="hold" grpId="0" nodeType="withEffect">
                                  <p:stCondLst>
                                    <p:cond delay="0"/>
                                  </p:stCondLst>
                                  <p:childTnLst>
                                    <p:animEffect transition="out" filter="fade">
                                      <p:cBhvr>
                                        <p:cTn id="79" dur="1000"/>
                                        <p:tgtEl>
                                          <p:spTgt spid="47"/>
                                        </p:tgtEl>
                                      </p:cBhvr>
                                    </p:animEffect>
                                    <p:anim calcmode="lin" valueType="num">
                                      <p:cBhvr>
                                        <p:cTn id="80" dur="1000"/>
                                        <p:tgtEl>
                                          <p:spTgt spid="47"/>
                                        </p:tgtEl>
                                        <p:attrNameLst>
                                          <p:attrName>ppt_x</p:attrName>
                                        </p:attrNameLst>
                                      </p:cBhvr>
                                      <p:tavLst>
                                        <p:tav tm="0">
                                          <p:val>
                                            <p:strVal val="ppt_x"/>
                                          </p:val>
                                        </p:tav>
                                        <p:tav tm="100000">
                                          <p:val>
                                            <p:strVal val="ppt_x"/>
                                          </p:val>
                                        </p:tav>
                                      </p:tavLst>
                                    </p:anim>
                                    <p:anim calcmode="lin" valueType="num">
                                      <p:cBhvr>
                                        <p:cTn id="81" dur="1000"/>
                                        <p:tgtEl>
                                          <p:spTgt spid="47"/>
                                        </p:tgtEl>
                                        <p:attrNameLst>
                                          <p:attrName>ppt_y</p:attrName>
                                        </p:attrNameLst>
                                      </p:cBhvr>
                                      <p:tavLst>
                                        <p:tav tm="0">
                                          <p:val>
                                            <p:strVal val="ppt_y"/>
                                          </p:val>
                                        </p:tav>
                                        <p:tav tm="100000">
                                          <p:val>
                                            <p:strVal val="ppt_y+.1"/>
                                          </p:val>
                                        </p:tav>
                                      </p:tavLst>
                                    </p:anim>
                                    <p:set>
                                      <p:cBhvr>
                                        <p:cTn id="82" dur="1" fill="hold">
                                          <p:stCondLst>
                                            <p:cond delay="999"/>
                                          </p:stCondLst>
                                        </p:cTn>
                                        <p:tgtEl>
                                          <p:spTgt spid="47"/>
                                        </p:tgtEl>
                                        <p:attrNameLst>
                                          <p:attrName>style.visibility</p:attrName>
                                        </p:attrNameLst>
                                      </p:cBhvr>
                                      <p:to>
                                        <p:strVal val="hidden"/>
                                      </p:to>
                                    </p:set>
                                  </p:childTnLst>
                                </p:cTn>
                              </p:par>
                              <p:par>
                                <p:cTn id="83" presetID="42" presetClass="exit" presetSubtype="0" fill="hold" grpId="0" nodeType="withEffect">
                                  <p:stCondLst>
                                    <p:cond delay="0"/>
                                  </p:stCondLst>
                                  <p:childTnLst>
                                    <p:animEffect transition="out" filter="fade">
                                      <p:cBhvr>
                                        <p:cTn id="84" dur="1000"/>
                                        <p:tgtEl>
                                          <p:spTgt spid="29"/>
                                        </p:tgtEl>
                                      </p:cBhvr>
                                    </p:animEffect>
                                    <p:anim calcmode="lin" valueType="num">
                                      <p:cBhvr>
                                        <p:cTn id="85" dur="1000"/>
                                        <p:tgtEl>
                                          <p:spTgt spid="29"/>
                                        </p:tgtEl>
                                        <p:attrNameLst>
                                          <p:attrName>ppt_x</p:attrName>
                                        </p:attrNameLst>
                                      </p:cBhvr>
                                      <p:tavLst>
                                        <p:tav tm="0">
                                          <p:val>
                                            <p:strVal val="ppt_x"/>
                                          </p:val>
                                        </p:tav>
                                        <p:tav tm="100000">
                                          <p:val>
                                            <p:strVal val="ppt_x"/>
                                          </p:val>
                                        </p:tav>
                                      </p:tavLst>
                                    </p:anim>
                                    <p:anim calcmode="lin" valueType="num">
                                      <p:cBhvr>
                                        <p:cTn id="86" dur="1000"/>
                                        <p:tgtEl>
                                          <p:spTgt spid="29"/>
                                        </p:tgtEl>
                                        <p:attrNameLst>
                                          <p:attrName>ppt_y</p:attrName>
                                        </p:attrNameLst>
                                      </p:cBhvr>
                                      <p:tavLst>
                                        <p:tav tm="0">
                                          <p:val>
                                            <p:strVal val="ppt_y"/>
                                          </p:val>
                                        </p:tav>
                                        <p:tav tm="100000">
                                          <p:val>
                                            <p:strVal val="ppt_y+.1"/>
                                          </p:val>
                                        </p:tav>
                                      </p:tavLst>
                                    </p:anim>
                                    <p:set>
                                      <p:cBhvr>
                                        <p:cTn id="87" dur="1" fill="hold">
                                          <p:stCondLst>
                                            <p:cond delay="999"/>
                                          </p:stCondLst>
                                        </p:cTn>
                                        <p:tgtEl>
                                          <p:spTgt spid="29"/>
                                        </p:tgtEl>
                                        <p:attrNameLst>
                                          <p:attrName>style.visibility</p:attrName>
                                        </p:attrNameLst>
                                      </p:cBhvr>
                                      <p:to>
                                        <p:strVal val="hidden"/>
                                      </p:to>
                                    </p:set>
                                  </p:childTnLst>
                                </p:cTn>
                              </p:par>
                              <p:par>
                                <p:cTn id="88" presetID="42" presetClass="exit" presetSubtype="0" fill="hold" nodeType="withEffect">
                                  <p:stCondLst>
                                    <p:cond delay="0"/>
                                  </p:stCondLst>
                                  <p:childTnLst>
                                    <p:animEffect transition="out" filter="fade">
                                      <p:cBhvr>
                                        <p:cTn id="89" dur="1000"/>
                                        <p:tgtEl>
                                          <p:spTgt spid="28"/>
                                        </p:tgtEl>
                                      </p:cBhvr>
                                    </p:animEffect>
                                    <p:anim calcmode="lin" valueType="num">
                                      <p:cBhvr>
                                        <p:cTn id="90" dur="1000"/>
                                        <p:tgtEl>
                                          <p:spTgt spid="28"/>
                                        </p:tgtEl>
                                        <p:attrNameLst>
                                          <p:attrName>ppt_x</p:attrName>
                                        </p:attrNameLst>
                                      </p:cBhvr>
                                      <p:tavLst>
                                        <p:tav tm="0">
                                          <p:val>
                                            <p:strVal val="ppt_x"/>
                                          </p:val>
                                        </p:tav>
                                        <p:tav tm="100000">
                                          <p:val>
                                            <p:strVal val="ppt_x"/>
                                          </p:val>
                                        </p:tav>
                                      </p:tavLst>
                                    </p:anim>
                                    <p:anim calcmode="lin" valueType="num">
                                      <p:cBhvr>
                                        <p:cTn id="91" dur="1000"/>
                                        <p:tgtEl>
                                          <p:spTgt spid="28"/>
                                        </p:tgtEl>
                                        <p:attrNameLst>
                                          <p:attrName>ppt_y</p:attrName>
                                        </p:attrNameLst>
                                      </p:cBhvr>
                                      <p:tavLst>
                                        <p:tav tm="0">
                                          <p:val>
                                            <p:strVal val="ppt_y"/>
                                          </p:val>
                                        </p:tav>
                                        <p:tav tm="100000">
                                          <p:val>
                                            <p:strVal val="ppt_y+.1"/>
                                          </p:val>
                                        </p:tav>
                                      </p:tavLst>
                                    </p:anim>
                                    <p:set>
                                      <p:cBhvr>
                                        <p:cTn id="92" dur="1" fill="hold">
                                          <p:stCondLst>
                                            <p:cond delay="999"/>
                                          </p:stCondLst>
                                        </p:cTn>
                                        <p:tgtEl>
                                          <p:spTgt spid="28"/>
                                        </p:tgtEl>
                                        <p:attrNameLst>
                                          <p:attrName>style.visibility</p:attrName>
                                        </p:attrNameLst>
                                      </p:cBhvr>
                                      <p:to>
                                        <p:strVal val="hidden"/>
                                      </p:to>
                                    </p:set>
                                  </p:childTnLst>
                                </p:cTn>
                              </p:par>
                              <p:par>
                                <p:cTn id="93" presetID="42" presetClass="exit" presetSubtype="0" fill="hold" grpId="1" nodeType="withEffect">
                                  <p:stCondLst>
                                    <p:cond delay="0"/>
                                  </p:stCondLst>
                                  <p:childTnLst>
                                    <p:animEffect transition="out" filter="fade">
                                      <p:cBhvr>
                                        <p:cTn id="94" dur="1000"/>
                                        <p:tgtEl>
                                          <p:spTgt spid="54"/>
                                        </p:tgtEl>
                                      </p:cBhvr>
                                    </p:animEffect>
                                    <p:anim calcmode="lin" valueType="num">
                                      <p:cBhvr>
                                        <p:cTn id="95" dur="1000"/>
                                        <p:tgtEl>
                                          <p:spTgt spid="54"/>
                                        </p:tgtEl>
                                        <p:attrNameLst>
                                          <p:attrName>ppt_x</p:attrName>
                                        </p:attrNameLst>
                                      </p:cBhvr>
                                      <p:tavLst>
                                        <p:tav tm="0">
                                          <p:val>
                                            <p:strVal val="ppt_x"/>
                                          </p:val>
                                        </p:tav>
                                        <p:tav tm="100000">
                                          <p:val>
                                            <p:strVal val="ppt_x"/>
                                          </p:val>
                                        </p:tav>
                                      </p:tavLst>
                                    </p:anim>
                                    <p:anim calcmode="lin" valueType="num">
                                      <p:cBhvr>
                                        <p:cTn id="96" dur="1000"/>
                                        <p:tgtEl>
                                          <p:spTgt spid="54"/>
                                        </p:tgtEl>
                                        <p:attrNameLst>
                                          <p:attrName>ppt_y</p:attrName>
                                        </p:attrNameLst>
                                      </p:cBhvr>
                                      <p:tavLst>
                                        <p:tav tm="0">
                                          <p:val>
                                            <p:strVal val="ppt_y"/>
                                          </p:val>
                                        </p:tav>
                                        <p:tav tm="100000">
                                          <p:val>
                                            <p:strVal val="ppt_y+.1"/>
                                          </p:val>
                                        </p:tav>
                                      </p:tavLst>
                                    </p:anim>
                                    <p:set>
                                      <p:cBhvr>
                                        <p:cTn id="97" dur="1" fill="hold">
                                          <p:stCondLst>
                                            <p:cond delay="999"/>
                                          </p:stCondLst>
                                        </p:cTn>
                                        <p:tgtEl>
                                          <p:spTgt spid="54"/>
                                        </p:tgtEl>
                                        <p:attrNameLst>
                                          <p:attrName>style.visibility</p:attrName>
                                        </p:attrNameLst>
                                      </p:cBhvr>
                                      <p:to>
                                        <p:strVal val="hidden"/>
                                      </p:to>
                                    </p:set>
                                  </p:childTnLst>
                                </p:cTn>
                              </p:par>
                              <p:par>
                                <p:cTn id="98" presetID="42" presetClass="exit" presetSubtype="0" fill="hold" nodeType="withEffect">
                                  <p:stCondLst>
                                    <p:cond delay="0"/>
                                  </p:stCondLst>
                                  <p:childTnLst>
                                    <p:animEffect transition="out" filter="fade">
                                      <p:cBhvr>
                                        <p:cTn id="99" dur="1000"/>
                                        <p:tgtEl>
                                          <p:spTgt spid="18"/>
                                        </p:tgtEl>
                                      </p:cBhvr>
                                    </p:animEffect>
                                    <p:anim calcmode="lin" valueType="num">
                                      <p:cBhvr>
                                        <p:cTn id="100" dur="1000"/>
                                        <p:tgtEl>
                                          <p:spTgt spid="18"/>
                                        </p:tgtEl>
                                        <p:attrNameLst>
                                          <p:attrName>ppt_x</p:attrName>
                                        </p:attrNameLst>
                                      </p:cBhvr>
                                      <p:tavLst>
                                        <p:tav tm="0">
                                          <p:val>
                                            <p:strVal val="ppt_x"/>
                                          </p:val>
                                        </p:tav>
                                        <p:tav tm="100000">
                                          <p:val>
                                            <p:strVal val="ppt_x"/>
                                          </p:val>
                                        </p:tav>
                                      </p:tavLst>
                                    </p:anim>
                                    <p:anim calcmode="lin" valueType="num">
                                      <p:cBhvr>
                                        <p:cTn id="101" dur="1000"/>
                                        <p:tgtEl>
                                          <p:spTgt spid="18"/>
                                        </p:tgtEl>
                                        <p:attrNameLst>
                                          <p:attrName>ppt_y</p:attrName>
                                        </p:attrNameLst>
                                      </p:cBhvr>
                                      <p:tavLst>
                                        <p:tav tm="0">
                                          <p:val>
                                            <p:strVal val="ppt_y"/>
                                          </p:val>
                                        </p:tav>
                                        <p:tav tm="100000">
                                          <p:val>
                                            <p:strVal val="ppt_y+.1"/>
                                          </p:val>
                                        </p:tav>
                                      </p:tavLst>
                                    </p:anim>
                                    <p:set>
                                      <p:cBhvr>
                                        <p:cTn id="102" dur="1" fill="hold">
                                          <p:stCondLst>
                                            <p:cond delay="999"/>
                                          </p:stCondLst>
                                        </p:cTn>
                                        <p:tgtEl>
                                          <p:spTgt spid="18"/>
                                        </p:tgtEl>
                                        <p:attrNameLst>
                                          <p:attrName>style.visibility</p:attrName>
                                        </p:attrNameLst>
                                      </p:cBhvr>
                                      <p:to>
                                        <p:strVal val="hidden"/>
                                      </p:to>
                                    </p:set>
                                  </p:childTnLst>
                                </p:cTn>
                              </p:par>
                              <p:par>
                                <p:cTn id="103" presetID="42" presetClass="exit" presetSubtype="0" fill="hold" grpId="0" nodeType="withEffect">
                                  <p:stCondLst>
                                    <p:cond delay="0"/>
                                  </p:stCondLst>
                                  <p:childTnLst>
                                    <p:animEffect transition="out" filter="fade">
                                      <p:cBhvr>
                                        <p:cTn id="104" dur="1000"/>
                                        <p:tgtEl>
                                          <p:spTgt spid="15"/>
                                        </p:tgtEl>
                                      </p:cBhvr>
                                    </p:animEffect>
                                    <p:anim calcmode="lin" valueType="num">
                                      <p:cBhvr>
                                        <p:cTn id="105" dur="1000"/>
                                        <p:tgtEl>
                                          <p:spTgt spid="15"/>
                                        </p:tgtEl>
                                        <p:attrNameLst>
                                          <p:attrName>ppt_x</p:attrName>
                                        </p:attrNameLst>
                                      </p:cBhvr>
                                      <p:tavLst>
                                        <p:tav tm="0">
                                          <p:val>
                                            <p:strVal val="ppt_x"/>
                                          </p:val>
                                        </p:tav>
                                        <p:tav tm="100000">
                                          <p:val>
                                            <p:strVal val="ppt_x"/>
                                          </p:val>
                                        </p:tav>
                                      </p:tavLst>
                                    </p:anim>
                                    <p:anim calcmode="lin" valueType="num">
                                      <p:cBhvr>
                                        <p:cTn id="106" dur="1000"/>
                                        <p:tgtEl>
                                          <p:spTgt spid="15"/>
                                        </p:tgtEl>
                                        <p:attrNameLst>
                                          <p:attrName>ppt_y</p:attrName>
                                        </p:attrNameLst>
                                      </p:cBhvr>
                                      <p:tavLst>
                                        <p:tav tm="0">
                                          <p:val>
                                            <p:strVal val="ppt_y"/>
                                          </p:val>
                                        </p:tav>
                                        <p:tav tm="100000">
                                          <p:val>
                                            <p:strVal val="ppt_y+.1"/>
                                          </p:val>
                                        </p:tav>
                                      </p:tavLst>
                                    </p:anim>
                                    <p:set>
                                      <p:cBhvr>
                                        <p:cTn id="107" dur="1" fill="hold">
                                          <p:stCondLst>
                                            <p:cond delay="999"/>
                                          </p:stCondLst>
                                        </p:cTn>
                                        <p:tgtEl>
                                          <p:spTgt spid="15"/>
                                        </p:tgtEl>
                                        <p:attrNameLst>
                                          <p:attrName>style.visibility</p:attrName>
                                        </p:attrNameLst>
                                      </p:cBhvr>
                                      <p:to>
                                        <p:strVal val="hidden"/>
                                      </p:to>
                                    </p:set>
                                  </p:childTnLst>
                                </p:cTn>
                              </p:par>
                              <p:par>
                                <p:cTn id="108" presetID="42" presetClass="exit" presetSubtype="0" fill="hold" grpId="0" nodeType="withEffect">
                                  <p:stCondLst>
                                    <p:cond delay="0"/>
                                  </p:stCondLst>
                                  <p:childTnLst>
                                    <p:animEffect transition="out" filter="fade">
                                      <p:cBhvr>
                                        <p:cTn id="109" dur="1000"/>
                                        <p:tgtEl>
                                          <p:spTgt spid="34"/>
                                        </p:tgtEl>
                                      </p:cBhvr>
                                    </p:animEffect>
                                    <p:anim calcmode="lin" valueType="num">
                                      <p:cBhvr>
                                        <p:cTn id="110" dur="1000"/>
                                        <p:tgtEl>
                                          <p:spTgt spid="34"/>
                                        </p:tgtEl>
                                        <p:attrNameLst>
                                          <p:attrName>ppt_x</p:attrName>
                                        </p:attrNameLst>
                                      </p:cBhvr>
                                      <p:tavLst>
                                        <p:tav tm="0">
                                          <p:val>
                                            <p:strVal val="ppt_x"/>
                                          </p:val>
                                        </p:tav>
                                        <p:tav tm="100000">
                                          <p:val>
                                            <p:strVal val="ppt_x"/>
                                          </p:val>
                                        </p:tav>
                                      </p:tavLst>
                                    </p:anim>
                                    <p:anim calcmode="lin" valueType="num">
                                      <p:cBhvr>
                                        <p:cTn id="111" dur="1000"/>
                                        <p:tgtEl>
                                          <p:spTgt spid="34"/>
                                        </p:tgtEl>
                                        <p:attrNameLst>
                                          <p:attrName>ppt_y</p:attrName>
                                        </p:attrNameLst>
                                      </p:cBhvr>
                                      <p:tavLst>
                                        <p:tav tm="0">
                                          <p:val>
                                            <p:strVal val="ppt_y"/>
                                          </p:val>
                                        </p:tav>
                                        <p:tav tm="100000">
                                          <p:val>
                                            <p:strVal val="ppt_y+.1"/>
                                          </p:val>
                                        </p:tav>
                                      </p:tavLst>
                                    </p:anim>
                                    <p:set>
                                      <p:cBhvr>
                                        <p:cTn id="112" dur="1" fill="hold">
                                          <p:stCondLst>
                                            <p:cond delay="999"/>
                                          </p:stCondLst>
                                        </p:cTn>
                                        <p:tgtEl>
                                          <p:spTgt spid="34"/>
                                        </p:tgtEl>
                                        <p:attrNameLst>
                                          <p:attrName>style.visibility</p:attrName>
                                        </p:attrNameLst>
                                      </p:cBhvr>
                                      <p:to>
                                        <p:strVal val="hidden"/>
                                      </p:to>
                                    </p:set>
                                  </p:childTnLst>
                                </p:cTn>
                              </p:par>
                              <p:par>
                                <p:cTn id="113" presetID="42" presetClass="exit" presetSubtype="0" fill="hold" grpId="1" nodeType="withEffect">
                                  <p:stCondLst>
                                    <p:cond delay="0"/>
                                  </p:stCondLst>
                                  <p:childTnLst>
                                    <p:animEffect transition="out" filter="fade">
                                      <p:cBhvr>
                                        <p:cTn id="114" dur="1000"/>
                                        <p:tgtEl>
                                          <p:spTgt spid="53"/>
                                        </p:tgtEl>
                                      </p:cBhvr>
                                    </p:animEffect>
                                    <p:anim calcmode="lin" valueType="num">
                                      <p:cBhvr>
                                        <p:cTn id="115" dur="1000"/>
                                        <p:tgtEl>
                                          <p:spTgt spid="53"/>
                                        </p:tgtEl>
                                        <p:attrNameLst>
                                          <p:attrName>ppt_x</p:attrName>
                                        </p:attrNameLst>
                                      </p:cBhvr>
                                      <p:tavLst>
                                        <p:tav tm="0">
                                          <p:val>
                                            <p:strVal val="ppt_x"/>
                                          </p:val>
                                        </p:tav>
                                        <p:tav tm="100000">
                                          <p:val>
                                            <p:strVal val="ppt_x"/>
                                          </p:val>
                                        </p:tav>
                                      </p:tavLst>
                                    </p:anim>
                                    <p:anim calcmode="lin" valueType="num">
                                      <p:cBhvr>
                                        <p:cTn id="116" dur="1000"/>
                                        <p:tgtEl>
                                          <p:spTgt spid="53"/>
                                        </p:tgtEl>
                                        <p:attrNameLst>
                                          <p:attrName>ppt_y</p:attrName>
                                        </p:attrNameLst>
                                      </p:cBhvr>
                                      <p:tavLst>
                                        <p:tav tm="0">
                                          <p:val>
                                            <p:strVal val="ppt_y"/>
                                          </p:val>
                                        </p:tav>
                                        <p:tav tm="100000">
                                          <p:val>
                                            <p:strVal val="ppt_y+.1"/>
                                          </p:val>
                                        </p:tav>
                                      </p:tavLst>
                                    </p:anim>
                                    <p:set>
                                      <p:cBhvr>
                                        <p:cTn id="117" dur="1" fill="hold">
                                          <p:stCondLst>
                                            <p:cond delay="999"/>
                                          </p:stCondLst>
                                        </p:cTn>
                                        <p:tgtEl>
                                          <p:spTgt spid="53"/>
                                        </p:tgtEl>
                                        <p:attrNameLst>
                                          <p:attrName>style.visibility</p:attrName>
                                        </p:attrNameLst>
                                      </p:cBhvr>
                                      <p:to>
                                        <p:strVal val="hidden"/>
                                      </p:to>
                                    </p:set>
                                  </p:childTnLst>
                                </p:cTn>
                              </p:par>
                              <p:par>
                                <p:cTn id="118" presetID="42" presetClass="exit" presetSubtype="0" fill="hold" grpId="1" nodeType="withEffect">
                                  <p:stCondLst>
                                    <p:cond delay="0"/>
                                  </p:stCondLst>
                                  <p:childTnLst>
                                    <p:animEffect transition="out" filter="fade">
                                      <p:cBhvr>
                                        <p:cTn id="119" dur="1000"/>
                                        <p:tgtEl>
                                          <p:spTgt spid="52"/>
                                        </p:tgtEl>
                                      </p:cBhvr>
                                    </p:animEffect>
                                    <p:anim calcmode="lin" valueType="num">
                                      <p:cBhvr>
                                        <p:cTn id="120" dur="1000"/>
                                        <p:tgtEl>
                                          <p:spTgt spid="52"/>
                                        </p:tgtEl>
                                        <p:attrNameLst>
                                          <p:attrName>ppt_x</p:attrName>
                                        </p:attrNameLst>
                                      </p:cBhvr>
                                      <p:tavLst>
                                        <p:tav tm="0">
                                          <p:val>
                                            <p:strVal val="ppt_x"/>
                                          </p:val>
                                        </p:tav>
                                        <p:tav tm="100000">
                                          <p:val>
                                            <p:strVal val="ppt_x"/>
                                          </p:val>
                                        </p:tav>
                                      </p:tavLst>
                                    </p:anim>
                                    <p:anim calcmode="lin" valueType="num">
                                      <p:cBhvr>
                                        <p:cTn id="121" dur="1000"/>
                                        <p:tgtEl>
                                          <p:spTgt spid="52"/>
                                        </p:tgtEl>
                                        <p:attrNameLst>
                                          <p:attrName>ppt_y</p:attrName>
                                        </p:attrNameLst>
                                      </p:cBhvr>
                                      <p:tavLst>
                                        <p:tav tm="0">
                                          <p:val>
                                            <p:strVal val="ppt_y"/>
                                          </p:val>
                                        </p:tav>
                                        <p:tav tm="100000">
                                          <p:val>
                                            <p:strVal val="ppt_y+.1"/>
                                          </p:val>
                                        </p:tav>
                                      </p:tavLst>
                                    </p:anim>
                                    <p:set>
                                      <p:cBhvr>
                                        <p:cTn id="122" dur="1" fill="hold">
                                          <p:stCondLst>
                                            <p:cond delay="999"/>
                                          </p:stCondLst>
                                        </p:cTn>
                                        <p:tgtEl>
                                          <p:spTgt spid="52"/>
                                        </p:tgtEl>
                                        <p:attrNameLst>
                                          <p:attrName>style.visibility</p:attrName>
                                        </p:attrNameLst>
                                      </p:cBhvr>
                                      <p:to>
                                        <p:strVal val="hidden"/>
                                      </p:to>
                                    </p:set>
                                  </p:childTnLst>
                                </p:cTn>
                              </p:par>
                              <p:par>
                                <p:cTn id="123" presetID="42" presetClass="exit" presetSubtype="0" fill="hold" grpId="1" nodeType="withEffect">
                                  <p:stCondLst>
                                    <p:cond delay="0"/>
                                  </p:stCondLst>
                                  <p:childTnLst>
                                    <p:animEffect transition="out" filter="fade">
                                      <p:cBhvr>
                                        <p:cTn id="124" dur="1000"/>
                                        <p:tgtEl>
                                          <p:spTgt spid="51"/>
                                        </p:tgtEl>
                                      </p:cBhvr>
                                    </p:animEffect>
                                    <p:anim calcmode="lin" valueType="num">
                                      <p:cBhvr>
                                        <p:cTn id="125" dur="1000"/>
                                        <p:tgtEl>
                                          <p:spTgt spid="51"/>
                                        </p:tgtEl>
                                        <p:attrNameLst>
                                          <p:attrName>ppt_x</p:attrName>
                                        </p:attrNameLst>
                                      </p:cBhvr>
                                      <p:tavLst>
                                        <p:tav tm="0">
                                          <p:val>
                                            <p:strVal val="ppt_x"/>
                                          </p:val>
                                        </p:tav>
                                        <p:tav tm="100000">
                                          <p:val>
                                            <p:strVal val="ppt_x"/>
                                          </p:val>
                                        </p:tav>
                                      </p:tavLst>
                                    </p:anim>
                                    <p:anim calcmode="lin" valueType="num">
                                      <p:cBhvr>
                                        <p:cTn id="126" dur="1000"/>
                                        <p:tgtEl>
                                          <p:spTgt spid="51"/>
                                        </p:tgtEl>
                                        <p:attrNameLst>
                                          <p:attrName>ppt_y</p:attrName>
                                        </p:attrNameLst>
                                      </p:cBhvr>
                                      <p:tavLst>
                                        <p:tav tm="0">
                                          <p:val>
                                            <p:strVal val="ppt_y"/>
                                          </p:val>
                                        </p:tav>
                                        <p:tav tm="100000">
                                          <p:val>
                                            <p:strVal val="ppt_y+.1"/>
                                          </p:val>
                                        </p:tav>
                                      </p:tavLst>
                                    </p:anim>
                                    <p:set>
                                      <p:cBhvr>
                                        <p:cTn id="127" dur="1" fill="hold">
                                          <p:stCondLst>
                                            <p:cond delay="999"/>
                                          </p:stCondLst>
                                        </p:cTn>
                                        <p:tgtEl>
                                          <p:spTgt spid="51"/>
                                        </p:tgtEl>
                                        <p:attrNameLst>
                                          <p:attrName>style.visibility</p:attrName>
                                        </p:attrNameLst>
                                      </p:cBhvr>
                                      <p:to>
                                        <p:strVal val="hidden"/>
                                      </p:to>
                                    </p:set>
                                  </p:childTnLst>
                                </p:cTn>
                              </p:par>
                              <p:par>
                                <p:cTn id="128" presetID="42" presetClass="exit" presetSubtype="0" fill="hold" grpId="1" nodeType="withEffect">
                                  <p:stCondLst>
                                    <p:cond delay="0"/>
                                  </p:stCondLst>
                                  <p:childTnLst>
                                    <p:animEffect transition="out" filter="fade">
                                      <p:cBhvr>
                                        <p:cTn id="129" dur="1000"/>
                                        <p:tgtEl>
                                          <p:spTgt spid="50"/>
                                        </p:tgtEl>
                                      </p:cBhvr>
                                    </p:animEffect>
                                    <p:anim calcmode="lin" valueType="num">
                                      <p:cBhvr>
                                        <p:cTn id="130" dur="1000"/>
                                        <p:tgtEl>
                                          <p:spTgt spid="50"/>
                                        </p:tgtEl>
                                        <p:attrNameLst>
                                          <p:attrName>ppt_x</p:attrName>
                                        </p:attrNameLst>
                                      </p:cBhvr>
                                      <p:tavLst>
                                        <p:tav tm="0">
                                          <p:val>
                                            <p:strVal val="ppt_x"/>
                                          </p:val>
                                        </p:tav>
                                        <p:tav tm="100000">
                                          <p:val>
                                            <p:strVal val="ppt_x"/>
                                          </p:val>
                                        </p:tav>
                                      </p:tavLst>
                                    </p:anim>
                                    <p:anim calcmode="lin" valueType="num">
                                      <p:cBhvr>
                                        <p:cTn id="131" dur="1000"/>
                                        <p:tgtEl>
                                          <p:spTgt spid="50"/>
                                        </p:tgtEl>
                                        <p:attrNameLst>
                                          <p:attrName>ppt_y</p:attrName>
                                        </p:attrNameLst>
                                      </p:cBhvr>
                                      <p:tavLst>
                                        <p:tav tm="0">
                                          <p:val>
                                            <p:strVal val="ppt_y"/>
                                          </p:val>
                                        </p:tav>
                                        <p:tav tm="100000">
                                          <p:val>
                                            <p:strVal val="ppt_y+.1"/>
                                          </p:val>
                                        </p:tav>
                                      </p:tavLst>
                                    </p:anim>
                                    <p:set>
                                      <p:cBhvr>
                                        <p:cTn id="132" dur="1" fill="hold">
                                          <p:stCondLst>
                                            <p:cond delay="999"/>
                                          </p:stCondLst>
                                        </p:cTn>
                                        <p:tgtEl>
                                          <p:spTgt spid="50"/>
                                        </p:tgtEl>
                                        <p:attrNameLst>
                                          <p:attrName>style.visibility</p:attrName>
                                        </p:attrNameLst>
                                      </p:cBhvr>
                                      <p:to>
                                        <p:strVal val="hidden"/>
                                      </p:to>
                                    </p:set>
                                  </p:childTnLst>
                                </p:cTn>
                              </p:par>
                              <p:par>
                                <p:cTn id="133" presetID="42" presetClass="exit" presetSubtype="0" fill="hold" grpId="0" nodeType="withEffect">
                                  <p:stCondLst>
                                    <p:cond delay="0"/>
                                  </p:stCondLst>
                                  <p:childTnLst>
                                    <p:animEffect transition="out" filter="fade">
                                      <p:cBhvr>
                                        <p:cTn id="134" dur="1000"/>
                                        <p:tgtEl>
                                          <p:spTgt spid="45"/>
                                        </p:tgtEl>
                                      </p:cBhvr>
                                    </p:animEffect>
                                    <p:anim calcmode="lin" valueType="num">
                                      <p:cBhvr>
                                        <p:cTn id="135" dur="1000"/>
                                        <p:tgtEl>
                                          <p:spTgt spid="45"/>
                                        </p:tgtEl>
                                        <p:attrNameLst>
                                          <p:attrName>ppt_x</p:attrName>
                                        </p:attrNameLst>
                                      </p:cBhvr>
                                      <p:tavLst>
                                        <p:tav tm="0">
                                          <p:val>
                                            <p:strVal val="ppt_x"/>
                                          </p:val>
                                        </p:tav>
                                        <p:tav tm="100000">
                                          <p:val>
                                            <p:strVal val="ppt_x"/>
                                          </p:val>
                                        </p:tav>
                                      </p:tavLst>
                                    </p:anim>
                                    <p:anim calcmode="lin" valueType="num">
                                      <p:cBhvr>
                                        <p:cTn id="136" dur="1000"/>
                                        <p:tgtEl>
                                          <p:spTgt spid="45"/>
                                        </p:tgtEl>
                                        <p:attrNameLst>
                                          <p:attrName>ppt_y</p:attrName>
                                        </p:attrNameLst>
                                      </p:cBhvr>
                                      <p:tavLst>
                                        <p:tav tm="0">
                                          <p:val>
                                            <p:strVal val="ppt_y"/>
                                          </p:val>
                                        </p:tav>
                                        <p:tav tm="100000">
                                          <p:val>
                                            <p:strVal val="ppt_y+.1"/>
                                          </p:val>
                                        </p:tav>
                                      </p:tavLst>
                                    </p:anim>
                                    <p:set>
                                      <p:cBhvr>
                                        <p:cTn id="137" dur="1" fill="hold">
                                          <p:stCondLst>
                                            <p:cond delay="999"/>
                                          </p:stCondLst>
                                        </p:cTn>
                                        <p:tgtEl>
                                          <p:spTgt spid="45"/>
                                        </p:tgtEl>
                                        <p:attrNameLst>
                                          <p:attrName>style.visibility</p:attrName>
                                        </p:attrNameLst>
                                      </p:cBhvr>
                                      <p:to>
                                        <p:strVal val="hidden"/>
                                      </p:to>
                                    </p:set>
                                  </p:childTnLst>
                                </p:cTn>
                              </p:par>
                              <p:par>
                                <p:cTn id="138" presetID="42" presetClass="exit" presetSubtype="0" fill="hold" grpId="0" nodeType="withEffect">
                                  <p:stCondLst>
                                    <p:cond delay="0"/>
                                  </p:stCondLst>
                                  <p:childTnLst>
                                    <p:animEffect transition="out" filter="fade">
                                      <p:cBhvr>
                                        <p:cTn id="139" dur="1000"/>
                                        <p:tgtEl>
                                          <p:spTgt spid="27"/>
                                        </p:tgtEl>
                                      </p:cBhvr>
                                    </p:animEffect>
                                    <p:anim calcmode="lin" valueType="num">
                                      <p:cBhvr>
                                        <p:cTn id="140" dur="1000"/>
                                        <p:tgtEl>
                                          <p:spTgt spid="27"/>
                                        </p:tgtEl>
                                        <p:attrNameLst>
                                          <p:attrName>ppt_x</p:attrName>
                                        </p:attrNameLst>
                                      </p:cBhvr>
                                      <p:tavLst>
                                        <p:tav tm="0">
                                          <p:val>
                                            <p:strVal val="ppt_x"/>
                                          </p:val>
                                        </p:tav>
                                        <p:tav tm="100000">
                                          <p:val>
                                            <p:strVal val="ppt_x"/>
                                          </p:val>
                                        </p:tav>
                                      </p:tavLst>
                                    </p:anim>
                                    <p:anim calcmode="lin" valueType="num">
                                      <p:cBhvr>
                                        <p:cTn id="141" dur="1000"/>
                                        <p:tgtEl>
                                          <p:spTgt spid="27"/>
                                        </p:tgtEl>
                                        <p:attrNameLst>
                                          <p:attrName>ppt_y</p:attrName>
                                        </p:attrNameLst>
                                      </p:cBhvr>
                                      <p:tavLst>
                                        <p:tav tm="0">
                                          <p:val>
                                            <p:strVal val="ppt_y"/>
                                          </p:val>
                                        </p:tav>
                                        <p:tav tm="100000">
                                          <p:val>
                                            <p:strVal val="ppt_y+.1"/>
                                          </p:val>
                                        </p:tav>
                                      </p:tavLst>
                                    </p:anim>
                                    <p:set>
                                      <p:cBhvr>
                                        <p:cTn id="142" dur="1" fill="hold">
                                          <p:stCondLst>
                                            <p:cond delay="999"/>
                                          </p:stCondLst>
                                        </p:cTn>
                                        <p:tgtEl>
                                          <p:spTgt spid="27"/>
                                        </p:tgtEl>
                                        <p:attrNameLst>
                                          <p:attrName>style.visibility</p:attrName>
                                        </p:attrNameLst>
                                      </p:cBhvr>
                                      <p:to>
                                        <p:strVal val="hidden"/>
                                      </p:to>
                                    </p:set>
                                  </p:childTnLst>
                                </p:cTn>
                              </p:par>
                              <p:par>
                                <p:cTn id="143" presetID="42" presetClass="exit" presetSubtype="0" fill="hold" nodeType="withEffect">
                                  <p:stCondLst>
                                    <p:cond delay="0"/>
                                  </p:stCondLst>
                                  <p:childTnLst>
                                    <p:animEffect transition="out" filter="fade">
                                      <p:cBhvr>
                                        <p:cTn id="144" dur="1000"/>
                                        <p:tgtEl>
                                          <p:spTgt spid="26"/>
                                        </p:tgtEl>
                                      </p:cBhvr>
                                    </p:animEffect>
                                    <p:anim calcmode="lin" valueType="num">
                                      <p:cBhvr>
                                        <p:cTn id="145" dur="1000"/>
                                        <p:tgtEl>
                                          <p:spTgt spid="26"/>
                                        </p:tgtEl>
                                        <p:attrNameLst>
                                          <p:attrName>ppt_x</p:attrName>
                                        </p:attrNameLst>
                                      </p:cBhvr>
                                      <p:tavLst>
                                        <p:tav tm="0">
                                          <p:val>
                                            <p:strVal val="ppt_x"/>
                                          </p:val>
                                        </p:tav>
                                        <p:tav tm="100000">
                                          <p:val>
                                            <p:strVal val="ppt_x"/>
                                          </p:val>
                                        </p:tav>
                                      </p:tavLst>
                                    </p:anim>
                                    <p:anim calcmode="lin" valueType="num">
                                      <p:cBhvr>
                                        <p:cTn id="146" dur="1000"/>
                                        <p:tgtEl>
                                          <p:spTgt spid="26"/>
                                        </p:tgtEl>
                                        <p:attrNameLst>
                                          <p:attrName>ppt_y</p:attrName>
                                        </p:attrNameLst>
                                      </p:cBhvr>
                                      <p:tavLst>
                                        <p:tav tm="0">
                                          <p:val>
                                            <p:strVal val="ppt_y"/>
                                          </p:val>
                                        </p:tav>
                                        <p:tav tm="100000">
                                          <p:val>
                                            <p:strVal val="ppt_y+.1"/>
                                          </p:val>
                                        </p:tav>
                                      </p:tavLst>
                                    </p:anim>
                                    <p:set>
                                      <p:cBhvr>
                                        <p:cTn id="147" dur="1" fill="hold">
                                          <p:stCondLst>
                                            <p:cond delay="999"/>
                                          </p:stCondLst>
                                        </p:cTn>
                                        <p:tgtEl>
                                          <p:spTgt spid="26"/>
                                        </p:tgtEl>
                                        <p:attrNameLst>
                                          <p:attrName>style.visibility</p:attrName>
                                        </p:attrNameLst>
                                      </p:cBhvr>
                                      <p:to>
                                        <p:strVal val="hidden"/>
                                      </p:to>
                                    </p:set>
                                  </p:childTnLst>
                                </p:cTn>
                              </p:par>
                              <p:par>
                                <p:cTn id="148" presetID="42" presetClass="exit" presetSubtype="0" fill="hold" grpId="0" nodeType="withEffect">
                                  <p:stCondLst>
                                    <p:cond delay="0"/>
                                  </p:stCondLst>
                                  <p:childTnLst>
                                    <p:animEffect transition="out" filter="fade">
                                      <p:cBhvr>
                                        <p:cTn id="149" dur="1000"/>
                                        <p:tgtEl>
                                          <p:spTgt spid="46"/>
                                        </p:tgtEl>
                                      </p:cBhvr>
                                    </p:animEffect>
                                    <p:anim calcmode="lin" valueType="num">
                                      <p:cBhvr>
                                        <p:cTn id="150" dur="1000"/>
                                        <p:tgtEl>
                                          <p:spTgt spid="46"/>
                                        </p:tgtEl>
                                        <p:attrNameLst>
                                          <p:attrName>ppt_x</p:attrName>
                                        </p:attrNameLst>
                                      </p:cBhvr>
                                      <p:tavLst>
                                        <p:tav tm="0">
                                          <p:val>
                                            <p:strVal val="ppt_x"/>
                                          </p:val>
                                        </p:tav>
                                        <p:tav tm="100000">
                                          <p:val>
                                            <p:strVal val="ppt_x"/>
                                          </p:val>
                                        </p:tav>
                                      </p:tavLst>
                                    </p:anim>
                                    <p:anim calcmode="lin" valueType="num">
                                      <p:cBhvr>
                                        <p:cTn id="151" dur="1000"/>
                                        <p:tgtEl>
                                          <p:spTgt spid="46"/>
                                        </p:tgtEl>
                                        <p:attrNameLst>
                                          <p:attrName>ppt_y</p:attrName>
                                        </p:attrNameLst>
                                      </p:cBhvr>
                                      <p:tavLst>
                                        <p:tav tm="0">
                                          <p:val>
                                            <p:strVal val="ppt_y"/>
                                          </p:val>
                                        </p:tav>
                                        <p:tav tm="100000">
                                          <p:val>
                                            <p:strVal val="ppt_y+.1"/>
                                          </p:val>
                                        </p:tav>
                                      </p:tavLst>
                                    </p:anim>
                                    <p:set>
                                      <p:cBhvr>
                                        <p:cTn id="152" dur="1" fill="hold">
                                          <p:stCondLst>
                                            <p:cond delay="999"/>
                                          </p:stCondLst>
                                        </p:cTn>
                                        <p:tgtEl>
                                          <p:spTgt spid="46"/>
                                        </p:tgtEl>
                                        <p:attrNameLst>
                                          <p:attrName>style.visibility</p:attrName>
                                        </p:attrNameLst>
                                      </p:cBhvr>
                                      <p:to>
                                        <p:strVal val="hidden"/>
                                      </p:to>
                                    </p:set>
                                  </p:childTnLst>
                                </p:cTn>
                              </p:par>
                              <p:par>
                                <p:cTn id="153" presetID="42" presetClass="exit" presetSubtype="0" fill="hold" grpId="0" nodeType="withEffect">
                                  <p:stCondLst>
                                    <p:cond delay="0"/>
                                  </p:stCondLst>
                                  <p:childTnLst>
                                    <p:animEffect transition="out" filter="fade">
                                      <p:cBhvr>
                                        <p:cTn id="154" dur="1000"/>
                                        <p:tgtEl>
                                          <p:spTgt spid="24"/>
                                        </p:tgtEl>
                                      </p:cBhvr>
                                    </p:animEffect>
                                    <p:anim calcmode="lin" valueType="num">
                                      <p:cBhvr>
                                        <p:cTn id="155" dur="1000"/>
                                        <p:tgtEl>
                                          <p:spTgt spid="24"/>
                                        </p:tgtEl>
                                        <p:attrNameLst>
                                          <p:attrName>ppt_x</p:attrName>
                                        </p:attrNameLst>
                                      </p:cBhvr>
                                      <p:tavLst>
                                        <p:tav tm="0">
                                          <p:val>
                                            <p:strVal val="ppt_x"/>
                                          </p:val>
                                        </p:tav>
                                        <p:tav tm="100000">
                                          <p:val>
                                            <p:strVal val="ppt_x"/>
                                          </p:val>
                                        </p:tav>
                                      </p:tavLst>
                                    </p:anim>
                                    <p:anim calcmode="lin" valueType="num">
                                      <p:cBhvr>
                                        <p:cTn id="156" dur="1000"/>
                                        <p:tgtEl>
                                          <p:spTgt spid="24"/>
                                        </p:tgtEl>
                                        <p:attrNameLst>
                                          <p:attrName>ppt_y</p:attrName>
                                        </p:attrNameLst>
                                      </p:cBhvr>
                                      <p:tavLst>
                                        <p:tav tm="0">
                                          <p:val>
                                            <p:strVal val="ppt_y"/>
                                          </p:val>
                                        </p:tav>
                                        <p:tav tm="100000">
                                          <p:val>
                                            <p:strVal val="ppt_y+.1"/>
                                          </p:val>
                                        </p:tav>
                                      </p:tavLst>
                                    </p:anim>
                                    <p:set>
                                      <p:cBhvr>
                                        <p:cTn id="157" dur="1" fill="hold">
                                          <p:stCondLst>
                                            <p:cond delay="999"/>
                                          </p:stCondLst>
                                        </p:cTn>
                                        <p:tgtEl>
                                          <p:spTgt spid="24"/>
                                        </p:tgtEl>
                                        <p:attrNameLst>
                                          <p:attrName>style.visibility</p:attrName>
                                        </p:attrNameLst>
                                      </p:cBhvr>
                                      <p:to>
                                        <p:strVal val="hidden"/>
                                      </p:to>
                                    </p:set>
                                  </p:childTnLst>
                                </p:cTn>
                              </p:par>
                              <p:par>
                                <p:cTn id="158" presetID="42" presetClass="exit" presetSubtype="0" fill="hold" nodeType="withEffect">
                                  <p:stCondLst>
                                    <p:cond delay="0"/>
                                  </p:stCondLst>
                                  <p:childTnLst>
                                    <p:animEffect transition="out" filter="fade">
                                      <p:cBhvr>
                                        <p:cTn id="159" dur="1000"/>
                                        <p:tgtEl>
                                          <p:spTgt spid="25"/>
                                        </p:tgtEl>
                                      </p:cBhvr>
                                    </p:animEffect>
                                    <p:anim calcmode="lin" valueType="num">
                                      <p:cBhvr>
                                        <p:cTn id="160" dur="1000"/>
                                        <p:tgtEl>
                                          <p:spTgt spid="25"/>
                                        </p:tgtEl>
                                        <p:attrNameLst>
                                          <p:attrName>ppt_x</p:attrName>
                                        </p:attrNameLst>
                                      </p:cBhvr>
                                      <p:tavLst>
                                        <p:tav tm="0">
                                          <p:val>
                                            <p:strVal val="ppt_x"/>
                                          </p:val>
                                        </p:tav>
                                        <p:tav tm="100000">
                                          <p:val>
                                            <p:strVal val="ppt_x"/>
                                          </p:val>
                                        </p:tav>
                                      </p:tavLst>
                                    </p:anim>
                                    <p:anim calcmode="lin" valueType="num">
                                      <p:cBhvr>
                                        <p:cTn id="161" dur="1000"/>
                                        <p:tgtEl>
                                          <p:spTgt spid="25"/>
                                        </p:tgtEl>
                                        <p:attrNameLst>
                                          <p:attrName>ppt_y</p:attrName>
                                        </p:attrNameLst>
                                      </p:cBhvr>
                                      <p:tavLst>
                                        <p:tav tm="0">
                                          <p:val>
                                            <p:strVal val="ppt_y"/>
                                          </p:val>
                                        </p:tav>
                                        <p:tav tm="100000">
                                          <p:val>
                                            <p:strVal val="ppt_y+.1"/>
                                          </p:val>
                                        </p:tav>
                                      </p:tavLst>
                                    </p:anim>
                                    <p:set>
                                      <p:cBhvr>
                                        <p:cTn id="162" dur="1" fill="hold">
                                          <p:stCondLst>
                                            <p:cond delay="999"/>
                                          </p:stCondLst>
                                        </p:cTn>
                                        <p:tgtEl>
                                          <p:spTgt spid="25"/>
                                        </p:tgtEl>
                                        <p:attrNameLst>
                                          <p:attrName>style.visibility</p:attrName>
                                        </p:attrNameLst>
                                      </p:cBhvr>
                                      <p:to>
                                        <p:strVal val="hidden"/>
                                      </p:to>
                                    </p:set>
                                  </p:childTnLst>
                                </p:cTn>
                              </p:par>
                              <p:par>
                                <p:cTn id="163" presetID="42" presetClass="exit" presetSubtype="0" fill="hold" grpId="0" nodeType="withEffect">
                                  <p:stCondLst>
                                    <p:cond delay="0"/>
                                  </p:stCondLst>
                                  <p:childTnLst>
                                    <p:animEffect transition="out" filter="fade">
                                      <p:cBhvr>
                                        <p:cTn id="164" dur="1000"/>
                                        <p:tgtEl>
                                          <p:spTgt spid="44"/>
                                        </p:tgtEl>
                                      </p:cBhvr>
                                    </p:animEffect>
                                    <p:anim calcmode="lin" valueType="num">
                                      <p:cBhvr>
                                        <p:cTn id="165" dur="1000"/>
                                        <p:tgtEl>
                                          <p:spTgt spid="44"/>
                                        </p:tgtEl>
                                        <p:attrNameLst>
                                          <p:attrName>ppt_x</p:attrName>
                                        </p:attrNameLst>
                                      </p:cBhvr>
                                      <p:tavLst>
                                        <p:tav tm="0">
                                          <p:val>
                                            <p:strVal val="ppt_x"/>
                                          </p:val>
                                        </p:tav>
                                        <p:tav tm="100000">
                                          <p:val>
                                            <p:strVal val="ppt_x"/>
                                          </p:val>
                                        </p:tav>
                                      </p:tavLst>
                                    </p:anim>
                                    <p:anim calcmode="lin" valueType="num">
                                      <p:cBhvr>
                                        <p:cTn id="166" dur="1000"/>
                                        <p:tgtEl>
                                          <p:spTgt spid="44"/>
                                        </p:tgtEl>
                                        <p:attrNameLst>
                                          <p:attrName>ppt_y</p:attrName>
                                        </p:attrNameLst>
                                      </p:cBhvr>
                                      <p:tavLst>
                                        <p:tav tm="0">
                                          <p:val>
                                            <p:strVal val="ppt_y"/>
                                          </p:val>
                                        </p:tav>
                                        <p:tav tm="100000">
                                          <p:val>
                                            <p:strVal val="ppt_y+.1"/>
                                          </p:val>
                                        </p:tav>
                                      </p:tavLst>
                                    </p:anim>
                                    <p:set>
                                      <p:cBhvr>
                                        <p:cTn id="167" dur="1" fill="hold">
                                          <p:stCondLst>
                                            <p:cond delay="999"/>
                                          </p:stCondLst>
                                        </p:cTn>
                                        <p:tgtEl>
                                          <p:spTgt spid="44"/>
                                        </p:tgtEl>
                                        <p:attrNameLst>
                                          <p:attrName>style.visibility</p:attrName>
                                        </p:attrNameLst>
                                      </p:cBhvr>
                                      <p:to>
                                        <p:strVal val="hidden"/>
                                      </p:to>
                                    </p:set>
                                  </p:childTnLst>
                                </p:cTn>
                              </p:par>
                              <p:par>
                                <p:cTn id="168" presetID="42" presetClass="exit" presetSubtype="0" fill="hold" grpId="0" nodeType="withEffect">
                                  <p:stCondLst>
                                    <p:cond delay="0"/>
                                  </p:stCondLst>
                                  <p:childTnLst>
                                    <p:animEffect transition="out" filter="fade">
                                      <p:cBhvr>
                                        <p:cTn id="169" dur="1000"/>
                                        <p:tgtEl>
                                          <p:spTgt spid="22"/>
                                        </p:tgtEl>
                                      </p:cBhvr>
                                    </p:animEffect>
                                    <p:anim calcmode="lin" valueType="num">
                                      <p:cBhvr>
                                        <p:cTn id="170" dur="1000"/>
                                        <p:tgtEl>
                                          <p:spTgt spid="22"/>
                                        </p:tgtEl>
                                        <p:attrNameLst>
                                          <p:attrName>ppt_x</p:attrName>
                                        </p:attrNameLst>
                                      </p:cBhvr>
                                      <p:tavLst>
                                        <p:tav tm="0">
                                          <p:val>
                                            <p:strVal val="ppt_x"/>
                                          </p:val>
                                        </p:tav>
                                        <p:tav tm="100000">
                                          <p:val>
                                            <p:strVal val="ppt_x"/>
                                          </p:val>
                                        </p:tav>
                                      </p:tavLst>
                                    </p:anim>
                                    <p:anim calcmode="lin" valueType="num">
                                      <p:cBhvr>
                                        <p:cTn id="171" dur="1000"/>
                                        <p:tgtEl>
                                          <p:spTgt spid="22"/>
                                        </p:tgtEl>
                                        <p:attrNameLst>
                                          <p:attrName>ppt_y</p:attrName>
                                        </p:attrNameLst>
                                      </p:cBhvr>
                                      <p:tavLst>
                                        <p:tav tm="0">
                                          <p:val>
                                            <p:strVal val="ppt_y"/>
                                          </p:val>
                                        </p:tav>
                                        <p:tav tm="100000">
                                          <p:val>
                                            <p:strVal val="ppt_y+.1"/>
                                          </p:val>
                                        </p:tav>
                                      </p:tavLst>
                                    </p:anim>
                                    <p:set>
                                      <p:cBhvr>
                                        <p:cTn id="172" dur="1" fill="hold">
                                          <p:stCondLst>
                                            <p:cond delay="999"/>
                                          </p:stCondLst>
                                        </p:cTn>
                                        <p:tgtEl>
                                          <p:spTgt spid="22"/>
                                        </p:tgtEl>
                                        <p:attrNameLst>
                                          <p:attrName>style.visibility</p:attrName>
                                        </p:attrNameLst>
                                      </p:cBhvr>
                                      <p:to>
                                        <p:strVal val="hidden"/>
                                      </p:to>
                                    </p:set>
                                  </p:childTnLst>
                                </p:cTn>
                              </p:par>
                              <p:par>
                                <p:cTn id="173" presetID="42" presetClass="exit" presetSubtype="0" fill="hold" nodeType="withEffect">
                                  <p:stCondLst>
                                    <p:cond delay="0"/>
                                  </p:stCondLst>
                                  <p:childTnLst>
                                    <p:animEffect transition="out" filter="fade">
                                      <p:cBhvr>
                                        <p:cTn id="174" dur="1000"/>
                                        <p:tgtEl>
                                          <p:spTgt spid="23"/>
                                        </p:tgtEl>
                                      </p:cBhvr>
                                    </p:animEffect>
                                    <p:anim calcmode="lin" valueType="num">
                                      <p:cBhvr>
                                        <p:cTn id="175" dur="1000"/>
                                        <p:tgtEl>
                                          <p:spTgt spid="23"/>
                                        </p:tgtEl>
                                        <p:attrNameLst>
                                          <p:attrName>ppt_x</p:attrName>
                                        </p:attrNameLst>
                                      </p:cBhvr>
                                      <p:tavLst>
                                        <p:tav tm="0">
                                          <p:val>
                                            <p:strVal val="ppt_x"/>
                                          </p:val>
                                        </p:tav>
                                        <p:tav tm="100000">
                                          <p:val>
                                            <p:strVal val="ppt_x"/>
                                          </p:val>
                                        </p:tav>
                                      </p:tavLst>
                                    </p:anim>
                                    <p:anim calcmode="lin" valueType="num">
                                      <p:cBhvr>
                                        <p:cTn id="176" dur="1000"/>
                                        <p:tgtEl>
                                          <p:spTgt spid="23"/>
                                        </p:tgtEl>
                                        <p:attrNameLst>
                                          <p:attrName>ppt_y</p:attrName>
                                        </p:attrNameLst>
                                      </p:cBhvr>
                                      <p:tavLst>
                                        <p:tav tm="0">
                                          <p:val>
                                            <p:strVal val="ppt_y"/>
                                          </p:val>
                                        </p:tav>
                                        <p:tav tm="100000">
                                          <p:val>
                                            <p:strVal val="ppt_y+.1"/>
                                          </p:val>
                                        </p:tav>
                                      </p:tavLst>
                                    </p:anim>
                                    <p:set>
                                      <p:cBhvr>
                                        <p:cTn id="177" dur="1" fill="hold">
                                          <p:stCondLst>
                                            <p:cond delay="999"/>
                                          </p:stCondLst>
                                        </p:cTn>
                                        <p:tgtEl>
                                          <p:spTgt spid="23"/>
                                        </p:tgtEl>
                                        <p:attrNameLst>
                                          <p:attrName>style.visibility</p:attrName>
                                        </p:attrNameLst>
                                      </p:cBhvr>
                                      <p:to>
                                        <p:strVal val="hidden"/>
                                      </p:to>
                                    </p:set>
                                  </p:childTnLst>
                                </p:cTn>
                              </p:par>
                              <p:par>
                                <p:cTn id="178" presetID="42" presetClass="exit" presetSubtype="0" fill="hold" nodeType="withEffect">
                                  <p:stCondLst>
                                    <p:cond delay="0"/>
                                  </p:stCondLst>
                                  <p:childTnLst>
                                    <p:animEffect transition="out" filter="fade">
                                      <p:cBhvr>
                                        <p:cTn id="179" dur="1000"/>
                                        <p:tgtEl>
                                          <p:spTgt spid="20"/>
                                        </p:tgtEl>
                                      </p:cBhvr>
                                    </p:animEffect>
                                    <p:anim calcmode="lin" valueType="num">
                                      <p:cBhvr>
                                        <p:cTn id="180" dur="1000"/>
                                        <p:tgtEl>
                                          <p:spTgt spid="20"/>
                                        </p:tgtEl>
                                        <p:attrNameLst>
                                          <p:attrName>ppt_x</p:attrName>
                                        </p:attrNameLst>
                                      </p:cBhvr>
                                      <p:tavLst>
                                        <p:tav tm="0">
                                          <p:val>
                                            <p:strVal val="ppt_x"/>
                                          </p:val>
                                        </p:tav>
                                        <p:tav tm="100000">
                                          <p:val>
                                            <p:strVal val="ppt_x"/>
                                          </p:val>
                                        </p:tav>
                                      </p:tavLst>
                                    </p:anim>
                                    <p:anim calcmode="lin" valueType="num">
                                      <p:cBhvr>
                                        <p:cTn id="181" dur="1000"/>
                                        <p:tgtEl>
                                          <p:spTgt spid="20"/>
                                        </p:tgtEl>
                                        <p:attrNameLst>
                                          <p:attrName>ppt_y</p:attrName>
                                        </p:attrNameLst>
                                      </p:cBhvr>
                                      <p:tavLst>
                                        <p:tav tm="0">
                                          <p:val>
                                            <p:strVal val="ppt_y"/>
                                          </p:val>
                                        </p:tav>
                                        <p:tav tm="100000">
                                          <p:val>
                                            <p:strVal val="ppt_y+.1"/>
                                          </p:val>
                                        </p:tav>
                                      </p:tavLst>
                                    </p:anim>
                                    <p:set>
                                      <p:cBhvr>
                                        <p:cTn id="182" dur="1" fill="hold">
                                          <p:stCondLst>
                                            <p:cond delay="999"/>
                                          </p:stCondLst>
                                        </p:cTn>
                                        <p:tgtEl>
                                          <p:spTgt spid="20"/>
                                        </p:tgtEl>
                                        <p:attrNameLst>
                                          <p:attrName>style.visibility</p:attrName>
                                        </p:attrNameLst>
                                      </p:cBhvr>
                                      <p:to>
                                        <p:strVal val="hidden"/>
                                      </p:to>
                                    </p:set>
                                  </p:childTnLst>
                                </p:cTn>
                              </p:par>
                              <p:par>
                                <p:cTn id="183" presetID="42" presetClass="exit" presetSubtype="0" fill="hold" grpId="0" nodeType="withEffect">
                                  <p:stCondLst>
                                    <p:cond delay="0"/>
                                  </p:stCondLst>
                                  <p:childTnLst>
                                    <p:animEffect transition="out" filter="fade">
                                      <p:cBhvr>
                                        <p:cTn id="184" dur="1000"/>
                                        <p:tgtEl>
                                          <p:spTgt spid="21"/>
                                        </p:tgtEl>
                                      </p:cBhvr>
                                    </p:animEffect>
                                    <p:anim calcmode="lin" valueType="num">
                                      <p:cBhvr>
                                        <p:cTn id="185" dur="1000"/>
                                        <p:tgtEl>
                                          <p:spTgt spid="21"/>
                                        </p:tgtEl>
                                        <p:attrNameLst>
                                          <p:attrName>ppt_x</p:attrName>
                                        </p:attrNameLst>
                                      </p:cBhvr>
                                      <p:tavLst>
                                        <p:tav tm="0">
                                          <p:val>
                                            <p:strVal val="ppt_x"/>
                                          </p:val>
                                        </p:tav>
                                        <p:tav tm="100000">
                                          <p:val>
                                            <p:strVal val="ppt_x"/>
                                          </p:val>
                                        </p:tav>
                                      </p:tavLst>
                                    </p:anim>
                                    <p:anim calcmode="lin" valueType="num">
                                      <p:cBhvr>
                                        <p:cTn id="186" dur="1000"/>
                                        <p:tgtEl>
                                          <p:spTgt spid="21"/>
                                        </p:tgtEl>
                                        <p:attrNameLst>
                                          <p:attrName>ppt_y</p:attrName>
                                        </p:attrNameLst>
                                      </p:cBhvr>
                                      <p:tavLst>
                                        <p:tav tm="0">
                                          <p:val>
                                            <p:strVal val="ppt_y"/>
                                          </p:val>
                                        </p:tav>
                                        <p:tav tm="100000">
                                          <p:val>
                                            <p:strVal val="ppt_y+.1"/>
                                          </p:val>
                                        </p:tav>
                                      </p:tavLst>
                                    </p:anim>
                                    <p:set>
                                      <p:cBhvr>
                                        <p:cTn id="187" dur="1" fill="hold">
                                          <p:stCondLst>
                                            <p:cond delay="999"/>
                                          </p:stCondLst>
                                        </p:cTn>
                                        <p:tgtEl>
                                          <p:spTgt spid="21"/>
                                        </p:tgtEl>
                                        <p:attrNameLst>
                                          <p:attrName>style.visibility</p:attrName>
                                        </p:attrNameLst>
                                      </p:cBhvr>
                                      <p:to>
                                        <p:strVal val="hidden"/>
                                      </p:to>
                                    </p:set>
                                  </p:childTnLst>
                                </p:cTn>
                              </p:par>
                              <p:par>
                                <p:cTn id="188" presetID="42" presetClass="exit" presetSubtype="0" fill="hold" grpId="0" nodeType="withEffect">
                                  <p:stCondLst>
                                    <p:cond delay="0"/>
                                  </p:stCondLst>
                                  <p:childTnLst>
                                    <p:animEffect transition="out" filter="fade">
                                      <p:cBhvr>
                                        <p:cTn id="189" dur="1000"/>
                                        <p:tgtEl>
                                          <p:spTgt spid="42"/>
                                        </p:tgtEl>
                                      </p:cBhvr>
                                    </p:animEffect>
                                    <p:anim calcmode="lin" valueType="num">
                                      <p:cBhvr>
                                        <p:cTn id="190" dur="1000"/>
                                        <p:tgtEl>
                                          <p:spTgt spid="42"/>
                                        </p:tgtEl>
                                        <p:attrNameLst>
                                          <p:attrName>ppt_x</p:attrName>
                                        </p:attrNameLst>
                                      </p:cBhvr>
                                      <p:tavLst>
                                        <p:tav tm="0">
                                          <p:val>
                                            <p:strVal val="ppt_x"/>
                                          </p:val>
                                        </p:tav>
                                        <p:tav tm="100000">
                                          <p:val>
                                            <p:strVal val="ppt_x"/>
                                          </p:val>
                                        </p:tav>
                                      </p:tavLst>
                                    </p:anim>
                                    <p:anim calcmode="lin" valueType="num">
                                      <p:cBhvr>
                                        <p:cTn id="191" dur="1000"/>
                                        <p:tgtEl>
                                          <p:spTgt spid="42"/>
                                        </p:tgtEl>
                                        <p:attrNameLst>
                                          <p:attrName>ppt_y</p:attrName>
                                        </p:attrNameLst>
                                      </p:cBhvr>
                                      <p:tavLst>
                                        <p:tav tm="0">
                                          <p:val>
                                            <p:strVal val="ppt_y"/>
                                          </p:val>
                                        </p:tav>
                                        <p:tav tm="100000">
                                          <p:val>
                                            <p:strVal val="ppt_y+.1"/>
                                          </p:val>
                                        </p:tav>
                                      </p:tavLst>
                                    </p:anim>
                                    <p:set>
                                      <p:cBhvr>
                                        <p:cTn id="192" dur="1" fill="hold">
                                          <p:stCondLst>
                                            <p:cond delay="999"/>
                                          </p:stCondLst>
                                        </p:cTn>
                                        <p:tgtEl>
                                          <p:spTgt spid="42"/>
                                        </p:tgtEl>
                                        <p:attrNameLst>
                                          <p:attrName>style.visibility</p:attrName>
                                        </p:attrNameLst>
                                      </p:cBhvr>
                                      <p:to>
                                        <p:strVal val="hidden"/>
                                      </p:to>
                                    </p:set>
                                  </p:childTnLst>
                                </p:cTn>
                              </p:par>
                            </p:childTnLst>
                          </p:cTn>
                        </p:par>
                      </p:childTnLst>
                    </p:cTn>
                  </p:par>
                  <p:par>
                    <p:cTn id="193" fill="hold">
                      <p:stCondLst>
                        <p:cond delay="indefinite"/>
                      </p:stCondLst>
                      <p:childTnLst>
                        <p:par>
                          <p:cTn id="194" fill="hold">
                            <p:stCondLst>
                              <p:cond delay="0"/>
                            </p:stCondLst>
                            <p:childTnLst>
                              <p:par>
                                <p:cTn id="195" presetID="1" presetClass="entr" presetSubtype="0" fill="hold" nodeType="clickEffect">
                                  <p:stCondLst>
                                    <p:cond delay="0"/>
                                  </p:stCondLst>
                                  <p:childTnLst>
                                    <p:set>
                                      <p:cBhvr>
                                        <p:cTn id="19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7" fill="hold">
                      <p:stCondLst>
                        <p:cond delay="indefinite"/>
                      </p:stCondLst>
                      <p:childTnLst>
                        <p:par>
                          <p:cTn id="198" fill="hold">
                            <p:stCondLst>
                              <p:cond delay="0"/>
                            </p:stCondLst>
                            <p:childTnLst>
                              <p:par>
                                <p:cTn id="199" presetID="1" presetClass="entr" presetSubtype="0" fill="hold" grpId="0" nodeType="clickEffect">
                                  <p:stCondLst>
                                    <p:cond delay="0"/>
                                  </p:stCondLst>
                                  <p:childTnLst>
                                    <p:set>
                                      <p:cBhvr>
                                        <p:cTn id="200" dur="1" fill="hold">
                                          <p:stCondLst>
                                            <p:cond delay="0"/>
                                          </p:stCondLst>
                                        </p:cTn>
                                        <p:tgtEl>
                                          <p:spTgt spid="96"/>
                                        </p:tgtEl>
                                        <p:attrNameLst>
                                          <p:attrName>style.visibility</p:attrName>
                                        </p:attrNameLst>
                                      </p:cBhvr>
                                      <p:to>
                                        <p:strVal val="visible"/>
                                      </p:to>
                                    </p:set>
                                  </p:childTnLst>
                                </p:cTn>
                              </p:par>
                              <p:par>
                                <p:cTn id="201" presetID="1" presetClass="entr" presetSubtype="0" fill="hold" grpId="0" nodeType="withEffect">
                                  <p:stCondLst>
                                    <p:cond delay="0"/>
                                  </p:stCondLst>
                                  <p:childTnLst>
                                    <p:set>
                                      <p:cBhvr>
                                        <p:cTn id="202" dur="1" fill="hold">
                                          <p:stCondLst>
                                            <p:cond delay="0"/>
                                          </p:stCondLst>
                                        </p:cTn>
                                        <p:tgtEl>
                                          <p:spTgt spid="97"/>
                                        </p:tgtEl>
                                        <p:attrNameLst>
                                          <p:attrName>style.visibility</p:attrName>
                                        </p:attrNameLst>
                                      </p:cBhvr>
                                      <p:to>
                                        <p:strVal val="visible"/>
                                      </p:to>
                                    </p:set>
                                  </p:childTnLst>
                                </p:cTn>
                              </p:par>
                              <p:par>
                                <p:cTn id="203" presetID="1" presetClass="entr" presetSubtype="0" fill="hold" grpId="0" nodeType="withEffect">
                                  <p:stCondLst>
                                    <p:cond delay="0"/>
                                  </p:stCondLst>
                                  <p:childTnLst>
                                    <p:set>
                                      <p:cBhvr>
                                        <p:cTn id="204" dur="1" fill="hold">
                                          <p:stCondLst>
                                            <p:cond delay="0"/>
                                          </p:stCondLst>
                                        </p:cTn>
                                        <p:tgtEl>
                                          <p:spTgt spid="98"/>
                                        </p:tgtEl>
                                        <p:attrNameLst>
                                          <p:attrName>style.visibility</p:attrName>
                                        </p:attrNameLst>
                                      </p:cBhvr>
                                      <p:to>
                                        <p:strVal val="visible"/>
                                      </p:to>
                                    </p:set>
                                  </p:childTnLst>
                                </p:cTn>
                              </p:par>
                            </p:childTnLst>
                          </p:cTn>
                        </p:par>
                      </p:childTnLst>
                    </p:cTn>
                  </p:par>
                  <p:par>
                    <p:cTn id="205" fill="hold">
                      <p:stCondLst>
                        <p:cond delay="indefinite"/>
                      </p:stCondLst>
                      <p:childTnLst>
                        <p:par>
                          <p:cTn id="206" fill="hold">
                            <p:stCondLst>
                              <p:cond delay="0"/>
                            </p:stCondLst>
                            <p:childTnLst>
                              <p:par>
                                <p:cTn id="207" presetID="42" presetClass="exit" presetSubtype="0" fill="hold" grpId="2" nodeType="clickEffect">
                                  <p:stCondLst>
                                    <p:cond delay="0"/>
                                  </p:stCondLst>
                                  <p:childTnLst>
                                    <p:animEffect transition="out" filter="fade">
                                      <p:cBhvr>
                                        <p:cTn id="208" dur="1000"/>
                                        <p:tgtEl>
                                          <p:spTgt spid="49"/>
                                        </p:tgtEl>
                                      </p:cBhvr>
                                    </p:animEffect>
                                    <p:anim calcmode="lin" valueType="num">
                                      <p:cBhvr>
                                        <p:cTn id="209" dur="1000"/>
                                        <p:tgtEl>
                                          <p:spTgt spid="49"/>
                                        </p:tgtEl>
                                        <p:attrNameLst>
                                          <p:attrName>ppt_x</p:attrName>
                                        </p:attrNameLst>
                                      </p:cBhvr>
                                      <p:tavLst>
                                        <p:tav tm="0">
                                          <p:val>
                                            <p:strVal val="ppt_x"/>
                                          </p:val>
                                        </p:tav>
                                        <p:tav tm="100000">
                                          <p:val>
                                            <p:strVal val="ppt_x"/>
                                          </p:val>
                                        </p:tav>
                                      </p:tavLst>
                                    </p:anim>
                                    <p:anim calcmode="lin" valueType="num">
                                      <p:cBhvr>
                                        <p:cTn id="210" dur="1000"/>
                                        <p:tgtEl>
                                          <p:spTgt spid="49"/>
                                        </p:tgtEl>
                                        <p:attrNameLst>
                                          <p:attrName>ppt_y</p:attrName>
                                        </p:attrNameLst>
                                      </p:cBhvr>
                                      <p:tavLst>
                                        <p:tav tm="0">
                                          <p:val>
                                            <p:strVal val="ppt_y"/>
                                          </p:val>
                                        </p:tav>
                                        <p:tav tm="100000">
                                          <p:val>
                                            <p:strVal val="ppt_y+.1"/>
                                          </p:val>
                                        </p:tav>
                                      </p:tavLst>
                                    </p:anim>
                                    <p:set>
                                      <p:cBhvr>
                                        <p:cTn id="211" dur="1" fill="hold">
                                          <p:stCondLst>
                                            <p:cond delay="999"/>
                                          </p:stCondLst>
                                        </p:cTn>
                                        <p:tgtEl>
                                          <p:spTgt spid="49"/>
                                        </p:tgtEl>
                                        <p:attrNameLst>
                                          <p:attrName>style.visibility</p:attrName>
                                        </p:attrNameLst>
                                      </p:cBhvr>
                                      <p:to>
                                        <p:strVal val="hidden"/>
                                      </p:to>
                                    </p:set>
                                  </p:childTnLst>
                                </p:cTn>
                              </p:par>
                              <p:par>
                                <p:cTn id="212" presetID="42" presetClass="exit" presetSubtype="0" fill="hold" grpId="1" nodeType="withEffect">
                                  <p:stCondLst>
                                    <p:cond delay="0"/>
                                  </p:stCondLst>
                                  <p:childTnLst>
                                    <p:animEffect transition="out" filter="fade">
                                      <p:cBhvr>
                                        <p:cTn id="213" dur="1000"/>
                                        <p:tgtEl>
                                          <p:spTgt spid="47"/>
                                        </p:tgtEl>
                                      </p:cBhvr>
                                    </p:animEffect>
                                    <p:anim calcmode="lin" valueType="num">
                                      <p:cBhvr>
                                        <p:cTn id="214" dur="1000"/>
                                        <p:tgtEl>
                                          <p:spTgt spid="47"/>
                                        </p:tgtEl>
                                        <p:attrNameLst>
                                          <p:attrName>ppt_x</p:attrName>
                                        </p:attrNameLst>
                                      </p:cBhvr>
                                      <p:tavLst>
                                        <p:tav tm="0">
                                          <p:val>
                                            <p:strVal val="ppt_x"/>
                                          </p:val>
                                        </p:tav>
                                        <p:tav tm="100000">
                                          <p:val>
                                            <p:strVal val="ppt_x"/>
                                          </p:val>
                                        </p:tav>
                                      </p:tavLst>
                                    </p:anim>
                                    <p:anim calcmode="lin" valueType="num">
                                      <p:cBhvr>
                                        <p:cTn id="215" dur="1000"/>
                                        <p:tgtEl>
                                          <p:spTgt spid="47"/>
                                        </p:tgtEl>
                                        <p:attrNameLst>
                                          <p:attrName>ppt_y</p:attrName>
                                        </p:attrNameLst>
                                      </p:cBhvr>
                                      <p:tavLst>
                                        <p:tav tm="0">
                                          <p:val>
                                            <p:strVal val="ppt_y"/>
                                          </p:val>
                                        </p:tav>
                                        <p:tav tm="100000">
                                          <p:val>
                                            <p:strVal val="ppt_y+.1"/>
                                          </p:val>
                                        </p:tav>
                                      </p:tavLst>
                                    </p:anim>
                                    <p:set>
                                      <p:cBhvr>
                                        <p:cTn id="216" dur="1" fill="hold">
                                          <p:stCondLst>
                                            <p:cond delay="999"/>
                                          </p:stCondLst>
                                        </p:cTn>
                                        <p:tgtEl>
                                          <p:spTgt spid="47"/>
                                        </p:tgtEl>
                                        <p:attrNameLst>
                                          <p:attrName>style.visibility</p:attrName>
                                        </p:attrNameLst>
                                      </p:cBhvr>
                                      <p:to>
                                        <p:strVal val="hidden"/>
                                      </p:to>
                                    </p:set>
                                  </p:childTnLst>
                                </p:cTn>
                              </p:par>
                              <p:par>
                                <p:cTn id="217" presetID="42" presetClass="exit" presetSubtype="0" fill="hold" grpId="1" nodeType="withEffect">
                                  <p:stCondLst>
                                    <p:cond delay="0"/>
                                  </p:stCondLst>
                                  <p:childTnLst>
                                    <p:animEffect transition="out" filter="fade">
                                      <p:cBhvr>
                                        <p:cTn id="218" dur="1000"/>
                                        <p:tgtEl>
                                          <p:spTgt spid="29"/>
                                        </p:tgtEl>
                                      </p:cBhvr>
                                    </p:animEffect>
                                    <p:anim calcmode="lin" valueType="num">
                                      <p:cBhvr>
                                        <p:cTn id="219" dur="1000"/>
                                        <p:tgtEl>
                                          <p:spTgt spid="29"/>
                                        </p:tgtEl>
                                        <p:attrNameLst>
                                          <p:attrName>ppt_x</p:attrName>
                                        </p:attrNameLst>
                                      </p:cBhvr>
                                      <p:tavLst>
                                        <p:tav tm="0">
                                          <p:val>
                                            <p:strVal val="ppt_x"/>
                                          </p:val>
                                        </p:tav>
                                        <p:tav tm="100000">
                                          <p:val>
                                            <p:strVal val="ppt_x"/>
                                          </p:val>
                                        </p:tav>
                                      </p:tavLst>
                                    </p:anim>
                                    <p:anim calcmode="lin" valueType="num">
                                      <p:cBhvr>
                                        <p:cTn id="220" dur="1000"/>
                                        <p:tgtEl>
                                          <p:spTgt spid="29"/>
                                        </p:tgtEl>
                                        <p:attrNameLst>
                                          <p:attrName>ppt_y</p:attrName>
                                        </p:attrNameLst>
                                      </p:cBhvr>
                                      <p:tavLst>
                                        <p:tav tm="0">
                                          <p:val>
                                            <p:strVal val="ppt_y"/>
                                          </p:val>
                                        </p:tav>
                                        <p:tav tm="100000">
                                          <p:val>
                                            <p:strVal val="ppt_y+.1"/>
                                          </p:val>
                                        </p:tav>
                                      </p:tavLst>
                                    </p:anim>
                                    <p:set>
                                      <p:cBhvr>
                                        <p:cTn id="221" dur="1" fill="hold">
                                          <p:stCondLst>
                                            <p:cond delay="999"/>
                                          </p:stCondLst>
                                        </p:cTn>
                                        <p:tgtEl>
                                          <p:spTgt spid="29"/>
                                        </p:tgtEl>
                                        <p:attrNameLst>
                                          <p:attrName>style.visibility</p:attrName>
                                        </p:attrNameLst>
                                      </p:cBhvr>
                                      <p:to>
                                        <p:strVal val="hidden"/>
                                      </p:to>
                                    </p:set>
                                  </p:childTnLst>
                                </p:cTn>
                              </p:par>
                              <p:par>
                                <p:cTn id="222" presetID="42" presetClass="exit" presetSubtype="0" fill="hold" nodeType="withEffect">
                                  <p:stCondLst>
                                    <p:cond delay="0"/>
                                  </p:stCondLst>
                                  <p:childTnLst>
                                    <p:animEffect transition="out" filter="fade">
                                      <p:cBhvr>
                                        <p:cTn id="223" dur="1000"/>
                                        <p:tgtEl>
                                          <p:spTgt spid="28"/>
                                        </p:tgtEl>
                                      </p:cBhvr>
                                    </p:animEffect>
                                    <p:anim calcmode="lin" valueType="num">
                                      <p:cBhvr>
                                        <p:cTn id="224" dur="1000"/>
                                        <p:tgtEl>
                                          <p:spTgt spid="28"/>
                                        </p:tgtEl>
                                        <p:attrNameLst>
                                          <p:attrName>ppt_x</p:attrName>
                                        </p:attrNameLst>
                                      </p:cBhvr>
                                      <p:tavLst>
                                        <p:tav tm="0">
                                          <p:val>
                                            <p:strVal val="ppt_x"/>
                                          </p:val>
                                        </p:tav>
                                        <p:tav tm="100000">
                                          <p:val>
                                            <p:strVal val="ppt_x"/>
                                          </p:val>
                                        </p:tav>
                                      </p:tavLst>
                                    </p:anim>
                                    <p:anim calcmode="lin" valueType="num">
                                      <p:cBhvr>
                                        <p:cTn id="225" dur="1000"/>
                                        <p:tgtEl>
                                          <p:spTgt spid="28"/>
                                        </p:tgtEl>
                                        <p:attrNameLst>
                                          <p:attrName>ppt_y</p:attrName>
                                        </p:attrNameLst>
                                      </p:cBhvr>
                                      <p:tavLst>
                                        <p:tav tm="0">
                                          <p:val>
                                            <p:strVal val="ppt_y"/>
                                          </p:val>
                                        </p:tav>
                                        <p:tav tm="100000">
                                          <p:val>
                                            <p:strVal val="ppt_y+.1"/>
                                          </p:val>
                                        </p:tav>
                                      </p:tavLst>
                                    </p:anim>
                                    <p:set>
                                      <p:cBhvr>
                                        <p:cTn id="226" dur="1" fill="hold">
                                          <p:stCondLst>
                                            <p:cond delay="999"/>
                                          </p:stCondLst>
                                        </p:cTn>
                                        <p:tgtEl>
                                          <p:spTgt spid="28"/>
                                        </p:tgtEl>
                                        <p:attrNameLst>
                                          <p:attrName>style.visibility</p:attrName>
                                        </p:attrNameLst>
                                      </p:cBhvr>
                                      <p:to>
                                        <p:strVal val="hidden"/>
                                      </p:to>
                                    </p:set>
                                  </p:childTnLst>
                                </p:cTn>
                              </p:par>
                              <p:par>
                                <p:cTn id="227" presetID="42" presetClass="exit" presetSubtype="0" fill="hold" grpId="1" nodeType="withEffect">
                                  <p:stCondLst>
                                    <p:cond delay="0"/>
                                  </p:stCondLst>
                                  <p:childTnLst>
                                    <p:animEffect transition="out" filter="fade">
                                      <p:cBhvr>
                                        <p:cTn id="228" dur="1000"/>
                                        <p:tgtEl>
                                          <p:spTgt spid="96"/>
                                        </p:tgtEl>
                                      </p:cBhvr>
                                    </p:animEffect>
                                    <p:anim calcmode="lin" valueType="num">
                                      <p:cBhvr>
                                        <p:cTn id="229" dur="1000"/>
                                        <p:tgtEl>
                                          <p:spTgt spid="96"/>
                                        </p:tgtEl>
                                        <p:attrNameLst>
                                          <p:attrName>ppt_x</p:attrName>
                                        </p:attrNameLst>
                                      </p:cBhvr>
                                      <p:tavLst>
                                        <p:tav tm="0">
                                          <p:val>
                                            <p:strVal val="ppt_x"/>
                                          </p:val>
                                        </p:tav>
                                        <p:tav tm="100000">
                                          <p:val>
                                            <p:strVal val="ppt_x"/>
                                          </p:val>
                                        </p:tav>
                                      </p:tavLst>
                                    </p:anim>
                                    <p:anim calcmode="lin" valueType="num">
                                      <p:cBhvr>
                                        <p:cTn id="230" dur="1000"/>
                                        <p:tgtEl>
                                          <p:spTgt spid="96"/>
                                        </p:tgtEl>
                                        <p:attrNameLst>
                                          <p:attrName>ppt_y</p:attrName>
                                        </p:attrNameLst>
                                      </p:cBhvr>
                                      <p:tavLst>
                                        <p:tav tm="0">
                                          <p:val>
                                            <p:strVal val="ppt_y"/>
                                          </p:val>
                                        </p:tav>
                                        <p:tav tm="100000">
                                          <p:val>
                                            <p:strVal val="ppt_y+.1"/>
                                          </p:val>
                                        </p:tav>
                                      </p:tavLst>
                                    </p:anim>
                                    <p:set>
                                      <p:cBhvr>
                                        <p:cTn id="231" dur="1" fill="hold">
                                          <p:stCondLst>
                                            <p:cond delay="999"/>
                                          </p:stCondLst>
                                        </p:cTn>
                                        <p:tgtEl>
                                          <p:spTgt spid="96"/>
                                        </p:tgtEl>
                                        <p:attrNameLst>
                                          <p:attrName>style.visibility</p:attrName>
                                        </p:attrNameLst>
                                      </p:cBhvr>
                                      <p:to>
                                        <p:strVal val="hidden"/>
                                      </p:to>
                                    </p:set>
                                  </p:childTnLst>
                                </p:cTn>
                              </p:par>
                              <p:par>
                                <p:cTn id="232" presetID="42" presetClass="exit" presetSubtype="0" fill="hold" grpId="1" nodeType="withEffect">
                                  <p:stCondLst>
                                    <p:cond delay="0"/>
                                  </p:stCondLst>
                                  <p:childTnLst>
                                    <p:animEffect transition="out" filter="fade">
                                      <p:cBhvr>
                                        <p:cTn id="233" dur="1000"/>
                                        <p:tgtEl>
                                          <p:spTgt spid="97"/>
                                        </p:tgtEl>
                                      </p:cBhvr>
                                    </p:animEffect>
                                    <p:anim calcmode="lin" valueType="num">
                                      <p:cBhvr>
                                        <p:cTn id="234" dur="1000"/>
                                        <p:tgtEl>
                                          <p:spTgt spid="97"/>
                                        </p:tgtEl>
                                        <p:attrNameLst>
                                          <p:attrName>ppt_x</p:attrName>
                                        </p:attrNameLst>
                                      </p:cBhvr>
                                      <p:tavLst>
                                        <p:tav tm="0">
                                          <p:val>
                                            <p:strVal val="ppt_x"/>
                                          </p:val>
                                        </p:tav>
                                        <p:tav tm="100000">
                                          <p:val>
                                            <p:strVal val="ppt_x"/>
                                          </p:val>
                                        </p:tav>
                                      </p:tavLst>
                                    </p:anim>
                                    <p:anim calcmode="lin" valueType="num">
                                      <p:cBhvr>
                                        <p:cTn id="235" dur="1000"/>
                                        <p:tgtEl>
                                          <p:spTgt spid="97"/>
                                        </p:tgtEl>
                                        <p:attrNameLst>
                                          <p:attrName>ppt_y</p:attrName>
                                        </p:attrNameLst>
                                      </p:cBhvr>
                                      <p:tavLst>
                                        <p:tav tm="0">
                                          <p:val>
                                            <p:strVal val="ppt_y"/>
                                          </p:val>
                                        </p:tav>
                                        <p:tav tm="100000">
                                          <p:val>
                                            <p:strVal val="ppt_y+.1"/>
                                          </p:val>
                                        </p:tav>
                                      </p:tavLst>
                                    </p:anim>
                                    <p:set>
                                      <p:cBhvr>
                                        <p:cTn id="236" dur="1" fill="hold">
                                          <p:stCondLst>
                                            <p:cond delay="999"/>
                                          </p:stCondLst>
                                        </p:cTn>
                                        <p:tgtEl>
                                          <p:spTgt spid="97"/>
                                        </p:tgtEl>
                                        <p:attrNameLst>
                                          <p:attrName>style.visibility</p:attrName>
                                        </p:attrNameLst>
                                      </p:cBhvr>
                                      <p:to>
                                        <p:strVal val="hidden"/>
                                      </p:to>
                                    </p:set>
                                  </p:childTnLst>
                                </p:cTn>
                              </p:par>
                              <p:par>
                                <p:cTn id="237" presetID="42" presetClass="exit" presetSubtype="0" fill="hold" grpId="1" nodeType="withEffect">
                                  <p:stCondLst>
                                    <p:cond delay="0"/>
                                  </p:stCondLst>
                                  <p:childTnLst>
                                    <p:animEffect transition="out" filter="fade">
                                      <p:cBhvr>
                                        <p:cTn id="238" dur="1000"/>
                                        <p:tgtEl>
                                          <p:spTgt spid="98"/>
                                        </p:tgtEl>
                                      </p:cBhvr>
                                    </p:animEffect>
                                    <p:anim calcmode="lin" valueType="num">
                                      <p:cBhvr>
                                        <p:cTn id="239" dur="1000"/>
                                        <p:tgtEl>
                                          <p:spTgt spid="98"/>
                                        </p:tgtEl>
                                        <p:attrNameLst>
                                          <p:attrName>ppt_x</p:attrName>
                                        </p:attrNameLst>
                                      </p:cBhvr>
                                      <p:tavLst>
                                        <p:tav tm="0">
                                          <p:val>
                                            <p:strVal val="ppt_x"/>
                                          </p:val>
                                        </p:tav>
                                        <p:tav tm="100000">
                                          <p:val>
                                            <p:strVal val="ppt_x"/>
                                          </p:val>
                                        </p:tav>
                                      </p:tavLst>
                                    </p:anim>
                                    <p:anim calcmode="lin" valueType="num">
                                      <p:cBhvr>
                                        <p:cTn id="240" dur="1000"/>
                                        <p:tgtEl>
                                          <p:spTgt spid="98"/>
                                        </p:tgtEl>
                                        <p:attrNameLst>
                                          <p:attrName>ppt_y</p:attrName>
                                        </p:attrNameLst>
                                      </p:cBhvr>
                                      <p:tavLst>
                                        <p:tav tm="0">
                                          <p:val>
                                            <p:strVal val="ppt_y"/>
                                          </p:val>
                                        </p:tav>
                                        <p:tav tm="100000">
                                          <p:val>
                                            <p:strVal val="ppt_y+.1"/>
                                          </p:val>
                                        </p:tav>
                                      </p:tavLst>
                                    </p:anim>
                                    <p:set>
                                      <p:cBhvr>
                                        <p:cTn id="241" dur="1" fill="hold">
                                          <p:stCondLst>
                                            <p:cond delay="999"/>
                                          </p:stCondLst>
                                        </p:cTn>
                                        <p:tgtEl>
                                          <p:spTgt spid="98"/>
                                        </p:tgtEl>
                                        <p:attrNameLst>
                                          <p:attrName>style.visibility</p:attrName>
                                        </p:attrNameLst>
                                      </p:cBhvr>
                                      <p:to>
                                        <p:strVal val="hidden"/>
                                      </p:to>
                                    </p:set>
                                  </p:childTnLst>
                                </p:cTn>
                              </p:par>
                              <p:par>
                                <p:cTn id="242" presetID="42" presetClass="exit" presetSubtype="0" fill="hold" grpId="0" nodeType="withEffect">
                                  <p:stCondLst>
                                    <p:cond delay="0"/>
                                  </p:stCondLst>
                                  <p:childTnLst>
                                    <p:animEffect transition="out" filter="fade">
                                      <p:cBhvr>
                                        <p:cTn id="243" dur="1000"/>
                                        <p:tgtEl>
                                          <p:spTgt spid="43"/>
                                        </p:tgtEl>
                                      </p:cBhvr>
                                    </p:animEffect>
                                    <p:anim calcmode="lin" valueType="num">
                                      <p:cBhvr>
                                        <p:cTn id="244" dur="1000"/>
                                        <p:tgtEl>
                                          <p:spTgt spid="43"/>
                                        </p:tgtEl>
                                        <p:attrNameLst>
                                          <p:attrName>ppt_x</p:attrName>
                                        </p:attrNameLst>
                                      </p:cBhvr>
                                      <p:tavLst>
                                        <p:tav tm="0">
                                          <p:val>
                                            <p:strVal val="ppt_x"/>
                                          </p:val>
                                        </p:tav>
                                        <p:tav tm="100000">
                                          <p:val>
                                            <p:strVal val="ppt_x"/>
                                          </p:val>
                                        </p:tav>
                                      </p:tavLst>
                                    </p:anim>
                                    <p:anim calcmode="lin" valueType="num">
                                      <p:cBhvr>
                                        <p:cTn id="245" dur="1000"/>
                                        <p:tgtEl>
                                          <p:spTgt spid="43"/>
                                        </p:tgtEl>
                                        <p:attrNameLst>
                                          <p:attrName>ppt_y</p:attrName>
                                        </p:attrNameLst>
                                      </p:cBhvr>
                                      <p:tavLst>
                                        <p:tav tm="0">
                                          <p:val>
                                            <p:strVal val="ppt_y"/>
                                          </p:val>
                                        </p:tav>
                                        <p:tav tm="100000">
                                          <p:val>
                                            <p:strVal val="ppt_y+.1"/>
                                          </p:val>
                                        </p:tav>
                                      </p:tavLst>
                                    </p:anim>
                                    <p:set>
                                      <p:cBhvr>
                                        <p:cTn id="246" dur="1" fill="hold">
                                          <p:stCondLst>
                                            <p:cond delay="999"/>
                                          </p:stCondLst>
                                        </p:cTn>
                                        <p:tgtEl>
                                          <p:spTgt spid="43"/>
                                        </p:tgtEl>
                                        <p:attrNameLst>
                                          <p:attrName>style.visibility</p:attrName>
                                        </p:attrNameLst>
                                      </p:cBhvr>
                                      <p:to>
                                        <p:strVal val="hidden"/>
                                      </p:to>
                                    </p:set>
                                  </p:childTnLst>
                                </p:cTn>
                              </p:par>
                              <p:par>
                                <p:cTn id="247" presetID="42" presetClass="exit" presetSubtype="0" fill="hold" grpId="0" nodeType="withEffect">
                                  <p:stCondLst>
                                    <p:cond delay="0"/>
                                  </p:stCondLst>
                                  <p:childTnLst>
                                    <p:animEffect transition="out" filter="fade">
                                      <p:cBhvr>
                                        <p:cTn id="248" dur="1000"/>
                                        <p:tgtEl>
                                          <p:spTgt spid="11"/>
                                        </p:tgtEl>
                                      </p:cBhvr>
                                    </p:animEffect>
                                    <p:anim calcmode="lin" valueType="num">
                                      <p:cBhvr>
                                        <p:cTn id="249" dur="1000"/>
                                        <p:tgtEl>
                                          <p:spTgt spid="11"/>
                                        </p:tgtEl>
                                        <p:attrNameLst>
                                          <p:attrName>ppt_x</p:attrName>
                                        </p:attrNameLst>
                                      </p:cBhvr>
                                      <p:tavLst>
                                        <p:tav tm="0">
                                          <p:val>
                                            <p:strVal val="ppt_x"/>
                                          </p:val>
                                        </p:tav>
                                        <p:tav tm="100000">
                                          <p:val>
                                            <p:strVal val="ppt_x"/>
                                          </p:val>
                                        </p:tav>
                                      </p:tavLst>
                                    </p:anim>
                                    <p:anim calcmode="lin" valueType="num">
                                      <p:cBhvr>
                                        <p:cTn id="250" dur="1000"/>
                                        <p:tgtEl>
                                          <p:spTgt spid="11"/>
                                        </p:tgtEl>
                                        <p:attrNameLst>
                                          <p:attrName>ppt_y</p:attrName>
                                        </p:attrNameLst>
                                      </p:cBhvr>
                                      <p:tavLst>
                                        <p:tav tm="0">
                                          <p:val>
                                            <p:strVal val="ppt_y"/>
                                          </p:val>
                                        </p:tav>
                                        <p:tav tm="100000">
                                          <p:val>
                                            <p:strVal val="ppt_y+.1"/>
                                          </p:val>
                                        </p:tav>
                                      </p:tavLst>
                                    </p:anim>
                                    <p:set>
                                      <p:cBhvr>
                                        <p:cTn id="251" dur="1" fill="hold">
                                          <p:stCondLst>
                                            <p:cond delay="999"/>
                                          </p:stCondLst>
                                        </p:cTn>
                                        <p:tgtEl>
                                          <p:spTgt spid="11"/>
                                        </p:tgtEl>
                                        <p:attrNameLst>
                                          <p:attrName>style.visibility</p:attrName>
                                        </p:attrNameLst>
                                      </p:cBhvr>
                                      <p:to>
                                        <p:strVal val="hidden"/>
                                      </p:to>
                                    </p:set>
                                  </p:childTnLst>
                                </p:cTn>
                              </p:par>
                              <p:par>
                                <p:cTn id="252" presetID="42" presetClass="exit" presetSubtype="0" fill="hold" grpId="0" nodeType="withEffect">
                                  <p:stCondLst>
                                    <p:cond delay="0"/>
                                  </p:stCondLst>
                                  <p:childTnLst>
                                    <p:animEffect transition="out" filter="fade">
                                      <p:cBhvr>
                                        <p:cTn id="253" dur="1000"/>
                                        <p:tgtEl>
                                          <p:spTgt spid="17"/>
                                        </p:tgtEl>
                                      </p:cBhvr>
                                    </p:animEffect>
                                    <p:anim calcmode="lin" valueType="num">
                                      <p:cBhvr>
                                        <p:cTn id="254" dur="1000"/>
                                        <p:tgtEl>
                                          <p:spTgt spid="17"/>
                                        </p:tgtEl>
                                        <p:attrNameLst>
                                          <p:attrName>ppt_x</p:attrName>
                                        </p:attrNameLst>
                                      </p:cBhvr>
                                      <p:tavLst>
                                        <p:tav tm="0">
                                          <p:val>
                                            <p:strVal val="ppt_x"/>
                                          </p:val>
                                        </p:tav>
                                        <p:tav tm="100000">
                                          <p:val>
                                            <p:strVal val="ppt_x"/>
                                          </p:val>
                                        </p:tav>
                                      </p:tavLst>
                                    </p:anim>
                                    <p:anim calcmode="lin" valueType="num">
                                      <p:cBhvr>
                                        <p:cTn id="255" dur="1000"/>
                                        <p:tgtEl>
                                          <p:spTgt spid="17"/>
                                        </p:tgtEl>
                                        <p:attrNameLst>
                                          <p:attrName>ppt_y</p:attrName>
                                        </p:attrNameLst>
                                      </p:cBhvr>
                                      <p:tavLst>
                                        <p:tav tm="0">
                                          <p:val>
                                            <p:strVal val="ppt_y"/>
                                          </p:val>
                                        </p:tav>
                                        <p:tav tm="100000">
                                          <p:val>
                                            <p:strVal val="ppt_y+.1"/>
                                          </p:val>
                                        </p:tav>
                                      </p:tavLst>
                                    </p:anim>
                                    <p:set>
                                      <p:cBhvr>
                                        <p:cTn id="256" dur="1" fill="hold">
                                          <p:stCondLst>
                                            <p:cond delay="999"/>
                                          </p:stCondLst>
                                        </p:cTn>
                                        <p:tgtEl>
                                          <p:spTgt spid="17"/>
                                        </p:tgtEl>
                                        <p:attrNameLst>
                                          <p:attrName>style.visibility</p:attrName>
                                        </p:attrNameLst>
                                      </p:cBhvr>
                                      <p:to>
                                        <p:strVal val="hidden"/>
                                      </p:to>
                                    </p:set>
                                  </p:childTnLst>
                                </p:cTn>
                              </p:par>
                              <p:par>
                                <p:cTn id="257" presetID="42" presetClass="exit" presetSubtype="0" fill="hold" grpId="0" nodeType="withEffect">
                                  <p:stCondLst>
                                    <p:cond delay="0"/>
                                  </p:stCondLst>
                                  <p:childTnLst>
                                    <p:animEffect transition="out" filter="fade">
                                      <p:cBhvr>
                                        <p:cTn id="258" dur="1000"/>
                                        <p:tgtEl>
                                          <p:spTgt spid="37"/>
                                        </p:tgtEl>
                                      </p:cBhvr>
                                    </p:animEffect>
                                    <p:anim calcmode="lin" valueType="num">
                                      <p:cBhvr>
                                        <p:cTn id="259" dur="1000"/>
                                        <p:tgtEl>
                                          <p:spTgt spid="37"/>
                                        </p:tgtEl>
                                        <p:attrNameLst>
                                          <p:attrName>ppt_x</p:attrName>
                                        </p:attrNameLst>
                                      </p:cBhvr>
                                      <p:tavLst>
                                        <p:tav tm="0">
                                          <p:val>
                                            <p:strVal val="ppt_x"/>
                                          </p:val>
                                        </p:tav>
                                        <p:tav tm="100000">
                                          <p:val>
                                            <p:strVal val="ppt_x"/>
                                          </p:val>
                                        </p:tav>
                                      </p:tavLst>
                                    </p:anim>
                                    <p:anim calcmode="lin" valueType="num">
                                      <p:cBhvr>
                                        <p:cTn id="260" dur="1000"/>
                                        <p:tgtEl>
                                          <p:spTgt spid="37"/>
                                        </p:tgtEl>
                                        <p:attrNameLst>
                                          <p:attrName>ppt_y</p:attrName>
                                        </p:attrNameLst>
                                      </p:cBhvr>
                                      <p:tavLst>
                                        <p:tav tm="0">
                                          <p:val>
                                            <p:strVal val="ppt_y"/>
                                          </p:val>
                                        </p:tav>
                                        <p:tav tm="100000">
                                          <p:val>
                                            <p:strVal val="ppt_y+.1"/>
                                          </p:val>
                                        </p:tav>
                                      </p:tavLst>
                                    </p:anim>
                                    <p:set>
                                      <p:cBhvr>
                                        <p:cTn id="261" dur="1" fill="hold">
                                          <p:stCondLst>
                                            <p:cond delay="999"/>
                                          </p:stCondLst>
                                        </p:cTn>
                                        <p:tgtEl>
                                          <p:spTgt spid="37"/>
                                        </p:tgtEl>
                                        <p:attrNameLst>
                                          <p:attrName>style.visibility</p:attrName>
                                        </p:attrNameLst>
                                      </p:cBhvr>
                                      <p:to>
                                        <p:strVal val="hidden"/>
                                      </p:to>
                                    </p:set>
                                  </p:childTnLst>
                                </p:cTn>
                              </p:par>
                              <p:par>
                                <p:cTn id="262" presetID="42" presetClass="exit" presetSubtype="0" fill="hold" nodeType="withEffect">
                                  <p:stCondLst>
                                    <p:cond delay="0"/>
                                  </p:stCondLst>
                                  <p:childTnLst>
                                    <p:animEffect transition="out" filter="fade">
                                      <p:cBhvr>
                                        <p:cTn id="263" dur="1000"/>
                                        <p:tgtEl>
                                          <p:spTgt spid="16"/>
                                        </p:tgtEl>
                                      </p:cBhvr>
                                    </p:animEffect>
                                    <p:anim calcmode="lin" valueType="num">
                                      <p:cBhvr>
                                        <p:cTn id="264" dur="1000"/>
                                        <p:tgtEl>
                                          <p:spTgt spid="16"/>
                                        </p:tgtEl>
                                        <p:attrNameLst>
                                          <p:attrName>ppt_x</p:attrName>
                                        </p:attrNameLst>
                                      </p:cBhvr>
                                      <p:tavLst>
                                        <p:tav tm="0">
                                          <p:val>
                                            <p:strVal val="ppt_x"/>
                                          </p:val>
                                        </p:tav>
                                        <p:tav tm="100000">
                                          <p:val>
                                            <p:strVal val="ppt_x"/>
                                          </p:val>
                                        </p:tav>
                                      </p:tavLst>
                                    </p:anim>
                                    <p:anim calcmode="lin" valueType="num">
                                      <p:cBhvr>
                                        <p:cTn id="265" dur="1000"/>
                                        <p:tgtEl>
                                          <p:spTgt spid="16"/>
                                        </p:tgtEl>
                                        <p:attrNameLst>
                                          <p:attrName>ppt_y</p:attrName>
                                        </p:attrNameLst>
                                      </p:cBhvr>
                                      <p:tavLst>
                                        <p:tav tm="0">
                                          <p:val>
                                            <p:strVal val="ppt_y"/>
                                          </p:val>
                                        </p:tav>
                                        <p:tav tm="100000">
                                          <p:val>
                                            <p:strVal val="ppt_y+.1"/>
                                          </p:val>
                                        </p:tav>
                                      </p:tavLst>
                                    </p:anim>
                                    <p:set>
                                      <p:cBhvr>
                                        <p:cTn id="266" dur="1" fill="hold">
                                          <p:stCondLst>
                                            <p:cond delay="999"/>
                                          </p:stCondLst>
                                        </p:cTn>
                                        <p:tgtEl>
                                          <p:spTgt spid="16"/>
                                        </p:tgtEl>
                                        <p:attrNameLst>
                                          <p:attrName>style.visibility</p:attrName>
                                        </p:attrNameLst>
                                      </p:cBhvr>
                                      <p:to>
                                        <p:strVal val="hidden"/>
                                      </p:to>
                                    </p:set>
                                  </p:childTnLst>
                                </p:cTn>
                              </p:par>
                              <p:par>
                                <p:cTn id="267" presetID="42" presetClass="exit" presetSubtype="0" fill="hold" nodeType="withEffect">
                                  <p:stCondLst>
                                    <p:cond delay="0"/>
                                  </p:stCondLst>
                                  <p:childTnLst>
                                    <p:animEffect transition="out" filter="fade">
                                      <p:cBhvr>
                                        <p:cTn id="268" dur="1000"/>
                                        <p:tgtEl>
                                          <p:spTgt spid="12"/>
                                        </p:tgtEl>
                                      </p:cBhvr>
                                    </p:animEffect>
                                    <p:anim calcmode="lin" valueType="num">
                                      <p:cBhvr>
                                        <p:cTn id="269" dur="1000"/>
                                        <p:tgtEl>
                                          <p:spTgt spid="12"/>
                                        </p:tgtEl>
                                        <p:attrNameLst>
                                          <p:attrName>ppt_x</p:attrName>
                                        </p:attrNameLst>
                                      </p:cBhvr>
                                      <p:tavLst>
                                        <p:tav tm="0">
                                          <p:val>
                                            <p:strVal val="ppt_x"/>
                                          </p:val>
                                        </p:tav>
                                        <p:tav tm="100000">
                                          <p:val>
                                            <p:strVal val="ppt_x"/>
                                          </p:val>
                                        </p:tav>
                                      </p:tavLst>
                                    </p:anim>
                                    <p:anim calcmode="lin" valueType="num">
                                      <p:cBhvr>
                                        <p:cTn id="270" dur="1000"/>
                                        <p:tgtEl>
                                          <p:spTgt spid="12"/>
                                        </p:tgtEl>
                                        <p:attrNameLst>
                                          <p:attrName>ppt_y</p:attrName>
                                        </p:attrNameLst>
                                      </p:cBhvr>
                                      <p:tavLst>
                                        <p:tav tm="0">
                                          <p:val>
                                            <p:strVal val="ppt_y"/>
                                          </p:val>
                                        </p:tav>
                                        <p:tav tm="100000">
                                          <p:val>
                                            <p:strVal val="ppt_y+.1"/>
                                          </p:val>
                                        </p:tav>
                                      </p:tavLst>
                                    </p:anim>
                                    <p:set>
                                      <p:cBhvr>
                                        <p:cTn id="271" dur="1" fill="hold">
                                          <p:stCondLst>
                                            <p:cond delay="999"/>
                                          </p:stCondLst>
                                        </p:cTn>
                                        <p:tgtEl>
                                          <p:spTgt spid="12"/>
                                        </p:tgtEl>
                                        <p:attrNameLst>
                                          <p:attrName>style.visibility</p:attrName>
                                        </p:attrNameLst>
                                      </p:cBhvr>
                                      <p:to>
                                        <p:strVal val="hidden"/>
                                      </p:to>
                                    </p:set>
                                  </p:childTnLst>
                                </p:cTn>
                              </p:par>
                              <p:par>
                                <p:cTn id="272" presetID="42" presetClass="exit" presetSubtype="0" fill="hold" grpId="0" nodeType="withEffect">
                                  <p:stCondLst>
                                    <p:cond delay="0"/>
                                  </p:stCondLst>
                                  <p:childTnLst>
                                    <p:animEffect transition="out" filter="fade">
                                      <p:cBhvr>
                                        <p:cTn id="273" dur="1000"/>
                                        <p:tgtEl>
                                          <p:spTgt spid="39"/>
                                        </p:tgtEl>
                                      </p:cBhvr>
                                    </p:animEffect>
                                    <p:anim calcmode="lin" valueType="num">
                                      <p:cBhvr>
                                        <p:cTn id="274" dur="1000"/>
                                        <p:tgtEl>
                                          <p:spTgt spid="39"/>
                                        </p:tgtEl>
                                        <p:attrNameLst>
                                          <p:attrName>ppt_x</p:attrName>
                                        </p:attrNameLst>
                                      </p:cBhvr>
                                      <p:tavLst>
                                        <p:tav tm="0">
                                          <p:val>
                                            <p:strVal val="ppt_x"/>
                                          </p:val>
                                        </p:tav>
                                        <p:tav tm="100000">
                                          <p:val>
                                            <p:strVal val="ppt_x"/>
                                          </p:val>
                                        </p:tav>
                                      </p:tavLst>
                                    </p:anim>
                                    <p:anim calcmode="lin" valueType="num">
                                      <p:cBhvr>
                                        <p:cTn id="275" dur="1000"/>
                                        <p:tgtEl>
                                          <p:spTgt spid="39"/>
                                        </p:tgtEl>
                                        <p:attrNameLst>
                                          <p:attrName>ppt_y</p:attrName>
                                        </p:attrNameLst>
                                      </p:cBhvr>
                                      <p:tavLst>
                                        <p:tav tm="0">
                                          <p:val>
                                            <p:strVal val="ppt_y"/>
                                          </p:val>
                                        </p:tav>
                                        <p:tav tm="100000">
                                          <p:val>
                                            <p:strVal val="ppt_y+.1"/>
                                          </p:val>
                                        </p:tav>
                                      </p:tavLst>
                                    </p:anim>
                                    <p:set>
                                      <p:cBhvr>
                                        <p:cTn id="276" dur="1" fill="hold">
                                          <p:stCondLst>
                                            <p:cond delay="999"/>
                                          </p:stCondLst>
                                        </p:cTn>
                                        <p:tgtEl>
                                          <p:spTgt spid="39"/>
                                        </p:tgtEl>
                                        <p:attrNameLst>
                                          <p:attrName>style.visibility</p:attrName>
                                        </p:attrNameLst>
                                      </p:cBhvr>
                                      <p:to>
                                        <p:strVal val="hidden"/>
                                      </p:to>
                                    </p:set>
                                  </p:childTnLst>
                                </p:cTn>
                              </p:par>
                              <p:par>
                                <p:cTn id="277" presetID="42" presetClass="exit" presetSubtype="0" fill="hold" grpId="0" nodeType="withEffect">
                                  <p:stCondLst>
                                    <p:cond delay="0"/>
                                  </p:stCondLst>
                                  <p:childTnLst>
                                    <p:animEffect transition="out" filter="fade">
                                      <p:cBhvr>
                                        <p:cTn id="278" dur="1000"/>
                                        <p:tgtEl>
                                          <p:spTgt spid="6"/>
                                        </p:tgtEl>
                                      </p:cBhvr>
                                    </p:animEffect>
                                    <p:anim calcmode="lin" valueType="num">
                                      <p:cBhvr>
                                        <p:cTn id="279" dur="1000"/>
                                        <p:tgtEl>
                                          <p:spTgt spid="6"/>
                                        </p:tgtEl>
                                        <p:attrNameLst>
                                          <p:attrName>ppt_x</p:attrName>
                                        </p:attrNameLst>
                                      </p:cBhvr>
                                      <p:tavLst>
                                        <p:tav tm="0">
                                          <p:val>
                                            <p:strVal val="ppt_x"/>
                                          </p:val>
                                        </p:tav>
                                        <p:tav tm="100000">
                                          <p:val>
                                            <p:strVal val="ppt_x"/>
                                          </p:val>
                                        </p:tav>
                                      </p:tavLst>
                                    </p:anim>
                                    <p:anim calcmode="lin" valueType="num">
                                      <p:cBhvr>
                                        <p:cTn id="280" dur="1000"/>
                                        <p:tgtEl>
                                          <p:spTgt spid="6"/>
                                        </p:tgtEl>
                                        <p:attrNameLst>
                                          <p:attrName>ppt_y</p:attrName>
                                        </p:attrNameLst>
                                      </p:cBhvr>
                                      <p:tavLst>
                                        <p:tav tm="0">
                                          <p:val>
                                            <p:strVal val="ppt_y"/>
                                          </p:val>
                                        </p:tav>
                                        <p:tav tm="100000">
                                          <p:val>
                                            <p:strVal val="ppt_y+.1"/>
                                          </p:val>
                                        </p:tav>
                                      </p:tavLst>
                                    </p:anim>
                                    <p:set>
                                      <p:cBhvr>
                                        <p:cTn id="281" dur="1" fill="hold">
                                          <p:stCondLst>
                                            <p:cond delay="999"/>
                                          </p:stCondLst>
                                        </p:cTn>
                                        <p:tgtEl>
                                          <p:spTgt spid="6"/>
                                        </p:tgtEl>
                                        <p:attrNameLst>
                                          <p:attrName>style.visibility</p:attrName>
                                        </p:attrNameLst>
                                      </p:cBhvr>
                                      <p:to>
                                        <p:strVal val="hidden"/>
                                      </p:to>
                                    </p:set>
                                  </p:childTnLst>
                                </p:cTn>
                              </p:par>
                              <p:par>
                                <p:cTn id="282" presetID="42" presetClass="exit" presetSubtype="0" fill="hold" nodeType="withEffect">
                                  <p:stCondLst>
                                    <p:cond delay="0"/>
                                  </p:stCondLst>
                                  <p:childTnLst>
                                    <p:animEffect transition="out" filter="fade">
                                      <p:cBhvr>
                                        <p:cTn id="283" dur="1000"/>
                                        <p:tgtEl>
                                          <p:spTgt spid="8"/>
                                        </p:tgtEl>
                                      </p:cBhvr>
                                    </p:animEffect>
                                    <p:anim calcmode="lin" valueType="num">
                                      <p:cBhvr>
                                        <p:cTn id="284" dur="1000"/>
                                        <p:tgtEl>
                                          <p:spTgt spid="8"/>
                                        </p:tgtEl>
                                        <p:attrNameLst>
                                          <p:attrName>ppt_x</p:attrName>
                                        </p:attrNameLst>
                                      </p:cBhvr>
                                      <p:tavLst>
                                        <p:tav tm="0">
                                          <p:val>
                                            <p:strVal val="ppt_x"/>
                                          </p:val>
                                        </p:tav>
                                        <p:tav tm="100000">
                                          <p:val>
                                            <p:strVal val="ppt_x"/>
                                          </p:val>
                                        </p:tav>
                                      </p:tavLst>
                                    </p:anim>
                                    <p:anim calcmode="lin" valueType="num">
                                      <p:cBhvr>
                                        <p:cTn id="285" dur="1000"/>
                                        <p:tgtEl>
                                          <p:spTgt spid="8"/>
                                        </p:tgtEl>
                                        <p:attrNameLst>
                                          <p:attrName>ppt_y</p:attrName>
                                        </p:attrNameLst>
                                      </p:cBhvr>
                                      <p:tavLst>
                                        <p:tav tm="0">
                                          <p:val>
                                            <p:strVal val="ppt_y"/>
                                          </p:val>
                                        </p:tav>
                                        <p:tav tm="100000">
                                          <p:val>
                                            <p:strVal val="ppt_y+.1"/>
                                          </p:val>
                                        </p:tav>
                                      </p:tavLst>
                                    </p:anim>
                                    <p:set>
                                      <p:cBhvr>
                                        <p:cTn id="286" dur="1" fill="hold">
                                          <p:stCondLst>
                                            <p:cond delay="999"/>
                                          </p:stCondLst>
                                        </p:cTn>
                                        <p:tgtEl>
                                          <p:spTgt spid="8"/>
                                        </p:tgtEl>
                                        <p:attrNameLst>
                                          <p:attrName>style.visibility</p:attrName>
                                        </p:attrNameLst>
                                      </p:cBhvr>
                                      <p:to>
                                        <p:strVal val="hidden"/>
                                      </p:to>
                                    </p:set>
                                  </p:childTnLst>
                                </p:cTn>
                              </p:par>
                            </p:childTnLst>
                          </p:cTn>
                        </p:par>
                      </p:childTnLst>
                    </p:cTn>
                  </p:par>
                  <p:par>
                    <p:cTn id="287" fill="hold">
                      <p:stCondLst>
                        <p:cond delay="indefinite"/>
                      </p:stCondLst>
                      <p:childTnLst>
                        <p:par>
                          <p:cTn id="288" fill="hold">
                            <p:stCondLst>
                              <p:cond delay="0"/>
                            </p:stCondLst>
                            <p:childTnLst>
                              <p:par>
                                <p:cTn id="289" presetID="1" presetClass="entr" presetSubtype="0" fill="hold" grpId="0" nodeType="clickEffect">
                                  <p:stCondLst>
                                    <p:cond delay="0"/>
                                  </p:stCondLst>
                                  <p:childTnLst>
                                    <p:set>
                                      <p:cBhvr>
                                        <p:cTn id="290" dur="1" fill="hold">
                                          <p:stCondLst>
                                            <p:cond delay="0"/>
                                          </p:stCondLst>
                                        </p:cTn>
                                        <p:tgtEl>
                                          <p:spTgt spid="99"/>
                                        </p:tgtEl>
                                        <p:attrNameLst>
                                          <p:attrName>style.visibility</p:attrName>
                                        </p:attrNameLst>
                                      </p:cBhvr>
                                      <p:to>
                                        <p:strVal val="visible"/>
                                      </p:to>
                                    </p:set>
                                  </p:childTnLst>
                                </p:cTn>
                              </p:par>
                              <p:par>
                                <p:cTn id="291" presetID="1" presetClass="entr" presetSubtype="0" fill="hold" grpId="0" nodeType="withEffect">
                                  <p:stCondLst>
                                    <p:cond delay="0"/>
                                  </p:stCondLst>
                                  <p:childTnLst>
                                    <p:set>
                                      <p:cBhvr>
                                        <p:cTn id="292" dur="1" fill="hold">
                                          <p:stCondLst>
                                            <p:cond delay="0"/>
                                          </p:stCondLst>
                                        </p:cTn>
                                        <p:tgtEl>
                                          <p:spTgt spid="100"/>
                                        </p:tgtEl>
                                        <p:attrNameLst>
                                          <p:attrName>style.visibility</p:attrName>
                                        </p:attrNameLst>
                                      </p:cBhvr>
                                      <p:to>
                                        <p:strVal val="visible"/>
                                      </p:to>
                                    </p:set>
                                  </p:childTnLst>
                                </p:cTn>
                              </p:par>
                            </p:childTnLst>
                          </p:cTn>
                        </p:par>
                      </p:childTnLst>
                    </p:cTn>
                  </p:par>
                  <p:par>
                    <p:cTn id="293" fill="hold">
                      <p:stCondLst>
                        <p:cond delay="indefinite"/>
                      </p:stCondLst>
                      <p:childTnLst>
                        <p:par>
                          <p:cTn id="294" fill="hold">
                            <p:stCondLst>
                              <p:cond delay="0"/>
                            </p:stCondLst>
                            <p:childTnLst>
                              <p:par>
                                <p:cTn id="295" presetID="42" presetClass="exit" presetSubtype="0" fill="hold" grpId="1" nodeType="clickEffect">
                                  <p:stCondLst>
                                    <p:cond delay="0"/>
                                  </p:stCondLst>
                                  <p:childTnLst>
                                    <p:animEffect transition="out" filter="fade">
                                      <p:cBhvr>
                                        <p:cTn id="296" dur="1000"/>
                                        <p:tgtEl>
                                          <p:spTgt spid="99"/>
                                        </p:tgtEl>
                                      </p:cBhvr>
                                    </p:animEffect>
                                    <p:anim calcmode="lin" valueType="num">
                                      <p:cBhvr>
                                        <p:cTn id="297" dur="1000"/>
                                        <p:tgtEl>
                                          <p:spTgt spid="99"/>
                                        </p:tgtEl>
                                        <p:attrNameLst>
                                          <p:attrName>ppt_x</p:attrName>
                                        </p:attrNameLst>
                                      </p:cBhvr>
                                      <p:tavLst>
                                        <p:tav tm="0">
                                          <p:val>
                                            <p:strVal val="ppt_x"/>
                                          </p:val>
                                        </p:tav>
                                        <p:tav tm="100000">
                                          <p:val>
                                            <p:strVal val="ppt_x"/>
                                          </p:val>
                                        </p:tav>
                                      </p:tavLst>
                                    </p:anim>
                                    <p:anim calcmode="lin" valueType="num">
                                      <p:cBhvr>
                                        <p:cTn id="298" dur="1000"/>
                                        <p:tgtEl>
                                          <p:spTgt spid="99"/>
                                        </p:tgtEl>
                                        <p:attrNameLst>
                                          <p:attrName>ppt_y</p:attrName>
                                        </p:attrNameLst>
                                      </p:cBhvr>
                                      <p:tavLst>
                                        <p:tav tm="0">
                                          <p:val>
                                            <p:strVal val="ppt_y"/>
                                          </p:val>
                                        </p:tav>
                                        <p:tav tm="100000">
                                          <p:val>
                                            <p:strVal val="ppt_y+.1"/>
                                          </p:val>
                                        </p:tav>
                                      </p:tavLst>
                                    </p:anim>
                                    <p:set>
                                      <p:cBhvr>
                                        <p:cTn id="299" dur="1" fill="hold">
                                          <p:stCondLst>
                                            <p:cond delay="999"/>
                                          </p:stCondLst>
                                        </p:cTn>
                                        <p:tgtEl>
                                          <p:spTgt spid="99"/>
                                        </p:tgtEl>
                                        <p:attrNameLst>
                                          <p:attrName>style.visibility</p:attrName>
                                        </p:attrNameLst>
                                      </p:cBhvr>
                                      <p:to>
                                        <p:strVal val="hidden"/>
                                      </p:to>
                                    </p:set>
                                  </p:childTnLst>
                                </p:cTn>
                              </p:par>
                              <p:par>
                                <p:cTn id="300" presetID="42" presetClass="exit" presetSubtype="0" fill="hold" grpId="0" nodeType="withEffect">
                                  <p:stCondLst>
                                    <p:cond delay="0"/>
                                  </p:stCondLst>
                                  <p:childTnLst>
                                    <p:animEffect transition="out" filter="fade">
                                      <p:cBhvr>
                                        <p:cTn id="301" dur="1000"/>
                                        <p:tgtEl>
                                          <p:spTgt spid="10"/>
                                        </p:tgtEl>
                                      </p:cBhvr>
                                    </p:animEffect>
                                    <p:anim calcmode="lin" valueType="num">
                                      <p:cBhvr>
                                        <p:cTn id="302" dur="1000"/>
                                        <p:tgtEl>
                                          <p:spTgt spid="10"/>
                                        </p:tgtEl>
                                        <p:attrNameLst>
                                          <p:attrName>ppt_x</p:attrName>
                                        </p:attrNameLst>
                                      </p:cBhvr>
                                      <p:tavLst>
                                        <p:tav tm="0">
                                          <p:val>
                                            <p:strVal val="ppt_x"/>
                                          </p:val>
                                        </p:tav>
                                        <p:tav tm="100000">
                                          <p:val>
                                            <p:strVal val="ppt_x"/>
                                          </p:val>
                                        </p:tav>
                                      </p:tavLst>
                                    </p:anim>
                                    <p:anim calcmode="lin" valueType="num">
                                      <p:cBhvr>
                                        <p:cTn id="303" dur="1000"/>
                                        <p:tgtEl>
                                          <p:spTgt spid="10"/>
                                        </p:tgtEl>
                                        <p:attrNameLst>
                                          <p:attrName>ppt_y</p:attrName>
                                        </p:attrNameLst>
                                      </p:cBhvr>
                                      <p:tavLst>
                                        <p:tav tm="0">
                                          <p:val>
                                            <p:strVal val="ppt_y"/>
                                          </p:val>
                                        </p:tav>
                                        <p:tav tm="100000">
                                          <p:val>
                                            <p:strVal val="ppt_y+.1"/>
                                          </p:val>
                                        </p:tav>
                                      </p:tavLst>
                                    </p:anim>
                                    <p:set>
                                      <p:cBhvr>
                                        <p:cTn id="304" dur="1" fill="hold">
                                          <p:stCondLst>
                                            <p:cond delay="999"/>
                                          </p:stCondLst>
                                        </p:cTn>
                                        <p:tgtEl>
                                          <p:spTgt spid="10"/>
                                        </p:tgtEl>
                                        <p:attrNameLst>
                                          <p:attrName>style.visibility</p:attrName>
                                        </p:attrNameLst>
                                      </p:cBhvr>
                                      <p:to>
                                        <p:strVal val="hidden"/>
                                      </p:to>
                                    </p:set>
                                  </p:childTnLst>
                                </p:cTn>
                              </p:par>
                              <p:par>
                                <p:cTn id="305" presetID="42" presetClass="exit" presetSubtype="0" fill="hold" grpId="0" nodeType="withEffect">
                                  <p:stCondLst>
                                    <p:cond delay="0"/>
                                  </p:stCondLst>
                                  <p:childTnLst>
                                    <p:animEffect transition="out" filter="fade">
                                      <p:cBhvr>
                                        <p:cTn id="306" dur="1000"/>
                                        <p:tgtEl>
                                          <p:spTgt spid="35"/>
                                        </p:tgtEl>
                                      </p:cBhvr>
                                    </p:animEffect>
                                    <p:anim calcmode="lin" valueType="num">
                                      <p:cBhvr>
                                        <p:cTn id="307" dur="1000"/>
                                        <p:tgtEl>
                                          <p:spTgt spid="35"/>
                                        </p:tgtEl>
                                        <p:attrNameLst>
                                          <p:attrName>ppt_x</p:attrName>
                                        </p:attrNameLst>
                                      </p:cBhvr>
                                      <p:tavLst>
                                        <p:tav tm="0">
                                          <p:val>
                                            <p:strVal val="ppt_x"/>
                                          </p:val>
                                        </p:tav>
                                        <p:tav tm="100000">
                                          <p:val>
                                            <p:strVal val="ppt_x"/>
                                          </p:val>
                                        </p:tav>
                                      </p:tavLst>
                                    </p:anim>
                                    <p:anim calcmode="lin" valueType="num">
                                      <p:cBhvr>
                                        <p:cTn id="308" dur="1000"/>
                                        <p:tgtEl>
                                          <p:spTgt spid="35"/>
                                        </p:tgtEl>
                                        <p:attrNameLst>
                                          <p:attrName>ppt_y</p:attrName>
                                        </p:attrNameLst>
                                      </p:cBhvr>
                                      <p:tavLst>
                                        <p:tav tm="0">
                                          <p:val>
                                            <p:strVal val="ppt_y"/>
                                          </p:val>
                                        </p:tav>
                                        <p:tav tm="100000">
                                          <p:val>
                                            <p:strVal val="ppt_y+.1"/>
                                          </p:val>
                                        </p:tav>
                                      </p:tavLst>
                                    </p:anim>
                                    <p:set>
                                      <p:cBhvr>
                                        <p:cTn id="309" dur="1" fill="hold">
                                          <p:stCondLst>
                                            <p:cond delay="999"/>
                                          </p:stCondLst>
                                        </p:cTn>
                                        <p:tgtEl>
                                          <p:spTgt spid="35"/>
                                        </p:tgtEl>
                                        <p:attrNameLst>
                                          <p:attrName>style.visibility</p:attrName>
                                        </p:attrNameLst>
                                      </p:cBhvr>
                                      <p:to>
                                        <p:strVal val="hidden"/>
                                      </p:to>
                                    </p:set>
                                  </p:childTnLst>
                                </p:cTn>
                              </p:par>
                              <p:par>
                                <p:cTn id="310" presetID="42" presetClass="exit" presetSubtype="0" fill="hold" nodeType="withEffect">
                                  <p:stCondLst>
                                    <p:cond delay="0"/>
                                  </p:stCondLst>
                                  <p:childTnLst>
                                    <p:animEffect transition="out" filter="fade">
                                      <p:cBhvr>
                                        <p:cTn id="311" dur="1000"/>
                                        <p:tgtEl>
                                          <p:spTgt spid="13"/>
                                        </p:tgtEl>
                                      </p:cBhvr>
                                    </p:animEffect>
                                    <p:anim calcmode="lin" valueType="num">
                                      <p:cBhvr>
                                        <p:cTn id="312" dur="1000"/>
                                        <p:tgtEl>
                                          <p:spTgt spid="13"/>
                                        </p:tgtEl>
                                        <p:attrNameLst>
                                          <p:attrName>ppt_x</p:attrName>
                                        </p:attrNameLst>
                                      </p:cBhvr>
                                      <p:tavLst>
                                        <p:tav tm="0">
                                          <p:val>
                                            <p:strVal val="ppt_x"/>
                                          </p:val>
                                        </p:tav>
                                        <p:tav tm="100000">
                                          <p:val>
                                            <p:strVal val="ppt_x"/>
                                          </p:val>
                                        </p:tav>
                                      </p:tavLst>
                                    </p:anim>
                                    <p:anim calcmode="lin" valueType="num">
                                      <p:cBhvr>
                                        <p:cTn id="313" dur="1000"/>
                                        <p:tgtEl>
                                          <p:spTgt spid="13"/>
                                        </p:tgtEl>
                                        <p:attrNameLst>
                                          <p:attrName>ppt_y</p:attrName>
                                        </p:attrNameLst>
                                      </p:cBhvr>
                                      <p:tavLst>
                                        <p:tav tm="0">
                                          <p:val>
                                            <p:strVal val="ppt_y"/>
                                          </p:val>
                                        </p:tav>
                                        <p:tav tm="100000">
                                          <p:val>
                                            <p:strVal val="ppt_y+.1"/>
                                          </p:val>
                                        </p:tav>
                                      </p:tavLst>
                                    </p:anim>
                                    <p:set>
                                      <p:cBhvr>
                                        <p:cTn id="314" dur="1" fill="hold">
                                          <p:stCondLst>
                                            <p:cond delay="999"/>
                                          </p:stCondLst>
                                        </p:cTn>
                                        <p:tgtEl>
                                          <p:spTgt spid="13"/>
                                        </p:tgtEl>
                                        <p:attrNameLst>
                                          <p:attrName>style.visibility</p:attrName>
                                        </p:attrNameLst>
                                      </p:cBhvr>
                                      <p:to>
                                        <p:strVal val="hidden"/>
                                      </p:to>
                                    </p:set>
                                  </p:childTnLst>
                                </p:cTn>
                              </p:par>
                              <p:par>
                                <p:cTn id="315" presetID="42" presetClass="exit" presetSubtype="0" fill="hold" grpId="1" nodeType="withEffect">
                                  <p:stCondLst>
                                    <p:cond delay="0"/>
                                  </p:stCondLst>
                                  <p:childTnLst>
                                    <p:animEffect transition="out" filter="fade">
                                      <p:cBhvr>
                                        <p:cTn id="316" dur="1000"/>
                                        <p:tgtEl>
                                          <p:spTgt spid="100"/>
                                        </p:tgtEl>
                                      </p:cBhvr>
                                    </p:animEffect>
                                    <p:anim calcmode="lin" valueType="num">
                                      <p:cBhvr>
                                        <p:cTn id="317" dur="1000"/>
                                        <p:tgtEl>
                                          <p:spTgt spid="100"/>
                                        </p:tgtEl>
                                        <p:attrNameLst>
                                          <p:attrName>ppt_x</p:attrName>
                                        </p:attrNameLst>
                                      </p:cBhvr>
                                      <p:tavLst>
                                        <p:tav tm="0">
                                          <p:val>
                                            <p:strVal val="ppt_x"/>
                                          </p:val>
                                        </p:tav>
                                        <p:tav tm="100000">
                                          <p:val>
                                            <p:strVal val="ppt_x"/>
                                          </p:val>
                                        </p:tav>
                                      </p:tavLst>
                                    </p:anim>
                                    <p:anim calcmode="lin" valueType="num">
                                      <p:cBhvr>
                                        <p:cTn id="318" dur="1000"/>
                                        <p:tgtEl>
                                          <p:spTgt spid="100"/>
                                        </p:tgtEl>
                                        <p:attrNameLst>
                                          <p:attrName>ppt_y</p:attrName>
                                        </p:attrNameLst>
                                      </p:cBhvr>
                                      <p:tavLst>
                                        <p:tav tm="0">
                                          <p:val>
                                            <p:strVal val="ppt_y"/>
                                          </p:val>
                                        </p:tav>
                                        <p:tav tm="100000">
                                          <p:val>
                                            <p:strVal val="ppt_y+.1"/>
                                          </p:val>
                                        </p:tav>
                                      </p:tavLst>
                                    </p:anim>
                                    <p:set>
                                      <p:cBhvr>
                                        <p:cTn id="319" dur="1" fill="hold">
                                          <p:stCondLst>
                                            <p:cond delay="999"/>
                                          </p:stCondLst>
                                        </p:cTn>
                                        <p:tgtEl>
                                          <p:spTgt spid="100"/>
                                        </p:tgtEl>
                                        <p:attrNameLst>
                                          <p:attrName>style.visibility</p:attrName>
                                        </p:attrNameLst>
                                      </p:cBhvr>
                                      <p:to>
                                        <p:strVal val="hidden"/>
                                      </p:to>
                                    </p:set>
                                  </p:childTnLst>
                                </p:cTn>
                              </p:par>
                              <p:par>
                                <p:cTn id="320" presetID="42" presetClass="exit" presetSubtype="0" fill="hold" nodeType="withEffect">
                                  <p:stCondLst>
                                    <p:cond delay="0"/>
                                  </p:stCondLst>
                                  <p:childTnLst>
                                    <p:animEffect transition="out" filter="fade">
                                      <p:cBhvr>
                                        <p:cTn id="321" dur="1000"/>
                                        <p:tgtEl>
                                          <p:spTgt spid="19"/>
                                        </p:tgtEl>
                                      </p:cBhvr>
                                    </p:animEffect>
                                    <p:anim calcmode="lin" valueType="num">
                                      <p:cBhvr>
                                        <p:cTn id="322" dur="1000"/>
                                        <p:tgtEl>
                                          <p:spTgt spid="19"/>
                                        </p:tgtEl>
                                        <p:attrNameLst>
                                          <p:attrName>ppt_x</p:attrName>
                                        </p:attrNameLst>
                                      </p:cBhvr>
                                      <p:tavLst>
                                        <p:tav tm="0">
                                          <p:val>
                                            <p:strVal val="ppt_x"/>
                                          </p:val>
                                        </p:tav>
                                        <p:tav tm="100000">
                                          <p:val>
                                            <p:strVal val="ppt_x"/>
                                          </p:val>
                                        </p:tav>
                                      </p:tavLst>
                                    </p:anim>
                                    <p:anim calcmode="lin" valueType="num">
                                      <p:cBhvr>
                                        <p:cTn id="323" dur="1000"/>
                                        <p:tgtEl>
                                          <p:spTgt spid="19"/>
                                        </p:tgtEl>
                                        <p:attrNameLst>
                                          <p:attrName>ppt_y</p:attrName>
                                        </p:attrNameLst>
                                      </p:cBhvr>
                                      <p:tavLst>
                                        <p:tav tm="0">
                                          <p:val>
                                            <p:strVal val="ppt_y"/>
                                          </p:val>
                                        </p:tav>
                                        <p:tav tm="100000">
                                          <p:val>
                                            <p:strVal val="ppt_y+.1"/>
                                          </p:val>
                                        </p:tav>
                                      </p:tavLst>
                                    </p:anim>
                                    <p:set>
                                      <p:cBhvr>
                                        <p:cTn id="324" dur="1" fill="hold">
                                          <p:stCondLst>
                                            <p:cond delay="999"/>
                                          </p:stCondLst>
                                        </p:cTn>
                                        <p:tgtEl>
                                          <p:spTgt spid="19"/>
                                        </p:tgtEl>
                                        <p:attrNameLst>
                                          <p:attrName>style.visibility</p:attrName>
                                        </p:attrNameLst>
                                      </p:cBhvr>
                                      <p:to>
                                        <p:strVal val="hidden"/>
                                      </p:to>
                                    </p:set>
                                  </p:childTnLst>
                                </p:cTn>
                              </p:par>
                              <p:par>
                                <p:cTn id="325" presetID="42" presetClass="exit" presetSubtype="0" fill="hold" grpId="0" nodeType="withEffect">
                                  <p:stCondLst>
                                    <p:cond delay="0"/>
                                  </p:stCondLst>
                                  <p:childTnLst>
                                    <p:animEffect transition="out" filter="fade">
                                      <p:cBhvr>
                                        <p:cTn id="326" dur="1000"/>
                                        <p:tgtEl>
                                          <p:spTgt spid="14"/>
                                        </p:tgtEl>
                                      </p:cBhvr>
                                    </p:animEffect>
                                    <p:anim calcmode="lin" valueType="num">
                                      <p:cBhvr>
                                        <p:cTn id="327" dur="1000"/>
                                        <p:tgtEl>
                                          <p:spTgt spid="14"/>
                                        </p:tgtEl>
                                        <p:attrNameLst>
                                          <p:attrName>ppt_x</p:attrName>
                                        </p:attrNameLst>
                                      </p:cBhvr>
                                      <p:tavLst>
                                        <p:tav tm="0">
                                          <p:val>
                                            <p:strVal val="ppt_x"/>
                                          </p:val>
                                        </p:tav>
                                        <p:tav tm="100000">
                                          <p:val>
                                            <p:strVal val="ppt_x"/>
                                          </p:val>
                                        </p:tav>
                                      </p:tavLst>
                                    </p:anim>
                                    <p:anim calcmode="lin" valueType="num">
                                      <p:cBhvr>
                                        <p:cTn id="328" dur="1000"/>
                                        <p:tgtEl>
                                          <p:spTgt spid="14"/>
                                        </p:tgtEl>
                                        <p:attrNameLst>
                                          <p:attrName>ppt_y</p:attrName>
                                        </p:attrNameLst>
                                      </p:cBhvr>
                                      <p:tavLst>
                                        <p:tav tm="0">
                                          <p:val>
                                            <p:strVal val="ppt_y"/>
                                          </p:val>
                                        </p:tav>
                                        <p:tav tm="100000">
                                          <p:val>
                                            <p:strVal val="ppt_y+.1"/>
                                          </p:val>
                                        </p:tav>
                                      </p:tavLst>
                                    </p:anim>
                                    <p:set>
                                      <p:cBhvr>
                                        <p:cTn id="329" dur="1" fill="hold">
                                          <p:stCondLst>
                                            <p:cond delay="999"/>
                                          </p:stCondLst>
                                        </p:cTn>
                                        <p:tgtEl>
                                          <p:spTgt spid="14"/>
                                        </p:tgtEl>
                                        <p:attrNameLst>
                                          <p:attrName>style.visibility</p:attrName>
                                        </p:attrNameLst>
                                      </p:cBhvr>
                                      <p:to>
                                        <p:strVal val="hidden"/>
                                      </p:to>
                                    </p:set>
                                  </p:childTnLst>
                                </p:cTn>
                              </p:par>
                              <p:par>
                                <p:cTn id="330" presetID="42" presetClass="exit" presetSubtype="0" fill="hold" grpId="0" nodeType="withEffect">
                                  <p:stCondLst>
                                    <p:cond delay="0"/>
                                  </p:stCondLst>
                                  <p:childTnLst>
                                    <p:animEffect transition="out" filter="fade">
                                      <p:cBhvr>
                                        <p:cTn id="331" dur="1000"/>
                                        <p:tgtEl>
                                          <p:spTgt spid="38"/>
                                        </p:tgtEl>
                                      </p:cBhvr>
                                    </p:animEffect>
                                    <p:anim calcmode="lin" valueType="num">
                                      <p:cBhvr>
                                        <p:cTn id="332" dur="1000"/>
                                        <p:tgtEl>
                                          <p:spTgt spid="38"/>
                                        </p:tgtEl>
                                        <p:attrNameLst>
                                          <p:attrName>ppt_x</p:attrName>
                                        </p:attrNameLst>
                                      </p:cBhvr>
                                      <p:tavLst>
                                        <p:tav tm="0">
                                          <p:val>
                                            <p:strVal val="ppt_x"/>
                                          </p:val>
                                        </p:tav>
                                        <p:tav tm="100000">
                                          <p:val>
                                            <p:strVal val="ppt_x"/>
                                          </p:val>
                                        </p:tav>
                                      </p:tavLst>
                                    </p:anim>
                                    <p:anim calcmode="lin" valueType="num">
                                      <p:cBhvr>
                                        <p:cTn id="333" dur="1000"/>
                                        <p:tgtEl>
                                          <p:spTgt spid="38"/>
                                        </p:tgtEl>
                                        <p:attrNameLst>
                                          <p:attrName>ppt_y</p:attrName>
                                        </p:attrNameLst>
                                      </p:cBhvr>
                                      <p:tavLst>
                                        <p:tav tm="0">
                                          <p:val>
                                            <p:strVal val="ppt_y"/>
                                          </p:val>
                                        </p:tav>
                                        <p:tav tm="100000">
                                          <p:val>
                                            <p:strVal val="ppt_y+.1"/>
                                          </p:val>
                                        </p:tav>
                                      </p:tavLst>
                                    </p:anim>
                                    <p:set>
                                      <p:cBhvr>
                                        <p:cTn id="334" dur="1" fill="hold">
                                          <p:stCondLst>
                                            <p:cond delay="999"/>
                                          </p:stCondLst>
                                        </p:cTn>
                                        <p:tgtEl>
                                          <p:spTgt spid="38"/>
                                        </p:tgtEl>
                                        <p:attrNameLst>
                                          <p:attrName>style.visibility</p:attrName>
                                        </p:attrNameLst>
                                      </p:cBhvr>
                                      <p:to>
                                        <p:strVal val="hidden"/>
                                      </p:to>
                                    </p:set>
                                  </p:childTnLst>
                                </p:cTn>
                              </p:par>
                            </p:childTnLst>
                          </p:cTn>
                        </p:par>
                      </p:childTnLst>
                    </p:cTn>
                  </p:par>
                  <p:par>
                    <p:cTn id="335" fill="hold">
                      <p:stCondLst>
                        <p:cond delay="indefinite"/>
                      </p:stCondLst>
                      <p:childTnLst>
                        <p:par>
                          <p:cTn id="336" fill="hold">
                            <p:stCondLst>
                              <p:cond delay="0"/>
                            </p:stCondLst>
                            <p:childTnLst>
                              <p:par>
                                <p:cTn id="337" presetID="1" presetClass="entr" presetSubtype="0" fill="hold" nodeType="clickEffect">
                                  <p:stCondLst>
                                    <p:cond delay="0"/>
                                  </p:stCondLst>
                                  <p:childTnLst>
                                    <p:set>
                                      <p:cBhvr>
                                        <p:cTn id="33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4" grpId="0" animBg="1"/>
      <p:bldP spid="15" grpId="0" animBg="1"/>
      <p:bldP spid="17" grpId="0" animBg="1"/>
      <p:bldP spid="21" grpId="0" animBg="1"/>
      <p:bldP spid="22" grpId="0" animBg="1"/>
      <p:bldP spid="24" grpId="0" animBg="1"/>
      <p:bldP spid="27" grpId="0" animBg="1"/>
      <p:bldP spid="29" grpId="0" animBg="1"/>
      <p:bldP spid="29" grpId="1" animBg="1"/>
      <p:bldP spid="32" grpId="0" animBg="1"/>
      <p:bldP spid="33" grpId="0" animBg="1"/>
      <p:bldP spid="34" grpId="0"/>
      <p:bldP spid="35" grpId="0"/>
      <p:bldP spid="37" grpId="0"/>
      <p:bldP spid="38" grpId="0"/>
      <p:bldP spid="39" grpId="0"/>
      <p:bldP spid="40" grpId="0"/>
      <p:bldP spid="41" grpId="0"/>
      <p:bldP spid="42" grpId="0"/>
      <p:bldP spid="43" grpId="0"/>
      <p:bldP spid="44" grpId="0"/>
      <p:bldP spid="45" grpId="0"/>
      <p:bldP spid="46" grpId="0"/>
      <p:bldP spid="47" grpId="0"/>
      <p:bldP spid="47" grpId="1"/>
      <p:bldP spid="2" grpId="0" animBg="1"/>
      <p:bldP spid="2" grpId="1" animBg="1"/>
      <p:bldP spid="3" grpId="0"/>
      <p:bldP spid="48" grpId="0" animBg="1"/>
      <p:bldP spid="48" grpId="1" animBg="1"/>
      <p:bldP spid="49" grpId="0" animBg="1"/>
      <p:bldP spid="49" grpId="1" animBg="1"/>
      <p:bldP spid="49" grpId="2" animBg="1"/>
      <p:bldP spid="50" grpId="0" animBg="1"/>
      <p:bldP spid="50" grpId="1" animBg="1"/>
      <p:bldP spid="51" grpId="0" animBg="1"/>
      <p:bldP spid="51" grpId="1" animBg="1"/>
      <p:bldP spid="52" grpId="0" animBg="1"/>
      <p:bldP spid="52" grpId="1" animBg="1"/>
      <p:bldP spid="53" grpId="0" animBg="1"/>
      <p:bldP spid="53" grpId="1" animBg="1"/>
      <p:bldP spid="54" grpId="0" animBg="1"/>
      <p:bldP spid="54" grpId="1" animBg="1"/>
      <p:bldP spid="96" grpId="0" animBg="1"/>
      <p:bldP spid="96" grpId="1" animBg="1"/>
      <p:bldP spid="97" grpId="0" animBg="1"/>
      <p:bldP spid="97" grpId="1" animBg="1"/>
      <p:bldP spid="98" grpId="0" animBg="1"/>
      <p:bldP spid="98" grpId="1" animBg="1"/>
      <p:bldP spid="99" grpId="0" animBg="1"/>
      <p:bldP spid="99" grpId="1" animBg="1"/>
      <p:bldP spid="100" grpId="0" animBg="1"/>
      <p:bldP spid="100" grpId="1"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pPr algn="just">
              <a:spcBef>
                <a:spcPts val="1000"/>
              </a:spcBef>
              <a:buClr>
                <a:srgbClr val="B84742"/>
              </a:buClr>
            </a:pPr>
            <a:r>
              <a:rPr lang="en-US" dirty="0"/>
              <a:t>ON COUNTING TREES</a:t>
            </a:r>
          </a:p>
        </p:txBody>
      </p:sp>
      <mc:AlternateContent xmlns:mc="http://schemas.openxmlformats.org/markup-compatibility/2006" xmlns:a14="http://schemas.microsoft.com/office/drawing/2010/main">
        <mc:Choice Requires="a14">
          <p:sp>
            <p:nvSpPr>
              <p:cNvPr id="116" name="Content Placeholder 54"/>
              <p:cNvSpPr>
                <a:spLocks noGrp="1"/>
              </p:cNvSpPr>
              <p:nvPr>
                <p:ph idx="1"/>
              </p:nvPr>
            </p:nvSpPr>
            <p:spPr/>
            <p:txBody>
              <a:bodyPr/>
              <a:lstStyle/>
              <a:p>
                <a:r>
                  <a:rPr lang="en-US" dirty="0"/>
                  <a:t>We know that the trees shown below </a:t>
                </a:r>
                <a:r>
                  <a:rPr lang="en-US" b="1" dirty="0"/>
                  <a:t>are isomorphic, </a:t>
                </a:r>
                <a:r>
                  <a:rPr lang="en-US" dirty="0"/>
                  <a:t>therefore, we count them as a single (unlabeled) tree.</a:t>
                </a:r>
              </a:p>
              <a:p>
                <a:r>
                  <a:rPr lang="en-US" dirty="0"/>
                  <a:t>However, the situation changes when we assign </a:t>
                </a:r>
                <a:r>
                  <a:rPr lang="en-US" b="1" dirty="0"/>
                  <a:t>labels</a:t>
                </a:r>
                <a:r>
                  <a:rPr lang="en-US" dirty="0"/>
                  <a:t> to the vertices of these trees.</a:t>
                </a:r>
              </a:p>
              <a:p>
                <a:r>
                  <a:rPr lang="en-US" dirty="0"/>
                  <a:t>In that case, even isomorphic trees can become different if their labeling differ.</a:t>
                </a:r>
              </a:p>
              <a:p>
                <a:r>
                  <a:rPr lang="en-US" dirty="0"/>
                  <a:t>This leads to a natural question: </a:t>
                </a:r>
                <a:r>
                  <a:rPr lang="en-US" b="1" dirty="0"/>
                  <a:t>What is a labeled tree?</a:t>
                </a:r>
                <a:br>
                  <a:rPr lang="en-US" dirty="0"/>
                </a:br>
                <a:r>
                  <a:rPr lang="en-US" dirty="0"/>
                  <a:t>And, more importantly: </a:t>
                </a:r>
                <a:r>
                  <a:rPr lang="en-US" b="1" dirty="0"/>
                  <a:t>How many such trees exist for a </a:t>
                </a:r>
                <a14:m>
                  <m:oMath xmlns:m="http://schemas.openxmlformats.org/officeDocument/2006/math">
                    <m:r>
                      <a:rPr lang="en-US" b="1" i="0" dirty="0" smtClean="0">
                        <a:latin typeface="Cambria Math" panose="02040503050406030204" pitchFamily="18" charset="0"/>
                      </a:rPr>
                      <m:t>𝐧</m:t>
                    </m:r>
                  </m:oMath>
                </a14:m>
                <a:r>
                  <a:rPr lang="en-US" dirty="0"/>
                  <a:t> </a:t>
                </a:r>
                <a:r>
                  <a:rPr lang="en-US" b="1" dirty="0"/>
                  <a:t>vertices?</a:t>
                </a:r>
                <a:endParaRPr lang="en-US" dirty="0"/>
              </a:p>
              <a:p>
                <a:pPr marL="0" indent="0">
                  <a:buNone/>
                </a:pPr>
                <a:endParaRPr lang="en-US" dirty="0">
                  <a:solidFill>
                    <a:srgbClr val="FF0000"/>
                  </a:solidFill>
                </a:endParaRPr>
              </a:p>
            </p:txBody>
          </p:sp>
        </mc:Choice>
        <mc:Fallback xmlns="">
          <p:sp>
            <p:nvSpPr>
              <p:cNvPr id="116" name="Content Placeholder 54"/>
              <p:cNvSpPr>
                <a:spLocks noGrp="1" noRot="1" noChangeAspect="1" noMove="1" noResize="1" noEditPoints="1" noAdjustHandles="1" noChangeArrowheads="1" noChangeShapeType="1" noTextEdit="1"/>
              </p:cNvSpPr>
              <p:nvPr>
                <p:ph idx="1"/>
              </p:nvPr>
            </p:nvSpPr>
            <p:spPr>
              <a:xfrm>
                <a:off x="131180" y="863445"/>
                <a:ext cx="11936995" cy="3645056"/>
              </a:xfrm>
              <a:blipFill rotWithShape="0">
                <a:blip r:embed="rId2"/>
                <a:stretch>
                  <a:fillRect l="-970" t="-3010" r="-1021"/>
                </a:stretch>
              </a:blipFill>
            </p:spPr>
            <p:txBody>
              <a:bodyPr/>
              <a:lstStyle/>
              <a:p>
                <a:r>
                  <a:rPr lang="en-US">
                    <a:noFill/>
                  </a:rPr>
                  <a:t> </a:t>
                </a:r>
              </a:p>
            </p:txBody>
          </p:sp>
        </mc:Fallback>
      </mc:AlternateContent>
      <p:sp>
        <p:nvSpPr>
          <p:cNvPr id="50" name="Oval 49">
            <a:extLst>
              <a:ext uri="{FF2B5EF4-FFF2-40B4-BE49-F238E27FC236}">
                <a16:creationId xmlns:a16="http://schemas.microsoft.com/office/drawing/2014/main" id="{A4197692-1A04-EA71-457D-175797FDA5CE}"/>
              </a:ext>
            </a:extLst>
          </p:cNvPr>
          <p:cNvSpPr/>
          <p:nvPr/>
        </p:nvSpPr>
        <p:spPr>
          <a:xfrm rot="5400000">
            <a:off x="7457446" y="451025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51" name="Oval 50">
            <a:extLst>
              <a:ext uri="{FF2B5EF4-FFF2-40B4-BE49-F238E27FC236}">
                <a16:creationId xmlns:a16="http://schemas.microsoft.com/office/drawing/2014/main" id="{A4197692-1A04-EA71-457D-175797FDA5CE}"/>
              </a:ext>
            </a:extLst>
          </p:cNvPr>
          <p:cNvSpPr/>
          <p:nvPr/>
        </p:nvSpPr>
        <p:spPr>
          <a:xfrm rot="5400000">
            <a:off x="7468362" y="581464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52" name="Oval 51">
            <a:extLst>
              <a:ext uri="{FF2B5EF4-FFF2-40B4-BE49-F238E27FC236}">
                <a16:creationId xmlns:a16="http://schemas.microsoft.com/office/drawing/2014/main" id="{A4197692-1A04-EA71-457D-175797FDA5CE}"/>
              </a:ext>
            </a:extLst>
          </p:cNvPr>
          <p:cNvSpPr/>
          <p:nvPr/>
        </p:nvSpPr>
        <p:spPr>
          <a:xfrm rot="5400000">
            <a:off x="6046151" y="451502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53" name="Oval 52">
            <a:extLst>
              <a:ext uri="{FF2B5EF4-FFF2-40B4-BE49-F238E27FC236}">
                <a16:creationId xmlns:a16="http://schemas.microsoft.com/office/drawing/2014/main" id="{A4197692-1A04-EA71-457D-175797FDA5CE}"/>
              </a:ext>
            </a:extLst>
          </p:cNvPr>
          <p:cNvSpPr/>
          <p:nvPr/>
        </p:nvSpPr>
        <p:spPr>
          <a:xfrm rot="5400000">
            <a:off x="6043065" y="589896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cxnSp>
        <p:nvCxnSpPr>
          <p:cNvPr id="54" name="Straight Connector 53">
            <a:extLst>
              <a:ext uri="{FF2B5EF4-FFF2-40B4-BE49-F238E27FC236}">
                <a16:creationId xmlns:a16="http://schemas.microsoft.com/office/drawing/2014/main" id="{66EA08EA-10E8-07B3-809B-572189B302D2}"/>
              </a:ext>
            </a:extLst>
          </p:cNvPr>
          <p:cNvCxnSpPr>
            <a:cxnSpLocks/>
            <a:stCxn id="50" idx="4"/>
            <a:endCxn id="52" idx="0"/>
          </p:cNvCxnSpPr>
          <p:nvPr/>
        </p:nvCxnSpPr>
        <p:spPr>
          <a:xfrm flipH="1">
            <a:off x="6190151" y="4582258"/>
            <a:ext cx="1267295" cy="476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5" name="Straight Connector 54">
            <a:extLst>
              <a:ext uri="{FF2B5EF4-FFF2-40B4-BE49-F238E27FC236}">
                <a16:creationId xmlns:a16="http://schemas.microsoft.com/office/drawing/2014/main" id="{66EA08EA-10E8-07B3-809B-572189B302D2}"/>
              </a:ext>
            </a:extLst>
          </p:cNvPr>
          <p:cNvCxnSpPr>
            <a:cxnSpLocks/>
            <a:stCxn id="51" idx="3"/>
            <a:endCxn id="52" idx="7"/>
          </p:cNvCxnSpPr>
          <p:nvPr/>
        </p:nvCxnSpPr>
        <p:spPr>
          <a:xfrm flipH="1" flipV="1">
            <a:off x="6169063" y="4637933"/>
            <a:ext cx="1320387" cy="119779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7" name="Straight Connector 56">
            <a:extLst>
              <a:ext uri="{FF2B5EF4-FFF2-40B4-BE49-F238E27FC236}">
                <a16:creationId xmlns:a16="http://schemas.microsoft.com/office/drawing/2014/main" id="{66EA08EA-10E8-07B3-809B-572189B302D2}"/>
              </a:ext>
            </a:extLst>
          </p:cNvPr>
          <p:cNvCxnSpPr>
            <a:cxnSpLocks/>
            <a:stCxn id="52" idx="6"/>
            <a:endCxn id="53" idx="2"/>
          </p:cNvCxnSpPr>
          <p:nvPr/>
        </p:nvCxnSpPr>
        <p:spPr>
          <a:xfrm flipH="1">
            <a:off x="6115065" y="4659021"/>
            <a:ext cx="3086" cy="123993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9" name="TextBox 58"/>
          <p:cNvSpPr txBox="1"/>
          <p:nvPr/>
        </p:nvSpPr>
        <p:spPr>
          <a:xfrm>
            <a:off x="5790288" y="4216048"/>
            <a:ext cx="360996" cy="461665"/>
          </a:xfrm>
          <a:prstGeom prst="rect">
            <a:avLst/>
          </a:prstGeom>
          <a:noFill/>
        </p:spPr>
        <p:txBody>
          <a:bodyPr wrap="none" rtlCol="0">
            <a:spAutoFit/>
          </a:bodyPr>
          <a:lstStyle>
            <a:defPPr>
              <a:defRPr lang="en-US"/>
            </a:defPPr>
            <a:lvl1pPr>
              <a:defRPr sz="2800"/>
            </a:lvl1pPr>
          </a:lstStyle>
          <a:p>
            <a:r>
              <a:rPr lang="en-US" sz="2400" dirty="0"/>
              <a:t>D</a:t>
            </a:r>
          </a:p>
        </p:txBody>
      </p:sp>
      <p:sp>
        <p:nvSpPr>
          <p:cNvPr id="60" name="TextBox 59"/>
          <p:cNvSpPr txBox="1"/>
          <p:nvPr/>
        </p:nvSpPr>
        <p:spPr>
          <a:xfrm>
            <a:off x="7363871" y="5958183"/>
            <a:ext cx="362600" cy="461665"/>
          </a:xfrm>
          <a:prstGeom prst="rect">
            <a:avLst/>
          </a:prstGeom>
          <a:noFill/>
        </p:spPr>
        <p:txBody>
          <a:bodyPr wrap="none" rtlCol="0">
            <a:spAutoFit/>
          </a:bodyPr>
          <a:lstStyle>
            <a:defPPr>
              <a:defRPr lang="en-US"/>
            </a:defPPr>
            <a:lvl1pPr>
              <a:defRPr sz="2800"/>
            </a:lvl1pPr>
          </a:lstStyle>
          <a:p>
            <a:r>
              <a:rPr lang="en-US" sz="2400" dirty="0"/>
              <a:t>A</a:t>
            </a:r>
          </a:p>
        </p:txBody>
      </p:sp>
      <p:sp>
        <p:nvSpPr>
          <p:cNvPr id="68" name="TextBox 67"/>
          <p:cNvSpPr txBox="1"/>
          <p:nvPr/>
        </p:nvSpPr>
        <p:spPr>
          <a:xfrm>
            <a:off x="5918988" y="5979728"/>
            <a:ext cx="392154" cy="461665"/>
          </a:xfrm>
          <a:prstGeom prst="rect">
            <a:avLst/>
          </a:prstGeom>
          <a:noFill/>
        </p:spPr>
        <p:txBody>
          <a:bodyPr wrap="square" rtlCol="0">
            <a:spAutoFit/>
          </a:bodyPr>
          <a:lstStyle>
            <a:defPPr>
              <a:defRPr lang="en-US"/>
            </a:defPPr>
            <a:lvl1pPr>
              <a:defRPr sz="2800"/>
            </a:lvl1pPr>
          </a:lstStyle>
          <a:p>
            <a:r>
              <a:rPr lang="en-US" sz="2400" dirty="0"/>
              <a:t>C</a:t>
            </a:r>
          </a:p>
        </p:txBody>
      </p:sp>
      <p:sp>
        <p:nvSpPr>
          <p:cNvPr id="72" name="Oval 71">
            <a:extLst>
              <a:ext uri="{FF2B5EF4-FFF2-40B4-BE49-F238E27FC236}">
                <a16:creationId xmlns:a16="http://schemas.microsoft.com/office/drawing/2014/main" id="{A4197692-1A04-EA71-457D-175797FDA5CE}"/>
              </a:ext>
            </a:extLst>
          </p:cNvPr>
          <p:cNvSpPr/>
          <p:nvPr/>
        </p:nvSpPr>
        <p:spPr>
          <a:xfrm rot="5400000">
            <a:off x="3118759" y="451025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73" name="Oval 72">
            <a:extLst>
              <a:ext uri="{FF2B5EF4-FFF2-40B4-BE49-F238E27FC236}">
                <a16:creationId xmlns:a16="http://schemas.microsoft.com/office/drawing/2014/main" id="{A4197692-1A04-EA71-457D-175797FDA5CE}"/>
              </a:ext>
            </a:extLst>
          </p:cNvPr>
          <p:cNvSpPr/>
          <p:nvPr/>
        </p:nvSpPr>
        <p:spPr>
          <a:xfrm rot="5400000">
            <a:off x="3130481" y="579402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74" name="Oval 73">
            <a:extLst>
              <a:ext uri="{FF2B5EF4-FFF2-40B4-BE49-F238E27FC236}">
                <a16:creationId xmlns:a16="http://schemas.microsoft.com/office/drawing/2014/main" id="{A4197692-1A04-EA71-457D-175797FDA5CE}"/>
              </a:ext>
            </a:extLst>
          </p:cNvPr>
          <p:cNvSpPr/>
          <p:nvPr/>
        </p:nvSpPr>
        <p:spPr>
          <a:xfrm rot="5400000">
            <a:off x="4586926" y="451025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75" name="Oval 74">
            <a:extLst>
              <a:ext uri="{FF2B5EF4-FFF2-40B4-BE49-F238E27FC236}">
                <a16:creationId xmlns:a16="http://schemas.microsoft.com/office/drawing/2014/main" id="{A4197692-1A04-EA71-457D-175797FDA5CE}"/>
              </a:ext>
            </a:extLst>
          </p:cNvPr>
          <p:cNvSpPr/>
          <p:nvPr/>
        </p:nvSpPr>
        <p:spPr>
          <a:xfrm rot="5400000">
            <a:off x="4586926" y="581418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cxnSp>
        <p:nvCxnSpPr>
          <p:cNvPr id="76" name="Straight Connector 75">
            <a:extLst>
              <a:ext uri="{FF2B5EF4-FFF2-40B4-BE49-F238E27FC236}">
                <a16:creationId xmlns:a16="http://schemas.microsoft.com/office/drawing/2014/main" id="{66EA08EA-10E8-07B3-809B-572189B302D2}"/>
              </a:ext>
            </a:extLst>
          </p:cNvPr>
          <p:cNvCxnSpPr>
            <a:cxnSpLocks/>
            <a:stCxn id="72" idx="0"/>
            <a:endCxn id="74" idx="4"/>
          </p:cNvCxnSpPr>
          <p:nvPr/>
        </p:nvCxnSpPr>
        <p:spPr>
          <a:xfrm>
            <a:off x="3262759" y="4582258"/>
            <a:ext cx="1324167"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Straight Connector 76">
            <a:extLst>
              <a:ext uri="{FF2B5EF4-FFF2-40B4-BE49-F238E27FC236}">
                <a16:creationId xmlns:a16="http://schemas.microsoft.com/office/drawing/2014/main" id="{66EA08EA-10E8-07B3-809B-572189B302D2}"/>
              </a:ext>
            </a:extLst>
          </p:cNvPr>
          <p:cNvCxnSpPr>
            <a:cxnSpLocks/>
            <a:stCxn id="73" idx="1"/>
            <a:endCxn id="74" idx="5"/>
          </p:cNvCxnSpPr>
          <p:nvPr/>
        </p:nvCxnSpPr>
        <p:spPr>
          <a:xfrm flipV="1">
            <a:off x="3253393" y="4633170"/>
            <a:ext cx="1354621" cy="118194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8" name="Straight Connector 77">
            <a:extLst>
              <a:ext uri="{FF2B5EF4-FFF2-40B4-BE49-F238E27FC236}">
                <a16:creationId xmlns:a16="http://schemas.microsoft.com/office/drawing/2014/main" id="{66EA08EA-10E8-07B3-809B-572189B302D2}"/>
              </a:ext>
            </a:extLst>
          </p:cNvPr>
          <p:cNvCxnSpPr>
            <a:cxnSpLocks/>
            <a:stCxn id="74" idx="6"/>
            <a:endCxn id="75" idx="2"/>
          </p:cNvCxnSpPr>
          <p:nvPr/>
        </p:nvCxnSpPr>
        <p:spPr>
          <a:xfrm>
            <a:off x="4658926" y="4654258"/>
            <a:ext cx="0" cy="11599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9" name="TextBox 78"/>
          <p:cNvSpPr txBox="1"/>
          <p:nvPr/>
        </p:nvSpPr>
        <p:spPr>
          <a:xfrm>
            <a:off x="4478579" y="5905615"/>
            <a:ext cx="362600" cy="461665"/>
          </a:xfrm>
          <a:prstGeom prst="rect">
            <a:avLst/>
          </a:prstGeom>
          <a:noFill/>
        </p:spPr>
        <p:txBody>
          <a:bodyPr wrap="none" rtlCol="0">
            <a:spAutoFit/>
          </a:bodyPr>
          <a:lstStyle/>
          <a:p>
            <a:r>
              <a:rPr lang="en-US" sz="2400" dirty="0"/>
              <a:t>A</a:t>
            </a:r>
          </a:p>
        </p:txBody>
      </p:sp>
      <p:sp>
        <p:nvSpPr>
          <p:cNvPr id="80" name="TextBox 79"/>
          <p:cNvSpPr txBox="1"/>
          <p:nvPr/>
        </p:nvSpPr>
        <p:spPr>
          <a:xfrm>
            <a:off x="3027299" y="4571382"/>
            <a:ext cx="360996" cy="461665"/>
          </a:xfrm>
          <a:prstGeom prst="rect">
            <a:avLst/>
          </a:prstGeom>
          <a:noFill/>
        </p:spPr>
        <p:txBody>
          <a:bodyPr wrap="none" rtlCol="0">
            <a:spAutoFit/>
          </a:bodyPr>
          <a:lstStyle>
            <a:defPPr>
              <a:defRPr lang="en-US"/>
            </a:defPPr>
            <a:lvl1pPr>
              <a:defRPr sz="2800"/>
            </a:lvl1pPr>
          </a:lstStyle>
          <a:p>
            <a:r>
              <a:rPr lang="en-US" sz="2400" dirty="0"/>
              <a:t>D</a:t>
            </a:r>
          </a:p>
        </p:txBody>
      </p:sp>
      <p:sp>
        <p:nvSpPr>
          <p:cNvPr id="81" name="TextBox 80"/>
          <p:cNvSpPr txBox="1"/>
          <p:nvPr/>
        </p:nvSpPr>
        <p:spPr>
          <a:xfrm>
            <a:off x="4653315" y="4199977"/>
            <a:ext cx="352982" cy="461665"/>
          </a:xfrm>
          <a:prstGeom prst="rect">
            <a:avLst/>
          </a:prstGeom>
          <a:noFill/>
        </p:spPr>
        <p:txBody>
          <a:bodyPr wrap="none" rtlCol="0">
            <a:spAutoFit/>
          </a:bodyPr>
          <a:lstStyle>
            <a:defPPr>
              <a:defRPr lang="en-US"/>
            </a:defPPr>
            <a:lvl1pPr>
              <a:defRPr sz="2800"/>
            </a:lvl1pPr>
          </a:lstStyle>
          <a:p>
            <a:r>
              <a:rPr lang="en-US" sz="2400" dirty="0"/>
              <a:t>B</a:t>
            </a:r>
          </a:p>
        </p:txBody>
      </p:sp>
      <p:sp>
        <p:nvSpPr>
          <p:cNvPr id="82" name="TextBox 81"/>
          <p:cNvSpPr txBox="1"/>
          <p:nvPr/>
        </p:nvSpPr>
        <p:spPr>
          <a:xfrm>
            <a:off x="3006557" y="5925047"/>
            <a:ext cx="359394" cy="461665"/>
          </a:xfrm>
          <a:prstGeom prst="rect">
            <a:avLst/>
          </a:prstGeom>
          <a:noFill/>
        </p:spPr>
        <p:txBody>
          <a:bodyPr wrap="none" rtlCol="0">
            <a:spAutoFit/>
          </a:bodyPr>
          <a:lstStyle>
            <a:defPPr>
              <a:defRPr lang="en-US"/>
            </a:defPPr>
            <a:lvl1pPr>
              <a:defRPr sz="2800"/>
            </a:lvl1pPr>
          </a:lstStyle>
          <a:p>
            <a:r>
              <a:rPr lang="en-US" sz="2400" dirty="0"/>
              <a:t>C</a:t>
            </a:r>
          </a:p>
        </p:txBody>
      </p:sp>
      <p:sp>
        <p:nvSpPr>
          <p:cNvPr id="83" name="TextBox 82"/>
          <p:cNvSpPr txBox="1"/>
          <p:nvPr/>
        </p:nvSpPr>
        <p:spPr>
          <a:xfrm>
            <a:off x="7360046" y="4579654"/>
            <a:ext cx="352982" cy="461665"/>
          </a:xfrm>
          <a:prstGeom prst="rect">
            <a:avLst/>
          </a:prstGeom>
          <a:noFill/>
        </p:spPr>
        <p:txBody>
          <a:bodyPr wrap="none" rtlCol="0">
            <a:spAutoFit/>
          </a:bodyPr>
          <a:lstStyle>
            <a:defPPr>
              <a:defRPr lang="en-US"/>
            </a:defPPr>
            <a:lvl1pPr>
              <a:defRPr sz="2800"/>
            </a:lvl1pPr>
          </a:lstStyle>
          <a:p>
            <a:r>
              <a:rPr lang="en-US" sz="2400" dirty="0"/>
              <a:t>B</a:t>
            </a:r>
          </a:p>
        </p:txBody>
      </p:sp>
    </p:spTree>
    <p:extLst>
      <p:ext uri="{BB962C8B-B14F-4D97-AF65-F5344CB8AC3E}">
        <p14:creationId xmlns:p14="http://schemas.microsoft.com/office/powerpoint/2010/main" val="37043035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6">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60" grpId="0"/>
      <p:bldP spid="68" grpId="0"/>
      <p:bldP spid="79" grpId="0"/>
      <p:bldP spid="80" grpId="0"/>
      <p:bldP spid="81" grpId="0"/>
      <p:bldP spid="82" grpId="0"/>
      <p:bldP spid="8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9444"/>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pPr algn="just">
              <a:spcBef>
                <a:spcPts val="1000"/>
              </a:spcBef>
              <a:buClr>
                <a:srgbClr val="B84742"/>
              </a:buClr>
            </a:pPr>
            <a:r>
              <a:rPr lang="en-US" dirty="0"/>
              <a:t>ON COUNTING TREES</a:t>
            </a:r>
          </a:p>
        </p:txBody>
      </p:sp>
      <p:sp>
        <p:nvSpPr>
          <p:cNvPr id="50" name="Oval 49">
            <a:extLst>
              <a:ext uri="{FF2B5EF4-FFF2-40B4-BE49-F238E27FC236}">
                <a16:creationId xmlns:a16="http://schemas.microsoft.com/office/drawing/2014/main" id="{A4197692-1A04-EA71-457D-175797FDA5CE}"/>
              </a:ext>
            </a:extLst>
          </p:cNvPr>
          <p:cNvSpPr/>
          <p:nvPr/>
        </p:nvSpPr>
        <p:spPr>
          <a:xfrm rot="5400000">
            <a:off x="11494000" y="166989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51" name="Oval 50">
            <a:extLst>
              <a:ext uri="{FF2B5EF4-FFF2-40B4-BE49-F238E27FC236}">
                <a16:creationId xmlns:a16="http://schemas.microsoft.com/office/drawing/2014/main" id="{A4197692-1A04-EA71-457D-175797FDA5CE}"/>
              </a:ext>
            </a:extLst>
          </p:cNvPr>
          <p:cNvSpPr/>
          <p:nvPr/>
        </p:nvSpPr>
        <p:spPr>
          <a:xfrm rot="5400000">
            <a:off x="11504916" y="297427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52" name="Oval 51">
            <a:extLst>
              <a:ext uri="{FF2B5EF4-FFF2-40B4-BE49-F238E27FC236}">
                <a16:creationId xmlns:a16="http://schemas.microsoft.com/office/drawing/2014/main" id="{A4197692-1A04-EA71-457D-175797FDA5CE}"/>
              </a:ext>
            </a:extLst>
          </p:cNvPr>
          <p:cNvSpPr/>
          <p:nvPr/>
        </p:nvSpPr>
        <p:spPr>
          <a:xfrm rot="5400000">
            <a:off x="10082705" y="167465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53" name="Oval 52">
            <a:extLst>
              <a:ext uri="{FF2B5EF4-FFF2-40B4-BE49-F238E27FC236}">
                <a16:creationId xmlns:a16="http://schemas.microsoft.com/office/drawing/2014/main" id="{A4197692-1A04-EA71-457D-175797FDA5CE}"/>
              </a:ext>
            </a:extLst>
          </p:cNvPr>
          <p:cNvSpPr/>
          <p:nvPr/>
        </p:nvSpPr>
        <p:spPr>
          <a:xfrm rot="5400000">
            <a:off x="10079619" y="305859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cxnSp>
        <p:nvCxnSpPr>
          <p:cNvPr id="54" name="Straight Connector 53">
            <a:extLst>
              <a:ext uri="{FF2B5EF4-FFF2-40B4-BE49-F238E27FC236}">
                <a16:creationId xmlns:a16="http://schemas.microsoft.com/office/drawing/2014/main" id="{66EA08EA-10E8-07B3-809B-572189B302D2}"/>
              </a:ext>
            </a:extLst>
          </p:cNvPr>
          <p:cNvCxnSpPr>
            <a:cxnSpLocks/>
            <a:stCxn id="50" idx="4"/>
            <a:endCxn id="52" idx="0"/>
          </p:cNvCxnSpPr>
          <p:nvPr/>
        </p:nvCxnSpPr>
        <p:spPr>
          <a:xfrm flipH="1">
            <a:off x="10226705" y="1741890"/>
            <a:ext cx="1267295" cy="476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5" name="Straight Connector 54">
            <a:extLst>
              <a:ext uri="{FF2B5EF4-FFF2-40B4-BE49-F238E27FC236}">
                <a16:creationId xmlns:a16="http://schemas.microsoft.com/office/drawing/2014/main" id="{66EA08EA-10E8-07B3-809B-572189B302D2}"/>
              </a:ext>
            </a:extLst>
          </p:cNvPr>
          <p:cNvCxnSpPr>
            <a:cxnSpLocks/>
            <a:stCxn id="51" idx="3"/>
            <a:endCxn id="52" idx="7"/>
          </p:cNvCxnSpPr>
          <p:nvPr/>
        </p:nvCxnSpPr>
        <p:spPr>
          <a:xfrm flipH="1" flipV="1">
            <a:off x="10205617" y="1797565"/>
            <a:ext cx="1320387" cy="119779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7" name="Straight Connector 56">
            <a:extLst>
              <a:ext uri="{FF2B5EF4-FFF2-40B4-BE49-F238E27FC236}">
                <a16:creationId xmlns:a16="http://schemas.microsoft.com/office/drawing/2014/main" id="{66EA08EA-10E8-07B3-809B-572189B302D2}"/>
              </a:ext>
            </a:extLst>
          </p:cNvPr>
          <p:cNvCxnSpPr>
            <a:cxnSpLocks/>
            <a:stCxn id="52" idx="6"/>
            <a:endCxn id="53" idx="2"/>
          </p:cNvCxnSpPr>
          <p:nvPr/>
        </p:nvCxnSpPr>
        <p:spPr>
          <a:xfrm flipH="1">
            <a:off x="10151619" y="1818653"/>
            <a:ext cx="3086" cy="123993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9" name="TextBox 58"/>
          <p:cNvSpPr txBox="1"/>
          <p:nvPr/>
        </p:nvSpPr>
        <p:spPr>
          <a:xfrm>
            <a:off x="9986700" y="1197185"/>
            <a:ext cx="360996" cy="461665"/>
          </a:xfrm>
          <a:prstGeom prst="rect">
            <a:avLst/>
          </a:prstGeom>
          <a:noFill/>
        </p:spPr>
        <p:txBody>
          <a:bodyPr wrap="none" rtlCol="0">
            <a:spAutoFit/>
          </a:bodyPr>
          <a:lstStyle>
            <a:defPPr>
              <a:defRPr lang="en-US"/>
            </a:defPPr>
            <a:lvl1pPr>
              <a:defRPr sz="2800"/>
            </a:lvl1pPr>
          </a:lstStyle>
          <a:p>
            <a:r>
              <a:rPr lang="en-US" sz="2400" dirty="0"/>
              <a:t>D</a:t>
            </a:r>
          </a:p>
        </p:txBody>
      </p:sp>
      <p:sp>
        <p:nvSpPr>
          <p:cNvPr id="60" name="TextBox 59"/>
          <p:cNvSpPr txBox="1"/>
          <p:nvPr/>
        </p:nvSpPr>
        <p:spPr>
          <a:xfrm>
            <a:off x="11395616" y="3176866"/>
            <a:ext cx="362600" cy="461665"/>
          </a:xfrm>
          <a:prstGeom prst="rect">
            <a:avLst/>
          </a:prstGeom>
          <a:noFill/>
        </p:spPr>
        <p:txBody>
          <a:bodyPr wrap="none" rtlCol="0">
            <a:spAutoFit/>
          </a:bodyPr>
          <a:lstStyle>
            <a:defPPr>
              <a:defRPr lang="en-US"/>
            </a:defPPr>
            <a:lvl1pPr>
              <a:defRPr sz="2800"/>
            </a:lvl1pPr>
          </a:lstStyle>
          <a:p>
            <a:r>
              <a:rPr lang="en-US" sz="2400" dirty="0"/>
              <a:t>A</a:t>
            </a:r>
          </a:p>
        </p:txBody>
      </p:sp>
      <p:sp>
        <p:nvSpPr>
          <p:cNvPr id="68" name="TextBox 67"/>
          <p:cNvSpPr txBox="1"/>
          <p:nvPr/>
        </p:nvSpPr>
        <p:spPr>
          <a:xfrm>
            <a:off x="9971121" y="3177738"/>
            <a:ext cx="392154" cy="461665"/>
          </a:xfrm>
          <a:prstGeom prst="rect">
            <a:avLst/>
          </a:prstGeom>
          <a:noFill/>
        </p:spPr>
        <p:txBody>
          <a:bodyPr wrap="square" rtlCol="0">
            <a:spAutoFit/>
          </a:bodyPr>
          <a:lstStyle>
            <a:defPPr>
              <a:defRPr lang="en-US"/>
            </a:defPPr>
            <a:lvl1pPr>
              <a:defRPr sz="2800"/>
            </a:lvl1pPr>
          </a:lstStyle>
          <a:p>
            <a:r>
              <a:rPr lang="en-US" sz="2400" dirty="0"/>
              <a:t>C</a:t>
            </a:r>
          </a:p>
        </p:txBody>
      </p:sp>
      <p:sp>
        <p:nvSpPr>
          <p:cNvPr id="72" name="Oval 71">
            <a:extLst>
              <a:ext uri="{FF2B5EF4-FFF2-40B4-BE49-F238E27FC236}">
                <a16:creationId xmlns:a16="http://schemas.microsoft.com/office/drawing/2014/main" id="{A4197692-1A04-EA71-457D-175797FDA5CE}"/>
              </a:ext>
            </a:extLst>
          </p:cNvPr>
          <p:cNvSpPr/>
          <p:nvPr/>
        </p:nvSpPr>
        <p:spPr>
          <a:xfrm rot="5400000">
            <a:off x="7155313" y="166989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73" name="Oval 72">
            <a:extLst>
              <a:ext uri="{FF2B5EF4-FFF2-40B4-BE49-F238E27FC236}">
                <a16:creationId xmlns:a16="http://schemas.microsoft.com/office/drawing/2014/main" id="{A4197692-1A04-EA71-457D-175797FDA5CE}"/>
              </a:ext>
            </a:extLst>
          </p:cNvPr>
          <p:cNvSpPr/>
          <p:nvPr/>
        </p:nvSpPr>
        <p:spPr>
          <a:xfrm rot="5400000">
            <a:off x="7167035" y="295365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74" name="Oval 73">
            <a:extLst>
              <a:ext uri="{FF2B5EF4-FFF2-40B4-BE49-F238E27FC236}">
                <a16:creationId xmlns:a16="http://schemas.microsoft.com/office/drawing/2014/main" id="{A4197692-1A04-EA71-457D-175797FDA5CE}"/>
              </a:ext>
            </a:extLst>
          </p:cNvPr>
          <p:cNvSpPr/>
          <p:nvPr/>
        </p:nvSpPr>
        <p:spPr>
          <a:xfrm rot="5400000">
            <a:off x="8623480" y="166989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75" name="Oval 74">
            <a:extLst>
              <a:ext uri="{FF2B5EF4-FFF2-40B4-BE49-F238E27FC236}">
                <a16:creationId xmlns:a16="http://schemas.microsoft.com/office/drawing/2014/main" id="{A4197692-1A04-EA71-457D-175797FDA5CE}"/>
              </a:ext>
            </a:extLst>
          </p:cNvPr>
          <p:cNvSpPr/>
          <p:nvPr/>
        </p:nvSpPr>
        <p:spPr>
          <a:xfrm rot="5400000">
            <a:off x="8623480" y="297381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cxnSp>
        <p:nvCxnSpPr>
          <p:cNvPr id="76" name="Straight Connector 75">
            <a:extLst>
              <a:ext uri="{FF2B5EF4-FFF2-40B4-BE49-F238E27FC236}">
                <a16:creationId xmlns:a16="http://schemas.microsoft.com/office/drawing/2014/main" id="{66EA08EA-10E8-07B3-809B-572189B302D2}"/>
              </a:ext>
            </a:extLst>
          </p:cNvPr>
          <p:cNvCxnSpPr>
            <a:cxnSpLocks/>
            <a:stCxn id="72" idx="0"/>
            <a:endCxn id="74" idx="4"/>
          </p:cNvCxnSpPr>
          <p:nvPr/>
        </p:nvCxnSpPr>
        <p:spPr>
          <a:xfrm>
            <a:off x="7299313" y="1741890"/>
            <a:ext cx="1324167"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Straight Connector 76">
            <a:extLst>
              <a:ext uri="{FF2B5EF4-FFF2-40B4-BE49-F238E27FC236}">
                <a16:creationId xmlns:a16="http://schemas.microsoft.com/office/drawing/2014/main" id="{66EA08EA-10E8-07B3-809B-572189B302D2}"/>
              </a:ext>
            </a:extLst>
          </p:cNvPr>
          <p:cNvCxnSpPr>
            <a:cxnSpLocks/>
            <a:stCxn id="73" idx="1"/>
            <a:endCxn id="74" idx="5"/>
          </p:cNvCxnSpPr>
          <p:nvPr/>
        </p:nvCxnSpPr>
        <p:spPr>
          <a:xfrm flipV="1">
            <a:off x="7289947" y="1792802"/>
            <a:ext cx="1354621" cy="118194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8" name="Straight Connector 77">
            <a:extLst>
              <a:ext uri="{FF2B5EF4-FFF2-40B4-BE49-F238E27FC236}">
                <a16:creationId xmlns:a16="http://schemas.microsoft.com/office/drawing/2014/main" id="{66EA08EA-10E8-07B3-809B-572189B302D2}"/>
              </a:ext>
            </a:extLst>
          </p:cNvPr>
          <p:cNvCxnSpPr>
            <a:cxnSpLocks/>
            <a:stCxn id="74" idx="6"/>
            <a:endCxn id="75" idx="2"/>
          </p:cNvCxnSpPr>
          <p:nvPr/>
        </p:nvCxnSpPr>
        <p:spPr>
          <a:xfrm>
            <a:off x="8695480" y="1813890"/>
            <a:ext cx="0" cy="11599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9" name="TextBox 78"/>
          <p:cNvSpPr txBox="1"/>
          <p:nvPr/>
        </p:nvSpPr>
        <p:spPr>
          <a:xfrm>
            <a:off x="8514180" y="3173353"/>
            <a:ext cx="362600" cy="461665"/>
          </a:xfrm>
          <a:prstGeom prst="rect">
            <a:avLst/>
          </a:prstGeom>
          <a:noFill/>
        </p:spPr>
        <p:txBody>
          <a:bodyPr wrap="none" rtlCol="0">
            <a:spAutoFit/>
          </a:bodyPr>
          <a:lstStyle/>
          <a:p>
            <a:r>
              <a:rPr lang="en-US" sz="2400" dirty="0"/>
              <a:t>A</a:t>
            </a:r>
          </a:p>
        </p:txBody>
      </p:sp>
      <p:sp>
        <p:nvSpPr>
          <p:cNvPr id="80" name="TextBox 79"/>
          <p:cNvSpPr txBox="1"/>
          <p:nvPr/>
        </p:nvSpPr>
        <p:spPr>
          <a:xfrm>
            <a:off x="7041509" y="1197185"/>
            <a:ext cx="360996" cy="461665"/>
          </a:xfrm>
          <a:prstGeom prst="rect">
            <a:avLst/>
          </a:prstGeom>
          <a:noFill/>
        </p:spPr>
        <p:txBody>
          <a:bodyPr wrap="none" rtlCol="0">
            <a:spAutoFit/>
          </a:bodyPr>
          <a:lstStyle>
            <a:defPPr>
              <a:defRPr lang="en-US"/>
            </a:defPPr>
            <a:lvl1pPr>
              <a:defRPr sz="2800"/>
            </a:lvl1pPr>
          </a:lstStyle>
          <a:p>
            <a:r>
              <a:rPr lang="en-US" sz="2400" dirty="0"/>
              <a:t>D</a:t>
            </a:r>
          </a:p>
        </p:txBody>
      </p:sp>
      <p:sp>
        <p:nvSpPr>
          <p:cNvPr id="81" name="TextBox 80"/>
          <p:cNvSpPr txBox="1"/>
          <p:nvPr/>
        </p:nvSpPr>
        <p:spPr>
          <a:xfrm>
            <a:off x="8542954" y="1208225"/>
            <a:ext cx="352982" cy="461665"/>
          </a:xfrm>
          <a:prstGeom prst="rect">
            <a:avLst/>
          </a:prstGeom>
          <a:noFill/>
        </p:spPr>
        <p:txBody>
          <a:bodyPr wrap="none" rtlCol="0">
            <a:spAutoFit/>
          </a:bodyPr>
          <a:lstStyle>
            <a:defPPr>
              <a:defRPr lang="en-US"/>
            </a:defPPr>
            <a:lvl1pPr>
              <a:defRPr sz="2800"/>
            </a:lvl1pPr>
          </a:lstStyle>
          <a:p>
            <a:r>
              <a:rPr lang="en-US" sz="2400" dirty="0"/>
              <a:t>B</a:t>
            </a:r>
          </a:p>
        </p:txBody>
      </p:sp>
      <p:sp>
        <p:nvSpPr>
          <p:cNvPr id="82" name="TextBox 81"/>
          <p:cNvSpPr txBox="1"/>
          <p:nvPr/>
        </p:nvSpPr>
        <p:spPr>
          <a:xfrm>
            <a:off x="7060445" y="3173353"/>
            <a:ext cx="359394" cy="461665"/>
          </a:xfrm>
          <a:prstGeom prst="rect">
            <a:avLst/>
          </a:prstGeom>
          <a:noFill/>
        </p:spPr>
        <p:txBody>
          <a:bodyPr wrap="none" rtlCol="0">
            <a:spAutoFit/>
          </a:bodyPr>
          <a:lstStyle>
            <a:defPPr>
              <a:defRPr lang="en-US"/>
            </a:defPPr>
            <a:lvl1pPr>
              <a:defRPr sz="2800"/>
            </a:lvl1pPr>
          </a:lstStyle>
          <a:p>
            <a:r>
              <a:rPr lang="en-US" sz="2400" dirty="0"/>
              <a:t>C</a:t>
            </a:r>
          </a:p>
        </p:txBody>
      </p:sp>
      <p:sp>
        <p:nvSpPr>
          <p:cNvPr id="83" name="TextBox 82"/>
          <p:cNvSpPr txBox="1"/>
          <p:nvPr/>
        </p:nvSpPr>
        <p:spPr>
          <a:xfrm>
            <a:off x="11384127" y="1202055"/>
            <a:ext cx="352982" cy="461665"/>
          </a:xfrm>
          <a:prstGeom prst="rect">
            <a:avLst/>
          </a:prstGeom>
          <a:noFill/>
        </p:spPr>
        <p:txBody>
          <a:bodyPr wrap="none" rtlCol="0">
            <a:spAutoFit/>
          </a:bodyPr>
          <a:lstStyle>
            <a:defPPr>
              <a:defRPr lang="en-US"/>
            </a:defPPr>
            <a:lvl1pPr>
              <a:defRPr sz="2800"/>
            </a:lvl1pPr>
          </a:lstStyle>
          <a:p>
            <a:r>
              <a:rPr lang="en-US" sz="2400" dirty="0"/>
              <a:t>B</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131180" y="954726"/>
                <a:ext cx="6657421" cy="5689914"/>
              </a:xfrm>
            </p:spPr>
            <p:txBody>
              <a:bodyPr/>
              <a:lstStyle/>
              <a:p>
                <a:r>
                  <a:rPr lang="en-US" dirty="0"/>
                  <a:t>Are these two trees </a:t>
                </a:r>
                <a:r>
                  <a:rPr lang="en-US" b="1" dirty="0"/>
                  <a:t>same or different?</a:t>
                </a:r>
                <a:endParaRPr lang="en-US" dirty="0"/>
              </a:p>
              <a:p>
                <a:r>
                  <a:rPr lang="en-US" dirty="0"/>
                  <a:t>Structure looks similar… </a:t>
                </a:r>
              </a:p>
              <a:p>
                <a:r>
                  <a:rPr lang="en-US" dirty="0"/>
                  <a:t>So what should we count?</a:t>
                </a:r>
              </a:p>
              <a:p>
                <a:r>
                  <a:rPr lang="en-US" dirty="0"/>
                  <a:t>These trees are </a:t>
                </a:r>
                <a:r>
                  <a:rPr lang="en-US" b="1" dirty="0"/>
                  <a:t>isomorphic</a:t>
                </a:r>
                <a:r>
                  <a:rPr lang="en-US" dirty="0"/>
                  <a:t>. So, they are counted as </a:t>
                </a:r>
                <a:r>
                  <a:rPr lang="en-US" b="1" dirty="0"/>
                  <a:t>one (unlabeled) tree</a:t>
                </a:r>
              </a:p>
              <a:p>
                <a:r>
                  <a:rPr lang="en-US" dirty="0"/>
                  <a:t>When we assign </a:t>
                </a:r>
                <a:r>
                  <a:rPr lang="en-US" b="1" dirty="0"/>
                  <a:t>labels to vertices</a:t>
                </a:r>
                <a:r>
                  <a:rPr lang="en-US" dirty="0"/>
                  <a:t>:</a:t>
                </a:r>
              </a:p>
              <a:p>
                <a:pPr lvl="1"/>
                <a:r>
                  <a:rPr lang="en-US" dirty="0"/>
                  <a:t>Same structure and different labeling</a:t>
                </a:r>
              </a:p>
              <a:p>
                <a:r>
                  <a:rPr lang="en-US" dirty="0"/>
                  <a:t>They become different trees</a:t>
                </a:r>
              </a:p>
              <a:p>
                <a:r>
                  <a:rPr lang="en-US" b="1" dirty="0">
                    <a:solidFill>
                      <a:srgbClr val="C00000"/>
                    </a:solidFill>
                  </a:rPr>
                  <a:t>Counting depends on labeling</a:t>
                </a:r>
              </a:p>
              <a:p>
                <a:r>
                  <a:rPr lang="en-US" dirty="0">
                    <a:solidFill>
                      <a:srgbClr val="002060"/>
                    </a:solidFill>
                  </a:rPr>
                  <a:t>So, What is a labeled tree? &amp; How many labeled trees exist on</a:t>
                </a:r>
                <a14:m>
                  <m:oMath xmlns:m="http://schemas.openxmlformats.org/officeDocument/2006/math">
                    <m:r>
                      <a:rPr lang="en-US" i="0" dirty="0" smtClean="0">
                        <a:solidFill>
                          <a:srgbClr val="002060"/>
                        </a:solidFill>
                        <a:latin typeface="Cambria Math" panose="02040503050406030204" pitchFamily="18" charset="0"/>
                      </a:rPr>
                      <m:t> </m:t>
                    </m:r>
                    <m:r>
                      <m:rPr>
                        <m:sty m:val="p"/>
                      </m:rPr>
                      <a:rPr lang="en-US" i="0" dirty="0" smtClean="0">
                        <a:solidFill>
                          <a:srgbClr val="002060"/>
                        </a:solidFill>
                        <a:latin typeface="Cambria Math" panose="02040503050406030204" pitchFamily="18" charset="0"/>
                      </a:rPr>
                      <m:t>n</m:t>
                    </m:r>
                  </m:oMath>
                </a14:m>
                <a:r>
                  <a:rPr lang="en-US" dirty="0">
                    <a:solidFill>
                      <a:srgbClr val="002060"/>
                    </a:solidFill>
                  </a:rPr>
                  <a:t> vertices?</a:t>
                </a:r>
              </a:p>
              <a:p>
                <a:endParaRPr lang="en-US" dirty="0">
                  <a:solidFill>
                    <a:srgbClr val="C00000"/>
                  </a:solidFill>
                </a:endParaRPr>
              </a:p>
              <a:p>
                <a:endParaRPr lang="en-US" dirty="0"/>
              </a:p>
              <a:p>
                <a:endParaRPr lang="en-US" dirty="0"/>
              </a:p>
              <a:p>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131180" y="954726"/>
                <a:ext cx="6657421" cy="5689914"/>
              </a:xfrm>
              <a:blipFill rotWithShape="0">
                <a:blip r:embed="rId2"/>
                <a:stretch>
                  <a:fillRect l="-1740" t="-1929" r="-1832"/>
                </a:stretch>
              </a:blipFill>
            </p:spPr>
            <p:txBody>
              <a:bodyPr/>
              <a:lstStyle/>
              <a:p>
                <a:r>
                  <a:rPr lang="en-US">
                    <a:noFill/>
                  </a:rPr>
                  <a:t> </a:t>
                </a:r>
              </a:p>
            </p:txBody>
          </p:sp>
        </mc:Fallback>
      </mc:AlternateContent>
    </p:spTree>
    <p:extLst>
      <p:ext uri="{BB962C8B-B14F-4D97-AF65-F5344CB8AC3E}">
        <p14:creationId xmlns:p14="http://schemas.microsoft.com/office/powerpoint/2010/main" val="18248356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60" grpId="0"/>
      <p:bldP spid="68" grpId="0"/>
      <p:bldP spid="79" grpId="0"/>
      <p:bldP spid="80" grpId="0"/>
      <p:bldP spid="81" grpId="0"/>
      <p:bldP spid="82" grpId="0"/>
      <p:bldP spid="8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pPr algn="just">
              <a:spcBef>
                <a:spcPts val="1000"/>
              </a:spcBef>
              <a:buClr>
                <a:srgbClr val="B84742"/>
              </a:buClr>
            </a:pPr>
            <a:r>
              <a:rPr lang="en-US" dirty="0"/>
              <a:t>ON COUNTING TREES</a:t>
            </a:r>
          </a:p>
        </p:txBody>
      </p:sp>
      <p:sp>
        <p:nvSpPr>
          <p:cNvPr id="55" name="Content Placeholder 54"/>
          <p:cNvSpPr>
            <a:spLocks noGrp="1"/>
          </p:cNvSpPr>
          <p:nvPr>
            <p:ph idx="1"/>
          </p:nvPr>
        </p:nvSpPr>
        <p:spPr>
          <a:xfrm>
            <a:off x="131180" y="863445"/>
            <a:ext cx="11929641" cy="3998116"/>
          </a:xfrm>
        </p:spPr>
        <p:txBody>
          <a:bodyPr/>
          <a:lstStyle/>
          <a:p>
            <a:pPr>
              <a:lnSpc>
                <a:spcPct val="150000"/>
              </a:lnSpc>
            </a:pPr>
            <a:r>
              <a:rPr lang="en-US" dirty="0"/>
              <a:t>A graph in which </a:t>
            </a:r>
            <a:r>
              <a:rPr lang="en-US" b="1" dirty="0"/>
              <a:t>each vertex has a unique label</a:t>
            </a:r>
            <a:r>
              <a:rPr lang="en-US" dirty="0"/>
              <a:t> (no two vertices have the same label) is called a </a:t>
            </a:r>
            <a:r>
              <a:rPr lang="en-US" dirty="0">
                <a:solidFill>
                  <a:srgbClr val="FF0000"/>
                </a:solidFill>
              </a:rPr>
              <a:t>labeled graph.</a:t>
            </a:r>
          </a:p>
          <a:p>
            <a:r>
              <a:rPr lang="en-US" dirty="0"/>
              <a:t>Difference between: </a:t>
            </a:r>
            <a:r>
              <a:rPr lang="en-US" b="1" dirty="0"/>
              <a:t>Labeled graph</a:t>
            </a:r>
            <a:r>
              <a:rPr lang="en-US" dirty="0"/>
              <a:t> &amp; </a:t>
            </a:r>
            <a:r>
              <a:rPr lang="en-US" b="1" dirty="0"/>
              <a:t>Unlabeled graph</a:t>
            </a:r>
            <a:r>
              <a:rPr lang="en-US" dirty="0"/>
              <a:t> is </a:t>
            </a:r>
            <a:r>
              <a:rPr lang="en-US" b="1" dirty="0"/>
              <a:t>very important in counting graphs</a:t>
            </a:r>
            <a:endParaRPr lang="en-US" dirty="0"/>
          </a:p>
          <a:p>
            <a:pPr>
              <a:lnSpc>
                <a:spcPct val="150000"/>
              </a:lnSpc>
            </a:pPr>
            <a:r>
              <a:rPr lang="en-US" dirty="0"/>
              <a:t>We now study a fundamental result for counting trees:</a:t>
            </a:r>
          </a:p>
        </p:txBody>
      </p:sp>
      <mc:AlternateContent xmlns:mc="http://schemas.openxmlformats.org/markup-compatibility/2006" xmlns:a14="http://schemas.microsoft.com/office/drawing/2010/main">
        <mc:Choice Requires="a14">
          <p:sp>
            <p:nvSpPr>
              <p:cNvPr id="2" name="Rectangle 1"/>
              <p:cNvSpPr/>
              <p:nvPr/>
            </p:nvSpPr>
            <p:spPr>
              <a:xfrm>
                <a:off x="327660" y="4196507"/>
                <a:ext cx="11536680" cy="665054"/>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ctr">
                  <a:lnSpc>
                    <a:spcPct val="150000"/>
                  </a:lnSpc>
                  <a:spcBef>
                    <a:spcPts val="1000"/>
                  </a:spcBef>
                  <a:buClr>
                    <a:schemeClr val="accent6"/>
                  </a:buClr>
                  <a:buSzPts val="2800"/>
                </a:pPr>
                <a:r>
                  <a:rPr lang="en-US" sz="2800" b="1" dirty="0">
                    <a:solidFill>
                      <a:srgbClr val="002060"/>
                    </a:solidFill>
                    <a:latin typeface="Roboto Condensed" panose="02000000000000000000" pitchFamily="2" charset="0"/>
                  </a:rPr>
                  <a:t>Cayley’s Theorem: </a:t>
                </a:r>
                <a:r>
                  <a:rPr lang="en-US" sz="2800" dirty="0">
                    <a:solidFill>
                      <a:srgbClr val="002060"/>
                    </a:solidFill>
                    <a:latin typeface="Roboto Condensed" panose="02000000000000000000" pitchFamily="2" charset="0"/>
                  </a:rPr>
                  <a:t>The number of labeled trees with</a:t>
                </a:r>
                <a14:m>
                  <m:oMath xmlns:m="http://schemas.openxmlformats.org/officeDocument/2006/math">
                    <m:r>
                      <a:rPr lang="en-US" sz="2800" b="0">
                        <a:solidFill>
                          <a:srgbClr val="002060"/>
                        </a:solidFill>
                        <a:latin typeface="Cambria Math" panose="02040503050406030204" pitchFamily="18" charset="0"/>
                      </a:rPr>
                      <m:t> </m:t>
                    </m:r>
                    <m:r>
                      <m:rPr>
                        <m:sty m:val="p"/>
                      </m:rPr>
                      <a:rPr lang="en-US" sz="2800" b="0" i="1">
                        <a:solidFill>
                          <a:srgbClr val="002060"/>
                        </a:solidFill>
                        <a:latin typeface="Cambria Math" panose="02040503050406030204" pitchFamily="18" charset="0"/>
                      </a:rPr>
                      <m:t>n</m:t>
                    </m:r>
                  </m:oMath>
                </a14:m>
                <a:r>
                  <a:rPr lang="en-US" sz="2800" dirty="0">
                    <a:solidFill>
                      <a:srgbClr val="002060"/>
                    </a:solidFill>
                    <a:latin typeface="Roboto Condensed" panose="02000000000000000000" pitchFamily="2" charset="0"/>
                  </a:rPr>
                  <a:t> vertices</a:t>
                </a:r>
                <a14:m>
                  <m:oMath xmlns:m="http://schemas.openxmlformats.org/officeDocument/2006/math">
                    <m:r>
                      <a:rPr lang="en-US" sz="2800" b="0">
                        <a:solidFill>
                          <a:srgbClr val="002060"/>
                        </a:solidFill>
                        <a:latin typeface="Cambria Math" panose="02040503050406030204" pitchFamily="18" charset="0"/>
                      </a:rPr>
                      <m:t> (</m:t>
                    </m:r>
                    <m:r>
                      <m:rPr>
                        <m:sty m:val="p"/>
                      </m:rPr>
                      <a:rPr lang="en-US" sz="2800" b="0" i="1">
                        <a:solidFill>
                          <a:srgbClr val="002060"/>
                        </a:solidFill>
                        <a:latin typeface="Cambria Math" panose="02040503050406030204" pitchFamily="18" charset="0"/>
                      </a:rPr>
                      <m:t>n</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2</m:t>
                    </m:r>
                    <m:r>
                      <a:rPr lang="en-US" sz="2800" b="0">
                        <a:solidFill>
                          <a:srgbClr val="002060"/>
                        </a:solidFill>
                        <a:latin typeface="Cambria Math" panose="02040503050406030204" pitchFamily="18" charset="0"/>
                      </a:rPr>
                      <m:t>)</m:t>
                    </m:r>
                  </m:oMath>
                </a14:m>
                <a:r>
                  <a:rPr lang="en-US" sz="2800" dirty="0">
                    <a:solidFill>
                      <a:srgbClr val="002060"/>
                    </a:solidFill>
                    <a:latin typeface="Roboto Condensed" panose="02000000000000000000" pitchFamily="2" charset="0"/>
                  </a:rPr>
                  <a:t> is</a:t>
                </a:r>
                <a14:m>
                  <m:oMath xmlns:m="http://schemas.openxmlformats.org/officeDocument/2006/math">
                    <m:r>
                      <a:rPr lang="en-US" sz="2800" b="0">
                        <a:solidFill>
                          <a:srgbClr val="002060"/>
                        </a:solidFill>
                        <a:latin typeface="Cambria Math" panose="02040503050406030204" pitchFamily="18" charset="0"/>
                      </a:rPr>
                      <m:t> </m:t>
                    </m:r>
                    <m:sSup>
                      <m:sSupPr>
                        <m:ctrlPr>
                          <a:rPr lang="en-US" sz="2800" i="1">
                            <a:solidFill>
                              <a:srgbClr val="002060"/>
                            </a:solidFill>
                            <a:latin typeface="Cambria Math" panose="02040503050406030204" pitchFamily="18" charset="0"/>
                          </a:rPr>
                        </m:ctrlPr>
                      </m:sSupPr>
                      <m:e>
                        <m:r>
                          <m:rPr>
                            <m:sty m:val="p"/>
                          </m:rPr>
                          <a:rPr lang="en-US" sz="2800" b="0" i="1">
                            <a:solidFill>
                              <a:srgbClr val="002060"/>
                            </a:solidFill>
                            <a:latin typeface="Cambria Math" panose="02040503050406030204" pitchFamily="18" charset="0"/>
                          </a:rPr>
                          <m:t>n</m:t>
                        </m:r>
                      </m:e>
                      <m:sup>
                        <m:r>
                          <m:rPr>
                            <m:sty m:val="p"/>
                          </m:rPr>
                          <a:rPr lang="en-US" sz="2800" b="0" i="1">
                            <a:solidFill>
                              <a:srgbClr val="002060"/>
                            </a:solidFill>
                            <a:latin typeface="Cambria Math" panose="02040503050406030204" pitchFamily="18" charset="0"/>
                          </a:rPr>
                          <m:t>n</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2</m:t>
                        </m:r>
                      </m:sup>
                    </m:sSup>
                  </m:oMath>
                </a14:m>
                <a:r>
                  <a:rPr lang="en-US" sz="2800" dirty="0">
                    <a:solidFill>
                      <a:srgbClr val="002060"/>
                    </a:solidFill>
                    <a:latin typeface="Roboto Condensed" panose="02000000000000000000" pitchFamily="2" charset="0"/>
                  </a:rPr>
                  <a:t>.</a:t>
                </a:r>
                <a:endParaRPr lang="en-US" sz="2800" dirty="0">
                  <a:solidFill>
                    <a:srgbClr val="002060"/>
                  </a:solidFill>
                  <a:effectLst/>
                </a:endParaRPr>
              </a:p>
            </p:txBody>
          </p:sp>
        </mc:Choice>
        <mc:Fallback xmlns="">
          <p:sp>
            <p:nvSpPr>
              <p:cNvPr id="2" name="Rectangle 1"/>
              <p:cNvSpPr>
                <a:spLocks noRot="1" noChangeAspect="1" noMove="1" noResize="1" noEditPoints="1" noAdjustHandles="1" noChangeArrowheads="1" noChangeShapeType="1" noTextEdit="1"/>
              </p:cNvSpPr>
              <p:nvPr/>
            </p:nvSpPr>
            <p:spPr>
              <a:xfrm>
                <a:off x="327660" y="4196507"/>
                <a:ext cx="11536680" cy="665054"/>
              </a:xfrm>
              <a:prstGeom prst="rect">
                <a:avLst/>
              </a:prstGeom>
              <a:blipFill rotWithShape="0">
                <a:blip r:embed="rId2"/>
                <a:stretch>
                  <a:fillRect l="-475" r="-370" b="-23423"/>
                </a:stretch>
              </a:blipFill>
            </p:spPr>
            <p:txBody>
              <a:bodyPr/>
              <a:lstStyle/>
              <a:p>
                <a:r>
                  <a:rPr lang="en-US">
                    <a:noFill/>
                  </a:rPr>
                  <a:t> </a:t>
                </a:r>
              </a:p>
            </p:txBody>
          </p:sp>
        </mc:Fallback>
      </mc:AlternateContent>
    </p:spTree>
    <p:extLst>
      <p:ext uri="{BB962C8B-B14F-4D97-AF65-F5344CB8AC3E}">
        <p14:creationId xmlns:p14="http://schemas.microsoft.com/office/powerpoint/2010/main" val="35163544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pPr algn="just">
              <a:spcBef>
                <a:spcPts val="1000"/>
              </a:spcBef>
              <a:buClr>
                <a:srgbClr val="B84742"/>
              </a:buClr>
            </a:pPr>
            <a:r>
              <a:rPr lang="en-US" dirty="0"/>
              <a:t>Counting Labeled Trees</a:t>
            </a:r>
          </a:p>
        </p:txBody>
      </p:sp>
      <mc:AlternateContent xmlns:mc="http://schemas.openxmlformats.org/markup-compatibility/2006" xmlns:a14="http://schemas.microsoft.com/office/drawing/2010/main">
        <mc:Choice Requires="a14">
          <p:sp>
            <p:nvSpPr>
              <p:cNvPr id="55" name="Content Placeholder 54"/>
              <p:cNvSpPr>
                <a:spLocks noGrp="1"/>
              </p:cNvSpPr>
              <p:nvPr>
                <p:ph idx="1"/>
              </p:nvPr>
            </p:nvSpPr>
            <p:spPr>
              <a:xfrm>
                <a:off x="131180" y="863444"/>
                <a:ext cx="11929641" cy="3927497"/>
              </a:xfrm>
            </p:spPr>
            <p:txBody>
              <a:bodyPr/>
              <a:lstStyle/>
              <a:p>
                <a:pPr marL="0" indent="0">
                  <a:lnSpc>
                    <a:spcPct val="150000"/>
                  </a:lnSpc>
                  <a:buNone/>
                </a:pPr>
                <a:r>
                  <a:rPr lang="en-US" dirty="0"/>
                  <a:t>Find number of labeled trees for small values of</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n</m:t>
                    </m:r>
                    <m:r>
                      <a:rPr lang="en-US" b="0" i="0" dirty="0" smtClean="0">
                        <a:latin typeface="Cambria Math" panose="02040503050406030204" pitchFamily="18" charset="0"/>
                      </a:rPr>
                      <m:t>=2,  3, </m:t>
                    </m:r>
                    <m:r>
                      <m:rPr>
                        <m:sty m:val="p"/>
                      </m:rPr>
                      <a:rPr lang="en-US" b="0" i="0" dirty="0" smtClean="0">
                        <a:latin typeface="Cambria Math" panose="02040503050406030204" pitchFamily="18" charset="0"/>
                      </a:rPr>
                      <m:t>and</m:t>
                    </m:r>
                    <m:r>
                      <a:rPr lang="en-US" b="0" i="0" dirty="0" smtClean="0">
                        <a:latin typeface="Cambria Math" panose="02040503050406030204" pitchFamily="18" charset="0"/>
                      </a:rPr>
                      <m:t> 4</m:t>
                    </m:r>
                  </m:oMath>
                </a14:m>
                <a:r>
                  <a:rPr lang="en-US" dirty="0"/>
                  <a:t>.</a:t>
                </a:r>
              </a:p>
              <a:p>
                <a:pPr>
                  <a:lnSpc>
                    <a:spcPct val="150000"/>
                  </a:lnSpc>
                </a:pPr>
                <a:r>
                  <a:rPr lang="en-US" dirty="0">
                    <a:solidFill>
                      <a:srgbClr val="002060"/>
                    </a:solidFill>
                  </a:rPr>
                  <a:t>For</a:t>
                </a:r>
                <a14:m>
                  <m:oMath xmlns:m="http://schemas.openxmlformats.org/officeDocument/2006/math">
                    <m:r>
                      <a:rPr lang="en-US" i="0" dirty="0" smtClean="0">
                        <a:solidFill>
                          <a:srgbClr val="002060"/>
                        </a:solidFill>
                        <a:latin typeface="Cambria Math" panose="02040503050406030204" pitchFamily="18" charset="0"/>
                      </a:rPr>
                      <m:t> </m:t>
                    </m:r>
                    <m:r>
                      <a:rPr lang="en-US" b="0" i="0" dirty="0" smtClean="0">
                        <a:solidFill>
                          <a:srgbClr val="002060"/>
                        </a:solidFill>
                        <a:latin typeface="Cambria Math" panose="02040503050406030204" pitchFamily="18" charset="0"/>
                      </a:rPr>
                      <m:t> </m:t>
                    </m:r>
                    <m:r>
                      <m:rPr>
                        <m:sty m:val="p"/>
                      </m:rPr>
                      <a:rPr lang="en-US" i="0" dirty="0" smtClean="0">
                        <a:solidFill>
                          <a:srgbClr val="FF0000"/>
                        </a:solidFill>
                        <a:latin typeface="Cambria Math" panose="02040503050406030204" pitchFamily="18" charset="0"/>
                      </a:rPr>
                      <m:t>n</m:t>
                    </m:r>
                    <m:r>
                      <a:rPr lang="en-US" i="0" dirty="0" smtClean="0">
                        <a:solidFill>
                          <a:srgbClr val="FF0000"/>
                        </a:solidFill>
                        <a:latin typeface="Cambria Math" panose="02040503050406030204" pitchFamily="18" charset="0"/>
                      </a:rPr>
                      <m:t>=2</m:t>
                    </m:r>
                  </m:oMath>
                </a14:m>
                <a:r>
                  <a:rPr lang="en-US" dirty="0">
                    <a:solidFill>
                      <a:srgbClr val="002060"/>
                    </a:solidFill>
                  </a:rPr>
                  <a:t> the number of labeled trees is </a:t>
                </a:r>
                <a14:m>
                  <m:oMath xmlns:m="http://schemas.openxmlformats.org/officeDocument/2006/math">
                    <m:sSup>
                      <m:sSupPr>
                        <m:ctrlPr>
                          <a:rPr lang="en-US" i="1" dirty="0">
                            <a:solidFill>
                              <a:srgbClr val="002060"/>
                            </a:solidFill>
                            <a:latin typeface="Cambria Math" panose="02040503050406030204" pitchFamily="18" charset="0"/>
                          </a:rPr>
                        </m:ctrlPr>
                      </m:sSupPr>
                      <m:e>
                        <m:r>
                          <a:rPr lang="en-US" b="0" i="0" dirty="0" smtClean="0">
                            <a:solidFill>
                              <a:srgbClr val="002060"/>
                            </a:solidFill>
                            <a:latin typeface="Cambria Math" panose="02040503050406030204" pitchFamily="18" charset="0"/>
                          </a:rPr>
                          <m:t>2</m:t>
                        </m:r>
                      </m:e>
                      <m:sup>
                        <m:r>
                          <a:rPr lang="en-US" b="0" i="0" dirty="0" smtClean="0">
                            <a:solidFill>
                              <a:srgbClr val="002060"/>
                            </a:solidFill>
                            <a:latin typeface="Cambria Math" panose="02040503050406030204" pitchFamily="18" charset="0"/>
                          </a:rPr>
                          <m:t>2</m:t>
                        </m:r>
                        <m:r>
                          <a:rPr lang="en-US" i="0" dirty="0">
                            <a:solidFill>
                              <a:srgbClr val="002060"/>
                            </a:solidFill>
                            <a:latin typeface="Cambria Math" panose="02040503050406030204" pitchFamily="18" charset="0"/>
                          </a:rPr>
                          <m:t>−2</m:t>
                        </m:r>
                      </m:sup>
                    </m:sSup>
                    <m:r>
                      <a:rPr lang="en-US" b="0" i="0" dirty="0" smtClean="0">
                        <a:solidFill>
                          <a:srgbClr val="002060"/>
                        </a:solidFill>
                        <a:latin typeface="Cambria Math" panose="02040503050406030204" pitchFamily="18" charset="0"/>
                      </a:rPr>
                      <m:t>=</m:t>
                    </m:r>
                    <m:sSup>
                      <m:sSupPr>
                        <m:ctrlPr>
                          <a:rPr lang="en-US" b="0" i="1" dirty="0" smtClean="0">
                            <a:solidFill>
                              <a:srgbClr val="002060"/>
                            </a:solidFill>
                            <a:latin typeface="Cambria Math" panose="02040503050406030204" pitchFamily="18" charset="0"/>
                          </a:rPr>
                        </m:ctrlPr>
                      </m:sSupPr>
                      <m:e>
                        <m:r>
                          <a:rPr lang="en-US" b="0" i="0" dirty="0" smtClean="0">
                            <a:solidFill>
                              <a:srgbClr val="002060"/>
                            </a:solidFill>
                            <a:latin typeface="Cambria Math" panose="02040503050406030204" pitchFamily="18" charset="0"/>
                          </a:rPr>
                          <m:t>2</m:t>
                        </m:r>
                      </m:e>
                      <m:sup>
                        <m:r>
                          <a:rPr lang="en-US" b="0" i="0" dirty="0" smtClean="0">
                            <a:solidFill>
                              <a:srgbClr val="002060"/>
                            </a:solidFill>
                            <a:latin typeface="Cambria Math" panose="02040503050406030204" pitchFamily="18" charset="0"/>
                          </a:rPr>
                          <m:t>0</m:t>
                        </m:r>
                      </m:sup>
                    </m:sSup>
                    <m:r>
                      <a:rPr lang="en-US" b="0" i="0" dirty="0" smtClean="0">
                        <a:solidFill>
                          <a:srgbClr val="002060"/>
                        </a:solidFill>
                        <a:latin typeface="Cambria Math" panose="02040503050406030204" pitchFamily="18" charset="0"/>
                      </a:rPr>
                      <m:t>=</m:t>
                    </m:r>
                    <m:r>
                      <a:rPr lang="en-US" b="0" i="0" dirty="0" smtClean="0">
                        <a:solidFill>
                          <a:srgbClr val="FF0000"/>
                        </a:solidFill>
                        <a:latin typeface="Cambria Math" panose="02040503050406030204" pitchFamily="18" charset="0"/>
                      </a:rPr>
                      <m:t>1</m:t>
                    </m:r>
                    <m:r>
                      <a:rPr lang="en-US" b="0" i="0" dirty="0" smtClean="0">
                        <a:solidFill>
                          <a:srgbClr val="002060"/>
                        </a:solidFill>
                        <a:latin typeface="Cambria Math" panose="02040503050406030204" pitchFamily="18" charset="0"/>
                      </a:rPr>
                      <m:t>.</m:t>
                    </m:r>
                  </m:oMath>
                </a14:m>
                <a:endParaRPr lang="en-US" b="0" dirty="0">
                  <a:solidFill>
                    <a:srgbClr val="002060"/>
                  </a:solidFill>
                </a:endParaRPr>
              </a:p>
            </p:txBody>
          </p:sp>
        </mc:Choice>
        <mc:Fallback xmlns="">
          <p:sp>
            <p:nvSpPr>
              <p:cNvPr id="55" name="Content Placeholder 54"/>
              <p:cNvSpPr>
                <a:spLocks noGrp="1" noRot="1" noChangeAspect="1" noMove="1" noResize="1" noEditPoints="1" noAdjustHandles="1" noChangeArrowheads="1" noChangeShapeType="1" noTextEdit="1"/>
              </p:cNvSpPr>
              <p:nvPr>
                <p:ph idx="1"/>
              </p:nvPr>
            </p:nvSpPr>
            <p:spPr>
              <a:xfrm>
                <a:off x="131180" y="863444"/>
                <a:ext cx="11929641" cy="3927497"/>
              </a:xfrm>
              <a:blipFill rotWithShape="0">
                <a:blip r:embed="rId2"/>
                <a:stretch>
                  <a:fillRect l="-10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2647235" y="3085624"/>
                <a:ext cx="6470811" cy="738664"/>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r>
                        <m:rPr>
                          <m:sty m:val="p"/>
                        </m:rPr>
                        <a:rPr lang="en-US" sz="2800" b="0" i="0" smtClean="0">
                          <a:latin typeface="Cambria Math" panose="02040503050406030204" pitchFamily="18" charset="0"/>
                        </a:rPr>
                        <m:t>n</m:t>
                      </m:r>
                      <m:r>
                        <a:rPr lang="en-US" sz="2800" b="0" i="0" smtClean="0">
                          <a:latin typeface="Cambria Math" panose="02040503050406030204" pitchFamily="18" charset="0"/>
                        </a:rPr>
                        <m:t>=2⇒</m:t>
                      </m:r>
                      <m:r>
                        <m:rPr>
                          <m:nor/>
                        </m:rPr>
                        <a:rPr lang="en-US" sz="2800" dirty="0">
                          <a:solidFill>
                            <a:srgbClr val="002060"/>
                          </a:solidFill>
                        </a:rPr>
                        <m:t>number</m:t>
                      </m:r>
                      <m:r>
                        <m:rPr>
                          <m:nor/>
                        </m:rPr>
                        <a:rPr lang="en-US" sz="2800" dirty="0">
                          <a:solidFill>
                            <a:srgbClr val="002060"/>
                          </a:solidFill>
                        </a:rPr>
                        <m:t> </m:t>
                      </m:r>
                      <m:r>
                        <m:rPr>
                          <m:nor/>
                        </m:rPr>
                        <a:rPr lang="en-US" sz="2800" dirty="0">
                          <a:solidFill>
                            <a:srgbClr val="002060"/>
                          </a:solidFill>
                        </a:rPr>
                        <m:t>of</m:t>
                      </m:r>
                      <m:r>
                        <m:rPr>
                          <m:nor/>
                        </m:rPr>
                        <a:rPr lang="en-US" sz="2800" dirty="0">
                          <a:solidFill>
                            <a:srgbClr val="002060"/>
                          </a:solidFill>
                        </a:rPr>
                        <m:t> </m:t>
                      </m:r>
                      <m:r>
                        <m:rPr>
                          <m:nor/>
                        </m:rPr>
                        <a:rPr lang="en-US" sz="2800" dirty="0">
                          <a:solidFill>
                            <a:srgbClr val="002060"/>
                          </a:solidFill>
                        </a:rPr>
                        <m:t>labeled</m:t>
                      </m:r>
                      <m:r>
                        <m:rPr>
                          <m:nor/>
                        </m:rPr>
                        <a:rPr lang="en-US" sz="2800" dirty="0">
                          <a:solidFill>
                            <a:srgbClr val="002060"/>
                          </a:solidFill>
                        </a:rPr>
                        <m:t> </m:t>
                      </m:r>
                      <m:r>
                        <m:rPr>
                          <m:nor/>
                        </m:rPr>
                        <a:rPr lang="en-US" sz="2800" dirty="0">
                          <a:solidFill>
                            <a:srgbClr val="002060"/>
                          </a:solidFill>
                        </a:rPr>
                        <m:t>trees</m:t>
                      </m:r>
                      <m:r>
                        <a:rPr lang="en-US" sz="2800" b="0" i="0" dirty="0" smtClean="0">
                          <a:solidFill>
                            <a:srgbClr val="002060"/>
                          </a:solidFill>
                          <a:latin typeface="Cambria Math" panose="02040503050406030204" pitchFamily="18" charset="0"/>
                        </a:rPr>
                        <m:t>=</m:t>
                      </m:r>
                      <m:r>
                        <a:rPr lang="en-US" sz="2800" b="0" i="0" smtClean="0">
                          <a:latin typeface="Cambria Math" panose="02040503050406030204" pitchFamily="18" charset="0"/>
                        </a:rPr>
                        <m:t>1</m:t>
                      </m:r>
                    </m:oMath>
                  </m:oMathPara>
                </a14:m>
                <a:endParaRPr lang="en-US" sz="2800" dirty="0"/>
              </a:p>
            </p:txBody>
          </p:sp>
        </mc:Choice>
        <mc:Fallback xmlns="">
          <p:sp>
            <p:nvSpPr>
              <p:cNvPr id="5" name="Rectangle 4"/>
              <p:cNvSpPr>
                <a:spLocks noRot="1" noChangeAspect="1" noMove="1" noResize="1" noEditPoints="1" noAdjustHandles="1" noChangeArrowheads="1" noChangeShapeType="1" noTextEdit="1"/>
              </p:cNvSpPr>
              <p:nvPr/>
            </p:nvSpPr>
            <p:spPr>
              <a:xfrm>
                <a:off x="2647235" y="3085624"/>
                <a:ext cx="6470811" cy="738664"/>
              </a:xfrm>
              <a:prstGeom prst="rect">
                <a:avLst/>
              </a:prstGeom>
              <a:blipFill rotWithShape="0">
                <a:blip r:embed="rId3"/>
                <a:stretch>
                  <a:fillRect/>
                </a:stretch>
              </a:blipFill>
            </p:spPr>
            <p:txBody>
              <a:bodyPr/>
              <a:lstStyle/>
              <a:p>
                <a:r>
                  <a:rPr lang="en-US">
                    <a:noFill/>
                  </a:rPr>
                  <a:t> </a:t>
                </a:r>
              </a:p>
            </p:txBody>
          </p:sp>
        </mc:Fallback>
      </mc:AlternateContent>
      <p:sp>
        <p:nvSpPr>
          <p:cNvPr id="6" name="Oval 5">
            <a:extLst>
              <a:ext uri="{FF2B5EF4-FFF2-40B4-BE49-F238E27FC236}">
                <a16:creationId xmlns:a16="http://schemas.microsoft.com/office/drawing/2014/main" id="{A4197692-1A04-EA71-457D-175797FDA5CE}"/>
              </a:ext>
            </a:extLst>
          </p:cNvPr>
          <p:cNvSpPr/>
          <p:nvPr/>
        </p:nvSpPr>
        <p:spPr>
          <a:xfrm rot="5400000">
            <a:off x="6514744" y="411530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7" name="Oval 6">
            <a:extLst>
              <a:ext uri="{FF2B5EF4-FFF2-40B4-BE49-F238E27FC236}">
                <a16:creationId xmlns:a16="http://schemas.microsoft.com/office/drawing/2014/main" id="{A4197692-1A04-EA71-457D-175797FDA5CE}"/>
              </a:ext>
            </a:extLst>
          </p:cNvPr>
          <p:cNvSpPr/>
          <p:nvPr/>
        </p:nvSpPr>
        <p:spPr>
          <a:xfrm rot="5400000">
            <a:off x="5103449" y="412007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cxnSp>
        <p:nvCxnSpPr>
          <p:cNvPr id="8" name="Straight Connector 7">
            <a:extLst>
              <a:ext uri="{FF2B5EF4-FFF2-40B4-BE49-F238E27FC236}">
                <a16:creationId xmlns:a16="http://schemas.microsoft.com/office/drawing/2014/main" id="{66EA08EA-10E8-07B3-809B-572189B302D2}"/>
              </a:ext>
            </a:extLst>
          </p:cNvPr>
          <p:cNvCxnSpPr>
            <a:cxnSpLocks/>
            <a:stCxn id="6" idx="4"/>
            <a:endCxn id="7" idx="0"/>
          </p:cNvCxnSpPr>
          <p:nvPr/>
        </p:nvCxnSpPr>
        <p:spPr>
          <a:xfrm flipH="1">
            <a:off x="5247449" y="4187309"/>
            <a:ext cx="1267295" cy="476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0" name="TextBox 9"/>
          <p:cNvSpPr txBox="1"/>
          <p:nvPr/>
        </p:nvSpPr>
        <p:spPr>
          <a:xfrm>
            <a:off x="4994149" y="4255624"/>
            <a:ext cx="362600" cy="461665"/>
          </a:xfrm>
          <a:prstGeom prst="rect">
            <a:avLst/>
          </a:prstGeom>
          <a:noFill/>
        </p:spPr>
        <p:txBody>
          <a:bodyPr wrap="none" rtlCol="0">
            <a:spAutoFit/>
          </a:bodyPr>
          <a:lstStyle>
            <a:defPPr>
              <a:defRPr lang="en-US"/>
            </a:defPPr>
            <a:lvl1pPr>
              <a:defRPr sz="2800"/>
            </a:lvl1pPr>
          </a:lstStyle>
          <a:p>
            <a:r>
              <a:rPr lang="en-US" sz="2400" dirty="0"/>
              <a:t>A</a:t>
            </a:r>
          </a:p>
        </p:txBody>
      </p:sp>
      <p:sp>
        <p:nvSpPr>
          <p:cNvPr id="11" name="TextBox 10"/>
          <p:cNvSpPr txBox="1"/>
          <p:nvPr/>
        </p:nvSpPr>
        <p:spPr>
          <a:xfrm>
            <a:off x="6410253" y="4255625"/>
            <a:ext cx="352982" cy="461665"/>
          </a:xfrm>
          <a:prstGeom prst="rect">
            <a:avLst/>
          </a:prstGeom>
          <a:noFill/>
        </p:spPr>
        <p:txBody>
          <a:bodyPr wrap="none" rtlCol="0">
            <a:spAutoFit/>
          </a:bodyPr>
          <a:lstStyle>
            <a:defPPr>
              <a:defRPr lang="en-US"/>
            </a:defPPr>
            <a:lvl1pPr>
              <a:defRPr sz="2800"/>
            </a:lvl1pPr>
          </a:lstStyle>
          <a:p>
            <a:r>
              <a:rPr lang="en-US" sz="2400" dirty="0"/>
              <a:t>B</a:t>
            </a:r>
          </a:p>
        </p:txBody>
      </p:sp>
    </p:spTree>
    <p:extLst>
      <p:ext uri="{BB962C8B-B14F-4D97-AF65-F5344CB8AC3E}">
        <p14:creationId xmlns:p14="http://schemas.microsoft.com/office/powerpoint/2010/main" val="20022985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0" grpId="0"/>
      <p:bldP spid="1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pPr algn="just">
              <a:spcBef>
                <a:spcPts val="1000"/>
              </a:spcBef>
              <a:buClr>
                <a:srgbClr val="B84742"/>
              </a:buClr>
            </a:pPr>
            <a:r>
              <a:rPr lang="en-US" dirty="0"/>
              <a:t>Counting Labeled Trees</a:t>
            </a:r>
          </a:p>
        </p:txBody>
      </p:sp>
      <mc:AlternateContent xmlns:mc="http://schemas.openxmlformats.org/markup-compatibility/2006" xmlns:a14="http://schemas.microsoft.com/office/drawing/2010/main">
        <mc:Choice Requires="a14">
          <p:sp>
            <p:nvSpPr>
              <p:cNvPr id="55" name="Content Placeholder 54"/>
              <p:cNvSpPr>
                <a:spLocks noGrp="1"/>
              </p:cNvSpPr>
              <p:nvPr>
                <p:ph idx="1"/>
              </p:nvPr>
            </p:nvSpPr>
            <p:spPr>
              <a:xfrm>
                <a:off x="131180" y="863444"/>
                <a:ext cx="11929641" cy="3927497"/>
              </a:xfrm>
            </p:spPr>
            <p:txBody>
              <a:bodyPr/>
              <a:lstStyle/>
              <a:p>
                <a:pPr marL="0" indent="0">
                  <a:lnSpc>
                    <a:spcPct val="150000"/>
                  </a:lnSpc>
                  <a:buNone/>
                </a:pPr>
                <a:r>
                  <a:rPr lang="en-US" dirty="0"/>
                  <a:t>Find number of labeled trees for small values of</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n</m:t>
                    </m:r>
                    <m:r>
                      <a:rPr lang="en-US" b="0" i="0" dirty="0" smtClean="0">
                        <a:latin typeface="Cambria Math" panose="02040503050406030204" pitchFamily="18" charset="0"/>
                      </a:rPr>
                      <m:t>=2,  3, </m:t>
                    </m:r>
                    <m:r>
                      <m:rPr>
                        <m:sty m:val="p"/>
                      </m:rPr>
                      <a:rPr lang="en-US" b="0" i="0" dirty="0" smtClean="0">
                        <a:latin typeface="Cambria Math" panose="02040503050406030204" pitchFamily="18" charset="0"/>
                      </a:rPr>
                      <m:t>and</m:t>
                    </m:r>
                    <m:r>
                      <a:rPr lang="en-US" b="0" i="0" dirty="0" smtClean="0">
                        <a:latin typeface="Cambria Math" panose="02040503050406030204" pitchFamily="18" charset="0"/>
                      </a:rPr>
                      <m:t> 4</m:t>
                    </m:r>
                  </m:oMath>
                </a14:m>
                <a:r>
                  <a:rPr lang="en-US" dirty="0"/>
                  <a:t>.</a:t>
                </a:r>
              </a:p>
              <a:p>
                <a:pPr>
                  <a:lnSpc>
                    <a:spcPct val="150000"/>
                  </a:lnSpc>
                </a:pPr>
                <a:r>
                  <a:rPr lang="en-US" dirty="0"/>
                  <a:t>For</a:t>
                </a:r>
                <a14:m>
                  <m:oMath xmlns:m="http://schemas.openxmlformats.org/officeDocument/2006/math">
                    <m:r>
                      <a:rPr lang="en-US" dirty="0">
                        <a:latin typeface="Cambria Math" panose="02040503050406030204" pitchFamily="18" charset="0"/>
                      </a:rPr>
                      <m:t>  </m:t>
                    </m:r>
                    <m:r>
                      <m:rPr>
                        <m:sty m:val="p"/>
                      </m:rPr>
                      <a:rPr lang="en-US" dirty="0">
                        <a:solidFill>
                          <a:srgbClr val="FF0000"/>
                        </a:solidFill>
                        <a:latin typeface="Cambria Math" panose="02040503050406030204" pitchFamily="18" charset="0"/>
                      </a:rPr>
                      <m:t>n</m:t>
                    </m:r>
                    <m:r>
                      <a:rPr lang="en-US" dirty="0">
                        <a:solidFill>
                          <a:srgbClr val="FF0000"/>
                        </a:solidFill>
                        <a:latin typeface="Cambria Math" panose="02040503050406030204" pitchFamily="18" charset="0"/>
                      </a:rPr>
                      <m:t>=3</m:t>
                    </m:r>
                  </m:oMath>
                </a14:m>
                <a:r>
                  <a:rPr lang="en-US" dirty="0"/>
                  <a:t> the number of labeled trees is </a:t>
                </a:r>
                <a14:m>
                  <m:oMath xmlns:m="http://schemas.openxmlformats.org/officeDocument/2006/math">
                    <m:sSup>
                      <m:sSupPr>
                        <m:ctrlPr>
                          <a:rPr lang="en-US" i="1" dirty="0">
                            <a:latin typeface="Cambria Math" panose="02040503050406030204" pitchFamily="18" charset="0"/>
                          </a:rPr>
                        </m:ctrlPr>
                      </m:sSupPr>
                      <m:e>
                        <m:r>
                          <a:rPr lang="en-US" dirty="0">
                            <a:latin typeface="Cambria Math" panose="02040503050406030204" pitchFamily="18" charset="0"/>
                          </a:rPr>
                          <m:t>3</m:t>
                        </m:r>
                      </m:e>
                      <m:sup>
                        <m:r>
                          <a:rPr lang="en-US" dirty="0">
                            <a:latin typeface="Cambria Math" panose="02040503050406030204" pitchFamily="18" charset="0"/>
                          </a:rPr>
                          <m:t>3−2</m:t>
                        </m:r>
                      </m:sup>
                    </m:sSup>
                    <m:r>
                      <a:rPr lang="en-US" dirty="0">
                        <a:latin typeface="Cambria Math" panose="02040503050406030204" pitchFamily="18" charset="0"/>
                      </a:rPr>
                      <m:t>=</m:t>
                    </m:r>
                    <m:sSup>
                      <m:sSupPr>
                        <m:ctrlPr>
                          <a:rPr lang="en-US" i="1" dirty="0">
                            <a:latin typeface="Cambria Math" panose="02040503050406030204" pitchFamily="18" charset="0"/>
                          </a:rPr>
                        </m:ctrlPr>
                      </m:sSupPr>
                      <m:e>
                        <m:r>
                          <a:rPr lang="en-US" dirty="0">
                            <a:latin typeface="Cambria Math" panose="02040503050406030204" pitchFamily="18" charset="0"/>
                          </a:rPr>
                          <m:t>3</m:t>
                        </m:r>
                      </m:e>
                      <m:sup>
                        <m:r>
                          <a:rPr lang="en-US" dirty="0">
                            <a:latin typeface="Cambria Math" panose="02040503050406030204" pitchFamily="18" charset="0"/>
                          </a:rPr>
                          <m:t>1</m:t>
                        </m:r>
                      </m:sup>
                    </m:sSup>
                    <m:r>
                      <a:rPr lang="en-US" dirty="0">
                        <a:latin typeface="Cambria Math" panose="02040503050406030204" pitchFamily="18" charset="0"/>
                      </a:rPr>
                      <m:t>=</m:t>
                    </m:r>
                    <m:r>
                      <a:rPr lang="en-US" dirty="0">
                        <a:solidFill>
                          <a:srgbClr val="FF0000"/>
                        </a:solidFill>
                        <a:latin typeface="Cambria Math" panose="02040503050406030204" pitchFamily="18" charset="0"/>
                      </a:rPr>
                      <m:t>3</m:t>
                    </m:r>
                    <m:r>
                      <a:rPr lang="en-US" dirty="0">
                        <a:latin typeface="Cambria Math" panose="02040503050406030204" pitchFamily="18" charset="0"/>
                      </a:rPr>
                      <m:t>.</m:t>
                    </m:r>
                  </m:oMath>
                </a14:m>
                <a:endParaRPr lang="en-US" dirty="0"/>
              </a:p>
            </p:txBody>
          </p:sp>
        </mc:Choice>
        <mc:Fallback xmlns="">
          <p:sp>
            <p:nvSpPr>
              <p:cNvPr id="55" name="Content Placeholder 54"/>
              <p:cNvSpPr>
                <a:spLocks noGrp="1" noRot="1" noChangeAspect="1" noMove="1" noResize="1" noEditPoints="1" noAdjustHandles="1" noChangeArrowheads="1" noChangeShapeType="1" noTextEdit="1"/>
              </p:cNvSpPr>
              <p:nvPr>
                <p:ph idx="1"/>
              </p:nvPr>
            </p:nvSpPr>
            <p:spPr>
              <a:xfrm>
                <a:off x="131180" y="863444"/>
                <a:ext cx="11929641" cy="3927497"/>
              </a:xfrm>
              <a:blipFill rotWithShape="0">
                <a:blip r:embed="rId2"/>
                <a:stretch>
                  <a:fillRect l="-1074"/>
                </a:stretch>
              </a:blipFill>
            </p:spPr>
            <p:txBody>
              <a:bodyPr/>
              <a:lstStyle/>
              <a:p>
                <a:r>
                  <a:rPr lang="en-US">
                    <a:noFill/>
                  </a:rPr>
                  <a:t> </a:t>
                </a:r>
              </a:p>
            </p:txBody>
          </p:sp>
        </mc:Fallback>
      </mc:AlternateContent>
      <p:sp>
        <p:nvSpPr>
          <p:cNvPr id="4" name="Oval 3">
            <a:extLst>
              <a:ext uri="{FF2B5EF4-FFF2-40B4-BE49-F238E27FC236}">
                <a16:creationId xmlns:a16="http://schemas.microsoft.com/office/drawing/2014/main" id="{A4197692-1A04-EA71-457D-175797FDA5CE}"/>
              </a:ext>
            </a:extLst>
          </p:cNvPr>
          <p:cNvSpPr/>
          <p:nvPr/>
        </p:nvSpPr>
        <p:spPr>
          <a:xfrm rot="5400000">
            <a:off x="3659747" y="415091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5" name="Oval 4">
            <a:extLst>
              <a:ext uri="{FF2B5EF4-FFF2-40B4-BE49-F238E27FC236}">
                <a16:creationId xmlns:a16="http://schemas.microsoft.com/office/drawing/2014/main" id="{A4197692-1A04-EA71-457D-175797FDA5CE}"/>
              </a:ext>
            </a:extLst>
          </p:cNvPr>
          <p:cNvSpPr/>
          <p:nvPr/>
        </p:nvSpPr>
        <p:spPr>
          <a:xfrm rot="5400000">
            <a:off x="2248452" y="415567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6" name="Oval 5">
            <a:extLst>
              <a:ext uri="{FF2B5EF4-FFF2-40B4-BE49-F238E27FC236}">
                <a16:creationId xmlns:a16="http://schemas.microsoft.com/office/drawing/2014/main" id="{A4197692-1A04-EA71-457D-175797FDA5CE}"/>
              </a:ext>
            </a:extLst>
          </p:cNvPr>
          <p:cNvSpPr/>
          <p:nvPr/>
        </p:nvSpPr>
        <p:spPr>
          <a:xfrm rot="5400000">
            <a:off x="2245366" y="553961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cxnSp>
        <p:nvCxnSpPr>
          <p:cNvPr id="7" name="Straight Connector 6">
            <a:extLst>
              <a:ext uri="{FF2B5EF4-FFF2-40B4-BE49-F238E27FC236}">
                <a16:creationId xmlns:a16="http://schemas.microsoft.com/office/drawing/2014/main" id="{66EA08EA-10E8-07B3-809B-572189B302D2}"/>
              </a:ext>
            </a:extLst>
          </p:cNvPr>
          <p:cNvCxnSpPr>
            <a:cxnSpLocks/>
            <a:stCxn id="4" idx="4"/>
            <a:endCxn id="5" idx="0"/>
          </p:cNvCxnSpPr>
          <p:nvPr/>
        </p:nvCxnSpPr>
        <p:spPr>
          <a:xfrm flipH="1">
            <a:off x="2392452" y="4222912"/>
            <a:ext cx="1267295" cy="476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 name="Straight Connector 7">
            <a:extLst>
              <a:ext uri="{FF2B5EF4-FFF2-40B4-BE49-F238E27FC236}">
                <a16:creationId xmlns:a16="http://schemas.microsoft.com/office/drawing/2014/main" id="{66EA08EA-10E8-07B3-809B-572189B302D2}"/>
              </a:ext>
            </a:extLst>
          </p:cNvPr>
          <p:cNvCxnSpPr>
            <a:cxnSpLocks/>
            <a:stCxn id="5" idx="6"/>
            <a:endCxn id="6" idx="2"/>
          </p:cNvCxnSpPr>
          <p:nvPr/>
        </p:nvCxnSpPr>
        <p:spPr>
          <a:xfrm flipH="1">
            <a:off x="2317366" y="4299675"/>
            <a:ext cx="3086" cy="123993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0" name="TextBox 9"/>
          <p:cNvSpPr txBox="1"/>
          <p:nvPr/>
        </p:nvSpPr>
        <p:spPr>
          <a:xfrm>
            <a:off x="2121289" y="3702458"/>
            <a:ext cx="362600" cy="461665"/>
          </a:xfrm>
          <a:prstGeom prst="rect">
            <a:avLst/>
          </a:prstGeom>
          <a:noFill/>
        </p:spPr>
        <p:txBody>
          <a:bodyPr wrap="none" rtlCol="0">
            <a:spAutoFit/>
          </a:bodyPr>
          <a:lstStyle>
            <a:defPPr>
              <a:defRPr lang="en-US"/>
            </a:defPPr>
            <a:lvl1pPr>
              <a:defRPr sz="2800"/>
            </a:lvl1pPr>
          </a:lstStyle>
          <a:p>
            <a:r>
              <a:rPr lang="en-US" sz="2400" dirty="0"/>
              <a:t>A</a:t>
            </a:r>
          </a:p>
        </p:txBody>
      </p:sp>
      <p:sp>
        <p:nvSpPr>
          <p:cNvPr id="11" name="TextBox 10"/>
          <p:cNvSpPr txBox="1"/>
          <p:nvPr/>
        </p:nvSpPr>
        <p:spPr>
          <a:xfrm>
            <a:off x="2121289" y="5620382"/>
            <a:ext cx="392154" cy="461665"/>
          </a:xfrm>
          <a:prstGeom prst="rect">
            <a:avLst/>
          </a:prstGeom>
          <a:noFill/>
        </p:spPr>
        <p:txBody>
          <a:bodyPr wrap="square" rtlCol="0">
            <a:spAutoFit/>
          </a:bodyPr>
          <a:lstStyle>
            <a:defPPr>
              <a:defRPr lang="en-US"/>
            </a:defPPr>
            <a:lvl1pPr>
              <a:defRPr sz="2800"/>
            </a:lvl1pPr>
          </a:lstStyle>
          <a:p>
            <a:r>
              <a:rPr lang="en-US" sz="2400" dirty="0"/>
              <a:t>C</a:t>
            </a:r>
          </a:p>
        </p:txBody>
      </p:sp>
      <p:sp>
        <p:nvSpPr>
          <p:cNvPr id="12" name="TextBox 11"/>
          <p:cNvSpPr txBox="1"/>
          <p:nvPr/>
        </p:nvSpPr>
        <p:spPr>
          <a:xfrm>
            <a:off x="3555256" y="3702457"/>
            <a:ext cx="352982" cy="461665"/>
          </a:xfrm>
          <a:prstGeom prst="rect">
            <a:avLst/>
          </a:prstGeom>
          <a:noFill/>
        </p:spPr>
        <p:txBody>
          <a:bodyPr wrap="none" rtlCol="0">
            <a:spAutoFit/>
          </a:bodyPr>
          <a:lstStyle>
            <a:defPPr>
              <a:defRPr lang="en-US"/>
            </a:defPPr>
            <a:lvl1pPr>
              <a:defRPr sz="2800"/>
            </a:lvl1pPr>
          </a:lstStyle>
          <a:p>
            <a:r>
              <a:rPr lang="en-US" sz="2400" dirty="0"/>
              <a:t>B</a:t>
            </a:r>
          </a:p>
        </p:txBody>
      </p:sp>
      <p:sp>
        <p:nvSpPr>
          <p:cNvPr id="13" name="Oval 12">
            <a:extLst>
              <a:ext uri="{FF2B5EF4-FFF2-40B4-BE49-F238E27FC236}">
                <a16:creationId xmlns:a16="http://schemas.microsoft.com/office/drawing/2014/main" id="{A4197692-1A04-EA71-457D-175797FDA5CE}"/>
              </a:ext>
            </a:extLst>
          </p:cNvPr>
          <p:cNvSpPr/>
          <p:nvPr/>
        </p:nvSpPr>
        <p:spPr>
          <a:xfrm rot="5400000">
            <a:off x="6731190" y="414614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14" name="Oval 13">
            <a:extLst>
              <a:ext uri="{FF2B5EF4-FFF2-40B4-BE49-F238E27FC236}">
                <a16:creationId xmlns:a16="http://schemas.microsoft.com/office/drawing/2014/main" id="{A4197692-1A04-EA71-457D-175797FDA5CE}"/>
              </a:ext>
            </a:extLst>
          </p:cNvPr>
          <p:cNvSpPr/>
          <p:nvPr/>
        </p:nvSpPr>
        <p:spPr>
          <a:xfrm rot="5400000">
            <a:off x="5319895" y="415091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15" name="Oval 14">
            <a:extLst>
              <a:ext uri="{FF2B5EF4-FFF2-40B4-BE49-F238E27FC236}">
                <a16:creationId xmlns:a16="http://schemas.microsoft.com/office/drawing/2014/main" id="{A4197692-1A04-EA71-457D-175797FDA5CE}"/>
              </a:ext>
            </a:extLst>
          </p:cNvPr>
          <p:cNvSpPr/>
          <p:nvPr/>
        </p:nvSpPr>
        <p:spPr>
          <a:xfrm rot="5400000">
            <a:off x="5316809" y="553485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cxnSp>
        <p:nvCxnSpPr>
          <p:cNvPr id="16" name="Straight Connector 15">
            <a:extLst>
              <a:ext uri="{FF2B5EF4-FFF2-40B4-BE49-F238E27FC236}">
                <a16:creationId xmlns:a16="http://schemas.microsoft.com/office/drawing/2014/main" id="{66EA08EA-10E8-07B3-809B-572189B302D2}"/>
              </a:ext>
            </a:extLst>
          </p:cNvPr>
          <p:cNvCxnSpPr>
            <a:cxnSpLocks/>
            <a:stCxn id="13" idx="4"/>
            <a:endCxn id="14" idx="0"/>
          </p:cNvCxnSpPr>
          <p:nvPr/>
        </p:nvCxnSpPr>
        <p:spPr>
          <a:xfrm flipH="1">
            <a:off x="5463895" y="4218149"/>
            <a:ext cx="1267295" cy="476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a:extLst>
              <a:ext uri="{FF2B5EF4-FFF2-40B4-BE49-F238E27FC236}">
                <a16:creationId xmlns:a16="http://schemas.microsoft.com/office/drawing/2014/main" id="{66EA08EA-10E8-07B3-809B-572189B302D2}"/>
              </a:ext>
            </a:extLst>
          </p:cNvPr>
          <p:cNvCxnSpPr>
            <a:cxnSpLocks/>
            <a:stCxn id="13" idx="5"/>
            <a:endCxn id="15" idx="1"/>
          </p:cNvCxnSpPr>
          <p:nvPr/>
        </p:nvCxnSpPr>
        <p:spPr>
          <a:xfrm flipH="1">
            <a:off x="5439721" y="4269061"/>
            <a:ext cx="1312557" cy="128687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8" name="TextBox 17"/>
          <p:cNvSpPr txBox="1"/>
          <p:nvPr/>
        </p:nvSpPr>
        <p:spPr>
          <a:xfrm>
            <a:off x="5192732" y="3697695"/>
            <a:ext cx="362600" cy="461665"/>
          </a:xfrm>
          <a:prstGeom prst="rect">
            <a:avLst/>
          </a:prstGeom>
          <a:noFill/>
        </p:spPr>
        <p:txBody>
          <a:bodyPr wrap="none" rtlCol="0">
            <a:spAutoFit/>
          </a:bodyPr>
          <a:lstStyle>
            <a:defPPr>
              <a:defRPr lang="en-US"/>
            </a:defPPr>
            <a:lvl1pPr>
              <a:defRPr sz="2800"/>
            </a:lvl1pPr>
          </a:lstStyle>
          <a:p>
            <a:r>
              <a:rPr lang="en-US" sz="2400" dirty="0"/>
              <a:t>A</a:t>
            </a:r>
          </a:p>
        </p:txBody>
      </p:sp>
      <p:sp>
        <p:nvSpPr>
          <p:cNvPr id="19" name="TextBox 18"/>
          <p:cNvSpPr txBox="1"/>
          <p:nvPr/>
        </p:nvSpPr>
        <p:spPr>
          <a:xfrm>
            <a:off x="5192732" y="5615619"/>
            <a:ext cx="392154" cy="461665"/>
          </a:xfrm>
          <a:prstGeom prst="rect">
            <a:avLst/>
          </a:prstGeom>
          <a:noFill/>
        </p:spPr>
        <p:txBody>
          <a:bodyPr wrap="square" rtlCol="0">
            <a:spAutoFit/>
          </a:bodyPr>
          <a:lstStyle>
            <a:defPPr>
              <a:defRPr lang="en-US"/>
            </a:defPPr>
            <a:lvl1pPr>
              <a:defRPr sz="2800"/>
            </a:lvl1pPr>
          </a:lstStyle>
          <a:p>
            <a:r>
              <a:rPr lang="en-US" sz="2400" dirty="0"/>
              <a:t>C</a:t>
            </a:r>
          </a:p>
        </p:txBody>
      </p:sp>
      <p:sp>
        <p:nvSpPr>
          <p:cNvPr id="20" name="TextBox 19"/>
          <p:cNvSpPr txBox="1"/>
          <p:nvPr/>
        </p:nvSpPr>
        <p:spPr>
          <a:xfrm>
            <a:off x="6626699" y="3697694"/>
            <a:ext cx="352982" cy="461665"/>
          </a:xfrm>
          <a:prstGeom prst="rect">
            <a:avLst/>
          </a:prstGeom>
          <a:noFill/>
        </p:spPr>
        <p:txBody>
          <a:bodyPr wrap="none" rtlCol="0">
            <a:spAutoFit/>
          </a:bodyPr>
          <a:lstStyle>
            <a:defPPr>
              <a:defRPr lang="en-US"/>
            </a:defPPr>
            <a:lvl1pPr>
              <a:defRPr sz="2800"/>
            </a:lvl1pPr>
          </a:lstStyle>
          <a:p>
            <a:r>
              <a:rPr lang="en-US" sz="2400" dirty="0"/>
              <a:t>B</a:t>
            </a:r>
          </a:p>
        </p:txBody>
      </p:sp>
      <p:sp>
        <p:nvSpPr>
          <p:cNvPr id="21" name="Oval 20">
            <a:extLst>
              <a:ext uri="{FF2B5EF4-FFF2-40B4-BE49-F238E27FC236}">
                <a16:creationId xmlns:a16="http://schemas.microsoft.com/office/drawing/2014/main" id="{A4197692-1A04-EA71-457D-175797FDA5CE}"/>
              </a:ext>
            </a:extLst>
          </p:cNvPr>
          <p:cNvSpPr/>
          <p:nvPr/>
        </p:nvSpPr>
        <p:spPr>
          <a:xfrm rot="5400000">
            <a:off x="9812251" y="415329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22" name="Oval 21">
            <a:extLst>
              <a:ext uri="{FF2B5EF4-FFF2-40B4-BE49-F238E27FC236}">
                <a16:creationId xmlns:a16="http://schemas.microsoft.com/office/drawing/2014/main" id="{A4197692-1A04-EA71-457D-175797FDA5CE}"/>
              </a:ext>
            </a:extLst>
          </p:cNvPr>
          <p:cNvSpPr/>
          <p:nvPr/>
        </p:nvSpPr>
        <p:spPr>
          <a:xfrm rot="5400000">
            <a:off x="8400956" y="415805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23" name="Oval 22">
            <a:extLst>
              <a:ext uri="{FF2B5EF4-FFF2-40B4-BE49-F238E27FC236}">
                <a16:creationId xmlns:a16="http://schemas.microsoft.com/office/drawing/2014/main" id="{A4197692-1A04-EA71-457D-175797FDA5CE}"/>
              </a:ext>
            </a:extLst>
          </p:cNvPr>
          <p:cNvSpPr/>
          <p:nvPr/>
        </p:nvSpPr>
        <p:spPr>
          <a:xfrm rot="5400000">
            <a:off x="8397870" y="554199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cxnSp>
        <p:nvCxnSpPr>
          <p:cNvPr id="24" name="Straight Connector 23">
            <a:extLst>
              <a:ext uri="{FF2B5EF4-FFF2-40B4-BE49-F238E27FC236}">
                <a16:creationId xmlns:a16="http://schemas.microsoft.com/office/drawing/2014/main" id="{66EA08EA-10E8-07B3-809B-572189B302D2}"/>
              </a:ext>
            </a:extLst>
          </p:cNvPr>
          <p:cNvCxnSpPr>
            <a:cxnSpLocks/>
            <a:stCxn id="21" idx="5"/>
            <a:endCxn id="23" idx="1"/>
          </p:cNvCxnSpPr>
          <p:nvPr/>
        </p:nvCxnSpPr>
        <p:spPr>
          <a:xfrm flipH="1">
            <a:off x="8520782" y="4276205"/>
            <a:ext cx="1312557" cy="128687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5" name="Straight Connector 24">
            <a:extLst>
              <a:ext uri="{FF2B5EF4-FFF2-40B4-BE49-F238E27FC236}">
                <a16:creationId xmlns:a16="http://schemas.microsoft.com/office/drawing/2014/main" id="{66EA08EA-10E8-07B3-809B-572189B302D2}"/>
              </a:ext>
            </a:extLst>
          </p:cNvPr>
          <p:cNvCxnSpPr>
            <a:cxnSpLocks/>
            <a:stCxn id="22" idx="6"/>
            <a:endCxn id="23" idx="2"/>
          </p:cNvCxnSpPr>
          <p:nvPr/>
        </p:nvCxnSpPr>
        <p:spPr>
          <a:xfrm flipH="1">
            <a:off x="8469870" y="4302056"/>
            <a:ext cx="3086" cy="123993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6" name="TextBox 25"/>
          <p:cNvSpPr txBox="1"/>
          <p:nvPr/>
        </p:nvSpPr>
        <p:spPr>
          <a:xfrm>
            <a:off x="8273793" y="3704839"/>
            <a:ext cx="362600" cy="461665"/>
          </a:xfrm>
          <a:prstGeom prst="rect">
            <a:avLst/>
          </a:prstGeom>
          <a:noFill/>
        </p:spPr>
        <p:txBody>
          <a:bodyPr wrap="none" rtlCol="0">
            <a:spAutoFit/>
          </a:bodyPr>
          <a:lstStyle>
            <a:defPPr>
              <a:defRPr lang="en-US"/>
            </a:defPPr>
            <a:lvl1pPr>
              <a:defRPr sz="2800"/>
            </a:lvl1pPr>
          </a:lstStyle>
          <a:p>
            <a:r>
              <a:rPr lang="en-US" sz="2400" dirty="0"/>
              <a:t>A</a:t>
            </a:r>
          </a:p>
        </p:txBody>
      </p:sp>
      <p:sp>
        <p:nvSpPr>
          <p:cNvPr id="27" name="TextBox 26"/>
          <p:cNvSpPr txBox="1"/>
          <p:nvPr/>
        </p:nvSpPr>
        <p:spPr>
          <a:xfrm>
            <a:off x="8273793" y="5622763"/>
            <a:ext cx="392154" cy="461665"/>
          </a:xfrm>
          <a:prstGeom prst="rect">
            <a:avLst/>
          </a:prstGeom>
          <a:noFill/>
        </p:spPr>
        <p:txBody>
          <a:bodyPr wrap="square" rtlCol="0">
            <a:spAutoFit/>
          </a:bodyPr>
          <a:lstStyle>
            <a:defPPr>
              <a:defRPr lang="en-US"/>
            </a:defPPr>
            <a:lvl1pPr>
              <a:defRPr sz="2800"/>
            </a:lvl1pPr>
          </a:lstStyle>
          <a:p>
            <a:r>
              <a:rPr lang="en-US" sz="2400" dirty="0"/>
              <a:t>C</a:t>
            </a:r>
          </a:p>
        </p:txBody>
      </p:sp>
      <p:sp>
        <p:nvSpPr>
          <p:cNvPr id="28" name="TextBox 27"/>
          <p:cNvSpPr txBox="1"/>
          <p:nvPr/>
        </p:nvSpPr>
        <p:spPr>
          <a:xfrm>
            <a:off x="9707760" y="3704838"/>
            <a:ext cx="352982" cy="461665"/>
          </a:xfrm>
          <a:prstGeom prst="rect">
            <a:avLst/>
          </a:prstGeom>
          <a:noFill/>
        </p:spPr>
        <p:txBody>
          <a:bodyPr wrap="none" rtlCol="0">
            <a:spAutoFit/>
          </a:bodyPr>
          <a:lstStyle>
            <a:defPPr>
              <a:defRPr lang="en-US"/>
            </a:defPPr>
            <a:lvl1pPr>
              <a:defRPr sz="2800"/>
            </a:lvl1pPr>
          </a:lstStyle>
          <a:p>
            <a:r>
              <a:rPr lang="en-US" sz="2400" dirty="0"/>
              <a:t>B</a:t>
            </a:r>
          </a:p>
        </p:txBody>
      </p:sp>
      <mc:AlternateContent xmlns:mc="http://schemas.openxmlformats.org/markup-compatibility/2006" xmlns:a14="http://schemas.microsoft.com/office/drawing/2010/main">
        <mc:Choice Requires="a14">
          <p:sp>
            <p:nvSpPr>
              <p:cNvPr id="29" name="Rectangle 28"/>
              <p:cNvSpPr/>
              <p:nvPr/>
            </p:nvSpPr>
            <p:spPr>
              <a:xfrm>
                <a:off x="2860595" y="2679356"/>
                <a:ext cx="6470811" cy="738664"/>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r>
                        <m:rPr>
                          <m:sty m:val="p"/>
                        </m:rPr>
                        <a:rPr lang="en-US" sz="2800" b="0" i="0" smtClean="0">
                          <a:latin typeface="Cambria Math" panose="02040503050406030204" pitchFamily="18" charset="0"/>
                        </a:rPr>
                        <m:t>n</m:t>
                      </m:r>
                      <m:r>
                        <a:rPr lang="en-US" sz="2800" b="0" i="0" smtClean="0">
                          <a:latin typeface="Cambria Math" panose="02040503050406030204" pitchFamily="18" charset="0"/>
                        </a:rPr>
                        <m:t>=3⇒</m:t>
                      </m:r>
                      <m:r>
                        <m:rPr>
                          <m:nor/>
                        </m:rPr>
                        <a:rPr lang="en-US" sz="2800" dirty="0">
                          <a:solidFill>
                            <a:srgbClr val="002060"/>
                          </a:solidFill>
                        </a:rPr>
                        <m:t>number</m:t>
                      </m:r>
                      <m:r>
                        <m:rPr>
                          <m:nor/>
                        </m:rPr>
                        <a:rPr lang="en-US" sz="2800" dirty="0">
                          <a:solidFill>
                            <a:srgbClr val="002060"/>
                          </a:solidFill>
                        </a:rPr>
                        <m:t> </m:t>
                      </m:r>
                      <m:r>
                        <m:rPr>
                          <m:nor/>
                        </m:rPr>
                        <a:rPr lang="en-US" sz="2800" dirty="0">
                          <a:solidFill>
                            <a:srgbClr val="002060"/>
                          </a:solidFill>
                        </a:rPr>
                        <m:t>of</m:t>
                      </m:r>
                      <m:r>
                        <m:rPr>
                          <m:nor/>
                        </m:rPr>
                        <a:rPr lang="en-US" sz="2800" dirty="0">
                          <a:solidFill>
                            <a:srgbClr val="002060"/>
                          </a:solidFill>
                        </a:rPr>
                        <m:t> </m:t>
                      </m:r>
                      <m:r>
                        <m:rPr>
                          <m:nor/>
                        </m:rPr>
                        <a:rPr lang="en-US" sz="2800" dirty="0">
                          <a:solidFill>
                            <a:srgbClr val="002060"/>
                          </a:solidFill>
                        </a:rPr>
                        <m:t>labeled</m:t>
                      </m:r>
                      <m:r>
                        <m:rPr>
                          <m:nor/>
                        </m:rPr>
                        <a:rPr lang="en-US" sz="2800" dirty="0">
                          <a:solidFill>
                            <a:srgbClr val="002060"/>
                          </a:solidFill>
                        </a:rPr>
                        <m:t> </m:t>
                      </m:r>
                      <m:r>
                        <m:rPr>
                          <m:nor/>
                        </m:rPr>
                        <a:rPr lang="en-US" sz="2800" dirty="0">
                          <a:solidFill>
                            <a:srgbClr val="002060"/>
                          </a:solidFill>
                        </a:rPr>
                        <m:t>trees</m:t>
                      </m:r>
                      <m:r>
                        <a:rPr lang="en-US" sz="2800" b="0" i="0" dirty="0" smtClean="0">
                          <a:solidFill>
                            <a:srgbClr val="002060"/>
                          </a:solidFill>
                          <a:latin typeface="Cambria Math" panose="02040503050406030204" pitchFamily="18" charset="0"/>
                        </a:rPr>
                        <m:t>=3</m:t>
                      </m:r>
                    </m:oMath>
                  </m:oMathPara>
                </a14:m>
                <a:endParaRPr lang="en-US" sz="2800" dirty="0"/>
              </a:p>
            </p:txBody>
          </p:sp>
        </mc:Choice>
        <mc:Fallback xmlns="">
          <p:sp>
            <p:nvSpPr>
              <p:cNvPr id="34" name="Rectangle 33"/>
              <p:cNvSpPr>
                <a:spLocks noRot="1" noChangeAspect="1" noMove="1" noResize="1" noEditPoints="1" noAdjustHandles="1" noChangeArrowheads="1" noChangeShapeType="1" noTextEdit="1"/>
              </p:cNvSpPr>
              <p:nvPr/>
            </p:nvSpPr>
            <p:spPr>
              <a:xfrm>
                <a:off x="2860595" y="2679356"/>
                <a:ext cx="6470811" cy="738664"/>
              </a:xfrm>
              <a:prstGeom prst="rect">
                <a:avLst/>
              </a:prstGeom>
              <a:blipFill rotWithShape="0">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360262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down)">
                                      <p:cBhvr>
                                        <p:cTn id="29" dur="500"/>
                                        <p:tgtEl>
                                          <p:spTgt spid="8"/>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ipe(left)">
                                      <p:cBhvr>
                                        <p:cTn id="33" dur="500"/>
                                        <p:tgtEl>
                                          <p:spTgt spid="7"/>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8"/>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13"/>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15"/>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wipe(left)">
                                      <p:cBhvr>
                                        <p:cTn id="52" dur="500"/>
                                        <p:tgtEl>
                                          <p:spTgt spid="16"/>
                                        </p:tgtEl>
                                      </p:cBhvr>
                                    </p:animEffect>
                                  </p:childTnLst>
                                </p:cTn>
                              </p:par>
                            </p:childTnLst>
                          </p:cTn>
                        </p:par>
                        <p:par>
                          <p:cTn id="53" fill="hold">
                            <p:stCondLst>
                              <p:cond delay="500"/>
                            </p:stCondLst>
                            <p:childTnLst>
                              <p:par>
                                <p:cTn id="54" presetID="22" presetClass="entr" presetSubtype="2" fill="hold" nodeType="after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wipe(right)">
                                      <p:cBhvr>
                                        <p:cTn id="56" dur="500"/>
                                        <p:tgtEl>
                                          <p:spTgt spid="17"/>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2"/>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22" presetClass="entr" presetSubtype="2" fill="hold" nodeType="clickEffect">
                                  <p:stCondLst>
                                    <p:cond delay="0"/>
                                  </p:stCondLst>
                                  <p:childTnLst>
                                    <p:set>
                                      <p:cBhvr>
                                        <p:cTn id="74" dur="1" fill="hold">
                                          <p:stCondLst>
                                            <p:cond delay="0"/>
                                          </p:stCondLst>
                                        </p:cTn>
                                        <p:tgtEl>
                                          <p:spTgt spid="24"/>
                                        </p:tgtEl>
                                        <p:attrNameLst>
                                          <p:attrName>style.visibility</p:attrName>
                                        </p:attrNameLst>
                                      </p:cBhvr>
                                      <p:to>
                                        <p:strVal val="visible"/>
                                      </p:to>
                                    </p:set>
                                    <p:animEffect transition="in" filter="wipe(right)">
                                      <p:cBhvr>
                                        <p:cTn id="75" dur="500"/>
                                        <p:tgtEl>
                                          <p:spTgt spid="24"/>
                                        </p:tgtEl>
                                      </p:cBhvr>
                                    </p:animEffect>
                                  </p:childTnLst>
                                </p:cTn>
                              </p:par>
                            </p:childTnLst>
                          </p:cTn>
                        </p:par>
                        <p:par>
                          <p:cTn id="76" fill="hold">
                            <p:stCondLst>
                              <p:cond delay="500"/>
                            </p:stCondLst>
                            <p:childTnLst>
                              <p:par>
                                <p:cTn id="77" presetID="22" presetClass="entr" presetSubtype="4" fill="hold" nodeType="afterEffect">
                                  <p:stCondLst>
                                    <p:cond delay="0"/>
                                  </p:stCondLst>
                                  <p:childTnLst>
                                    <p:set>
                                      <p:cBhvr>
                                        <p:cTn id="78" dur="1" fill="hold">
                                          <p:stCondLst>
                                            <p:cond delay="0"/>
                                          </p:stCondLst>
                                        </p:cTn>
                                        <p:tgtEl>
                                          <p:spTgt spid="25"/>
                                        </p:tgtEl>
                                        <p:attrNameLst>
                                          <p:attrName>style.visibility</p:attrName>
                                        </p:attrNameLst>
                                      </p:cBhvr>
                                      <p:to>
                                        <p:strVal val="visible"/>
                                      </p:to>
                                    </p:set>
                                    <p:animEffect transition="in" filter="wipe(down)">
                                      <p:cBhvr>
                                        <p:cTn id="7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0" grpId="0"/>
      <p:bldP spid="11" grpId="0"/>
      <p:bldP spid="12" grpId="0"/>
      <p:bldP spid="13" grpId="0" animBg="1"/>
      <p:bldP spid="14" grpId="0" animBg="1"/>
      <p:bldP spid="15" grpId="0" animBg="1"/>
      <p:bldP spid="18" grpId="0"/>
      <p:bldP spid="19" grpId="0"/>
      <p:bldP spid="20" grpId="0"/>
      <p:bldP spid="21" grpId="0" animBg="1"/>
      <p:bldP spid="22" grpId="0" animBg="1"/>
      <p:bldP spid="23" grpId="0" animBg="1"/>
      <p:bldP spid="26" grpId="0"/>
      <p:bldP spid="27" grpId="0"/>
      <p:bldP spid="28" grpId="0"/>
      <p:bldP spid="2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pPr algn="just">
              <a:spcBef>
                <a:spcPts val="1000"/>
              </a:spcBef>
              <a:buClr>
                <a:srgbClr val="B84742"/>
              </a:buClr>
            </a:pPr>
            <a:r>
              <a:rPr lang="en-US" dirty="0"/>
              <a:t>Counting Labeled Trees</a:t>
            </a:r>
          </a:p>
        </p:txBody>
      </p:sp>
      <mc:AlternateContent xmlns:mc="http://schemas.openxmlformats.org/markup-compatibility/2006" xmlns:a14="http://schemas.microsoft.com/office/drawing/2010/main">
        <mc:Choice Requires="a14">
          <p:sp>
            <p:nvSpPr>
              <p:cNvPr id="55" name="Content Placeholder 54"/>
              <p:cNvSpPr>
                <a:spLocks noGrp="1"/>
              </p:cNvSpPr>
              <p:nvPr>
                <p:ph idx="1"/>
              </p:nvPr>
            </p:nvSpPr>
            <p:spPr>
              <a:xfrm>
                <a:off x="131180" y="863444"/>
                <a:ext cx="11929641" cy="3927497"/>
              </a:xfrm>
            </p:spPr>
            <p:txBody>
              <a:bodyPr/>
              <a:lstStyle/>
              <a:p>
                <a:pPr marL="0" indent="0">
                  <a:lnSpc>
                    <a:spcPct val="150000"/>
                  </a:lnSpc>
                  <a:buNone/>
                </a:pPr>
                <a:r>
                  <a:rPr lang="en-US" dirty="0"/>
                  <a:t>Find number of labeled trees for small values of</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n</m:t>
                    </m:r>
                    <m:r>
                      <a:rPr lang="en-US" b="0" i="0" dirty="0" smtClean="0">
                        <a:latin typeface="Cambria Math" panose="02040503050406030204" pitchFamily="18" charset="0"/>
                      </a:rPr>
                      <m:t>=2,  3, </m:t>
                    </m:r>
                    <m:r>
                      <m:rPr>
                        <m:sty m:val="p"/>
                      </m:rPr>
                      <a:rPr lang="en-US" b="0" i="0" dirty="0" smtClean="0">
                        <a:latin typeface="Cambria Math" panose="02040503050406030204" pitchFamily="18" charset="0"/>
                      </a:rPr>
                      <m:t>and</m:t>
                    </m:r>
                    <m:r>
                      <a:rPr lang="en-US" b="0" i="0" dirty="0" smtClean="0">
                        <a:latin typeface="Cambria Math" panose="02040503050406030204" pitchFamily="18" charset="0"/>
                      </a:rPr>
                      <m:t> 4</m:t>
                    </m:r>
                  </m:oMath>
                </a14:m>
                <a:r>
                  <a:rPr lang="en-US" dirty="0"/>
                  <a:t>.</a:t>
                </a:r>
              </a:p>
              <a:p>
                <a:pPr>
                  <a:lnSpc>
                    <a:spcPct val="150000"/>
                  </a:lnSpc>
                </a:pPr>
                <a:r>
                  <a:rPr lang="en-US" dirty="0"/>
                  <a:t>For</a:t>
                </a:r>
                <a14:m>
                  <m:oMath xmlns:m="http://schemas.openxmlformats.org/officeDocument/2006/math">
                    <m:r>
                      <a:rPr lang="en-US" dirty="0">
                        <a:latin typeface="Cambria Math" panose="02040503050406030204" pitchFamily="18" charset="0"/>
                      </a:rPr>
                      <m:t>  </m:t>
                    </m:r>
                    <m:r>
                      <m:rPr>
                        <m:sty m:val="p"/>
                      </m:rPr>
                      <a:rPr lang="en-US" dirty="0">
                        <a:solidFill>
                          <a:srgbClr val="FF0000"/>
                        </a:solidFill>
                        <a:latin typeface="Cambria Math" panose="02040503050406030204" pitchFamily="18" charset="0"/>
                      </a:rPr>
                      <m:t>n</m:t>
                    </m:r>
                    <m:r>
                      <a:rPr lang="en-US" dirty="0">
                        <a:solidFill>
                          <a:srgbClr val="FF0000"/>
                        </a:solidFill>
                        <a:latin typeface="Cambria Math" panose="02040503050406030204" pitchFamily="18" charset="0"/>
                      </a:rPr>
                      <m:t>=4</m:t>
                    </m:r>
                  </m:oMath>
                </a14:m>
                <a:r>
                  <a:rPr lang="en-US" dirty="0"/>
                  <a:t> the number of labeled trees is </a:t>
                </a:r>
                <a14:m>
                  <m:oMath xmlns:m="http://schemas.openxmlformats.org/officeDocument/2006/math">
                    <m:sSup>
                      <m:sSupPr>
                        <m:ctrlPr>
                          <a:rPr lang="en-US" i="1" dirty="0">
                            <a:latin typeface="Cambria Math" panose="02040503050406030204" pitchFamily="18" charset="0"/>
                          </a:rPr>
                        </m:ctrlPr>
                      </m:sSupPr>
                      <m:e>
                        <m:r>
                          <a:rPr lang="en-US" dirty="0">
                            <a:latin typeface="Cambria Math" panose="02040503050406030204" pitchFamily="18" charset="0"/>
                          </a:rPr>
                          <m:t>4</m:t>
                        </m:r>
                      </m:e>
                      <m:sup>
                        <m:r>
                          <a:rPr lang="en-US" dirty="0">
                            <a:latin typeface="Cambria Math" panose="02040503050406030204" pitchFamily="18" charset="0"/>
                          </a:rPr>
                          <m:t>4−2</m:t>
                        </m:r>
                      </m:sup>
                    </m:sSup>
                    <m:r>
                      <a:rPr lang="en-US" dirty="0">
                        <a:latin typeface="Cambria Math" panose="02040503050406030204" pitchFamily="18" charset="0"/>
                      </a:rPr>
                      <m:t>=</m:t>
                    </m:r>
                    <m:sSup>
                      <m:sSupPr>
                        <m:ctrlPr>
                          <a:rPr lang="en-US" i="1" dirty="0">
                            <a:latin typeface="Cambria Math" panose="02040503050406030204" pitchFamily="18" charset="0"/>
                          </a:rPr>
                        </m:ctrlPr>
                      </m:sSupPr>
                      <m:e>
                        <m:r>
                          <a:rPr lang="en-US" dirty="0">
                            <a:latin typeface="Cambria Math" panose="02040503050406030204" pitchFamily="18" charset="0"/>
                          </a:rPr>
                          <m:t>4</m:t>
                        </m:r>
                      </m:e>
                      <m:sup>
                        <m:r>
                          <a:rPr lang="en-US" dirty="0">
                            <a:latin typeface="Cambria Math" panose="02040503050406030204" pitchFamily="18" charset="0"/>
                          </a:rPr>
                          <m:t>2</m:t>
                        </m:r>
                      </m:sup>
                    </m:sSup>
                    <m:r>
                      <a:rPr lang="en-US" dirty="0">
                        <a:latin typeface="Cambria Math" panose="02040503050406030204" pitchFamily="18" charset="0"/>
                      </a:rPr>
                      <m:t>=</m:t>
                    </m:r>
                    <m:r>
                      <a:rPr lang="en-US" dirty="0">
                        <a:solidFill>
                          <a:srgbClr val="FF0000"/>
                        </a:solidFill>
                        <a:latin typeface="Cambria Math" panose="02040503050406030204" pitchFamily="18" charset="0"/>
                      </a:rPr>
                      <m:t>16</m:t>
                    </m:r>
                    <m:r>
                      <a:rPr lang="en-US" dirty="0">
                        <a:latin typeface="Cambria Math" panose="02040503050406030204" pitchFamily="18" charset="0"/>
                      </a:rPr>
                      <m:t>.</m:t>
                    </m:r>
                  </m:oMath>
                </a14:m>
                <a:endParaRPr lang="en-US" dirty="0">
                  <a:solidFill>
                    <a:srgbClr val="FF0000"/>
                  </a:solidFill>
                </a:endParaRPr>
              </a:p>
            </p:txBody>
          </p:sp>
        </mc:Choice>
        <mc:Fallback xmlns="">
          <p:sp>
            <p:nvSpPr>
              <p:cNvPr id="55" name="Content Placeholder 54"/>
              <p:cNvSpPr>
                <a:spLocks noGrp="1" noRot="1" noChangeAspect="1" noMove="1" noResize="1" noEditPoints="1" noAdjustHandles="1" noChangeArrowheads="1" noChangeShapeType="1" noTextEdit="1"/>
              </p:cNvSpPr>
              <p:nvPr>
                <p:ph idx="1"/>
              </p:nvPr>
            </p:nvSpPr>
            <p:spPr>
              <a:xfrm>
                <a:off x="131180" y="863444"/>
                <a:ext cx="11929641" cy="3927497"/>
              </a:xfrm>
              <a:blipFill rotWithShape="0">
                <a:blip r:embed="rId2"/>
                <a:stretch>
                  <a:fillRect l="-1074"/>
                </a:stretch>
              </a:blipFill>
            </p:spPr>
            <p:txBody>
              <a:bodyPr/>
              <a:lstStyle/>
              <a:p>
                <a:r>
                  <a:rPr lang="en-US">
                    <a:noFill/>
                  </a:rPr>
                  <a:t> </a:t>
                </a:r>
              </a:p>
            </p:txBody>
          </p:sp>
        </mc:Fallback>
      </mc:AlternateContent>
    </p:spTree>
    <p:extLst>
      <p:ext uri="{BB962C8B-B14F-4D97-AF65-F5344CB8AC3E}">
        <p14:creationId xmlns:p14="http://schemas.microsoft.com/office/powerpoint/2010/main" val="41786389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pPr algn="just">
                  <a:spcBef>
                    <a:spcPts val="1000"/>
                  </a:spcBef>
                  <a:buClr>
                    <a:srgbClr val="B84742"/>
                  </a:buClr>
                </a:pPr>
                <a14:m>
                  <m:oMathPara xmlns:m="http://schemas.openxmlformats.org/officeDocument/2006/math">
                    <m:oMathParaPr>
                      <m:jc m:val="left"/>
                    </m:oMathParaPr>
                    <m:oMath xmlns:m="http://schemas.openxmlformats.org/officeDocument/2006/math">
                      <m:r>
                        <m:rPr>
                          <m:nor/>
                        </m:rPr>
                        <a:rPr lang="en-US" sz="3600"/>
                        <m:t>Counting</m:t>
                      </m:r>
                      <m:r>
                        <m:rPr>
                          <m:nor/>
                        </m:rPr>
                        <a:rPr lang="en-US" sz="3600"/>
                        <m:t> </m:t>
                      </m:r>
                      <m:r>
                        <m:rPr>
                          <m:nor/>
                        </m:rPr>
                        <a:rPr lang="en-US" sz="3600"/>
                        <m:t>Labeled</m:t>
                      </m:r>
                      <m:r>
                        <m:rPr>
                          <m:nor/>
                        </m:rPr>
                        <a:rPr lang="en-US" sz="3600"/>
                        <m:t> </m:t>
                      </m:r>
                      <m:r>
                        <m:rPr>
                          <m:nor/>
                        </m:rPr>
                        <a:rPr lang="en-US" sz="3600"/>
                        <m:t>Trees</m:t>
                      </m:r>
                    </m:oMath>
                  </m:oMathPara>
                </a14:m>
                <a:endParaRPr/>
              </a:p>
            </p:txBody>
          </p:sp>
        </mc:Choice>
        <mc:Fallback xmlns="">
          <p:sp>
            <p:nvSpPr>
              <p:cNvPr id="9" name="Title 1">
                <a:extLst>
                  <a:ext uri="{FF2B5EF4-FFF2-40B4-BE49-F238E27FC236}">
                    <a16:creationId xmlns:a16="http://schemas.microsoft.com/office/drawing/2014/main" xmlns="" xmlns:a14="http://schemas.microsoft.com/office/drawing/2010/main" id="{D5CD07E8-CBAA-45BA-85CF-1233D4AA86C9}"/>
                  </a:ext>
                </a:extLst>
              </p:cNvPr>
              <p:cNvSpPr txBox="1">
                <a:spLocks noRot="1" noChangeAspect="1" noMove="1" noResize="1" noEditPoints="1" noAdjustHandles="1" noChangeArrowheads="1" noChangeShapeType="1" noTextEdit="1"/>
              </p:cNvSpPr>
              <p:nvPr/>
            </p:nvSpPr>
            <p:spPr>
              <a:xfrm>
                <a:off x="0" y="0"/>
                <a:ext cx="12192000" cy="711200"/>
              </a:xfrm>
              <a:prstGeom prst="rect">
                <a:avLst/>
              </a:prstGeom>
              <a:blipFill rotWithShape="0">
                <a:blip r:embed="rId2"/>
                <a:stretch>
                  <a:fillRect/>
                </a:stretch>
              </a:blipFill>
              <a:ln>
                <a:noFill/>
              </a:ln>
            </p:spPr>
            <p:txBody>
              <a:bodyPr/>
              <a:lstStyle/>
              <a:p>
                <a:r>
                  <a:rPr lang="en-US">
                    <a:noFill/>
                  </a:rPr>
                  <a:t> </a:t>
                </a:r>
              </a:p>
            </p:txBody>
          </p:sp>
        </mc:Fallback>
      </mc:AlternateContent>
      <p:sp>
        <p:nvSpPr>
          <p:cNvPr id="138" name="Oval 137">
            <a:extLst>
              <a:ext uri="{FF2B5EF4-FFF2-40B4-BE49-F238E27FC236}">
                <a16:creationId xmlns:a16="http://schemas.microsoft.com/office/drawing/2014/main" id="{A4197692-1A04-EA71-457D-175797FDA5CE}"/>
              </a:ext>
            </a:extLst>
          </p:cNvPr>
          <p:cNvSpPr/>
          <p:nvPr/>
        </p:nvSpPr>
        <p:spPr>
          <a:xfrm rot="5400000">
            <a:off x="4015506" y="195636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139" name="Oval 138">
            <a:extLst>
              <a:ext uri="{FF2B5EF4-FFF2-40B4-BE49-F238E27FC236}">
                <a16:creationId xmlns:a16="http://schemas.microsoft.com/office/drawing/2014/main" id="{A4197692-1A04-EA71-457D-175797FDA5CE}"/>
              </a:ext>
            </a:extLst>
          </p:cNvPr>
          <p:cNvSpPr/>
          <p:nvPr/>
        </p:nvSpPr>
        <p:spPr>
          <a:xfrm rot="5400000">
            <a:off x="2604211" y="196112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140" name="Oval 139">
            <a:extLst>
              <a:ext uri="{FF2B5EF4-FFF2-40B4-BE49-F238E27FC236}">
                <a16:creationId xmlns:a16="http://schemas.microsoft.com/office/drawing/2014/main" id="{A4197692-1A04-EA71-457D-175797FDA5CE}"/>
              </a:ext>
            </a:extLst>
          </p:cNvPr>
          <p:cNvSpPr/>
          <p:nvPr/>
        </p:nvSpPr>
        <p:spPr>
          <a:xfrm rot="5400000">
            <a:off x="2601125" y="334506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cxnSp>
        <p:nvCxnSpPr>
          <p:cNvPr id="141" name="Straight Connector 140">
            <a:extLst>
              <a:ext uri="{FF2B5EF4-FFF2-40B4-BE49-F238E27FC236}">
                <a16:creationId xmlns:a16="http://schemas.microsoft.com/office/drawing/2014/main" id="{66EA08EA-10E8-07B3-809B-572189B302D2}"/>
              </a:ext>
            </a:extLst>
          </p:cNvPr>
          <p:cNvCxnSpPr>
            <a:cxnSpLocks/>
            <a:stCxn id="138" idx="4"/>
            <a:endCxn id="139" idx="0"/>
          </p:cNvCxnSpPr>
          <p:nvPr/>
        </p:nvCxnSpPr>
        <p:spPr>
          <a:xfrm flipH="1">
            <a:off x="2748211" y="2028365"/>
            <a:ext cx="1267295" cy="476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2" name="Straight Connector 141">
            <a:extLst>
              <a:ext uri="{FF2B5EF4-FFF2-40B4-BE49-F238E27FC236}">
                <a16:creationId xmlns:a16="http://schemas.microsoft.com/office/drawing/2014/main" id="{66EA08EA-10E8-07B3-809B-572189B302D2}"/>
              </a:ext>
            </a:extLst>
          </p:cNvPr>
          <p:cNvCxnSpPr>
            <a:cxnSpLocks/>
            <a:stCxn id="162" idx="4"/>
            <a:endCxn id="140" idx="0"/>
          </p:cNvCxnSpPr>
          <p:nvPr/>
        </p:nvCxnSpPr>
        <p:spPr>
          <a:xfrm flipH="1" flipV="1">
            <a:off x="2745125" y="3417067"/>
            <a:ext cx="1268736" cy="844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43" name="TextBox 142"/>
          <p:cNvSpPr txBox="1"/>
          <p:nvPr/>
        </p:nvSpPr>
        <p:spPr>
          <a:xfrm>
            <a:off x="2477048" y="1507911"/>
            <a:ext cx="362600" cy="461665"/>
          </a:xfrm>
          <a:prstGeom prst="rect">
            <a:avLst/>
          </a:prstGeom>
          <a:noFill/>
        </p:spPr>
        <p:txBody>
          <a:bodyPr wrap="none" rtlCol="0">
            <a:spAutoFit/>
          </a:bodyPr>
          <a:lstStyle>
            <a:defPPr>
              <a:defRPr lang="en-US"/>
            </a:defPPr>
            <a:lvl1pPr>
              <a:defRPr sz="2800"/>
            </a:lvl1pPr>
          </a:lstStyle>
          <a:p>
            <a:r>
              <a:rPr lang="en-US" sz="2400" dirty="0"/>
              <a:t>A</a:t>
            </a:r>
          </a:p>
        </p:txBody>
      </p:sp>
      <p:sp>
        <p:nvSpPr>
          <p:cNvPr id="144" name="TextBox 143"/>
          <p:cNvSpPr txBox="1"/>
          <p:nvPr/>
        </p:nvSpPr>
        <p:spPr>
          <a:xfrm>
            <a:off x="2492235" y="3467979"/>
            <a:ext cx="392154" cy="461665"/>
          </a:xfrm>
          <a:prstGeom prst="rect">
            <a:avLst/>
          </a:prstGeom>
          <a:noFill/>
        </p:spPr>
        <p:txBody>
          <a:bodyPr wrap="square" rtlCol="0">
            <a:spAutoFit/>
          </a:bodyPr>
          <a:lstStyle>
            <a:defPPr>
              <a:defRPr lang="en-US"/>
            </a:defPPr>
            <a:lvl1pPr>
              <a:defRPr sz="2800"/>
            </a:lvl1pPr>
          </a:lstStyle>
          <a:p>
            <a:r>
              <a:rPr lang="en-US" sz="2400" dirty="0"/>
              <a:t>C</a:t>
            </a:r>
          </a:p>
        </p:txBody>
      </p:sp>
      <p:sp>
        <p:nvSpPr>
          <p:cNvPr id="145" name="TextBox 144"/>
          <p:cNvSpPr txBox="1"/>
          <p:nvPr/>
        </p:nvSpPr>
        <p:spPr>
          <a:xfrm>
            <a:off x="3911015" y="1507910"/>
            <a:ext cx="352982" cy="461665"/>
          </a:xfrm>
          <a:prstGeom prst="rect">
            <a:avLst/>
          </a:prstGeom>
          <a:noFill/>
        </p:spPr>
        <p:txBody>
          <a:bodyPr wrap="none" rtlCol="0">
            <a:spAutoFit/>
          </a:bodyPr>
          <a:lstStyle>
            <a:defPPr>
              <a:defRPr lang="en-US"/>
            </a:defPPr>
            <a:lvl1pPr>
              <a:defRPr sz="2800"/>
            </a:lvl1pPr>
          </a:lstStyle>
          <a:p>
            <a:r>
              <a:rPr lang="en-US" sz="2400" dirty="0"/>
              <a:t>B</a:t>
            </a:r>
          </a:p>
        </p:txBody>
      </p:sp>
      <p:sp>
        <p:nvSpPr>
          <p:cNvPr id="146" name="Oval 145">
            <a:extLst>
              <a:ext uri="{FF2B5EF4-FFF2-40B4-BE49-F238E27FC236}">
                <a16:creationId xmlns:a16="http://schemas.microsoft.com/office/drawing/2014/main" id="{A4197692-1A04-EA71-457D-175797FDA5CE}"/>
              </a:ext>
            </a:extLst>
          </p:cNvPr>
          <p:cNvSpPr/>
          <p:nvPr/>
        </p:nvSpPr>
        <p:spPr>
          <a:xfrm rot="5400000">
            <a:off x="5906946" y="198459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147" name="Oval 146">
            <a:extLst>
              <a:ext uri="{FF2B5EF4-FFF2-40B4-BE49-F238E27FC236}">
                <a16:creationId xmlns:a16="http://schemas.microsoft.com/office/drawing/2014/main" id="{A4197692-1A04-EA71-457D-175797FDA5CE}"/>
              </a:ext>
            </a:extLst>
          </p:cNvPr>
          <p:cNvSpPr/>
          <p:nvPr/>
        </p:nvSpPr>
        <p:spPr>
          <a:xfrm rot="5400000">
            <a:off x="4495651" y="198936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148" name="Oval 147">
            <a:extLst>
              <a:ext uri="{FF2B5EF4-FFF2-40B4-BE49-F238E27FC236}">
                <a16:creationId xmlns:a16="http://schemas.microsoft.com/office/drawing/2014/main" id="{A4197692-1A04-EA71-457D-175797FDA5CE}"/>
              </a:ext>
            </a:extLst>
          </p:cNvPr>
          <p:cNvSpPr/>
          <p:nvPr/>
        </p:nvSpPr>
        <p:spPr>
          <a:xfrm rot="5400000">
            <a:off x="4492565" y="337329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cxnSp>
        <p:nvCxnSpPr>
          <p:cNvPr id="149" name="Straight Connector 148">
            <a:extLst>
              <a:ext uri="{FF2B5EF4-FFF2-40B4-BE49-F238E27FC236}">
                <a16:creationId xmlns:a16="http://schemas.microsoft.com/office/drawing/2014/main" id="{66EA08EA-10E8-07B3-809B-572189B302D2}"/>
              </a:ext>
            </a:extLst>
          </p:cNvPr>
          <p:cNvCxnSpPr>
            <a:cxnSpLocks/>
            <a:stCxn id="146" idx="4"/>
            <a:endCxn id="147" idx="0"/>
          </p:cNvCxnSpPr>
          <p:nvPr/>
        </p:nvCxnSpPr>
        <p:spPr>
          <a:xfrm flipH="1">
            <a:off x="4639651" y="2056597"/>
            <a:ext cx="1267295" cy="476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50" name="Straight Connector 149">
            <a:extLst>
              <a:ext uri="{FF2B5EF4-FFF2-40B4-BE49-F238E27FC236}">
                <a16:creationId xmlns:a16="http://schemas.microsoft.com/office/drawing/2014/main" id="{66EA08EA-10E8-07B3-809B-572189B302D2}"/>
              </a:ext>
            </a:extLst>
          </p:cNvPr>
          <p:cNvCxnSpPr>
            <a:cxnSpLocks/>
            <a:stCxn id="146" idx="5"/>
            <a:endCxn id="148" idx="1"/>
          </p:cNvCxnSpPr>
          <p:nvPr/>
        </p:nvCxnSpPr>
        <p:spPr>
          <a:xfrm flipH="1">
            <a:off x="4615477" y="2107509"/>
            <a:ext cx="1312557" cy="128687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51" name="TextBox 150"/>
          <p:cNvSpPr txBox="1"/>
          <p:nvPr/>
        </p:nvSpPr>
        <p:spPr>
          <a:xfrm>
            <a:off x="4368488" y="1536143"/>
            <a:ext cx="362600" cy="461665"/>
          </a:xfrm>
          <a:prstGeom prst="rect">
            <a:avLst/>
          </a:prstGeom>
          <a:noFill/>
        </p:spPr>
        <p:txBody>
          <a:bodyPr wrap="none" rtlCol="0">
            <a:spAutoFit/>
          </a:bodyPr>
          <a:lstStyle>
            <a:defPPr>
              <a:defRPr lang="en-US"/>
            </a:defPPr>
            <a:lvl1pPr>
              <a:defRPr sz="2800"/>
            </a:lvl1pPr>
          </a:lstStyle>
          <a:p>
            <a:r>
              <a:rPr lang="en-US" sz="2400" dirty="0"/>
              <a:t>A</a:t>
            </a:r>
          </a:p>
        </p:txBody>
      </p:sp>
      <p:sp>
        <p:nvSpPr>
          <p:cNvPr id="152" name="TextBox 151"/>
          <p:cNvSpPr txBox="1"/>
          <p:nvPr/>
        </p:nvSpPr>
        <p:spPr>
          <a:xfrm>
            <a:off x="4382497" y="3493830"/>
            <a:ext cx="392154" cy="461665"/>
          </a:xfrm>
          <a:prstGeom prst="rect">
            <a:avLst/>
          </a:prstGeom>
          <a:noFill/>
        </p:spPr>
        <p:txBody>
          <a:bodyPr wrap="square" rtlCol="0">
            <a:spAutoFit/>
          </a:bodyPr>
          <a:lstStyle>
            <a:defPPr>
              <a:defRPr lang="en-US"/>
            </a:defPPr>
            <a:lvl1pPr>
              <a:defRPr sz="2800"/>
            </a:lvl1pPr>
          </a:lstStyle>
          <a:p>
            <a:r>
              <a:rPr lang="en-US" sz="2400" dirty="0"/>
              <a:t>C</a:t>
            </a:r>
          </a:p>
        </p:txBody>
      </p:sp>
      <p:sp>
        <p:nvSpPr>
          <p:cNvPr id="153" name="TextBox 152"/>
          <p:cNvSpPr txBox="1"/>
          <p:nvPr/>
        </p:nvSpPr>
        <p:spPr>
          <a:xfrm>
            <a:off x="5802455" y="1536142"/>
            <a:ext cx="352982" cy="461665"/>
          </a:xfrm>
          <a:prstGeom prst="rect">
            <a:avLst/>
          </a:prstGeom>
          <a:noFill/>
        </p:spPr>
        <p:txBody>
          <a:bodyPr wrap="none" rtlCol="0">
            <a:spAutoFit/>
          </a:bodyPr>
          <a:lstStyle>
            <a:defPPr>
              <a:defRPr lang="en-US"/>
            </a:defPPr>
            <a:lvl1pPr>
              <a:defRPr sz="2800"/>
            </a:lvl1pPr>
          </a:lstStyle>
          <a:p>
            <a:r>
              <a:rPr lang="en-US" sz="2400" dirty="0"/>
              <a:t>B</a:t>
            </a:r>
          </a:p>
        </p:txBody>
      </p:sp>
      <p:sp>
        <p:nvSpPr>
          <p:cNvPr id="154" name="Oval 153">
            <a:extLst>
              <a:ext uri="{FF2B5EF4-FFF2-40B4-BE49-F238E27FC236}">
                <a16:creationId xmlns:a16="http://schemas.microsoft.com/office/drawing/2014/main" id="{A4197692-1A04-EA71-457D-175797FDA5CE}"/>
              </a:ext>
            </a:extLst>
          </p:cNvPr>
          <p:cNvSpPr/>
          <p:nvPr/>
        </p:nvSpPr>
        <p:spPr>
          <a:xfrm rot="5400000">
            <a:off x="9692560" y="198459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155" name="Oval 154">
            <a:extLst>
              <a:ext uri="{FF2B5EF4-FFF2-40B4-BE49-F238E27FC236}">
                <a16:creationId xmlns:a16="http://schemas.microsoft.com/office/drawing/2014/main" id="{A4197692-1A04-EA71-457D-175797FDA5CE}"/>
              </a:ext>
            </a:extLst>
          </p:cNvPr>
          <p:cNvSpPr/>
          <p:nvPr/>
        </p:nvSpPr>
        <p:spPr>
          <a:xfrm rot="5400000">
            <a:off x="8281265" y="198936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156" name="Oval 155">
            <a:extLst>
              <a:ext uri="{FF2B5EF4-FFF2-40B4-BE49-F238E27FC236}">
                <a16:creationId xmlns:a16="http://schemas.microsoft.com/office/drawing/2014/main" id="{A4197692-1A04-EA71-457D-175797FDA5CE}"/>
              </a:ext>
            </a:extLst>
          </p:cNvPr>
          <p:cNvSpPr/>
          <p:nvPr/>
        </p:nvSpPr>
        <p:spPr>
          <a:xfrm rot="5400000">
            <a:off x="8278179" y="337329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cxnSp>
        <p:nvCxnSpPr>
          <p:cNvPr id="157" name="Straight Connector 156">
            <a:extLst>
              <a:ext uri="{FF2B5EF4-FFF2-40B4-BE49-F238E27FC236}">
                <a16:creationId xmlns:a16="http://schemas.microsoft.com/office/drawing/2014/main" id="{66EA08EA-10E8-07B3-809B-572189B302D2}"/>
              </a:ext>
            </a:extLst>
          </p:cNvPr>
          <p:cNvCxnSpPr>
            <a:cxnSpLocks/>
            <a:stCxn id="154" idx="5"/>
            <a:endCxn id="156" idx="1"/>
          </p:cNvCxnSpPr>
          <p:nvPr/>
        </p:nvCxnSpPr>
        <p:spPr>
          <a:xfrm flipH="1">
            <a:off x="8401091" y="2107509"/>
            <a:ext cx="1312557" cy="128687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58" name="Straight Connector 157">
            <a:extLst>
              <a:ext uri="{FF2B5EF4-FFF2-40B4-BE49-F238E27FC236}">
                <a16:creationId xmlns:a16="http://schemas.microsoft.com/office/drawing/2014/main" id="{66EA08EA-10E8-07B3-809B-572189B302D2}"/>
              </a:ext>
            </a:extLst>
          </p:cNvPr>
          <p:cNvCxnSpPr>
            <a:cxnSpLocks/>
            <a:stCxn id="155" idx="6"/>
            <a:endCxn id="156" idx="2"/>
          </p:cNvCxnSpPr>
          <p:nvPr/>
        </p:nvCxnSpPr>
        <p:spPr>
          <a:xfrm flipH="1">
            <a:off x="8350179" y="2133360"/>
            <a:ext cx="3086" cy="123993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59" name="TextBox 158"/>
          <p:cNvSpPr txBox="1"/>
          <p:nvPr/>
        </p:nvSpPr>
        <p:spPr>
          <a:xfrm>
            <a:off x="8154102" y="1536143"/>
            <a:ext cx="362600" cy="461665"/>
          </a:xfrm>
          <a:prstGeom prst="rect">
            <a:avLst/>
          </a:prstGeom>
          <a:noFill/>
        </p:spPr>
        <p:txBody>
          <a:bodyPr wrap="none" rtlCol="0">
            <a:spAutoFit/>
          </a:bodyPr>
          <a:lstStyle>
            <a:defPPr>
              <a:defRPr lang="en-US"/>
            </a:defPPr>
            <a:lvl1pPr>
              <a:defRPr sz="2800"/>
            </a:lvl1pPr>
          </a:lstStyle>
          <a:p>
            <a:r>
              <a:rPr lang="en-US" sz="2400" dirty="0"/>
              <a:t>A</a:t>
            </a:r>
          </a:p>
        </p:txBody>
      </p:sp>
      <p:sp>
        <p:nvSpPr>
          <p:cNvPr id="160" name="TextBox 159"/>
          <p:cNvSpPr txBox="1"/>
          <p:nvPr/>
        </p:nvSpPr>
        <p:spPr>
          <a:xfrm>
            <a:off x="8154102" y="3454067"/>
            <a:ext cx="392154" cy="461665"/>
          </a:xfrm>
          <a:prstGeom prst="rect">
            <a:avLst/>
          </a:prstGeom>
          <a:noFill/>
        </p:spPr>
        <p:txBody>
          <a:bodyPr wrap="square" rtlCol="0">
            <a:spAutoFit/>
          </a:bodyPr>
          <a:lstStyle>
            <a:defPPr>
              <a:defRPr lang="en-US"/>
            </a:defPPr>
            <a:lvl1pPr>
              <a:defRPr sz="2800"/>
            </a:lvl1pPr>
          </a:lstStyle>
          <a:p>
            <a:r>
              <a:rPr lang="en-US" sz="2400" dirty="0"/>
              <a:t>C</a:t>
            </a:r>
          </a:p>
        </p:txBody>
      </p:sp>
      <p:sp>
        <p:nvSpPr>
          <p:cNvPr id="161" name="TextBox 160"/>
          <p:cNvSpPr txBox="1"/>
          <p:nvPr/>
        </p:nvSpPr>
        <p:spPr>
          <a:xfrm>
            <a:off x="9588069" y="1536142"/>
            <a:ext cx="352982" cy="461665"/>
          </a:xfrm>
          <a:prstGeom prst="rect">
            <a:avLst/>
          </a:prstGeom>
          <a:noFill/>
        </p:spPr>
        <p:txBody>
          <a:bodyPr wrap="none" rtlCol="0">
            <a:spAutoFit/>
          </a:bodyPr>
          <a:lstStyle>
            <a:defPPr>
              <a:defRPr lang="en-US"/>
            </a:defPPr>
            <a:lvl1pPr>
              <a:defRPr sz="2800"/>
            </a:lvl1pPr>
          </a:lstStyle>
          <a:p>
            <a:r>
              <a:rPr lang="en-US" sz="2400" dirty="0"/>
              <a:t>B</a:t>
            </a:r>
          </a:p>
        </p:txBody>
      </p:sp>
      <p:sp>
        <p:nvSpPr>
          <p:cNvPr id="162" name="Oval 161">
            <a:extLst>
              <a:ext uri="{FF2B5EF4-FFF2-40B4-BE49-F238E27FC236}">
                <a16:creationId xmlns:a16="http://schemas.microsoft.com/office/drawing/2014/main" id="{A4197692-1A04-EA71-457D-175797FDA5CE}"/>
              </a:ext>
            </a:extLst>
          </p:cNvPr>
          <p:cNvSpPr/>
          <p:nvPr/>
        </p:nvSpPr>
        <p:spPr>
          <a:xfrm rot="5400000">
            <a:off x="4013861" y="335351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163" name="TextBox 162"/>
          <p:cNvSpPr txBox="1"/>
          <p:nvPr/>
        </p:nvSpPr>
        <p:spPr>
          <a:xfrm>
            <a:off x="3959794" y="3479874"/>
            <a:ext cx="360996" cy="461665"/>
          </a:xfrm>
          <a:prstGeom prst="rect">
            <a:avLst/>
          </a:prstGeom>
          <a:noFill/>
        </p:spPr>
        <p:txBody>
          <a:bodyPr wrap="none" rtlCol="0">
            <a:spAutoFit/>
          </a:bodyPr>
          <a:lstStyle>
            <a:defPPr>
              <a:defRPr lang="en-US"/>
            </a:defPPr>
            <a:lvl1pPr>
              <a:defRPr sz="2800"/>
            </a:lvl1pPr>
          </a:lstStyle>
          <a:p>
            <a:r>
              <a:rPr lang="en-US" sz="2400" dirty="0"/>
              <a:t>D</a:t>
            </a:r>
          </a:p>
        </p:txBody>
      </p:sp>
      <p:sp>
        <p:nvSpPr>
          <p:cNvPr id="164" name="Oval 163">
            <a:extLst>
              <a:ext uri="{FF2B5EF4-FFF2-40B4-BE49-F238E27FC236}">
                <a16:creationId xmlns:a16="http://schemas.microsoft.com/office/drawing/2014/main" id="{A4197692-1A04-EA71-457D-175797FDA5CE}"/>
              </a:ext>
            </a:extLst>
          </p:cNvPr>
          <p:cNvSpPr/>
          <p:nvPr/>
        </p:nvSpPr>
        <p:spPr>
          <a:xfrm rot="5400000">
            <a:off x="5897011" y="337936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165" name="TextBox 164"/>
          <p:cNvSpPr txBox="1"/>
          <p:nvPr/>
        </p:nvSpPr>
        <p:spPr>
          <a:xfrm>
            <a:off x="5797377" y="3483560"/>
            <a:ext cx="360996" cy="461665"/>
          </a:xfrm>
          <a:prstGeom prst="rect">
            <a:avLst/>
          </a:prstGeom>
          <a:noFill/>
        </p:spPr>
        <p:txBody>
          <a:bodyPr wrap="none" rtlCol="0">
            <a:spAutoFit/>
          </a:bodyPr>
          <a:lstStyle>
            <a:defPPr>
              <a:defRPr lang="en-US"/>
            </a:defPPr>
            <a:lvl1pPr>
              <a:defRPr sz="2800"/>
            </a:lvl1pPr>
          </a:lstStyle>
          <a:p>
            <a:r>
              <a:rPr lang="en-US" sz="2400" dirty="0"/>
              <a:t>D</a:t>
            </a:r>
          </a:p>
        </p:txBody>
      </p:sp>
      <p:sp>
        <p:nvSpPr>
          <p:cNvPr id="166" name="Oval 165">
            <a:extLst>
              <a:ext uri="{FF2B5EF4-FFF2-40B4-BE49-F238E27FC236}">
                <a16:creationId xmlns:a16="http://schemas.microsoft.com/office/drawing/2014/main" id="{A4197692-1A04-EA71-457D-175797FDA5CE}"/>
              </a:ext>
            </a:extLst>
          </p:cNvPr>
          <p:cNvSpPr/>
          <p:nvPr/>
        </p:nvSpPr>
        <p:spPr>
          <a:xfrm rot="5400000">
            <a:off x="9709961" y="3375007"/>
            <a:ext cx="144000" cy="1373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167" name="TextBox 166"/>
          <p:cNvSpPr txBox="1"/>
          <p:nvPr/>
        </p:nvSpPr>
        <p:spPr>
          <a:xfrm>
            <a:off x="9602940" y="3448417"/>
            <a:ext cx="344328" cy="461665"/>
          </a:xfrm>
          <a:prstGeom prst="rect">
            <a:avLst/>
          </a:prstGeom>
          <a:noFill/>
        </p:spPr>
        <p:txBody>
          <a:bodyPr wrap="square" rtlCol="0">
            <a:spAutoFit/>
          </a:bodyPr>
          <a:lstStyle>
            <a:defPPr>
              <a:defRPr lang="en-US"/>
            </a:defPPr>
            <a:lvl1pPr>
              <a:defRPr sz="2800"/>
            </a:lvl1pPr>
          </a:lstStyle>
          <a:p>
            <a:r>
              <a:rPr lang="en-US" sz="2400" dirty="0"/>
              <a:t>D</a:t>
            </a:r>
          </a:p>
        </p:txBody>
      </p:sp>
      <p:cxnSp>
        <p:nvCxnSpPr>
          <p:cNvPr id="168" name="Straight Connector 167">
            <a:extLst>
              <a:ext uri="{FF2B5EF4-FFF2-40B4-BE49-F238E27FC236}">
                <a16:creationId xmlns:a16="http://schemas.microsoft.com/office/drawing/2014/main" id="{66EA08EA-10E8-07B3-809B-572189B302D2}"/>
              </a:ext>
            </a:extLst>
          </p:cNvPr>
          <p:cNvCxnSpPr>
            <a:cxnSpLocks/>
            <a:stCxn id="162" idx="3"/>
            <a:endCxn id="139" idx="7"/>
          </p:cNvCxnSpPr>
          <p:nvPr/>
        </p:nvCxnSpPr>
        <p:spPr>
          <a:xfrm flipH="1" flipV="1">
            <a:off x="2727123" y="2084040"/>
            <a:ext cx="1307826" cy="129056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69" name="Straight Connector 168">
            <a:extLst>
              <a:ext uri="{FF2B5EF4-FFF2-40B4-BE49-F238E27FC236}">
                <a16:creationId xmlns:a16="http://schemas.microsoft.com/office/drawing/2014/main" id="{66EA08EA-10E8-07B3-809B-572189B302D2}"/>
              </a:ext>
            </a:extLst>
          </p:cNvPr>
          <p:cNvCxnSpPr>
            <a:cxnSpLocks/>
            <a:stCxn id="148" idx="0"/>
            <a:endCxn id="164" idx="4"/>
          </p:cNvCxnSpPr>
          <p:nvPr/>
        </p:nvCxnSpPr>
        <p:spPr>
          <a:xfrm>
            <a:off x="4636565" y="3445299"/>
            <a:ext cx="1260446" cy="606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70" name="Straight Connector 169">
            <a:extLst>
              <a:ext uri="{FF2B5EF4-FFF2-40B4-BE49-F238E27FC236}">
                <a16:creationId xmlns:a16="http://schemas.microsoft.com/office/drawing/2014/main" id="{66EA08EA-10E8-07B3-809B-572189B302D2}"/>
              </a:ext>
            </a:extLst>
          </p:cNvPr>
          <p:cNvCxnSpPr>
            <a:cxnSpLocks/>
            <a:stCxn id="166" idx="2"/>
            <a:endCxn id="154" idx="6"/>
          </p:cNvCxnSpPr>
          <p:nvPr/>
        </p:nvCxnSpPr>
        <p:spPr>
          <a:xfrm flipH="1" flipV="1">
            <a:off x="9764560" y="2128597"/>
            <a:ext cx="17401" cy="124308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71" name="Oval 170">
            <a:extLst>
              <a:ext uri="{FF2B5EF4-FFF2-40B4-BE49-F238E27FC236}">
                <a16:creationId xmlns:a16="http://schemas.microsoft.com/office/drawing/2014/main" id="{A4197692-1A04-EA71-457D-175797FDA5CE}"/>
              </a:ext>
            </a:extLst>
          </p:cNvPr>
          <p:cNvSpPr/>
          <p:nvPr/>
        </p:nvSpPr>
        <p:spPr>
          <a:xfrm rot="5400000">
            <a:off x="7801120" y="198459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172" name="Oval 171">
            <a:extLst>
              <a:ext uri="{FF2B5EF4-FFF2-40B4-BE49-F238E27FC236}">
                <a16:creationId xmlns:a16="http://schemas.microsoft.com/office/drawing/2014/main" id="{A4197692-1A04-EA71-457D-175797FDA5CE}"/>
              </a:ext>
            </a:extLst>
          </p:cNvPr>
          <p:cNvSpPr/>
          <p:nvPr/>
        </p:nvSpPr>
        <p:spPr>
          <a:xfrm rot="5400000">
            <a:off x="6389825" y="198936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173" name="Oval 172">
            <a:extLst>
              <a:ext uri="{FF2B5EF4-FFF2-40B4-BE49-F238E27FC236}">
                <a16:creationId xmlns:a16="http://schemas.microsoft.com/office/drawing/2014/main" id="{A4197692-1A04-EA71-457D-175797FDA5CE}"/>
              </a:ext>
            </a:extLst>
          </p:cNvPr>
          <p:cNvSpPr/>
          <p:nvPr/>
        </p:nvSpPr>
        <p:spPr>
          <a:xfrm rot="5400000">
            <a:off x="6386739" y="337329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cxnSp>
        <p:nvCxnSpPr>
          <p:cNvPr id="174" name="Straight Connector 173">
            <a:extLst>
              <a:ext uri="{FF2B5EF4-FFF2-40B4-BE49-F238E27FC236}">
                <a16:creationId xmlns:a16="http://schemas.microsoft.com/office/drawing/2014/main" id="{66EA08EA-10E8-07B3-809B-572189B302D2}"/>
              </a:ext>
            </a:extLst>
          </p:cNvPr>
          <p:cNvCxnSpPr>
            <a:cxnSpLocks/>
            <a:stCxn id="171" idx="6"/>
            <a:endCxn id="178" idx="2"/>
          </p:cNvCxnSpPr>
          <p:nvPr/>
        </p:nvCxnSpPr>
        <p:spPr>
          <a:xfrm>
            <a:off x="7873120" y="2128597"/>
            <a:ext cx="11184" cy="124546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75" name="TextBox 174"/>
          <p:cNvSpPr txBox="1"/>
          <p:nvPr/>
        </p:nvSpPr>
        <p:spPr>
          <a:xfrm>
            <a:off x="6262662" y="1536143"/>
            <a:ext cx="362600" cy="461665"/>
          </a:xfrm>
          <a:prstGeom prst="rect">
            <a:avLst/>
          </a:prstGeom>
          <a:noFill/>
        </p:spPr>
        <p:txBody>
          <a:bodyPr wrap="none" rtlCol="0">
            <a:spAutoFit/>
          </a:bodyPr>
          <a:lstStyle>
            <a:defPPr>
              <a:defRPr lang="en-US"/>
            </a:defPPr>
            <a:lvl1pPr>
              <a:defRPr sz="2800"/>
            </a:lvl1pPr>
          </a:lstStyle>
          <a:p>
            <a:r>
              <a:rPr lang="en-US" sz="2400" dirty="0"/>
              <a:t>A</a:t>
            </a:r>
          </a:p>
        </p:txBody>
      </p:sp>
      <p:sp>
        <p:nvSpPr>
          <p:cNvPr id="176" name="TextBox 175"/>
          <p:cNvSpPr txBox="1"/>
          <p:nvPr/>
        </p:nvSpPr>
        <p:spPr>
          <a:xfrm>
            <a:off x="6262662" y="3454067"/>
            <a:ext cx="392154" cy="461665"/>
          </a:xfrm>
          <a:prstGeom prst="rect">
            <a:avLst/>
          </a:prstGeom>
          <a:noFill/>
        </p:spPr>
        <p:txBody>
          <a:bodyPr wrap="square" rtlCol="0">
            <a:spAutoFit/>
          </a:bodyPr>
          <a:lstStyle>
            <a:defPPr>
              <a:defRPr lang="en-US"/>
            </a:defPPr>
            <a:lvl1pPr>
              <a:defRPr sz="2800"/>
            </a:lvl1pPr>
          </a:lstStyle>
          <a:p>
            <a:r>
              <a:rPr lang="en-US" sz="2400" dirty="0"/>
              <a:t>C</a:t>
            </a:r>
          </a:p>
        </p:txBody>
      </p:sp>
      <p:sp>
        <p:nvSpPr>
          <p:cNvPr id="177" name="TextBox 176"/>
          <p:cNvSpPr txBox="1"/>
          <p:nvPr/>
        </p:nvSpPr>
        <p:spPr>
          <a:xfrm>
            <a:off x="7696629" y="1536142"/>
            <a:ext cx="352982" cy="461665"/>
          </a:xfrm>
          <a:prstGeom prst="rect">
            <a:avLst/>
          </a:prstGeom>
          <a:noFill/>
        </p:spPr>
        <p:txBody>
          <a:bodyPr wrap="none" rtlCol="0">
            <a:spAutoFit/>
          </a:bodyPr>
          <a:lstStyle>
            <a:defPPr>
              <a:defRPr lang="en-US"/>
            </a:defPPr>
            <a:lvl1pPr>
              <a:defRPr sz="2800"/>
            </a:lvl1pPr>
          </a:lstStyle>
          <a:p>
            <a:r>
              <a:rPr lang="en-US" sz="2400" dirty="0"/>
              <a:t>B</a:t>
            </a:r>
          </a:p>
        </p:txBody>
      </p:sp>
      <p:sp>
        <p:nvSpPr>
          <p:cNvPr id="178" name="Oval 177">
            <a:extLst>
              <a:ext uri="{FF2B5EF4-FFF2-40B4-BE49-F238E27FC236}">
                <a16:creationId xmlns:a16="http://schemas.microsoft.com/office/drawing/2014/main" id="{A4197692-1A04-EA71-457D-175797FDA5CE}"/>
              </a:ext>
            </a:extLst>
          </p:cNvPr>
          <p:cNvSpPr/>
          <p:nvPr/>
        </p:nvSpPr>
        <p:spPr>
          <a:xfrm rot="5400000">
            <a:off x="7812304" y="3377388"/>
            <a:ext cx="144000" cy="1373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179" name="TextBox 178"/>
          <p:cNvSpPr txBox="1"/>
          <p:nvPr/>
        </p:nvSpPr>
        <p:spPr>
          <a:xfrm>
            <a:off x="7705283" y="3450798"/>
            <a:ext cx="344328" cy="461665"/>
          </a:xfrm>
          <a:prstGeom prst="rect">
            <a:avLst/>
          </a:prstGeom>
          <a:noFill/>
        </p:spPr>
        <p:txBody>
          <a:bodyPr wrap="square" rtlCol="0">
            <a:spAutoFit/>
          </a:bodyPr>
          <a:lstStyle>
            <a:defPPr>
              <a:defRPr lang="en-US"/>
            </a:defPPr>
            <a:lvl1pPr>
              <a:defRPr sz="2800"/>
            </a:lvl1pPr>
          </a:lstStyle>
          <a:p>
            <a:r>
              <a:rPr lang="en-US" sz="2400" dirty="0"/>
              <a:t>D</a:t>
            </a:r>
          </a:p>
        </p:txBody>
      </p:sp>
      <p:cxnSp>
        <p:nvCxnSpPr>
          <p:cNvPr id="180" name="Straight Connector 179">
            <a:extLst>
              <a:ext uri="{FF2B5EF4-FFF2-40B4-BE49-F238E27FC236}">
                <a16:creationId xmlns:a16="http://schemas.microsoft.com/office/drawing/2014/main" id="{66EA08EA-10E8-07B3-809B-572189B302D2}"/>
              </a:ext>
            </a:extLst>
          </p:cNvPr>
          <p:cNvCxnSpPr>
            <a:cxnSpLocks/>
            <a:stCxn id="172" idx="6"/>
            <a:endCxn id="173" idx="2"/>
          </p:cNvCxnSpPr>
          <p:nvPr/>
        </p:nvCxnSpPr>
        <p:spPr>
          <a:xfrm flipH="1">
            <a:off x="6458739" y="2133360"/>
            <a:ext cx="3086" cy="123993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81" name="Straight Connector 180">
            <a:extLst>
              <a:ext uri="{FF2B5EF4-FFF2-40B4-BE49-F238E27FC236}">
                <a16:creationId xmlns:a16="http://schemas.microsoft.com/office/drawing/2014/main" id="{66EA08EA-10E8-07B3-809B-572189B302D2}"/>
              </a:ext>
            </a:extLst>
          </p:cNvPr>
          <p:cNvCxnSpPr>
            <a:cxnSpLocks/>
            <a:stCxn id="178" idx="3"/>
            <a:endCxn id="172" idx="7"/>
          </p:cNvCxnSpPr>
          <p:nvPr/>
        </p:nvCxnSpPr>
        <p:spPr>
          <a:xfrm flipH="1" flipV="1">
            <a:off x="6512737" y="2112272"/>
            <a:ext cx="1323007" cy="128288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82" name="Oval 181">
            <a:extLst>
              <a:ext uri="{FF2B5EF4-FFF2-40B4-BE49-F238E27FC236}">
                <a16:creationId xmlns:a16="http://schemas.microsoft.com/office/drawing/2014/main" id="{A4197692-1A04-EA71-457D-175797FDA5CE}"/>
              </a:ext>
            </a:extLst>
          </p:cNvPr>
          <p:cNvSpPr/>
          <p:nvPr/>
        </p:nvSpPr>
        <p:spPr>
          <a:xfrm rot="5400000">
            <a:off x="3638539" y="448152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183" name="Oval 182">
            <a:extLst>
              <a:ext uri="{FF2B5EF4-FFF2-40B4-BE49-F238E27FC236}">
                <a16:creationId xmlns:a16="http://schemas.microsoft.com/office/drawing/2014/main" id="{A4197692-1A04-EA71-457D-175797FDA5CE}"/>
              </a:ext>
            </a:extLst>
          </p:cNvPr>
          <p:cNvSpPr/>
          <p:nvPr/>
        </p:nvSpPr>
        <p:spPr>
          <a:xfrm rot="5400000">
            <a:off x="2227244" y="448628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184" name="Oval 183">
            <a:extLst>
              <a:ext uri="{FF2B5EF4-FFF2-40B4-BE49-F238E27FC236}">
                <a16:creationId xmlns:a16="http://schemas.microsoft.com/office/drawing/2014/main" id="{A4197692-1A04-EA71-457D-175797FDA5CE}"/>
              </a:ext>
            </a:extLst>
          </p:cNvPr>
          <p:cNvSpPr/>
          <p:nvPr/>
        </p:nvSpPr>
        <p:spPr>
          <a:xfrm rot="5400000">
            <a:off x="2224158" y="587022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cxnSp>
        <p:nvCxnSpPr>
          <p:cNvPr id="185" name="Straight Connector 184">
            <a:extLst>
              <a:ext uri="{FF2B5EF4-FFF2-40B4-BE49-F238E27FC236}">
                <a16:creationId xmlns:a16="http://schemas.microsoft.com/office/drawing/2014/main" id="{66EA08EA-10E8-07B3-809B-572189B302D2}"/>
              </a:ext>
            </a:extLst>
          </p:cNvPr>
          <p:cNvCxnSpPr>
            <a:cxnSpLocks/>
            <a:stCxn id="182" idx="4"/>
            <a:endCxn id="183" idx="0"/>
          </p:cNvCxnSpPr>
          <p:nvPr/>
        </p:nvCxnSpPr>
        <p:spPr>
          <a:xfrm flipH="1">
            <a:off x="2371244" y="4553526"/>
            <a:ext cx="1267295" cy="476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86" name="Straight Connector 185">
            <a:extLst>
              <a:ext uri="{FF2B5EF4-FFF2-40B4-BE49-F238E27FC236}">
                <a16:creationId xmlns:a16="http://schemas.microsoft.com/office/drawing/2014/main" id="{66EA08EA-10E8-07B3-809B-572189B302D2}"/>
              </a:ext>
            </a:extLst>
          </p:cNvPr>
          <p:cNvCxnSpPr>
            <a:cxnSpLocks/>
            <a:stCxn id="183" idx="6"/>
            <a:endCxn id="184" idx="2"/>
          </p:cNvCxnSpPr>
          <p:nvPr/>
        </p:nvCxnSpPr>
        <p:spPr>
          <a:xfrm flipH="1">
            <a:off x="2296158" y="4630289"/>
            <a:ext cx="3086" cy="123993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87" name="TextBox 186"/>
          <p:cNvSpPr txBox="1"/>
          <p:nvPr/>
        </p:nvSpPr>
        <p:spPr>
          <a:xfrm>
            <a:off x="2100081" y="4033072"/>
            <a:ext cx="362600" cy="461665"/>
          </a:xfrm>
          <a:prstGeom prst="rect">
            <a:avLst/>
          </a:prstGeom>
          <a:noFill/>
        </p:spPr>
        <p:txBody>
          <a:bodyPr wrap="none" rtlCol="0">
            <a:spAutoFit/>
          </a:bodyPr>
          <a:lstStyle>
            <a:defPPr>
              <a:defRPr lang="en-US"/>
            </a:defPPr>
            <a:lvl1pPr>
              <a:defRPr sz="2800"/>
            </a:lvl1pPr>
          </a:lstStyle>
          <a:p>
            <a:r>
              <a:rPr lang="en-US" sz="2400" dirty="0"/>
              <a:t>A</a:t>
            </a:r>
          </a:p>
        </p:txBody>
      </p:sp>
      <p:sp>
        <p:nvSpPr>
          <p:cNvPr id="188" name="TextBox 187"/>
          <p:cNvSpPr txBox="1"/>
          <p:nvPr/>
        </p:nvSpPr>
        <p:spPr>
          <a:xfrm>
            <a:off x="2100081" y="5950996"/>
            <a:ext cx="392154" cy="461665"/>
          </a:xfrm>
          <a:prstGeom prst="rect">
            <a:avLst/>
          </a:prstGeom>
          <a:noFill/>
        </p:spPr>
        <p:txBody>
          <a:bodyPr wrap="square" rtlCol="0">
            <a:spAutoFit/>
          </a:bodyPr>
          <a:lstStyle>
            <a:defPPr>
              <a:defRPr lang="en-US"/>
            </a:defPPr>
            <a:lvl1pPr>
              <a:defRPr sz="2800"/>
            </a:lvl1pPr>
          </a:lstStyle>
          <a:p>
            <a:r>
              <a:rPr lang="en-US" sz="2400" dirty="0"/>
              <a:t>C</a:t>
            </a:r>
          </a:p>
        </p:txBody>
      </p:sp>
      <p:sp>
        <p:nvSpPr>
          <p:cNvPr id="189" name="TextBox 188"/>
          <p:cNvSpPr txBox="1"/>
          <p:nvPr/>
        </p:nvSpPr>
        <p:spPr>
          <a:xfrm>
            <a:off x="3534048" y="4033071"/>
            <a:ext cx="352982" cy="461665"/>
          </a:xfrm>
          <a:prstGeom prst="rect">
            <a:avLst/>
          </a:prstGeom>
          <a:noFill/>
        </p:spPr>
        <p:txBody>
          <a:bodyPr wrap="none" rtlCol="0">
            <a:spAutoFit/>
          </a:bodyPr>
          <a:lstStyle>
            <a:defPPr>
              <a:defRPr lang="en-US"/>
            </a:defPPr>
            <a:lvl1pPr>
              <a:defRPr sz="2800"/>
            </a:lvl1pPr>
          </a:lstStyle>
          <a:p>
            <a:r>
              <a:rPr lang="en-US" sz="2400" dirty="0"/>
              <a:t>B</a:t>
            </a:r>
          </a:p>
        </p:txBody>
      </p:sp>
      <p:sp>
        <p:nvSpPr>
          <p:cNvPr id="190" name="Oval 189">
            <a:extLst>
              <a:ext uri="{FF2B5EF4-FFF2-40B4-BE49-F238E27FC236}">
                <a16:creationId xmlns:a16="http://schemas.microsoft.com/office/drawing/2014/main" id="{A4197692-1A04-EA71-457D-175797FDA5CE}"/>
              </a:ext>
            </a:extLst>
          </p:cNvPr>
          <p:cNvSpPr/>
          <p:nvPr/>
        </p:nvSpPr>
        <p:spPr>
          <a:xfrm rot="5400000">
            <a:off x="5529979" y="448390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191" name="Oval 190">
            <a:extLst>
              <a:ext uri="{FF2B5EF4-FFF2-40B4-BE49-F238E27FC236}">
                <a16:creationId xmlns:a16="http://schemas.microsoft.com/office/drawing/2014/main" id="{A4197692-1A04-EA71-457D-175797FDA5CE}"/>
              </a:ext>
            </a:extLst>
          </p:cNvPr>
          <p:cNvSpPr/>
          <p:nvPr/>
        </p:nvSpPr>
        <p:spPr>
          <a:xfrm rot="5400000">
            <a:off x="4118684" y="448867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192" name="Oval 191">
            <a:extLst>
              <a:ext uri="{FF2B5EF4-FFF2-40B4-BE49-F238E27FC236}">
                <a16:creationId xmlns:a16="http://schemas.microsoft.com/office/drawing/2014/main" id="{A4197692-1A04-EA71-457D-175797FDA5CE}"/>
              </a:ext>
            </a:extLst>
          </p:cNvPr>
          <p:cNvSpPr/>
          <p:nvPr/>
        </p:nvSpPr>
        <p:spPr>
          <a:xfrm rot="5400000">
            <a:off x="4115598" y="587260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cxnSp>
        <p:nvCxnSpPr>
          <p:cNvPr id="193" name="Straight Connector 192">
            <a:extLst>
              <a:ext uri="{FF2B5EF4-FFF2-40B4-BE49-F238E27FC236}">
                <a16:creationId xmlns:a16="http://schemas.microsoft.com/office/drawing/2014/main" id="{66EA08EA-10E8-07B3-809B-572189B302D2}"/>
              </a:ext>
            </a:extLst>
          </p:cNvPr>
          <p:cNvCxnSpPr>
            <a:cxnSpLocks/>
            <a:stCxn id="190" idx="4"/>
            <a:endCxn id="191" idx="0"/>
          </p:cNvCxnSpPr>
          <p:nvPr/>
        </p:nvCxnSpPr>
        <p:spPr>
          <a:xfrm flipH="1">
            <a:off x="4262684" y="4555907"/>
            <a:ext cx="1267295" cy="476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94" name="Straight Connector 193">
            <a:extLst>
              <a:ext uri="{FF2B5EF4-FFF2-40B4-BE49-F238E27FC236}">
                <a16:creationId xmlns:a16="http://schemas.microsoft.com/office/drawing/2014/main" id="{66EA08EA-10E8-07B3-809B-572189B302D2}"/>
              </a:ext>
            </a:extLst>
          </p:cNvPr>
          <p:cNvCxnSpPr>
            <a:cxnSpLocks/>
            <a:stCxn id="190" idx="5"/>
            <a:endCxn id="192" idx="1"/>
          </p:cNvCxnSpPr>
          <p:nvPr/>
        </p:nvCxnSpPr>
        <p:spPr>
          <a:xfrm flipH="1">
            <a:off x="4238510" y="4606819"/>
            <a:ext cx="1312557" cy="128687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95" name="TextBox 194"/>
          <p:cNvSpPr txBox="1"/>
          <p:nvPr/>
        </p:nvSpPr>
        <p:spPr>
          <a:xfrm>
            <a:off x="3991521" y="4035453"/>
            <a:ext cx="362600" cy="461665"/>
          </a:xfrm>
          <a:prstGeom prst="rect">
            <a:avLst/>
          </a:prstGeom>
          <a:noFill/>
        </p:spPr>
        <p:txBody>
          <a:bodyPr wrap="none" rtlCol="0">
            <a:spAutoFit/>
          </a:bodyPr>
          <a:lstStyle>
            <a:defPPr>
              <a:defRPr lang="en-US"/>
            </a:defPPr>
            <a:lvl1pPr>
              <a:defRPr sz="2800"/>
            </a:lvl1pPr>
          </a:lstStyle>
          <a:p>
            <a:r>
              <a:rPr lang="en-US" sz="2400" dirty="0"/>
              <a:t>A</a:t>
            </a:r>
          </a:p>
        </p:txBody>
      </p:sp>
      <p:sp>
        <p:nvSpPr>
          <p:cNvPr id="196" name="TextBox 195"/>
          <p:cNvSpPr txBox="1"/>
          <p:nvPr/>
        </p:nvSpPr>
        <p:spPr>
          <a:xfrm>
            <a:off x="3991521" y="5953377"/>
            <a:ext cx="392154" cy="461665"/>
          </a:xfrm>
          <a:prstGeom prst="rect">
            <a:avLst/>
          </a:prstGeom>
          <a:noFill/>
        </p:spPr>
        <p:txBody>
          <a:bodyPr wrap="square" rtlCol="0">
            <a:spAutoFit/>
          </a:bodyPr>
          <a:lstStyle>
            <a:defPPr>
              <a:defRPr lang="en-US"/>
            </a:defPPr>
            <a:lvl1pPr>
              <a:defRPr sz="2800"/>
            </a:lvl1pPr>
          </a:lstStyle>
          <a:p>
            <a:r>
              <a:rPr lang="en-US" sz="2400" dirty="0"/>
              <a:t>C</a:t>
            </a:r>
          </a:p>
        </p:txBody>
      </p:sp>
      <p:sp>
        <p:nvSpPr>
          <p:cNvPr id="197" name="TextBox 196"/>
          <p:cNvSpPr txBox="1"/>
          <p:nvPr/>
        </p:nvSpPr>
        <p:spPr>
          <a:xfrm>
            <a:off x="5425488" y="4035452"/>
            <a:ext cx="352982" cy="461665"/>
          </a:xfrm>
          <a:prstGeom prst="rect">
            <a:avLst/>
          </a:prstGeom>
          <a:noFill/>
        </p:spPr>
        <p:txBody>
          <a:bodyPr wrap="none" rtlCol="0">
            <a:spAutoFit/>
          </a:bodyPr>
          <a:lstStyle>
            <a:defPPr>
              <a:defRPr lang="en-US"/>
            </a:defPPr>
            <a:lvl1pPr>
              <a:defRPr sz="2800"/>
            </a:lvl1pPr>
          </a:lstStyle>
          <a:p>
            <a:r>
              <a:rPr lang="en-US" sz="2400" dirty="0"/>
              <a:t>B</a:t>
            </a:r>
          </a:p>
        </p:txBody>
      </p:sp>
      <p:sp>
        <p:nvSpPr>
          <p:cNvPr id="198" name="Oval 197">
            <a:extLst>
              <a:ext uri="{FF2B5EF4-FFF2-40B4-BE49-F238E27FC236}">
                <a16:creationId xmlns:a16="http://schemas.microsoft.com/office/drawing/2014/main" id="{A4197692-1A04-EA71-457D-175797FDA5CE}"/>
              </a:ext>
            </a:extLst>
          </p:cNvPr>
          <p:cNvSpPr/>
          <p:nvPr/>
        </p:nvSpPr>
        <p:spPr>
          <a:xfrm rot="5400000">
            <a:off x="9610297" y="443061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199" name="Oval 198">
            <a:extLst>
              <a:ext uri="{FF2B5EF4-FFF2-40B4-BE49-F238E27FC236}">
                <a16:creationId xmlns:a16="http://schemas.microsoft.com/office/drawing/2014/main" id="{A4197692-1A04-EA71-457D-175797FDA5CE}"/>
              </a:ext>
            </a:extLst>
          </p:cNvPr>
          <p:cNvSpPr/>
          <p:nvPr/>
        </p:nvSpPr>
        <p:spPr>
          <a:xfrm rot="5400000">
            <a:off x="8199002" y="443537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200" name="Oval 199">
            <a:extLst>
              <a:ext uri="{FF2B5EF4-FFF2-40B4-BE49-F238E27FC236}">
                <a16:creationId xmlns:a16="http://schemas.microsoft.com/office/drawing/2014/main" id="{A4197692-1A04-EA71-457D-175797FDA5CE}"/>
              </a:ext>
            </a:extLst>
          </p:cNvPr>
          <p:cNvSpPr/>
          <p:nvPr/>
        </p:nvSpPr>
        <p:spPr>
          <a:xfrm rot="5400000">
            <a:off x="8195916" y="581931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cxnSp>
        <p:nvCxnSpPr>
          <p:cNvPr id="201" name="Straight Connector 200">
            <a:extLst>
              <a:ext uri="{FF2B5EF4-FFF2-40B4-BE49-F238E27FC236}">
                <a16:creationId xmlns:a16="http://schemas.microsoft.com/office/drawing/2014/main" id="{66EA08EA-10E8-07B3-809B-572189B302D2}"/>
              </a:ext>
            </a:extLst>
          </p:cNvPr>
          <p:cNvCxnSpPr>
            <a:cxnSpLocks/>
            <a:stCxn id="198" idx="5"/>
            <a:endCxn id="200" idx="1"/>
          </p:cNvCxnSpPr>
          <p:nvPr/>
        </p:nvCxnSpPr>
        <p:spPr>
          <a:xfrm flipH="1">
            <a:off x="8318828" y="4553526"/>
            <a:ext cx="1312557" cy="128687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02" name="Straight Connector 201">
            <a:extLst>
              <a:ext uri="{FF2B5EF4-FFF2-40B4-BE49-F238E27FC236}">
                <a16:creationId xmlns:a16="http://schemas.microsoft.com/office/drawing/2014/main" id="{66EA08EA-10E8-07B3-809B-572189B302D2}"/>
              </a:ext>
            </a:extLst>
          </p:cNvPr>
          <p:cNvCxnSpPr>
            <a:cxnSpLocks/>
            <a:stCxn id="199" idx="6"/>
            <a:endCxn id="200" idx="2"/>
          </p:cNvCxnSpPr>
          <p:nvPr/>
        </p:nvCxnSpPr>
        <p:spPr>
          <a:xfrm flipH="1">
            <a:off x="8267916" y="4579377"/>
            <a:ext cx="3086" cy="123993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03" name="TextBox 202"/>
          <p:cNvSpPr txBox="1"/>
          <p:nvPr/>
        </p:nvSpPr>
        <p:spPr>
          <a:xfrm>
            <a:off x="8071839" y="3982160"/>
            <a:ext cx="362600" cy="461665"/>
          </a:xfrm>
          <a:prstGeom prst="rect">
            <a:avLst/>
          </a:prstGeom>
          <a:noFill/>
        </p:spPr>
        <p:txBody>
          <a:bodyPr wrap="none" rtlCol="0">
            <a:spAutoFit/>
          </a:bodyPr>
          <a:lstStyle>
            <a:defPPr>
              <a:defRPr lang="en-US"/>
            </a:defPPr>
            <a:lvl1pPr>
              <a:defRPr sz="2800"/>
            </a:lvl1pPr>
          </a:lstStyle>
          <a:p>
            <a:r>
              <a:rPr lang="en-US" sz="2400" dirty="0"/>
              <a:t>A</a:t>
            </a:r>
          </a:p>
        </p:txBody>
      </p:sp>
      <p:sp>
        <p:nvSpPr>
          <p:cNvPr id="204" name="TextBox 203"/>
          <p:cNvSpPr txBox="1"/>
          <p:nvPr/>
        </p:nvSpPr>
        <p:spPr>
          <a:xfrm>
            <a:off x="8071839" y="5900084"/>
            <a:ext cx="392154" cy="461665"/>
          </a:xfrm>
          <a:prstGeom prst="rect">
            <a:avLst/>
          </a:prstGeom>
          <a:noFill/>
        </p:spPr>
        <p:txBody>
          <a:bodyPr wrap="square" rtlCol="0">
            <a:spAutoFit/>
          </a:bodyPr>
          <a:lstStyle>
            <a:defPPr>
              <a:defRPr lang="en-US"/>
            </a:defPPr>
            <a:lvl1pPr>
              <a:defRPr sz="2800"/>
            </a:lvl1pPr>
          </a:lstStyle>
          <a:p>
            <a:r>
              <a:rPr lang="en-US" sz="2400" dirty="0"/>
              <a:t>C</a:t>
            </a:r>
          </a:p>
        </p:txBody>
      </p:sp>
      <p:sp>
        <p:nvSpPr>
          <p:cNvPr id="205" name="TextBox 204"/>
          <p:cNvSpPr txBox="1"/>
          <p:nvPr/>
        </p:nvSpPr>
        <p:spPr>
          <a:xfrm>
            <a:off x="9505806" y="3982159"/>
            <a:ext cx="352982" cy="461665"/>
          </a:xfrm>
          <a:prstGeom prst="rect">
            <a:avLst/>
          </a:prstGeom>
          <a:noFill/>
        </p:spPr>
        <p:txBody>
          <a:bodyPr wrap="none" rtlCol="0">
            <a:spAutoFit/>
          </a:bodyPr>
          <a:lstStyle>
            <a:defPPr>
              <a:defRPr lang="en-US"/>
            </a:defPPr>
            <a:lvl1pPr>
              <a:defRPr sz="2800"/>
            </a:lvl1pPr>
          </a:lstStyle>
          <a:p>
            <a:r>
              <a:rPr lang="en-US" sz="2400" dirty="0"/>
              <a:t>B</a:t>
            </a:r>
          </a:p>
        </p:txBody>
      </p:sp>
      <p:sp>
        <p:nvSpPr>
          <p:cNvPr id="206" name="Oval 205">
            <a:extLst>
              <a:ext uri="{FF2B5EF4-FFF2-40B4-BE49-F238E27FC236}">
                <a16:creationId xmlns:a16="http://schemas.microsoft.com/office/drawing/2014/main" id="{A4197692-1A04-EA71-457D-175797FDA5CE}"/>
              </a:ext>
            </a:extLst>
          </p:cNvPr>
          <p:cNvSpPr/>
          <p:nvPr/>
        </p:nvSpPr>
        <p:spPr>
          <a:xfrm rot="5400000">
            <a:off x="3636894" y="587867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207" name="TextBox 206"/>
          <p:cNvSpPr txBox="1"/>
          <p:nvPr/>
        </p:nvSpPr>
        <p:spPr>
          <a:xfrm>
            <a:off x="3532403" y="5950996"/>
            <a:ext cx="360996" cy="461665"/>
          </a:xfrm>
          <a:prstGeom prst="rect">
            <a:avLst/>
          </a:prstGeom>
          <a:noFill/>
        </p:spPr>
        <p:txBody>
          <a:bodyPr wrap="none" rtlCol="0">
            <a:spAutoFit/>
          </a:bodyPr>
          <a:lstStyle>
            <a:defPPr>
              <a:defRPr lang="en-US"/>
            </a:defPPr>
            <a:lvl1pPr>
              <a:defRPr sz="2800"/>
            </a:lvl1pPr>
          </a:lstStyle>
          <a:p>
            <a:r>
              <a:rPr lang="en-US" sz="2400" dirty="0"/>
              <a:t>D</a:t>
            </a:r>
          </a:p>
        </p:txBody>
      </p:sp>
      <p:sp>
        <p:nvSpPr>
          <p:cNvPr id="208" name="Oval 207">
            <a:extLst>
              <a:ext uri="{FF2B5EF4-FFF2-40B4-BE49-F238E27FC236}">
                <a16:creationId xmlns:a16="http://schemas.microsoft.com/office/drawing/2014/main" id="{A4197692-1A04-EA71-457D-175797FDA5CE}"/>
              </a:ext>
            </a:extLst>
          </p:cNvPr>
          <p:cNvSpPr/>
          <p:nvPr/>
        </p:nvSpPr>
        <p:spPr>
          <a:xfrm rot="5400000">
            <a:off x="5520044" y="587867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209" name="TextBox 208"/>
          <p:cNvSpPr txBox="1"/>
          <p:nvPr/>
        </p:nvSpPr>
        <p:spPr>
          <a:xfrm>
            <a:off x="5415553" y="5950996"/>
            <a:ext cx="360996" cy="461665"/>
          </a:xfrm>
          <a:prstGeom prst="rect">
            <a:avLst/>
          </a:prstGeom>
          <a:noFill/>
        </p:spPr>
        <p:txBody>
          <a:bodyPr wrap="none" rtlCol="0">
            <a:spAutoFit/>
          </a:bodyPr>
          <a:lstStyle>
            <a:defPPr>
              <a:defRPr lang="en-US"/>
            </a:defPPr>
            <a:lvl1pPr>
              <a:defRPr sz="2800"/>
            </a:lvl1pPr>
          </a:lstStyle>
          <a:p>
            <a:r>
              <a:rPr lang="en-US" sz="2400" dirty="0"/>
              <a:t>D</a:t>
            </a:r>
          </a:p>
        </p:txBody>
      </p:sp>
      <p:sp>
        <p:nvSpPr>
          <p:cNvPr id="210" name="Oval 209">
            <a:extLst>
              <a:ext uri="{FF2B5EF4-FFF2-40B4-BE49-F238E27FC236}">
                <a16:creationId xmlns:a16="http://schemas.microsoft.com/office/drawing/2014/main" id="{A4197692-1A04-EA71-457D-175797FDA5CE}"/>
              </a:ext>
            </a:extLst>
          </p:cNvPr>
          <p:cNvSpPr/>
          <p:nvPr/>
        </p:nvSpPr>
        <p:spPr>
          <a:xfrm rot="5400000">
            <a:off x="9627698" y="5821024"/>
            <a:ext cx="144000" cy="1373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211" name="TextBox 210"/>
          <p:cNvSpPr txBox="1"/>
          <p:nvPr/>
        </p:nvSpPr>
        <p:spPr>
          <a:xfrm>
            <a:off x="9520677" y="5894434"/>
            <a:ext cx="344328" cy="461665"/>
          </a:xfrm>
          <a:prstGeom prst="rect">
            <a:avLst/>
          </a:prstGeom>
          <a:noFill/>
        </p:spPr>
        <p:txBody>
          <a:bodyPr wrap="square" rtlCol="0">
            <a:spAutoFit/>
          </a:bodyPr>
          <a:lstStyle>
            <a:defPPr>
              <a:defRPr lang="en-US"/>
            </a:defPPr>
            <a:lvl1pPr>
              <a:defRPr sz="2800"/>
            </a:lvl1pPr>
          </a:lstStyle>
          <a:p>
            <a:r>
              <a:rPr lang="en-US" sz="2400" dirty="0"/>
              <a:t>D</a:t>
            </a:r>
          </a:p>
        </p:txBody>
      </p:sp>
      <p:cxnSp>
        <p:nvCxnSpPr>
          <p:cNvPr id="212" name="Straight Connector 211">
            <a:extLst>
              <a:ext uri="{FF2B5EF4-FFF2-40B4-BE49-F238E27FC236}">
                <a16:creationId xmlns:a16="http://schemas.microsoft.com/office/drawing/2014/main" id="{66EA08EA-10E8-07B3-809B-572189B302D2}"/>
              </a:ext>
            </a:extLst>
          </p:cNvPr>
          <p:cNvCxnSpPr>
            <a:cxnSpLocks/>
            <a:stCxn id="206" idx="3"/>
            <a:endCxn id="183" idx="7"/>
          </p:cNvCxnSpPr>
          <p:nvPr/>
        </p:nvCxnSpPr>
        <p:spPr>
          <a:xfrm flipH="1" flipV="1">
            <a:off x="2350156" y="4609201"/>
            <a:ext cx="1307826" cy="129056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13" name="Straight Connector 212">
            <a:extLst>
              <a:ext uri="{FF2B5EF4-FFF2-40B4-BE49-F238E27FC236}">
                <a16:creationId xmlns:a16="http://schemas.microsoft.com/office/drawing/2014/main" id="{66EA08EA-10E8-07B3-809B-572189B302D2}"/>
              </a:ext>
            </a:extLst>
          </p:cNvPr>
          <p:cNvCxnSpPr>
            <a:cxnSpLocks/>
            <a:stCxn id="190" idx="6"/>
            <a:endCxn id="208" idx="2"/>
          </p:cNvCxnSpPr>
          <p:nvPr/>
        </p:nvCxnSpPr>
        <p:spPr>
          <a:xfrm flipH="1">
            <a:off x="5592044" y="4627907"/>
            <a:ext cx="9935" cy="125076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14" name="Straight Connector 213">
            <a:extLst>
              <a:ext uri="{FF2B5EF4-FFF2-40B4-BE49-F238E27FC236}">
                <a16:creationId xmlns:a16="http://schemas.microsoft.com/office/drawing/2014/main" id="{66EA08EA-10E8-07B3-809B-572189B302D2}"/>
              </a:ext>
            </a:extLst>
          </p:cNvPr>
          <p:cNvCxnSpPr>
            <a:cxnSpLocks/>
            <a:stCxn id="210" idx="4"/>
            <a:endCxn id="200" idx="0"/>
          </p:cNvCxnSpPr>
          <p:nvPr/>
        </p:nvCxnSpPr>
        <p:spPr>
          <a:xfrm flipH="1">
            <a:off x="8339916" y="5889700"/>
            <a:ext cx="1291107" cy="161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15" name="Oval 214">
            <a:extLst>
              <a:ext uri="{FF2B5EF4-FFF2-40B4-BE49-F238E27FC236}">
                <a16:creationId xmlns:a16="http://schemas.microsoft.com/office/drawing/2014/main" id="{A4197692-1A04-EA71-457D-175797FDA5CE}"/>
              </a:ext>
            </a:extLst>
          </p:cNvPr>
          <p:cNvSpPr/>
          <p:nvPr/>
        </p:nvSpPr>
        <p:spPr>
          <a:xfrm rot="5400000">
            <a:off x="7538358" y="448152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216" name="Oval 215">
            <a:extLst>
              <a:ext uri="{FF2B5EF4-FFF2-40B4-BE49-F238E27FC236}">
                <a16:creationId xmlns:a16="http://schemas.microsoft.com/office/drawing/2014/main" id="{A4197692-1A04-EA71-457D-175797FDA5CE}"/>
              </a:ext>
            </a:extLst>
          </p:cNvPr>
          <p:cNvSpPr/>
          <p:nvPr/>
        </p:nvSpPr>
        <p:spPr>
          <a:xfrm rot="5400000">
            <a:off x="6127063" y="448628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217" name="Oval 216">
            <a:extLst>
              <a:ext uri="{FF2B5EF4-FFF2-40B4-BE49-F238E27FC236}">
                <a16:creationId xmlns:a16="http://schemas.microsoft.com/office/drawing/2014/main" id="{A4197692-1A04-EA71-457D-175797FDA5CE}"/>
              </a:ext>
            </a:extLst>
          </p:cNvPr>
          <p:cNvSpPr/>
          <p:nvPr/>
        </p:nvSpPr>
        <p:spPr>
          <a:xfrm rot="5400000">
            <a:off x="6123977" y="587022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cxnSp>
        <p:nvCxnSpPr>
          <p:cNvPr id="218" name="Straight Connector 217">
            <a:extLst>
              <a:ext uri="{FF2B5EF4-FFF2-40B4-BE49-F238E27FC236}">
                <a16:creationId xmlns:a16="http://schemas.microsoft.com/office/drawing/2014/main" id="{66EA08EA-10E8-07B3-809B-572189B302D2}"/>
              </a:ext>
            </a:extLst>
          </p:cNvPr>
          <p:cNvCxnSpPr>
            <a:cxnSpLocks/>
            <a:stCxn id="215" idx="6"/>
            <a:endCxn id="222" idx="2"/>
          </p:cNvCxnSpPr>
          <p:nvPr/>
        </p:nvCxnSpPr>
        <p:spPr>
          <a:xfrm>
            <a:off x="7610358" y="4625526"/>
            <a:ext cx="11184" cy="124546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19" name="TextBox 218"/>
          <p:cNvSpPr txBox="1"/>
          <p:nvPr/>
        </p:nvSpPr>
        <p:spPr>
          <a:xfrm>
            <a:off x="5999900" y="4033072"/>
            <a:ext cx="362600" cy="461665"/>
          </a:xfrm>
          <a:prstGeom prst="rect">
            <a:avLst/>
          </a:prstGeom>
          <a:noFill/>
        </p:spPr>
        <p:txBody>
          <a:bodyPr wrap="none" rtlCol="0">
            <a:spAutoFit/>
          </a:bodyPr>
          <a:lstStyle>
            <a:defPPr>
              <a:defRPr lang="en-US"/>
            </a:defPPr>
            <a:lvl1pPr>
              <a:defRPr sz="2800"/>
            </a:lvl1pPr>
          </a:lstStyle>
          <a:p>
            <a:r>
              <a:rPr lang="en-US" sz="2400" dirty="0"/>
              <a:t>A</a:t>
            </a:r>
          </a:p>
        </p:txBody>
      </p:sp>
      <p:sp>
        <p:nvSpPr>
          <p:cNvPr id="220" name="TextBox 219"/>
          <p:cNvSpPr txBox="1"/>
          <p:nvPr/>
        </p:nvSpPr>
        <p:spPr>
          <a:xfrm>
            <a:off x="5999900" y="5950996"/>
            <a:ext cx="392154" cy="461665"/>
          </a:xfrm>
          <a:prstGeom prst="rect">
            <a:avLst/>
          </a:prstGeom>
          <a:noFill/>
        </p:spPr>
        <p:txBody>
          <a:bodyPr wrap="square" rtlCol="0">
            <a:spAutoFit/>
          </a:bodyPr>
          <a:lstStyle>
            <a:defPPr>
              <a:defRPr lang="en-US"/>
            </a:defPPr>
            <a:lvl1pPr>
              <a:defRPr sz="2800"/>
            </a:lvl1pPr>
          </a:lstStyle>
          <a:p>
            <a:r>
              <a:rPr lang="en-US" sz="2400" dirty="0"/>
              <a:t>C</a:t>
            </a:r>
          </a:p>
        </p:txBody>
      </p:sp>
      <p:sp>
        <p:nvSpPr>
          <p:cNvPr id="221" name="TextBox 220"/>
          <p:cNvSpPr txBox="1"/>
          <p:nvPr/>
        </p:nvSpPr>
        <p:spPr>
          <a:xfrm>
            <a:off x="7433867" y="4033071"/>
            <a:ext cx="352982" cy="461665"/>
          </a:xfrm>
          <a:prstGeom prst="rect">
            <a:avLst/>
          </a:prstGeom>
          <a:noFill/>
        </p:spPr>
        <p:txBody>
          <a:bodyPr wrap="none" rtlCol="0">
            <a:spAutoFit/>
          </a:bodyPr>
          <a:lstStyle>
            <a:defPPr>
              <a:defRPr lang="en-US"/>
            </a:defPPr>
            <a:lvl1pPr>
              <a:defRPr sz="2800"/>
            </a:lvl1pPr>
          </a:lstStyle>
          <a:p>
            <a:r>
              <a:rPr lang="en-US" sz="2400" dirty="0"/>
              <a:t>B</a:t>
            </a:r>
          </a:p>
        </p:txBody>
      </p:sp>
      <p:sp>
        <p:nvSpPr>
          <p:cNvPr id="222" name="Oval 221">
            <a:extLst>
              <a:ext uri="{FF2B5EF4-FFF2-40B4-BE49-F238E27FC236}">
                <a16:creationId xmlns:a16="http://schemas.microsoft.com/office/drawing/2014/main" id="{A4197692-1A04-EA71-457D-175797FDA5CE}"/>
              </a:ext>
            </a:extLst>
          </p:cNvPr>
          <p:cNvSpPr/>
          <p:nvPr/>
        </p:nvSpPr>
        <p:spPr>
          <a:xfrm rot="5400000">
            <a:off x="7549542" y="5874317"/>
            <a:ext cx="144000" cy="1373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223" name="TextBox 222"/>
          <p:cNvSpPr txBox="1"/>
          <p:nvPr/>
        </p:nvSpPr>
        <p:spPr>
          <a:xfrm>
            <a:off x="7442521" y="5947727"/>
            <a:ext cx="344328" cy="461665"/>
          </a:xfrm>
          <a:prstGeom prst="rect">
            <a:avLst/>
          </a:prstGeom>
          <a:noFill/>
        </p:spPr>
        <p:txBody>
          <a:bodyPr wrap="square" rtlCol="0">
            <a:spAutoFit/>
          </a:bodyPr>
          <a:lstStyle>
            <a:defPPr>
              <a:defRPr lang="en-US"/>
            </a:defPPr>
            <a:lvl1pPr>
              <a:defRPr sz="2800"/>
            </a:lvl1pPr>
          </a:lstStyle>
          <a:p>
            <a:r>
              <a:rPr lang="en-US" sz="2400" dirty="0"/>
              <a:t>D</a:t>
            </a:r>
          </a:p>
        </p:txBody>
      </p:sp>
      <p:cxnSp>
        <p:nvCxnSpPr>
          <p:cNvPr id="224" name="Straight Connector 223">
            <a:extLst>
              <a:ext uri="{FF2B5EF4-FFF2-40B4-BE49-F238E27FC236}">
                <a16:creationId xmlns:a16="http://schemas.microsoft.com/office/drawing/2014/main" id="{66EA08EA-10E8-07B3-809B-572189B302D2}"/>
              </a:ext>
            </a:extLst>
          </p:cNvPr>
          <p:cNvCxnSpPr>
            <a:cxnSpLocks/>
            <a:stCxn id="222" idx="4"/>
            <a:endCxn id="217" idx="0"/>
          </p:cNvCxnSpPr>
          <p:nvPr/>
        </p:nvCxnSpPr>
        <p:spPr>
          <a:xfrm flipH="1" flipV="1">
            <a:off x="6267977" y="5942228"/>
            <a:ext cx="1284890" cy="76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25" name="Straight Connector 224">
            <a:extLst>
              <a:ext uri="{FF2B5EF4-FFF2-40B4-BE49-F238E27FC236}">
                <a16:creationId xmlns:a16="http://schemas.microsoft.com/office/drawing/2014/main" id="{66EA08EA-10E8-07B3-809B-572189B302D2}"/>
              </a:ext>
            </a:extLst>
          </p:cNvPr>
          <p:cNvCxnSpPr>
            <a:cxnSpLocks/>
            <a:stCxn id="222" idx="3"/>
            <a:endCxn id="216" idx="7"/>
          </p:cNvCxnSpPr>
          <p:nvPr/>
        </p:nvCxnSpPr>
        <p:spPr>
          <a:xfrm flipH="1" flipV="1">
            <a:off x="6249975" y="4609201"/>
            <a:ext cx="1323007" cy="128288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226" name="Rectangle 225"/>
              <p:cNvSpPr/>
              <p:nvPr/>
            </p:nvSpPr>
            <p:spPr>
              <a:xfrm>
                <a:off x="2860595" y="824630"/>
                <a:ext cx="6470811" cy="738664"/>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r>
                        <m:rPr>
                          <m:sty m:val="p"/>
                        </m:rPr>
                        <a:rPr lang="en-US" sz="2800" b="0" i="0" smtClean="0">
                          <a:latin typeface="Cambria Math" panose="02040503050406030204" pitchFamily="18" charset="0"/>
                        </a:rPr>
                        <m:t>n</m:t>
                      </m:r>
                      <m:r>
                        <a:rPr lang="en-US" sz="2800" b="0" i="0" smtClean="0">
                          <a:latin typeface="Cambria Math" panose="02040503050406030204" pitchFamily="18" charset="0"/>
                        </a:rPr>
                        <m:t>=4⇒</m:t>
                      </m:r>
                      <m:r>
                        <m:rPr>
                          <m:nor/>
                        </m:rPr>
                        <a:rPr lang="en-US" sz="2800" dirty="0">
                          <a:solidFill>
                            <a:srgbClr val="002060"/>
                          </a:solidFill>
                        </a:rPr>
                        <m:t>number</m:t>
                      </m:r>
                      <m:r>
                        <m:rPr>
                          <m:nor/>
                        </m:rPr>
                        <a:rPr lang="en-US" sz="2800" dirty="0">
                          <a:solidFill>
                            <a:srgbClr val="002060"/>
                          </a:solidFill>
                        </a:rPr>
                        <m:t> </m:t>
                      </m:r>
                      <m:r>
                        <m:rPr>
                          <m:nor/>
                        </m:rPr>
                        <a:rPr lang="en-US" sz="2800" dirty="0">
                          <a:solidFill>
                            <a:srgbClr val="002060"/>
                          </a:solidFill>
                        </a:rPr>
                        <m:t>of</m:t>
                      </m:r>
                      <m:r>
                        <m:rPr>
                          <m:nor/>
                        </m:rPr>
                        <a:rPr lang="en-US" sz="2800" dirty="0">
                          <a:solidFill>
                            <a:srgbClr val="002060"/>
                          </a:solidFill>
                        </a:rPr>
                        <m:t> </m:t>
                      </m:r>
                      <m:r>
                        <m:rPr>
                          <m:nor/>
                        </m:rPr>
                        <a:rPr lang="en-US" sz="2800" dirty="0">
                          <a:solidFill>
                            <a:srgbClr val="002060"/>
                          </a:solidFill>
                        </a:rPr>
                        <m:t>labeled</m:t>
                      </m:r>
                      <m:r>
                        <m:rPr>
                          <m:nor/>
                        </m:rPr>
                        <a:rPr lang="en-US" sz="2800" dirty="0">
                          <a:solidFill>
                            <a:srgbClr val="002060"/>
                          </a:solidFill>
                        </a:rPr>
                        <m:t> </m:t>
                      </m:r>
                      <m:r>
                        <m:rPr>
                          <m:nor/>
                        </m:rPr>
                        <a:rPr lang="en-US" sz="2800" dirty="0">
                          <a:solidFill>
                            <a:srgbClr val="002060"/>
                          </a:solidFill>
                        </a:rPr>
                        <m:t>trees</m:t>
                      </m:r>
                      <m:r>
                        <a:rPr lang="en-US" sz="2800" b="0" i="0" dirty="0" smtClean="0">
                          <a:solidFill>
                            <a:srgbClr val="002060"/>
                          </a:solidFill>
                          <a:latin typeface="Cambria Math" panose="02040503050406030204" pitchFamily="18" charset="0"/>
                        </a:rPr>
                        <m:t>=</m:t>
                      </m:r>
                      <m:r>
                        <a:rPr lang="en-US" sz="2800" b="0" i="0" smtClean="0">
                          <a:latin typeface="Cambria Math" panose="02040503050406030204" pitchFamily="18" charset="0"/>
                        </a:rPr>
                        <m:t>16</m:t>
                      </m:r>
                    </m:oMath>
                  </m:oMathPara>
                </a14:m>
                <a:endParaRPr lang="en-US" sz="2800" dirty="0"/>
              </a:p>
            </p:txBody>
          </p:sp>
        </mc:Choice>
        <mc:Fallback xmlns="">
          <p:sp>
            <p:nvSpPr>
              <p:cNvPr id="226" name="Rectangle 225"/>
              <p:cNvSpPr>
                <a:spLocks noRot="1" noChangeAspect="1" noMove="1" noResize="1" noEditPoints="1" noAdjustHandles="1" noChangeArrowheads="1" noChangeShapeType="1" noTextEdit="1"/>
              </p:cNvSpPr>
              <p:nvPr/>
            </p:nvSpPr>
            <p:spPr>
              <a:xfrm>
                <a:off x="2860595" y="824630"/>
                <a:ext cx="6470811" cy="738664"/>
              </a:xfrm>
              <a:prstGeom prst="rect">
                <a:avLst/>
              </a:prstGeom>
              <a:blipFill rotWithShape="0">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388413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5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6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4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4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4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6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4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50"/>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6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7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7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7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7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7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7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7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78"/>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174"/>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80"/>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81"/>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159"/>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60"/>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61"/>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67"/>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55"/>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54"/>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56"/>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66"/>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157"/>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158"/>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170"/>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187"/>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88"/>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89"/>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207"/>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83"/>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82"/>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84"/>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206"/>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nodeType="clickEffect">
                                  <p:stCondLst>
                                    <p:cond delay="0"/>
                                  </p:stCondLst>
                                  <p:childTnLst>
                                    <p:set>
                                      <p:cBhvr>
                                        <p:cTn id="132" dur="1" fill="hold">
                                          <p:stCondLst>
                                            <p:cond delay="0"/>
                                          </p:stCondLst>
                                        </p:cTn>
                                        <p:tgtEl>
                                          <p:spTgt spid="186"/>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185"/>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212"/>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195"/>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196"/>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197"/>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209"/>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191"/>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190"/>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192"/>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208"/>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193"/>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194"/>
                                        </p:tgtEl>
                                        <p:attrNameLst>
                                          <p:attrName>style.visibility</p:attrName>
                                        </p:attrNameLst>
                                      </p:cBhvr>
                                      <p:to>
                                        <p:strVal val="visible"/>
                                      </p:to>
                                    </p:set>
                                  </p:childTnLst>
                                </p:cTn>
                              </p:par>
                              <p:par>
                                <p:cTn id="161" presetID="1" presetClass="entr" presetSubtype="0" fill="hold" nodeType="withEffect">
                                  <p:stCondLst>
                                    <p:cond delay="0"/>
                                  </p:stCondLst>
                                  <p:childTnLst>
                                    <p:set>
                                      <p:cBhvr>
                                        <p:cTn id="162" dur="1" fill="hold">
                                          <p:stCondLst>
                                            <p:cond delay="0"/>
                                          </p:stCondLst>
                                        </p:cTn>
                                        <p:tgtEl>
                                          <p:spTgt spid="213"/>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219"/>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220"/>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221"/>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216"/>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215"/>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217"/>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223"/>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222"/>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nodeType="clickEffect">
                                  <p:stCondLst>
                                    <p:cond delay="0"/>
                                  </p:stCondLst>
                                  <p:childTnLst>
                                    <p:set>
                                      <p:cBhvr>
                                        <p:cTn id="184" dur="1" fill="hold">
                                          <p:stCondLst>
                                            <p:cond delay="0"/>
                                          </p:stCondLst>
                                        </p:cTn>
                                        <p:tgtEl>
                                          <p:spTgt spid="218"/>
                                        </p:tgtEl>
                                        <p:attrNameLst>
                                          <p:attrName>style.visibility</p:attrName>
                                        </p:attrNameLst>
                                      </p:cBhvr>
                                      <p:to>
                                        <p:strVal val="visible"/>
                                      </p:to>
                                    </p:set>
                                  </p:childTnLst>
                                </p:cTn>
                              </p:par>
                              <p:par>
                                <p:cTn id="185" presetID="1" presetClass="entr" presetSubtype="0" fill="hold" nodeType="withEffect">
                                  <p:stCondLst>
                                    <p:cond delay="0"/>
                                  </p:stCondLst>
                                  <p:childTnLst>
                                    <p:set>
                                      <p:cBhvr>
                                        <p:cTn id="186" dur="1" fill="hold">
                                          <p:stCondLst>
                                            <p:cond delay="0"/>
                                          </p:stCondLst>
                                        </p:cTn>
                                        <p:tgtEl>
                                          <p:spTgt spid="224"/>
                                        </p:tgtEl>
                                        <p:attrNameLst>
                                          <p:attrName>style.visibility</p:attrName>
                                        </p:attrNameLst>
                                      </p:cBhvr>
                                      <p:to>
                                        <p:strVal val="visible"/>
                                      </p:to>
                                    </p:set>
                                  </p:childTnLst>
                                </p:cTn>
                              </p:par>
                              <p:par>
                                <p:cTn id="187" presetID="1" presetClass="entr" presetSubtype="0" fill="hold" nodeType="withEffect">
                                  <p:stCondLst>
                                    <p:cond delay="0"/>
                                  </p:stCondLst>
                                  <p:childTnLst>
                                    <p:set>
                                      <p:cBhvr>
                                        <p:cTn id="188" dur="1" fill="hold">
                                          <p:stCondLst>
                                            <p:cond delay="0"/>
                                          </p:stCondLst>
                                        </p:cTn>
                                        <p:tgtEl>
                                          <p:spTgt spid="225"/>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presetID="1" presetClass="entr" presetSubtype="0" fill="hold" grpId="0" nodeType="clickEffect">
                                  <p:stCondLst>
                                    <p:cond delay="0"/>
                                  </p:stCondLst>
                                  <p:childTnLst>
                                    <p:set>
                                      <p:cBhvr>
                                        <p:cTn id="192" dur="1" fill="hold">
                                          <p:stCondLst>
                                            <p:cond delay="0"/>
                                          </p:stCondLst>
                                        </p:cTn>
                                        <p:tgtEl>
                                          <p:spTgt spid="203"/>
                                        </p:tgtEl>
                                        <p:attrNameLst>
                                          <p:attrName>style.visibility</p:attrName>
                                        </p:attrNameLst>
                                      </p:cBhvr>
                                      <p:to>
                                        <p:strVal val="visible"/>
                                      </p:to>
                                    </p:set>
                                  </p:childTnLst>
                                </p:cTn>
                              </p:par>
                              <p:par>
                                <p:cTn id="193" presetID="1" presetClass="entr" presetSubtype="0" fill="hold" grpId="0" nodeType="withEffect">
                                  <p:stCondLst>
                                    <p:cond delay="0"/>
                                  </p:stCondLst>
                                  <p:childTnLst>
                                    <p:set>
                                      <p:cBhvr>
                                        <p:cTn id="194" dur="1" fill="hold">
                                          <p:stCondLst>
                                            <p:cond delay="0"/>
                                          </p:stCondLst>
                                        </p:cTn>
                                        <p:tgtEl>
                                          <p:spTgt spid="204"/>
                                        </p:tgtEl>
                                        <p:attrNameLst>
                                          <p:attrName>style.visibility</p:attrName>
                                        </p:attrNameLst>
                                      </p:cBhvr>
                                      <p:to>
                                        <p:strVal val="visible"/>
                                      </p:to>
                                    </p:set>
                                  </p:childTnLst>
                                </p:cTn>
                              </p:par>
                              <p:par>
                                <p:cTn id="195" presetID="1" presetClass="entr" presetSubtype="0" fill="hold" grpId="0" nodeType="withEffect">
                                  <p:stCondLst>
                                    <p:cond delay="0"/>
                                  </p:stCondLst>
                                  <p:childTnLst>
                                    <p:set>
                                      <p:cBhvr>
                                        <p:cTn id="196" dur="1" fill="hold">
                                          <p:stCondLst>
                                            <p:cond delay="0"/>
                                          </p:stCondLst>
                                        </p:cTn>
                                        <p:tgtEl>
                                          <p:spTgt spid="205"/>
                                        </p:tgtEl>
                                        <p:attrNameLst>
                                          <p:attrName>style.visibility</p:attrName>
                                        </p:attrNameLst>
                                      </p:cBhvr>
                                      <p:to>
                                        <p:strVal val="visible"/>
                                      </p:to>
                                    </p:set>
                                  </p:childTnLst>
                                </p:cTn>
                              </p:par>
                              <p:par>
                                <p:cTn id="197" presetID="1" presetClass="entr" presetSubtype="0" fill="hold" grpId="0" nodeType="withEffect">
                                  <p:stCondLst>
                                    <p:cond delay="0"/>
                                  </p:stCondLst>
                                  <p:childTnLst>
                                    <p:set>
                                      <p:cBhvr>
                                        <p:cTn id="198" dur="1" fill="hold">
                                          <p:stCondLst>
                                            <p:cond delay="0"/>
                                          </p:stCondLst>
                                        </p:cTn>
                                        <p:tgtEl>
                                          <p:spTgt spid="211"/>
                                        </p:tgtEl>
                                        <p:attrNameLst>
                                          <p:attrName>style.visibility</p:attrName>
                                        </p:attrNameLst>
                                      </p:cBhvr>
                                      <p:to>
                                        <p:strVal val="visible"/>
                                      </p:to>
                                    </p:set>
                                  </p:childTnLst>
                                </p:cTn>
                              </p:par>
                              <p:par>
                                <p:cTn id="199" presetID="1" presetClass="entr" presetSubtype="0" fill="hold" grpId="0" nodeType="withEffect">
                                  <p:stCondLst>
                                    <p:cond delay="0"/>
                                  </p:stCondLst>
                                  <p:childTnLst>
                                    <p:set>
                                      <p:cBhvr>
                                        <p:cTn id="200" dur="1" fill="hold">
                                          <p:stCondLst>
                                            <p:cond delay="0"/>
                                          </p:stCondLst>
                                        </p:cTn>
                                        <p:tgtEl>
                                          <p:spTgt spid="199"/>
                                        </p:tgtEl>
                                        <p:attrNameLst>
                                          <p:attrName>style.visibility</p:attrName>
                                        </p:attrNameLst>
                                      </p:cBhvr>
                                      <p:to>
                                        <p:strVal val="visible"/>
                                      </p:to>
                                    </p:set>
                                  </p:childTnLst>
                                </p:cTn>
                              </p:par>
                              <p:par>
                                <p:cTn id="201" presetID="1" presetClass="entr" presetSubtype="0" fill="hold" grpId="0" nodeType="withEffect">
                                  <p:stCondLst>
                                    <p:cond delay="0"/>
                                  </p:stCondLst>
                                  <p:childTnLst>
                                    <p:set>
                                      <p:cBhvr>
                                        <p:cTn id="202" dur="1" fill="hold">
                                          <p:stCondLst>
                                            <p:cond delay="0"/>
                                          </p:stCondLst>
                                        </p:cTn>
                                        <p:tgtEl>
                                          <p:spTgt spid="198"/>
                                        </p:tgtEl>
                                        <p:attrNameLst>
                                          <p:attrName>style.visibility</p:attrName>
                                        </p:attrNameLst>
                                      </p:cBhvr>
                                      <p:to>
                                        <p:strVal val="visible"/>
                                      </p:to>
                                    </p:set>
                                  </p:childTnLst>
                                </p:cTn>
                              </p:par>
                              <p:par>
                                <p:cTn id="203" presetID="1" presetClass="entr" presetSubtype="0" fill="hold" grpId="0" nodeType="withEffect">
                                  <p:stCondLst>
                                    <p:cond delay="0"/>
                                  </p:stCondLst>
                                  <p:childTnLst>
                                    <p:set>
                                      <p:cBhvr>
                                        <p:cTn id="204" dur="1" fill="hold">
                                          <p:stCondLst>
                                            <p:cond delay="0"/>
                                          </p:stCondLst>
                                        </p:cTn>
                                        <p:tgtEl>
                                          <p:spTgt spid="200"/>
                                        </p:tgtEl>
                                        <p:attrNameLst>
                                          <p:attrName>style.visibility</p:attrName>
                                        </p:attrNameLst>
                                      </p:cBhvr>
                                      <p:to>
                                        <p:strVal val="visible"/>
                                      </p:to>
                                    </p:set>
                                  </p:childTnLst>
                                </p:cTn>
                              </p:par>
                              <p:par>
                                <p:cTn id="205" presetID="1" presetClass="entr" presetSubtype="0" fill="hold" grpId="0" nodeType="withEffect">
                                  <p:stCondLst>
                                    <p:cond delay="0"/>
                                  </p:stCondLst>
                                  <p:childTnLst>
                                    <p:set>
                                      <p:cBhvr>
                                        <p:cTn id="206" dur="1" fill="hold">
                                          <p:stCondLst>
                                            <p:cond delay="0"/>
                                          </p:stCondLst>
                                        </p:cTn>
                                        <p:tgtEl>
                                          <p:spTgt spid="210"/>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1" presetClass="entr" presetSubtype="0" fill="hold" nodeType="clickEffect">
                                  <p:stCondLst>
                                    <p:cond delay="0"/>
                                  </p:stCondLst>
                                  <p:childTnLst>
                                    <p:set>
                                      <p:cBhvr>
                                        <p:cTn id="210" dur="1" fill="hold">
                                          <p:stCondLst>
                                            <p:cond delay="0"/>
                                          </p:stCondLst>
                                        </p:cTn>
                                        <p:tgtEl>
                                          <p:spTgt spid="201"/>
                                        </p:tgtEl>
                                        <p:attrNameLst>
                                          <p:attrName>style.visibility</p:attrName>
                                        </p:attrNameLst>
                                      </p:cBhvr>
                                      <p:to>
                                        <p:strVal val="visible"/>
                                      </p:to>
                                    </p:set>
                                  </p:childTnLst>
                                </p:cTn>
                              </p:par>
                              <p:par>
                                <p:cTn id="211" presetID="1" presetClass="entr" presetSubtype="0" fill="hold" nodeType="withEffect">
                                  <p:stCondLst>
                                    <p:cond delay="0"/>
                                  </p:stCondLst>
                                  <p:childTnLst>
                                    <p:set>
                                      <p:cBhvr>
                                        <p:cTn id="212" dur="1" fill="hold">
                                          <p:stCondLst>
                                            <p:cond delay="0"/>
                                          </p:stCondLst>
                                        </p:cTn>
                                        <p:tgtEl>
                                          <p:spTgt spid="202"/>
                                        </p:tgtEl>
                                        <p:attrNameLst>
                                          <p:attrName>style.visibility</p:attrName>
                                        </p:attrNameLst>
                                      </p:cBhvr>
                                      <p:to>
                                        <p:strVal val="visible"/>
                                      </p:to>
                                    </p:set>
                                  </p:childTnLst>
                                </p:cTn>
                              </p:par>
                              <p:par>
                                <p:cTn id="213" presetID="1" presetClass="entr" presetSubtype="0" fill="hold" nodeType="withEffect">
                                  <p:stCondLst>
                                    <p:cond delay="0"/>
                                  </p:stCondLst>
                                  <p:childTnLst>
                                    <p:set>
                                      <p:cBhvr>
                                        <p:cTn id="214" dur="1" fill="hold">
                                          <p:stCondLst>
                                            <p:cond delay="0"/>
                                          </p:stCondLst>
                                        </p:cTn>
                                        <p:tgtEl>
                                          <p:spTgt spid="2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animBg="1"/>
      <p:bldP spid="139" grpId="0" animBg="1"/>
      <p:bldP spid="140" grpId="0" animBg="1"/>
      <p:bldP spid="143" grpId="0"/>
      <p:bldP spid="144" grpId="0"/>
      <p:bldP spid="145" grpId="0"/>
      <p:bldP spid="146" grpId="0" animBg="1"/>
      <p:bldP spid="147" grpId="0" animBg="1"/>
      <p:bldP spid="148" grpId="0" animBg="1"/>
      <p:bldP spid="151" grpId="0"/>
      <p:bldP spid="152" grpId="0"/>
      <p:bldP spid="153" grpId="0"/>
      <p:bldP spid="154" grpId="0" animBg="1"/>
      <p:bldP spid="155" grpId="0" animBg="1"/>
      <p:bldP spid="156" grpId="0" animBg="1"/>
      <p:bldP spid="159" grpId="0"/>
      <p:bldP spid="160" grpId="0"/>
      <p:bldP spid="161" grpId="0"/>
      <p:bldP spid="162" grpId="0" animBg="1"/>
      <p:bldP spid="163" grpId="0"/>
      <p:bldP spid="164" grpId="0" animBg="1"/>
      <p:bldP spid="165" grpId="0"/>
      <p:bldP spid="166" grpId="0" animBg="1"/>
      <p:bldP spid="167" grpId="0"/>
      <p:bldP spid="171" grpId="0" animBg="1"/>
      <p:bldP spid="172" grpId="0" animBg="1"/>
      <p:bldP spid="173" grpId="0" animBg="1"/>
      <p:bldP spid="175" grpId="0"/>
      <p:bldP spid="176" grpId="0"/>
      <p:bldP spid="177" grpId="0"/>
      <p:bldP spid="178" grpId="0" animBg="1"/>
      <p:bldP spid="179" grpId="0"/>
      <p:bldP spid="182" grpId="0" animBg="1"/>
      <p:bldP spid="183" grpId="0" animBg="1"/>
      <p:bldP spid="184" grpId="0" animBg="1"/>
      <p:bldP spid="187" grpId="0"/>
      <p:bldP spid="188" grpId="0"/>
      <p:bldP spid="189" grpId="0"/>
      <p:bldP spid="190" grpId="0" animBg="1"/>
      <p:bldP spid="191" grpId="0" animBg="1"/>
      <p:bldP spid="192" grpId="0" animBg="1"/>
      <p:bldP spid="195" grpId="0"/>
      <p:bldP spid="196" grpId="0"/>
      <p:bldP spid="197" grpId="0"/>
      <p:bldP spid="198" grpId="0" animBg="1"/>
      <p:bldP spid="199" grpId="0" animBg="1"/>
      <p:bldP spid="200" grpId="0" animBg="1"/>
      <p:bldP spid="203" grpId="0"/>
      <p:bldP spid="204" grpId="0"/>
      <p:bldP spid="205" grpId="0"/>
      <p:bldP spid="206" grpId="0" animBg="1"/>
      <p:bldP spid="207" grpId="0"/>
      <p:bldP spid="208" grpId="0" animBg="1"/>
      <p:bldP spid="209" grpId="0"/>
      <p:bldP spid="210" grpId="0" animBg="1"/>
      <p:bldP spid="211" grpId="0"/>
      <p:bldP spid="215" grpId="0" animBg="1"/>
      <p:bldP spid="216" grpId="0" animBg="1"/>
      <p:bldP spid="217" grpId="0" animBg="1"/>
      <p:bldP spid="219" grpId="0"/>
      <p:bldP spid="220" grpId="0"/>
      <p:bldP spid="221" grpId="0"/>
      <p:bldP spid="222" grpId="0" animBg="1"/>
      <p:bldP spid="223" grpId="0"/>
      <p:bldP spid="22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pPr algn="just">
                  <a:spcBef>
                    <a:spcPts val="1000"/>
                  </a:spcBef>
                  <a:buClr>
                    <a:srgbClr val="B84742"/>
                  </a:buClr>
                </a:pPr>
                <a14:m>
                  <m:oMathPara xmlns:m="http://schemas.openxmlformats.org/officeDocument/2006/math">
                    <m:oMathParaPr>
                      <m:jc m:val="left"/>
                    </m:oMathParaPr>
                    <m:oMath xmlns:m="http://schemas.openxmlformats.org/officeDocument/2006/math">
                      <m:r>
                        <m:rPr>
                          <m:nor/>
                        </m:rPr>
                        <a:rPr lang="en-US" sz="3600"/>
                        <m:t>Counting</m:t>
                      </m:r>
                      <m:r>
                        <m:rPr>
                          <m:nor/>
                        </m:rPr>
                        <a:rPr lang="en-US" sz="3600"/>
                        <m:t> </m:t>
                      </m:r>
                      <m:r>
                        <m:rPr>
                          <m:nor/>
                        </m:rPr>
                        <a:rPr lang="en-US" sz="3600"/>
                        <m:t>Labeled</m:t>
                      </m:r>
                      <m:r>
                        <m:rPr>
                          <m:nor/>
                        </m:rPr>
                        <a:rPr lang="en-US" sz="3600"/>
                        <m:t> </m:t>
                      </m:r>
                      <m:r>
                        <m:rPr>
                          <m:nor/>
                        </m:rPr>
                        <a:rPr lang="en-US" sz="3600"/>
                        <m:t>Trees</m:t>
                      </m:r>
                    </m:oMath>
                  </m:oMathPara>
                </a14:m>
                <a:endParaRPr/>
              </a:p>
            </p:txBody>
          </p:sp>
        </mc:Choice>
        <mc:Fallback xmlns="">
          <p:sp>
            <p:nvSpPr>
              <p:cNvPr id="9" name="Title 1">
                <a:extLst>
                  <a:ext uri="{FF2B5EF4-FFF2-40B4-BE49-F238E27FC236}">
                    <a16:creationId xmlns:a16="http://schemas.microsoft.com/office/drawing/2014/main" xmlns="" xmlns:a14="http://schemas.microsoft.com/office/drawing/2010/main" id="{D5CD07E8-CBAA-45BA-85CF-1233D4AA86C9}"/>
                  </a:ext>
                </a:extLst>
              </p:cNvPr>
              <p:cNvSpPr txBox="1">
                <a:spLocks noRot="1" noChangeAspect="1" noMove="1" noResize="1" noEditPoints="1" noAdjustHandles="1" noChangeArrowheads="1" noChangeShapeType="1" noTextEdit="1"/>
              </p:cNvSpPr>
              <p:nvPr/>
            </p:nvSpPr>
            <p:spPr>
              <a:xfrm>
                <a:off x="0" y="0"/>
                <a:ext cx="12192000" cy="711200"/>
              </a:xfrm>
              <a:prstGeom prst="rect">
                <a:avLst/>
              </a:prstGeom>
              <a:blipFill rotWithShape="0">
                <a:blip r:embed="rId2"/>
                <a:stretch>
                  <a:fillRect/>
                </a:stretch>
              </a:blipFill>
              <a:ln>
                <a:noFill/>
              </a:ln>
            </p:spPr>
            <p:txBody>
              <a:bodyPr/>
              <a:lstStyle/>
              <a:p>
                <a:r>
                  <a:rPr lang="en-US">
                    <a:noFill/>
                  </a:rPr>
                  <a:t> </a:t>
                </a:r>
              </a:p>
            </p:txBody>
          </p:sp>
        </mc:Fallback>
      </mc:AlternateContent>
      <p:sp>
        <p:nvSpPr>
          <p:cNvPr id="314" name="Oval 313">
            <a:extLst>
              <a:ext uri="{FF2B5EF4-FFF2-40B4-BE49-F238E27FC236}">
                <a16:creationId xmlns:a16="http://schemas.microsoft.com/office/drawing/2014/main" id="{A4197692-1A04-EA71-457D-175797FDA5CE}"/>
              </a:ext>
            </a:extLst>
          </p:cNvPr>
          <p:cNvSpPr/>
          <p:nvPr/>
        </p:nvSpPr>
        <p:spPr>
          <a:xfrm rot="5400000">
            <a:off x="4093637" y="198285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315" name="Oval 314">
            <a:extLst>
              <a:ext uri="{FF2B5EF4-FFF2-40B4-BE49-F238E27FC236}">
                <a16:creationId xmlns:a16="http://schemas.microsoft.com/office/drawing/2014/main" id="{A4197692-1A04-EA71-457D-175797FDA5CE}"/>
              </a:ext>
            </a:extLst>
          </p:cNvPr>
          <p:cNvSpPr/>
          <p:nvPr/>
        </p:nvSpPr>
        <p:spPr>
          <a:xfrm rot="5400000">
            <a:off x="2682342" y="198762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316" name="Oval 315">
            <a:extLst>
              <a:ext uri="{FF2B5EF4-FFF2-40B4-BE49-F238E27FC236}">
                <a16:creationId xmlns:a16="http://schemas.microsoft.com/office/drawing/2014/main" id="{A4197692-1A04-EA71-457D-175797FDA5CE}"/>
              </a:ext>
            </a:extLst>
          </p:cNvPr>
          <p:cNvSpPr/>
          <p:nvPr/>
        </p:nvSpPr>
        <p:spPr>
          <a:xfrm rot="5400000">
            <a:off x="2679256" y="337156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cxnSp>
        <p:nvCxnSpPr>
          <p:cNvPr id="317" name="Straight Connector 316">
            <a:extLst>
              <a:ext uri="{FF2B5EF4-FFF2-40B4-BE49-F238E27FC236}">
                <a16:creationId xmlns:a16="http://schemas.microsoft.com/office/drawing/2014/main" id="{66EA08EA-10E8-07B3-809B-572189B302D2}"/>
              </a:ext>
            </a:extLst>
          </p:cNvPr>
          <p:cNvCxnSpPr>
            <a:cxnSpLocks/>
            <a:stCxn id="314" idx="4"/>
            <a:endCxn id="315" idx="0"/>
          </p:cNvCxnSpPr>
          <p:nvPr/>
        </p:nvCxnSpPr>
        <p:spPr>
          <a:xfrm flipH="1">
            <a:off x="2826342" y="2054858"/>
            <a:ext cx="1267295" cy="476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18" name="Straight Connector 317">
            <a:extLst>
              <a:ext uri="{FF2B5EF4-FFF2-40B4-BE49-F238E27FC236}">
                <a16:creationId xmlns:a16="http://schemas.microsoft.com/office/drawing/2014/main" id="{66EA08EA-10E8-07B3-809B-572189B302D2}"/>
              </a:ext>
            </a:extLst>
          </p:cNvPr>
          <p:cNvCxnSpPr>
            <a:cxnSpLocks/>
            <a:stCxn id="338" idx="4"/>
            <a:endCxn id="316" idx="0"/>
          </p:cNvCxnSpPr>
          <p:nvPr/>
        </p:nvCxnSpPr>
        <p:spPr>
          <a:xfrm flipH="1" flipV="1">
            <a:off x="2823256" y="3443560"/>
            <a:ext cx="1268736" cy="844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19" name="TextBox 318"/>
          <p:cNvSpPr txBox="1"/>
          <p:nvPr/>
        </p:nvSpPr>
        <p:spPr>
          <a:xfrm>
            <a:off x="2555179" y="1534404"/>
            <a:ext cx="362600" cy="461665"/>
          </a:xfrm>
          <a:prstGeom prst="rect">
            <a:avLst/>
          </a:prstGeom>
          <a:noFill/>
        </p:spPr>
        <p:txBody>
          <a:bodyPr wrap="none" rtlCol="0">
            <a:spAutoFit/>
          </a:bodyPr>
          <a:lstStyle>
            <a:defPPr>
              <a:defRPr lang="en-US"/>
            </a:defPPr>
            <a:lvl1pPr>
              <a:defRPr sz="2800"/>
            </a:lvl1pPr>
          </a:lstStyle>
          <a:p>
            <a:r>
              <a:rPr lang="en-US" sz="2400" dirty="0"/>
              <a:t>A</a:t>
            </a:r>
          </a:p>
        </p:txBody>
      </p:sp>
      <p:sp>
        <p:nvSpPr>
          <p:cNvPr id="320" name="TextBox 319"/>
          <p:cNvSpPr txBox="1"/>
          <p:nvPr/>
        </p:nvSpPr>
        <p:spPr>
          <a:xfrm>
            <a:off x="2570366" y="3494472"/>
            <a:ext cx="392154" cy="461665"/>
          </a:xfrm>
          <a:prstGeom prst="rect">
            <a:avLst/>
          </a:prstGeom>
          <a:noFill/>
        </p:spPr>
        <p:txBody>
          <a:bodyPr wrap="square" rtlCol="0">
            <a:spAutoFit/>
          </a:bodyPr>
          <a:lstStyle>
            <a:defPPr>
              <a:defRPr lang="en-US"/>
            </a:defPPr>
            <a:lvl1pPr>
              <a:defRPr sz="2800"/>
            </a:lvl1pPr>
          </a:lstStyle>
          <a:p>
            <a:r>
              <a:rPr lang="en-US" sz="2400" dirty="0"/>
              <a:t>C</a:t>
            </a:r>
          </a:p>
        </p:txBody>
      </p:sp>
      <p:sp>
        <p:nvSpPr>
          <p:cNvPr id="321" name="TextBox 320"/>
          <p:cNvSpPr txBox="1"/>
          <p:nvPr/>
        </p:nvSpPr>
        <p:spPr>
          <a:xfrm>
            <a:off x="3989146" y="1534403"/>
            <a:ext cx="352982" cy="461665"/>
          </a:xfrm>
          <a:prstGeom prst="rect">
            <a:avLst/>
          </a:prstGeom>
          <a:noFill/>
        </p:spPr>
        <p:txBody>
          <a:bodyPr wrap="none" rtlCol="0">
            <a:spAutoFit/>
          </a:bodyPr>
          <a:lstStyle>
            <a:defPPr>
              <a:defRPr lang="en-US"/>
            </a:defPPr>
            <a:lvl1pPr>
              <a:defRPr sz="2800"/>
            </a:lvl1pPr>
          </a:lstStyle>
          <a:p>
            <a:r>
              <a:rPr lang="en-US" sz="2400" dirty="0"/>
              <a:t>B</a:t>
            </a:r>
          </a:p>
        </p:txBody>
      </p:sp>
      <p:sp>
        <p:nvSpPr>
          <p:cNvPr id="322" name="Oval 321">
            <a:extLst>
              <a:ext uri="{FF2B5EF4-FFF2-40B4-BE49-F238E27FC236}">
                <a16:creationId xmlns:a16="http://schemas.microsoft.com/office/drawing/2014/main" id="{A4197692-1A04-EA71-457D-175797FDA5CE}"/>
              </a:ext>
            </a:extLst>
          </p:cNvPr>
          <p:cNvSpPr/>
          <p:nvPr/>
        </p:nvSpPr>
        <p:spPr>
          <a:xfrm rot="5400000">
            <a:off x="5985077" y="201109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323" name="Oval 322">
            <a:extLst>
              <a:ext uri="{FF2B5EF4-FFF2-40B4-BE49-F238E27FC236}">
                <a16:creationId xmlns:a16="http://schemas.microsoft.com/office/drawing/2014/main" id="{A4197692-1A04-EA71-457D-175797FDA5CE}"/>
              </a:ext>
            </a:extLst>
          </p:cNvPr>
          <p:cNvSpPr/>
          <p:nvPr/>
        </p:nvSpPr>
        <p:spPr>
          <a:xfrm rot="5400000">
            <a:off x="4573782" y="201585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324" name="Oval 323">
            <a:extLst>
              <a:ext uri="{FF2B5EF4-FFF2-40B4-BE49-F238E27FC236}">
                <a16:creationId xmlns:a16="http://schemas.microsoft.com/office/drawing/2014/main" id="{A4197692-1A04-EA71-457D-175797FDA5CE}"/>
              </a:ext>
            </a:extLst>
          </p:cNvPr>
          <p:cNvSpPr/>
          <p:nvPr/>
        </p:nvSpPr>
        <p:spPr>
          <a:xfrm rot="5400000">
            <a:off x="4570696" y="339979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cxnSp>
        <p:nvCxnSpPr>
          <p:cNvPr id="325" name="Straight Connector 324">
            <a:extLst>
              <a:ext uri="{FF2B5EF4-FFF2-40B4-BE49-F238E27FC236}">
                <a16:creationId xmlns:a16="http://schemas.microsoft.com/office/drawing/2014/main" id="{66EA08EA-10E8-07B3-809B-572189B302D2}"/>
              </a:ext>
            </a:extLst>
          </p:cNvPr>
          <p:cNvCxnSpPr>
            <a:cxnSpLocks/>
            <a:stCxn id="322" idx="4"/>
            <a:endCxn id="323" idx="0"/>
          </p:cNvCxnSpPr>
          <p:nvPr/>
        </p:nvCxnSpPr>
        <p:spPr>
          <a:xfrm flipH="1">
            <a:off x="4717782" y="2083090"/>
            <a:ext cx="1267295" cy="476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26" name="Straight Connector 325">
            <a:extLst>
              <a:ext uri="{FF2B5EF4-FFF2-40B4-BE49-F238E27FC236}">
                <a16:creationId xmlns:a16="http://schemas.microsoft.com/office/drawing/2014/main" id="{66EA08EA-10E8-07B3-809B-572189B302D2}"/>
              </a:ext>
            </a:extLst>
          </p:cNvPr>
          <p:cNvCxnSpPr>
            <a:cxnSpLocks/>
            <a:stCxn id="322" idx="6"/>
            <a:endCxn id="340" idx="2"/>
          </p:cNvCxnSpPr>
          <p:nvPr/>
        </p:nvCxnSpPr>
        <p:spPr>
          <a:xfrm flipH="1">
            <a:off x="6047142" y="2155090"/>
            <a:ext cx="9935" cy="125076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27" name="TextBox 326"/>
          <p:cNvSpPr txBox="1"/>
          <p:nvPr/>
        </p:nvSpPr>
        <p:spPr>
          <a:xfrm>
            <a:off x="4446619" y="1562636"/>
            <a:ext cx="362600" cy="461665"/>
          </a:xfrm>
          <a:prstGeom prst="rect">
            <a:avLst/>
          </a:prstGeom>
          <a:noFill/>
        </p:spPr>
        <p:txBody>
          <a:bodyPr wrap="none" rtlCol="0">
            <a:spAutoFit/>
          </a:bodyPr>
          <a:lstStyle>
            <a:defPPr>
              <a:defRPr lang="en-US"/>
            </a:defPPr>
            <a:lvl1pPr>
              <a:defRPr sz="2800"/>
            </a:lvl1pPr>
          </a:lstStyle>
          <a:p>
            <a:r>
              <a:rPr lang="en-US" sz="2400" dirty="0"/>
              <a:t>A</a:t>
            </a:r>
          </a:p>
        </p:txBody>
      </p:sp>
      <p:sp>
        <p:nvSpPr>
          <p:cNvPr id="328" name="TextBox 327"/>
          <p:cNvSpPr txBox="1"/>
          <p:nvPr/>
        </p:nvSpPr>
        <p:spPr>
          <a:xfrm>
            <a:off x="4460628" y="3520323"/>
            <a:ext cx="392154" cy="461665"/>
          </a:xfrm>
          <a:prstGeom prst="rect">
            <a:avLst/>
          </a:prstGeom>
          <a:noFill/>
        </p:spPr>
        <p:txBody>
          <a:bodyPr wrap="square" rtlCol="0">
            <a:spAutoFit/>
          </a:bodyPr>
          <a:lstStyle>
            <a:defPPr>
              <a:defRPr lang="en-US"/>
            </a:defPPr>
            <a:lvl1pPr>
              <a:defRPr sz="2800"/>
            </a:lvl1pPr>
          </a:lstStyle>
          <a:p>
            <a:r>
              <a:rPr lang="en-US" sz="2400" dirty="0"/>
              <a:t>C</a:t>
            </a:r>
          </a:p>
        </p:txBody>
      </p:sp>
      <p:sp>
        <p:nvSpPr>
          <p:cNvPr id="329" name="TextBox 328"/>
          <p:cNvSpPr txBox="1"/>
          <p:nvPr/>
        </p:nvSpPr>
        <p:spPr>
          <a:xfrm>
            <a:off x="5880586" y="1562635"/>
            <a:ext cx="352982" cy="461665"/>
          </a:xfrm>
          <a:prstGeom prst="rect">
            <a:avLst/>
          </a:prstGeom>
          <a:noFill/>
        </p:spPr>
        <p:txBody>
          <a:bodyPr wrap="none" rtlCol="0">
            <a:spAutoFit/>
          </a:bodyPr>
          <a:lstStyle>
            <a:defPPr>
              <a:defRPr lang="en-US"/>
            </a:defPPr>
            <a:lvl1pPr>
              <a:defRPr sz="2800"/>
            </a:lvl1pPr>
          </a:lstStyle>
          <a:p>
            <a:r>
              <a:rPr lang="en-US" sz="2400" dirty="0"/>
              <a:t>B</a:t>
            </a:r>
          </a:p>
        </p:txBody>
      </p:sp>
      <p:sp>
        <p:nvSpPr>
          <p:cNvPr id="330" name="Oval 329">
            <a:extLst>
              <a:ext uri="{FF2B5EF4-FFF2-40B4-BE49-F238E27FC236}">
                <a16:creationId xmlns:a16="http://schemas.microsoft.com/office/drawing/2014/main" id="{A4197692-1A04-EA71-457D-175797FDA5CE}"/>
              </a:ext>
            </a:extLst>
          </p:cNvPr>
          <p:cNvSpPr/>
          <p:nvPr/>
        </p:nvSpPr>
        <p:spPr>
          <a:xfrm rot="5400000">
            <a:off x="9770691" y="201109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331" name="Oval 330">
            <a:extLst>
              <a:ext uri="{FF2B5EF4-FFF2-40B4-BE49-F238E27FC236}">
                <a16:creationId xmlns:a16="http://schemas.microsoft.com/office/drawing/2014/main" id="{A4197692-1A04-EA71-457D-175797FDA5CE}"/>
              </a:ext>
            </a:extLst>
          </p:cNvPr>
          <p:cNvSpPr/>
          <p:nvPr/>
        </p:nvSpPr>
        <p:spPr>
          <a:xfrm rot="5400000">
            <a:off x="8359396" y="201585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332" name="Oval 331">
            <a:extLst>
              <a:ext uri="{FF2B5EF4-FFF2-40B4-BE49-F238E27FC236}">
                <a16:creationId xmlns:a16="http://schemas.microsoft.com/office/drawing/2014/main" id="{A4197692-1A04-EA71-457D-175797FDA5CE}"/>
              </a:ext>
            </a:extLst>
          </p:cNvPr>
          <p:cNvSpPr/>
          <p:nvPr/>
        </p:nvSpPr>
        <p:spPr>
          <a:xfrm rot="5400000">
            <a:off x="8356310" y="339979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cxnSp>
        <p:nvCxnSpPr>
          <p:cNvPr id="333" name="Straight Connector 332">
            <a:extLst>
              <a:ext uri="{FF2B5EF4-FFF2-40B4-BE49-F238E27FC236}">
                <a16:creationId xmlns:a16="http://schemas.microsoft.com/office/drawing/2014/main" id="{66EA08EA-10E8-07B3-809B-572189B302D2}"/>
              </a:ext>
            </a:extLst>
          </p:cNvPr>
          <p:cNvCxnSpPr>
            <a:cxnSpLocks/>
            <a:stCxn id="330" idx="4"/>
            <a:endCxn id="331" idx="0"/>
          </p:cNvCxnSpPr>
          <p:nvPr/>
        </p:nvCxnSpPr>
        <p:spPr>
          <a:xfrm flipH="1">
            <a:off x="8503396" y="2083090"/>
            <a:ext cx="1267295" cy="476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34" name="Straight Connector 333">
            <a:extLst>
              <a:ext uri="{FF2B5EF4-FFF2-40B4-BE49-F238E27FC236}">
                <a16:creationId xmlns:a16="http://schemas.microsoft.com/office/drawing/2014/main" id="{66EA08EA-10E8-07B3-809B-572189B302D2}"/>
              </a:ext>
            </a:extLst>
          </p:cNvPr>
          <p:cNvCxnSpPr>
            <a:cxnSpLocks/>
            <a:stCxn id="331" idx="6"/>
            <a:endCxn id="332" idx="2"/>
          </p:cNvCxnSpPr>
          <p:nvPr/>
        </p:nvCxnSpPr>
        <p:spPr>
          <a:xfrm flipH="1">
            <a:off x="8428310" y="2159853"/>
            <a:ext cx="3086" cy="123993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35" name="TextBox 334"/>
          <p:cNvSpPr txBox="1"/>
          <p:nvPr/>
        </p:nvSpPr>
        <p:spPr>
          <a:xfrm>
            <a:off x="8232233" y="1562636"/>
            <a:ext cx="362600" cy="461665"/>
          </a:xfrm>
          <a:prstGeom prst="rect">
            <a:avLst/>
          </a:prstGeom>
          <a:noFill/>
        </p:spPr>
        <p:txBody>
          <a:bodyPr wrap="none" rtlCol="0">
            <a:spAutoFit/>
          </a:bodyPr>
          <a:lstStyle>
            <a:defPPr>
              <a:defRPr lang="en-US"/>
            </a:defPPr>
            <a:lvl1pPr>
              <a:defRPr sz="2800"/>
            </a:lvl1pPr>
          </a:lstStyle>
          <a:p>
            <a:r>
              <a:rPr lang="en-US" sz="2400" dirty="0"/>
              <a:t>A</a:t>
            </a:r>
          </a:p>
        </p:txBody>
      </p:sp>
      <p:sp>
        <p:nvSpPr>
          <p:cNvPr id="336" name="TextBox 335"/>
          <p:cNvSpPr txBox="1"/>
          <p:nvPr/>
        </p:nvSpPr>
        <p:spPr>
          <a:xfrm>
            <a:off x="8232233" y="3480560"/>
            <a:ext cx="392154" cy="461665"/>
          </a:xfrm>
          <a:prstGeom prst="rect">
            <a:avLst/>
          </a:prstGeom>
          <a:noFill/>
        </p:spPr>
        <p:txBody>
          <a:bodyPr wrap="square" rtlCol="0">
            <a:spAutoFit/>
          </a:bodyPr>
          <a:lstStyle>
            <a:defPPr>
              <a:defRPr lang="en-US"/>
            </a:defPPr>
            <a:lvl1pPr>
              <a:defRPr sz="2800"/>
            </a:lvl1pPr>
          </a:lstStyle>
          <a:p>
            <a:r>
              <a:rPr lang="en-US" sz="2400" dirty="0"/>
              <a:t>C</a:t>
            </a:r>
          </a:p>
        </p:txBody>
      </p:sp>
      <p:sp>
        <p:nvSpPr>
          <p:cNvPr id="337" name="TextBox 336"/>
          <p:cNvSpPr txBox="1"/>
          <p:nvPr/>
        </p:nvSpPr>
        <p:spPr>
          <a:xfrm>
            <a:off x="9666200" y="1562635"/>
            <a:ext cx="352982" cy="461665"/>
          </a:xfrm>
          <a:prstGeom prst="rect">
            <a:avLst/>
          </a:prstGeom>
          <a:noFill/>
        </p:spPr>
        <p:txBody>
          <a:bodyPr wrap="none" rtlCol="0">
            <a:spAutoFit/>
          </a:bodyPr>
          <a:lstStyle>
            <a:defPPr>
              <a:defRPr lang="en-US"/>
            </a:defPPr>
            <a:lvl1pPr>
              <a:defRPr sz="2800"/>
            </a:lvl1pPr>
          </a:lstStyle>
          <a:p>
            <a:r>
              <a:rPr lang="en-US" sz="2400" dirty="0"/>
              <a:t>B</a:t>
            </a:r>
          </a:p>
        </p:txBody>
      </p:sp>
      <p:sp>
        <p:nvSpPr>
          <p:cNvPr id="338" name="Oval 337">
            <a:extLst>
              <a:ext uri="{FF2B5EF4-FFF2-40B4-BE49-F238E27FC236}">
                <a16:creationId xmlns:a16="http://schemas.microsoft.com/office/drawing/2014/main" id="{A4197692-1A04-EA71-457D-175797FDA5CE}"/>
              </a:ext>
            </a:extLst>
          </p:cNvPr>
          <p:cNvSpPr/>
          <p:nvPr/>
        </p:nvSpPr>
        <p:spPr>
          <a:xfrm rot="5400000">
            <a:off x="4091992" y="338000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339" name="TextBox 338"/>
          <p:cNvSpPr txBox="1"/>
          <p:nvPr/>
        </p:nvSpPr>
        <p:spPr>
          <a:xfrm>
            <a:off x="4037925" y="3506367"/>
            <a:ext cx="360996" cy="461665"/>
          </a:xfrm>
          <a:prstGeom prst="rect">
            <a:avLst/>
          </a:prstGeom>
          <a:noFill/>
        </p:spPr>
        <p:txBody>
          <a:bodyPr wrap="none" rtlCol="0">
            <a:spAutoFit/>
          </a:bodyPr>
          <a:lstStyle>
            <a:defPPr>
              <a:defRPr lang="en-US"/>
            </a:defPPr>
            <a:lvl1pPr>
              <a:defRPr sz="2800"/>
            </a:lvl1pPr>
          </a:lstStyle>
          <a:p>
            <a:r>
              <a:rPr lang="en-US" sz="2400" dirty="0"/>
              <a:t>D</a:t>
            </a:r>
          </a:p>
        </p:txBody>
      </p:sp>
      <p:sp>
        <p:nvSpPr>
          <p:cNvPr id="340" name="Oval 339">
            <a:extLst>
              <a:ext uri="{FF2B5EF4-FFF2-40B4-BE49-F238E27FC236}">
                <a16:creationId xmlns:a16="http://schemas.microsoft.com/office/drawing/2014/main" id="{A4197692-1A04-EA71-457D-175797FDA5CE}"/>
              </a:ext>
            </a:extLst>
          </p:cNvPr>
          <p:cNvSpPr/>
          <p:nvPr/>
        </p:nvSpPr>
        <p:spPr>
          <a:xfrm rot="5400000">
            <a:off x="5975142" y="340585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341" name="TextBox 340"/>
          <p:cNvSpPr txBox="1"/>
          <p:nvPr/>
        </p:nvSpPr>
        <p:spPr>
          <a:xfrm>
            <a:off x="5875508" y="3510053"/>
            <a:ext cx="360996" cy="461665"/>
          </a:xfrm>
          <a:prstGeom prst="rect">
            <a:avLst/>
          </a:prstGeom>
          <a:noFill/>
        </p:spPr>
        <p:txBody>
          <a:bodyPr wrap="none" rtlCol="0">
            <a:spAutoFit/>
          </a:bodyPr>
          <a:lstStyle>
            <a:defPPr>
              <a:defRPr lang="en-US"/>
            </a:defPPr>
            <a:lvl1pPr>
              <a:defRPr sz="2800"/>
            </a:lvl1pPr>
          </a:lstStyle>
          <a:p>
            <a:r>
              <a:rPr lang="en-US" sz="2400" dirty="0"/>
              <a:t>D</a:t>
            </a:r>
          </a:p>
        </p:txBody>
      </p:sp>
      <p:sp>
        <p:nvSpPr>
          <p:cNvPr id="342" name="Oval 341">
            <a:extLst>
              <a:ext uri="{FF2B5EF4-FFF2-40B4-BE49-F238E27FC236}">
                <a16:creationId xmlns:a16="http://schemas.microsoft.com/office/drawing/2014/main" id="{A4197692-1A04-EA71-457D-175797FDA5CE}"/>
              </a:ext>
            </a:extLst>
          </p:cNvPr>
          <p:cNvSpPr/>
          <p:nvPr/>
        </p:nvSpPr>
        <p:spPr>
          <a:xfrm rot="5400000">
            <a:off x="9788092" y="3401500"/>
            <a:ext cx="144000" cy="1373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343" name="TextBox 342"/>
          <p:cNvSpPr txBox="1"/>
          <p:nvPr/>
        </p:nvSpPr>
        <p:spPr>
          <a:xfrm>
            <a:off x="9681071" y="3474910"/>
            <a:ext cx="344328" cy="461665"/>
          </a:xfrm>
          <a:prstGeom prst="rect">
            <a:avLst/>
          </a:prstGeom>
          <a:noFill/>
        </p:spPr>
        <p:txBody>
          <a:bodyPr wrap="square" rtlCol="0">
            <a:spAutoFit/>
          </a:bodyPr>
          <a:lstStyle>
            <a:defPPr>
              <a:defRPr lang="en-US"/>
            </a:defPPr>
            <a:lvl1pPr>
              <a:defRPr sz="2800"/>
            </a:lvl1pPr>
          </a:lstStyle>
          <a:p>
            <a:r>
              <a:rPr lang="en-US" sz="2400" dirty="0"/>
              <a:t>D</a:t>
            </a:r>
          </a:p>
        </p:txBody>
      </p:sp>
      <p:cxnSp>
        <p:nvCxnSpPr>
          <p:cNvPr id="344" name="Straight Connector 343">
            <a:extLst>
              <a:ext uri="{FF2B5EF4-FFF2-40B4-BE49-F238E27FC236}">
                <a16:creationId xmlns:a16="http://schemas.microsoft.com/office/drawing/2014/main" id="{66EA08EA-10E8-07B3-809B-572189B302D2}"/>
              </a:ext>
            </a:extLst>
          </p:cNvPr>
          <p:cNvCxnSpPr>
            <a:cxnSpLocks/>
            <a:stCxn id="316" idx="2"/>
            <a:endCxn id="315" idx="6"/>
          </p:cNvCxnSpPr>
          <p:nvPr/>
        </p:nvCxnSpPr>
        <p:spPr>
          <a:xfrm flipV="1">
            <a:off x="2751256" y="2131621"/>
            <a:ext cx="3086" cy="123993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45" name="Straight Connector 344">
            <a:extLst>
              <a:ext uri="{FF2B5EF4-FFF2-40B4-BE49-F238E27FC236}">
                <a16:creationId xmlns:a16="http://schemas.microsoft.com/office/drawing/2014/main" id="{66EA08EA-10E8-07B3-809B-572189B302D2}"/>
              </a:ext>
            </a:extLst>
          </p:cNvPr>
          <p:cNvCxnSpPr>
            <a:cxnSpLocks/>
            <a:stCxn id="324" idx="0"/>
            <a:endCxn id="340" idx="4"/>
          </p:cNvCxnSpPr>
          <p:nvPr/>
        </p:nvCxnSpPr>
        <p:spPr>
          <a:xfrm>
            <a:off x="4714696" y="3471792"/>
            <a:ext cx="1260446" cy="606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46" name="Straight Connector 345">
            <a:extLst>
              <a:ext uri="{FF2B5EF4-FFF2-40B4-BE49-F238E27FC236}">
                <a16:creationId xmlns:a16="http://schemas.microsoft.com/office/drawing/2014/main" id="{66EA08EA-10E8-07B3-809B-572189B302D2}"/>
              </a:ext>
            </a:extLst>
          </p:cNvPr>
          <p:cNvCxnSpPr>
            <a:cxnSpLocks/>
            <a:stCxn id="342" idx="2"/>
            <a:endCxn id="330" idx="6"/>
          </p:cNvCxnSpPr>
          <p:nvPr/>
        </p:nvCxnSpPr>
        <p:spPr>
          <a:xfrm flipH="1" flipV="1">
            <a:off x="9842691" y="2155090"/>
            <a:ext cx="17401" cy="124308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47" name="Oval 346">
            <a:extLst>
              <a:ext uri="{FF2B5EF4-FFF2-40B4-BE49-F238E27FC236}">
                <a16:creationId xmlns:a16="http://schemas.microsoft.com/office/drawing/2014/main" id="{A4197692-1A04-EA71-457D-175797FDA5CE}"/>
              </a:ext>
            </a:extLst>
          </p:cNvPr>
          <p:cNvSpPr/>
          <p:nvPr/>
        </p:nvSpPr>
        <p:spPr>
          <a:xfrm rot="5400000">
            <a:off x="7879251" y="201109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348" name="Oval 347">
            <a:extLst>
              <a:ext uri="{FF2B5EF4-FFF2-40B4-BE49-F238E27FC236}">
                <a16:creationId xmlns:a16="http://schemas.microsoft.com/office/drawing/2014/main" id="{A4197692-1A04-EA71-457D-175797FDA5CE}"/>
              </a:ext>
            </a:extLst>
          </p:cNvPr>
          <p:cNvSpPr/>
          <p:nvPr/>
        </p:nvSpPr>
        <p:spPr>
          <a:xfrm rot="5400000">
            <a:off x="6467956" y="201585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349" name="Oval 348">
            <a:extLst>
              <a:ext uri="{FF2B5EF4-FFF2-40B4-BE49-F238E27FC236}">
                <a16:creationId xmlns:a16="http://schemas.microsoft.com/office/drawing/2014/main" id="{A4197692-1A04-EA71-457D-175797FDA5CE}"/>
              </a:ext>
            </a:extLst>
          </p:cNvPr>
          <p:cNvSpPr/>
          <p:nvPr/>
        </p:nvSpPr>
        <p:spPr>
          <a:xfrm rot="5400000">
            <a:off x="6464870" y="339979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cxnSp>
        <p:nvCxnSpPr>
          <p:cNvPr id="350" name="Straight Connector 349">
            <a:extLst>
              <a:ext uri="{FF2B5EF4-FFF2-40B4-BE49-F238E27FC236}">
                <a16:creationId xmlns:a16="http://schemas.microsoft.com/office/drawing/2014/main" id="{66EA08EA-10E8-07B3-809B-572189B302D2}"/>
              </a:ext>
            </a:extLst>
          </p:cNvPr>
          <p:cNvCxnSpPr>
            <a:cxnSpLocks/>
            <a:stCxn id="347" idx="6"/>
            <a:endCxn id="354" idx="2"/>
          </p:cNvCxnSpPr>
          <p:nvPr/>
        </p:nvCxnSpPr>
        <p:spPr>
          <a:xfrm>
            <a:off x="7951251" y="2155090"/>
            <a:ext cx="11184" cy="124546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51" name="TextBox 350"/>
          <p:cNvSpPr txBox="1"/>
          <p:nvPr/>
        </p:nvSpPr>
        <p:spPr>
          <a:xfrm>
            <a:off x="6340793" y="1562636"/>
            <a:ext cx="362600" cy="461665"/>
          </a:xfrm>
          <a:prstGeom prst="rect">
            <a:avLst/>
          </a:prstGeom>
          <a:noFill/>
        </p:spPr>
        <p:txBody>
          <a:bodyPr wrap="none" rtlCol="0">
            <a:spAutoFit/>
          </a:bodyPr>
          <a:lstStyle>
            <a:defPPr>
              <a:defRPr lang="en-US"/>
            </a:defPPr>
            <a:lvl1pPr>
              <a:defRPr sz="2800"/>
            </a:lvl1pPr>
          </a:lstStyle>
          <a:p>
            <a:r>
              <a:rPr lang="en-US" sz="2400" dirty="0"/>
              <a:t>A</a:t>
            </a:r>
          </a:p>
        </p:txBody>
      </p:sp>
      <p:sp>
        <p:nvSpPr>
          <p:cNvPr id="352" name="TextBox 351"/>
          <p:cNvSpPr txBox="1"/>
          <p:nvPr/>
        </p:nvSpPr>
        <p:spPr>
          <a:xfrm>
            <a:off x="6340793" y="3480560"/>
            <a:ext cx="392154" cy="461665"/>
          </a:xfrm>
          <a:prstGeom prst="rect">
            <a:avLst/>
          </a:prstGeom>
          <a:noFill/>
        </p:spPr>
        <p:txBody>
          <a:bodyPr wrap="square" rtlCol="0">
            <a:spAutoFit/>
          </a:bodyPr>
          <a:lstStyle>
            <a:defPPr>
              <a:defRPr lang="en-US"/>
            </a:defPPr>
            <a:lvl1pPr>
              <a:defRPr sz="2800"/>
            </a:lvl1pPr>
          </a:lstStyle>
          <a:p>
            <a:r>
              <a:rPr lang="en-US" sz="2400" dirty="0"/>
              <a:t>C</a:t>
            </a:r>
          </a:p>
        </p:txBody>
      </p:sp>
      <p:sp>
        <p:nvSpPr>
          <p:cNvPr id="353" name="TextBox 352"/>
          <p:cNvSpPr txBox="1"/>
          <p:nvPr/>
        </p:nvSpPr>
        <p:spPr>
          <a:xfrm>
            <a:off x="7774760" y="1562635"/>
            <a:ext cx="352982" cy="461665"/>
          </a:xfrm>
          <a:prstGeom prst="rect">
            <a:avLst/>
          </a:prstGeom>
          <a:noFill/>
        </p:spPr>
        <p:txBody>
          <a:bodyPr wrap="none" rtlCol="0">
            <a:spAutoFit/>
          </a:bodyPr>
          <a:lstStyle>
            <a:defPPr>
              <a:defRPr lang="en-US"/>
            </a:defPPr>
            <a:lvl1pPr>
              <a:defRPr sz="2800"/>
            </a:lvl1pPr>
          </a:lstStyle>
          <a:p>
            <a:r>
              <a:rPr lang="en-US" sz="2400" dirty="0"/>
              <a:t>B</a:t>
            </a:r>
          </a:p>
        </p:txBody>
      </p:sp>
      <p:sp>
        <p:nvSpPr>
          <p:cNvPr id="354" name="Oval 353">
            <a:extLst>
              <a:ext uri="{FF2B5EF4-FFF2-40B4-BE49-F238E27FC236}">
                <a16:creationId xmlns:a16="http://schemas.microsoft.com/office/drawing/2014/main" id="{A4197692-1A04-EA71-457D-175797FDA5CE}"/>
              </a:ext>
            </a:extLst>
          </p:cNvPr>
          <p:cNvSpPr/>
          <p:nvPr/>
        </p:nvSpPr>
        <p:spPr>
          <a:xfrm rot="5400000">
            <a:off x="7890435" y="3403881"/>
            <a:ext cx="144000" cy="1373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355" name="TextBox 354"/>
          <p:cNvSpPr txBox="1"/>
          <p:nvPr/>
        </p:nvSpPr>
        <p:spPr>
          <a:xfrm>
            <a:off x="7783414" y="3477291"/>
            <a:ext cx="344328" cy="461665"/>
          </a:xfrm>
          <a:prstGeom prst="rect">
            <a:avLst/>
          </a:prstGeom>
          <a:noFill/>
        </p:spPr>
        <p:txBody>
          <a:bodyPr wrap="square" rtlCol="0">
            <a:spAutoFit/>
          </a:bodyPr>
          <a:lstStyle>
            <a:defPPr>
              <a:defRPr lang="en-US"/>
            </a:defPPr>
            <a:lvl1pPr>
              <a:defRPr sz="2800"/>
            </a:lvl1pPr>
          </a:lstStyle>
          <a:p>
            <a:r>
              <a:rPr lang="en-US" sz="2400" dirty="0"/>
              <a:t>D</a:t>
            </a:r>
          </a:p>
        </p:txBody>
      </p:sp>
      <p:cxnSp>
        <p:nvCxnSpPr>
          <p:cNvPr id="356" name="Straight Connector 355">
            <a:extLst>
              <a:ext uri="{FF2B5EF4-FFF2-40B4-BE49-F238E27FC236}">
                <a16:creationId xmlns:a16="http://schemas.microsoft.com/office/drawing/2014/main" id="{66EA08EA-10E8-07B3-809B-572189B302D2}"/>
              </a:ext>
            </a:extLst>
          </p:cNvPr>
          <p:cNvCxnSpPr>
            <a:cxnSpLocks/>
            <a:stCxn id="348" idx="6"/>
            <a:endCxn id="349" idx="2"/>
          </p:cNvCxnSpPr>
          <p:nvPr/>
        </p:nvCxnSpPr>
        <p:spPr>
          <a:xfrm flipH="1">
            <a:off x="6536870" y="2159853"/>
            <a:ext cx="3086" cy="123993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57" name="Straight Connector 356">
            <a:extLst>
              <a:ext uri="{FF2B5EF4-FFF2-40B4-BE49-F238E27FC236}">
                <a16:creationId xmlns:a16="http://schemas.microsoft.com/office/drawing/2014/main" id="{66EA08EA-10E8-07B3-809B-572189B302D2}"/>
              </a:ext>
            </a:extLst>
          </p:cNvPr>
          <p:cNvCxnSpPr>
            <a:cxnSpLocks/>
            <a:stCxn id="354" idx="4"/>
            <a:endCxn id="349" idx="0"/>
          </p:cNvCxnSpPr>
          <p:nvPr/>
        </p:nvCxnSpPr>
        <p:spPr>
          <a:xfrm flipH="1" flipV="1">
            <a:off x="6608870" y="3471792"/>
            <a:ext cx="1284890" cy="76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58" name="Oval 357">
            <a:extLst>
              <a:ext uri="{FF2B5EF4-FFF2-40B4-BE49-F238E27FC236}">
                <a16:creationId xmlns:a16="http://schemas.microsoft.com/office/drawing/2014/main" id="{A4197692-1A04-EA71-457D-175797FDA5CE}"/>
              </a:ext>
            </a:extLst>
          </p:cNvPr>
          <p:cNvSpPr/>
          <p:nvPr/>
        </p:nvSpPr>
        <p:spPr>
          <a:xfrm rot="5400000">
            <a:off x="3716670" y="450801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359" name="Oval 358">
            <a:extLst>
              <a:ext uri="{FF2B5EF4-FFF2-40B4-BE49-F238E27FC236}">
                <a16:creationId xmlns:a16="http://schemas.microsoft.com/office/drawing/2014/main" id="{A4197692-1A04-EA71-457D-175797FDA5CE}"/>
              </a:ext>
            </a:extLst>
          </p:cNvPr>
          <p:cNvSpPr/>
          <p:nvPr/>
        </p:nvSpPr>
        <p:spPr>
          <a:xfrm rot="5400000">
            <a:off x="2305375" y="451278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360" name="Oval 359">
            <a:extLst>
              <a:ext uri="{FF2B5EF4-FFF2-40B4-BE49-F238E27FC236}">
                <a16:creationId xmlns:a16="http://schemas.microsoft.com/office/drawing/2014/main" id="{A4197692-1A04-EA71-457D-175797FDA5CE}"/>
              </a:ext>
            </a:extLst>
          </p:cNvPr>
          <p:cNvSpPr/>
          <p:nvPr/>
        </p:nvSpPr>
        <p:spPr>
          <a:xfrm rot="5400000">
            <a:off x="2302289" y="589672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cxnSp>
        <p:nvCxnSpPr>
          <p:cNvPr id="361" name="Straight Connector 360">
            <a:extLst>
              <a:ext uri="{FF2B5EF4-FFF2-40B4-BE49-F238E27FC236}">
                <a16:creationId xmlns:a16="http://schemas.microsoft.com/office/drawing/2014/main" id="{66EA08EA-10E8-07B3-809B-572189B302D2}"/>
              </a:ext>
            </a:extLst>
          </p:cNvPr>
          <p:cNvCxnSpPr>
            <a:cxnSpLocks/>
            <a:stCxn id="358" idx="4"/>
            <a:endCxn id="359" idx="0"/>
          </p:cNvCxnSpPr>
          <p:nvPr/>
        </p:nvCxnSpPr>
        <p:spPr>
          <a:xfrm flipH="1">
            <a:off x="2449375" y="4580019"/>
            <a:ext cx="1267295" cy="476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62" name="Straight Connector 361">
            <a:extLst>
              <a:ext uri="{FF2B5EF4-FFF2-40B4-BE49-F238E27FC236}">
                <a16:creationId xmlns:a16="http://schemas.microsoft.com/office/drawing/2014/main" id="{66EA08EA-10E8-07B3-809B-572189B302D2}"/>
              </a:ext>
            </a:extLst>
          </p:cNvPr>
          <p:cNvCxnSpPr>
            <a:cxnSpLocks/>
            <a:stCxn id="358" idx="5"/>
            <a:endCxn id="360" idx="1"/>
          </p:cNvCxnSpPr>
          <p:nvPr/>
        </p:nvCxnSpPr>
        <p:spPr>
          <a:xfrm flipH="1">
            <a:off x="2425201" y="4630931"/>
            <a:ext cx="1312557" cy="128687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63" name="TextBox 362"/>
          <p:cNvSpPr txBox="1"/>
          <p:nvPr/>
        </p:nvSpPr>
        <p:spPr>
          <a:xfrm>
            <a:off x="2178212" y="4059565"/>
            <a:ext cx="362600" cy="461665"/>
          </a:xfrm>
          <a:prstGeom prst="rect">
            <a:avLst/>
          </a:prstGeom>
          <a:noFill/>
        </p:spPr>
        <p:txBody>
          <a:bodyPr wrap="none" rtlCol="0">
            <a:spAutoFit/>
          </a:bodyPr>
          <a:lstStyle>
            <a:defPPr>
              <a:defRPr lang="en-US"/>
            </a:defPPr>
            <a:lvl1pPr>
              <a:defRPr sz="2800"/>
            </a:lvl1pPr>
          </a:lstStyle>
          <a:p>
            <a:r>
              <a:rPr lang="en-US" sz="2400" dirty="0"/>
              <a:t>A</a:t>
            </a:r>
          </a:p>
        </p:txBody>
      </p:sp>
      <p:sp>
        <p:nvSpPr>
          <p:cNvPr id="364" name="TextBox 363"/>
          <p:cNvSpPr txBox="1"/>
          <p:nvPr/>
        </p:nvSpPr>
        <p:spPr>
          <a:xfrm>
            <a:off x="2178212" y="5977489"/>
            <a:ext cx="392154" cy="461665"/>
          </a:xfrm>
          <a:prstGeom prst="rect">
            <a:avLst/>
          </a:prstGeom>
          <a:noFill/>
        </p:spPr>
        <p:txBody>
          <a:bodyPr wrap="square" rtlCol="0">
            <a:spAutoFit/>
          </a:bodyPr>
          <a:lstStyle>
            <a:defPPr>
              <a:defRPr lang="en-US"/>
            </a:defPPr>
            <a:lvl1pPr>
              <a:defRPr sz="2800"/>
            </a:lvl1pPr>
          </a:lstStyle>
          <a:p>
            <a:r>
              <a:rPr lang="en-US" sz="2400" dirty="0"/>
              <a:t>C</a:t>
            </a:r>
          </a:p>
        </p:txBody>
      </p:sp>
      <p:sp>
        <p:nvSpPr>
          <p:cNvPr id="365" name="TextBox 364"/>
          <p:cNvSpPr txBox="1"/>
          <p:nvPr/>
        </p:nvSpPr>
        <p:spPr>
          <a:xfrm>
            <a:off x="3612179" y="4059564"/>
            <a:ext cx="352982" cy="461665"/>
          </a:xfrm>
          <a:prstGeom prst="rect">
            <a:avLst/>
          </a:prstGeom>
          <a:noFill/>
        </p:spPr>
        <p:txBody>
          <a:bodyPr wrap="none" rtlCol="0">
            <a:spAutoFit/>
          </a:bodyPr>
          <a:lstStyle>
            <a:defPPr>
              <a:defRPr lang="en-US"/>
            </a:defPPr>
            <a:lvl1pPr>
              <a:defRPr sz="2800"/>
            </a:lvl1pPr>
          </a:lstStyle>
          <a:p>
            <a:r>
              <a:rPr lang="en-US" sz="2400" dirty="0"/>
              <a:t>B</a:t>
            </a:r>
          </a:p>
        </p:txBody>
      </p:sp>
      <p:sp>
        <p:nvSpPr>
          <p:cNvPr id="366" name="Oval 365">
            <a:extLst>
              <a:ext uri="{FF2B5EF4-FFF2-40B4-BE49-F238E27FC236}">
                <a16:creationId xmlns:a16="http://schemas.microsoft.com/office/drawing/2014/main" id="{A4197692-1A04-EA71-457D-175797FDA5CE}"/>
              </a:ext>
            </a:extLst>
          </p:cNvPr>
          <p:cNvSpPr/>
          <p:nvPr/>
        </p:nvSpPr>
        <p:spPr>
          <a:xfrm rot="5400000">
            <a:off x="5608110" y="451040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367" name="Oval 366">
            <a:extLst>
              <a:ext uri="{FF2B5EF4-FFF2-40B4-BE49-F238E27FC236}">
                <a16:creationId xmlns:a16="http://schemas.microsoft.com/office/drawing/2014/main" id="{A4197692-1A04-EA71-457D-175797FDA5CE}"/>
              </a:ext>
            </a:extLst>
          </p:cNvPr>
          <p:cNvSpPr/>
          <p:nvPr/>
        </p:nvSpPr>
        <p:spPr>
          <a:xfrm rot="5400000">
            <a:off x="4196815" y="45151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368" name="Oval 367">
            <a:extLst>
              <a:ext uri="{FF2B5EF4-FFF2-40B4-BE49-F238E27FC236}">
                <a16:creationId xmlns:a16="http://schemas.microsoft.com/office/drawing/2014/main" id="{A4197692-1A04-EA71-457D-175797FDA5CE}"/>
              </a:ext>
            </a:extLst>
          </p:cNvPr>
          <p:cNvSpPr/>
          <p:nvPr/>
        </p:nvSpPr>
        <p:spPr>
          <a:xfrm rot="5400000">
            <a:off x="4193729" y="589910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cxnSp>
        <p:nvCxnSpPr>
          <p:cNvPr id="369" name="Straight Connector 368">
            <a:extLst>
              <a:ext uri="{FF2B5EF4-FFF2-40B4-BE49-F238E27FC236}">
                <a16:creationId xmlns:a16="http://schemas.microsoft.com/office/drawing/2014/main" id="{66EA08EA-10E8-07B3-809B-572189B302D2}"/>
              </a:ext>
            </a:extLst>
          </p:cNvPr>
          <p:cNvCxnSpPr>
            <a:cxnSpLocks/>
            <a:stCxn id="384" idx="4"/>
            <a:endCxn id="368" idx="0"/>
          </p:cNvCxnSpPr>
          <p:nvPr/>
        </p:nvCxnSpPr>
        <p:spPr>
          <a:xfrm flipH="1" flipV="1">
            <a:off x="4337729" y="5971102"/>
            <a:ext cx="1260446" cy="606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70" name="Straight Connector 369">
            <a:extLst>
              <a:ext uri="{FF2B5EF4-FFF2-40B4-BE49-F238E27FC236}">
                <a16:creationId xmlns:a16="http://schemas.microsoft.com/office/drawing/2014/main" id="{66EA08EA-10E8-07B3-809B-572189B302D2}"/>
              </a:ext>
            </a:extLst>
          </p:cNvPr>
          <p:cNvCxnSpPr>
            <a:cxnSpLocks/>
            <a:stCxn id="366" idx="5"/>
            <a:endCxn id="368" idx="1"/>
          </p:cNvCxnSpPr>
          <p:nvPr/>
        </p:nvCxnSpPr>
        <p:spPr>
          <a:xfrm flipH="1">
            <a:off x="4316641" y="4633312"/>
            <a:ext cx="1312557" cy="128687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71" name="TextBox 370"/>
          <p:cNvSpPr txBox="1"/>
          <p:nvPr/>
        </p:nvSpPr>
        <p:spPr>
          <a:xfrm>
            <a:off x="4069652" y="4061946"/>
            <a:ext cx="362600" cy="461665"/>
          </a:xfrm>
          <a:prstGeom prst="rect">
            <a:avLst/>
          </a:prstGeom>
          <a:noFill/>
        </p:spPr>
        <p:txBody>
          <a:bodyPr wrap="none" rtlCol="0">
            <a:spAutoFit/>
          </a:bodyPr>
          <a:lstStyle>
            <a:defPPr>
              <a:defRPr lang="en-US"/>
            </a:defPPr>
            <a:lvl1pPr>
              <a:defRPr sz="2800"/>
            </a:lvl1pPr>
          </a:lstStyle>
          <a:p>
            <a:r>
              <a:rPr lang="en-US" sz="2400" dirty="0"/>
              <a:t>A</a:t>
            </a:r>
          </a:p>
        </p:txBody>
      </p:sp>
      <p:sp>
        <p:nvSpPr>
          <p:cNvPr id="372" name="TextBox 371"/>
          <p:cNvSpPr txBox="1"/>
          <p:nvPr/>
        </p:nvSpPr>
        <p:spPr>
          <a:xfrm>
            <a:off x="4069652" y="5979870"/>
            <a:ext cx="392154" cy="461665"/>
          </a:xfrm>
          <a:prstGeom prst="rect">
            <a:avLst/>
          </a:prstGeom>
          <a:noFill/>
        </p:spPr>
        <p:txBody>
          <a:bodyPr wrap="square" rtlCol="0">
            <a:spAutoFit/>
          </a:bodyPr>
          <a:lstStyle>
            <a:defPPr>
              <a:defRPr lang="en-US"/>
            </a:defPPr>
            <a:lvl1pPr>
              <a:defRPr sz="2800"/>
            </a:lvl1pPr>
          </a:lstStyle>
          <a:p>
            <a:r>
              <a:rPr lang="en-US" sz="2400" dirty="0"/>
              <a:t>C</a:t>
            </a:r>
          </a:p>
        </p:txBody>
      </p:sp>
      <p:sp>
        <p:nvSpPr>
          <p:cNvPr id="373" name="TextBox 372"/>
          <p:cNvSpPr txBox="1"/>
          <p:nvPr/>
        </p:nvSpPr>
        <p:spPr>
          <a:xfrm>
            <a:off x="5503619" y="4061945"/>
            <a:ext cx="352982" cy="461665"/>
          </a:xfrm>
          <a:prstGeom prst="rect">
            <a:avLst/>
          </a:prstGeom>
          <a:noFill/>
        </p:spPr>
        <p:txBody>
          <a:bodyPr wrap="none" rtlCol="0">
            <a:spAutoFit/>
          </a:bodyPr>
          <a:lstStyle>
            <a:defPPr>
              <a:defRPr lang="en-US"/>
            </a:defPPr>
            <a:lvl1pPr>
              <a:defRPr sz="2800"/>
            </a:lvl1pPr>
          </a:lstStyle>
          <a:p>
            <a:r>
              <a:rPr lang="en-US" sz="2400" dirty="0"/>
              <a:t>B</a:t>
            </a:r>
          </a:p>
        </p:txBody>
      </p:sp>
      <p:sp>
        <p:nvSpPr>
          <p:cNvPr id="374" name="Oval 373">
            <a:extLst>
              <a:ext uri="{FF2B5EF4-FFF2-40B4-BE49-F238E27FC236}">
                <a16:creationId xmlns:a16="http://schemas.microsoft.com/office/drawing/2014/main" id="{A4197692-1A04-EA71-457D-175797FDA5CE}"/>
              </a:ext>
            </a:extLst>
          </p:cNvPr>
          <p:cNvSpPr/>
          <p:nvPr/>
        </p:nvSpPr>
        <p:spPr>
          <a:xfrm rot="5400000">
            <a:off x="9688428" y="445710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375" name="Oval 374">
            <a:extLst>
              <a:ext uri="{FF2B5EF4-FFF2-40B4-BE49-F238E27FC236}">
                <a16:creationId xmlns:a16="http://schemas.microsoft.com/office/drawing/2014/main" id="{A4197692-1A04-EA71-457D-175797FDA5CE}"/>
              </a:ext>
            </a:extLst>
          </p:cNvPr>
          <p:cNvSpPr/>
          <p:nvPr/>
        </p:nvSpPr>
        <p:spPr>
          <a:xfrm rot="5400000">
            <a:off x="8277133" y="446187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376" name="Oval 375">
            <a:extLst>
              <a:ext uri="{FF2B5EF4-FFF2-40B4-BE49-F238E27FC236}">
                <a16:creationId xmlns:a16="http://schemas.microsoft.com/office/drawing/2014/main" id="{A4197692-1A04-EA71-457D-175797FDA5CE}"/>
              </a:ext>
            </a:extLst>
          </p:cNvPr>
          <p:cNvSpPr/>
          <p:nvPr/>
        </p:nvSpPr>
        <p:spPr>
          <a:xfrm rot="5400000">
            <a:off x="8274047" y="584580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cxnSp>
        <p:nvCxnSpPr>
          <p:cNvPr id="377" name="Straight Connector 376">
            <a:extLst>
              <a:ext uri="{FF2B5EF4-FFF2-40B4-BE49-F238E27FC236}">
                <a16:creationId xmlns:a16="http://schemas.microsoft.com/office/drawing/2014/main" id="{66EA08EA-10E8-07B3-809B-572189B302D2}"/>
              </a:ext>
            </a:extLst>
          </p:cNvPr>
          <p:cNvCxnSpPr>
            <a:cxnSpLocks/>
            <a:stCxn id="374" idx="5"/>
            <a:endCxn id="376" idx="1"/>
          </p:cNvCxnSpPr>
          <p:nvPr/>
        </p:nvCxnSpPr>
        <p:spPr>
          <a:xfrm flipH="1">
            <a:off x="8396959" y="4580019"/>
            <a:ext cx="1312557" cy="128687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78" name="Straight Connector 377">
            <a:extLst>
              <a:ext uri="{FF2B5EF4-FFF2-40B4-BE49-F238E27FC236}">
                <a16:creationId xmlns:a16="http://schemas.microsoft.com/office/drawing/2014/main" id="{66EA08EA-10E8-07B3-809B-572189B302D2}"/>
              </a:ext>
            </a:extLst>
          </p:cNvPr>
          <p:cNvCxnSpPr>
            <a:cxnSpLocks/>
            <a:stCxn id="375" idx="6"/>
            <a:endCxn id="376" idx="2"/>
          </p:cNvCxnSpPr>
          <p:nvPr/>
        </p:nvCxnSpPr>
        <p:spPr>
          <a:xfrm flipH="1">
            <a:off x="8346047" y="4605870"/>
            <a:ext cx="3086" cy="123993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79" name="TextBox 378"/>
          <p:cNvSpPr txBox="1"/>
          <p:nvPr/>
        </p:nvSpPr>
        <p:spPr>
          <a:xfrm>
            <a:off x="8149970" y="4008653"/>
            <a:ext cx="362600" cy="461665"/>
          </a:xfrm>
          <a:prstGeom prst="rect">
            <a:avLst/>
          </a:prstGeom>
          <a:noFill/>
        </p:spPr>
        <p:txBody>
          <a:bodyPr wrap="none" rtlCol="0">
            <a:spAutoFit/>
          </a:bodyPr>
          <a:lstStyle>
            <a:defPPr>
              <a:defRPr lang="en-US"/>
            </a:defPPr>
            <a:lvl1pPr>
              <a:defRPr sz="2800"/>
            </a:lvl1pPr>
          </a:lstStyle>
          <a:p>
            <a:r>
              <a:rPr lang="en-US" sz="2400" dirty="0"/>
              <a:t>A</a:t>
            </a:r>
          </a:p>
        </p:txBody>
      </p:sp>
      <p:sp>
        <p:nvSpPr>
          <p:cNvPr id="380" name="TextBox 379"/>
          <p:cNvSpPr txBox="1"/>
          <p:nvPr/>
        </p:nvSpPr>
        <p:spPr>
          <a:xfrm>
            <a:off x="8149970" y="5926577"/>
            <a:ext cx="392154" cy="461665"/>
          </a:xfrm>
          <a:prstGeom prst="rect">
            <a:avLst/>
          </a:prstGeom>
          <a:noFill/>
        </p:spPr>
        <p:txBody>
          <a:bodyPr wrap="square" rtlCol="0">
            <a:spAutoFit/>
          </a:bodyPr>
          <a:lstStyle>
            <a:defPPr>
              <a:defRPr lang="en-US"/>
            </a:defPPr>
            <a:lvl1pPr>
              <a:defRPr sz="2800"/>
            </a:lvl1pPr>
          </a:lstStyle>
          <a:p>
            <a:r>
              <a:rPr lang="en-US" sz="2400" dirty="0"/>
              <a:t>C</a:t>
            </a:r>
          </a:p>
        </p:txBody>
      </p:sp>
      <p:sp>
        <p:nvSpPr>
          <p:cNvPr id="381" name="TextBox 380"/>
          <p:cNvSpPr txBox="1"/>
          <p:nvPr/>
        </p:nvSpPr>
        <p:spPr>
          <a:xfrm>
            <a:off x="9583937" y="4008652"/>
            <a:ext cx="352982" cy="461665"/>
          </a:xfrm>
          <a:prstGeom prst="rect">
            <a:avLst/>
          </a:prstGeom>
          <a:noFill/>
        </p:spPr>
        <p:txBody>
          <a:bodyPr wrap="none" rtlCol="0">
            <a:spAutoFit/>
          </a:bodyPr>
          <a:lstStyle>
            <a:defPPr>
              <a:defRPr lang="en-US"/>
            </a:defPPr>
            <a:lvl1pPr>
              <a:defRPr sz="2800"/>
            </a:lvl1pPr>
          </a:lstStyle>
          <a:p>
            <a:r>
              <a:rPr lang="en-US" sz="2400" dirty="0"/>
              <a:t>B</a:t>
            </a:r>
          </a:p>
        </p:txBody>
      </p:sp>
      <p:sp>
        <p:nvSpPr>
          <p:cNvPr id="382" name="Oval 381">
            <a:extLst>
              <a:ext uri="{FF2B5EF4-FFF2-40B4-BE49-F238E27FC236}">
                <a16:creationId xmlns:a16="http://schemas.microsoft.com/office/drawing/2014/main" id="{A4197692-1A04-EA71-457D-175797FDA5CE}"/>
              </a:ext>
            </a:extLst>
          </p:cNvPr>
          <p:cNvSpPr/>
          <p:nvPr/>
        </p:nvSpPr>
        <p:spPr>
          <a:xfrm rot="5400000">
            <a:off x="3715025" y="590516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383" name="TextBox 382"/>
          <p:cNvSpPr txBox="1"/>
          <p:nvPr/>
        </p:nvSpPr>
        <p:spPr>
          <a:xfrm>
            <a:off x="3610534" y="5977489"/>
            <a:ext cx="360996" cy="461665"/>
          </a:xfrm>
          <a:prstGeom prst="rect">
            <a:avLst/>
          </a:prstGeom>
          <a:noFill/>
        </p:spPr>
        <p:txBody>
          <a:bodyPr wrap="none" rtlCol="0">
            <a:spAutoFit/>
          </a:bodyPr>
          <a:lstStyle>
            <a:defPPr>
              <a:defRPr lang="en-US"/>
            </a:defPPr>
            <a:lvl1pPr>
              <a:defRPr sz="2800"/>
            </a:lvl1pPr>
          </a:lstStyle>
          <a:p>
            <a:r>
              <a:rPr lang="en-US" sz="2400" dirty="0"/>
              <a:t>D</a:t>
            </a:r>
          </a:p>
        </p:txBody>
      </p:sp>
      <p:sp>
        <p:nvSpPr>
          <p:cNvPr id="384" name="Oval 383">
            <a:extLst>
              <a:ext uri="{FF2B5EF4-FFF2-40B4-BE49-F238E27FC236}">
                <a16:creationId xmlns:a16="http://schemas.microsoft.com/office/drawing/2014/main" id="{A4197692-1A04-EA71-457D-175797FDA5CE}"/>
              </a:ext>
            </a:extLst>
          </p:cNvPr>
          <p:cNvSpPr/>
          <p:nvPr/>
        </p:nvSpPr>
        <p:spPr>
          <a:xfrm rot="5400000">
            <a:off x="5598175" y="590516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385" name="TextBox 384"/>
          <p:cNvSpPr txBox="1"/>
          <p:nvPr/>
        </p:nvSpPr>
        <p:spPr>
          <a:xfrm>
            <a:off x="5493684" y="5977489"/>
            <a:ext cx="360996" cy="461665"/>
          </a:xfrm>
          <a:prstGeom prst="rect">
            <a:avLst/>
          </a:prstGeom>
          <a:noFill/>
        </p:spPr>
        <p:txBody>
          <a:bodyPr wrap="none" rtlCol="0">
            <a:spAutoFit/>
          </a:bodyPr>
          <a:lstStyle>
            <a:defPPr>
              <a:defRPr lang="en-US"/>
            </a:defPPr>
            <a:lvl1pPr>
              <a:defRPr sz="2800"/>
            </a:lvl1pPr>
          </a:lstStyle>
          <a:p>
            <a:r>
              <a:rPr lang="en-US" sz="2400" dirty="0"/>
              <a:t>D</a:t>
            </a:r>
          </a:p>
        </p:txBody>
      </p:sp>
      <p:sp>
        <p:nvSpPr>
          <p:cNvPr id="386" name="Oval 385">
            <a:extLst>
              <a:ext uri="{FF2B5EF4-FFF2-40B4-BE49-F238E27FC236}">
                <a16:creationId xmlns:a16="http://schemas.microsoft.com/office/drawing/2014/main" id="{A4197692-1A04-EA71-457D-175797FDA5CE}"/>
              </a:ext>
            </a:extLst>
          </p:cNvPr>
          <p:cNvSpPr/>
          <p:nvPr/>
        </p:nvSpPr>
        <p:spPr>
          <a:xfrm rot="5400000">
            <a:off x="9705829" y="5847517"/>
            <a:ext cx="144000" cy="1373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387" name="TextBox 386"/>
          <p:cNvSpPr txBox="1"/>
          <p:nvPr/>
        </p:nvSpPr>
        <p:spPr>
          <a:xfrm>
            <a:off x="9598808" y="5920927"/>
            <a:ext cx="344328" cy="461665"/>
          </a:xfrm>
          <a:prstGeom prst="rect">
            <a:avLst/>
          </a:prstGeom>
          <a:noFill/>
        </p:spPr>
        <p:txBody>
          <a:bodyPr wrap="square" rtlCol="0">
            <a:spAutoFit/>
          </a:bodyPr>
          <a:lstStyle>
            <a:defPPr>
              <a:defRPr lang="en-US"/>
            </a:defPPr>
            <a:lvl1pPr>
              <a:defRPr sz="2800"/>
            </a:lvl1pPr>
          </a:lstStyle>
          <a:p>
            <a:r>
              <a:rPr lang="en-US" sz="2400" dirty="0"/>
              <a:t>D</a:t>
            </a:r>
          </a:p>
        </p:txBody>
      </p:sp>
      <p:cxnSp>
        <p:nvCxnSpPr>
          <p:cNvPr id="388" name="Straight Connector 387">
            <a:extLst>
              <a:ext uri="{FF2B5EF4-FFF2-40B4-BE49-F238E27FC236}">
                <a16:creationId xmlns:a16="http://schemas.microsoft.com/office/drawing/2014/main" id="{66EA08EA-10E8-07B3-809B-572189B302D2}"/>
              </a:ext>
            </a:extLst>
          </p:cNvPr>
          <p:cNvCxnSpPr>
            <a:cxnSpLocks/>
            <a:stCxn id="382" idx="3"/>
            <a:endCxn id="359" idx="7"/>
          </p:cNvCxnSpPr>
          <p:nvPr/>
        </p:nvCxnSpPr>
        <p:spPr>
          <a:xfrm flipH="1" flipV="1">
            <a:off x="2428287" y="4635694"/>
            <a:ext cx="1307826" cy="129056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89" name="Straight Connector 388">
            <a:extLst>
              <a:ext uri="{FF2B5EF4-FFF2-40B4-BE49-F238E27FC236}">
                <a16:creationId xmlns:a16="http://schemas.microsoft.com/office/drawing/2014/main" id="{66EA08EA-10E8-07B3-809B-572189B302D2}"/>
              </a:ext>
            </a:extLst>
          </p:cNvPr>
          <p:cNvCxnSpPr>
            <a:cxnSpLocks/>
            <a:stCxn id="367" idx="7"/>
            <a:endCxn id="384" idx="3"/>
          </p:cNvCxnSpPr>
          <p:nvPr/>
        </p:nvCxnSpPr>
        <p:spPr>
          <a:xfrm>
            <a:off x="4319727" y="4638075"/>
            <a:ext cx="1299536" cy="128818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90" name="Straight Connector 389">
            <a:extLst>
              <a:ext uri="{FF2B5EF4-FFF2-40B4-BE49-F238E27FC236}">
                <a16:creationId xmlns:a16="http://schemas.microsoft.com/office/drawing/2014/main" id="{66EA08EA-10E8-07B3-809B-572189B302D2}"/>
              </a:ext>
            </a:extLst>
          </p:cNvPr>
          <p:cNvCxnSpPr>
            <a:cxnSpLocks/>
            <a:stCxn id="386" idx="3"/>
            <a:endCxn id="375" idx="7"/>
          </p:cNvCxnSpPr>
          <p:nvPr/>
        </p:nvCxnSpPr>
        <p:spPr>
          <a:xfrm flipH="1" flipV="1">
            <a:off x="8400045" y="4584782"/>
            <a:ext cx="1329224" cy="128049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91" name="Oval 390">
            <a:extLst>
              <a:ext uri="{FF2B5EF4-FFF2-40B4-BE49-F238E27FC236}">
                <a16:creationId xmlns:a16="http://schemas.microsoft.com/office/drawing/2014/main" id="{A4197692-1A04-EA71-457D-175797FDA5CE}"/>
              </a:ext>
            </a:extLst>
          </p:cNvPr>
          <p:cNvSpPr/>
          <p:nvPr/>
        </p:nvSpPr>
        <p:spPr>
          <a:xfrm rot="5400000">
            <a:off x="7616489" y="450801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392" name="Oval 391">
            <a:extLst>
              <a:ext uri="{FF2B5EF4-FFF2-40B4-BE49-F238E27FC236}">
                <a16:creationId xmlns:a16="http://schemas.microsoft.com/office/drawing/2014/main" id="{A4197692-1A04-EA71-457D-175797FDA5CE}"/>
              </a:ext>
            </a:extLst>
          </p:cNvPr>
          <p:cNvSpPr/>
          <p:nvPr/>
        </p:nvSpPr>
        <p:spPr>
          <a:xfrm rot="5400000">
            <a:off x="6205194" y="451278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393" name="Oval 392">
            <a:extLst>
              <a:ext uri="{FF2B5EF4-FFF2-40B4-BE49-F238E27FC236}">
                <a16:creationId xmlns:a16="http://schemas.microsoft.com/office/drawing/2014/main" id="{A4197692-1A04-EA71-457D-175797FDA5CE}"/>
              </a:ext>
            </a:extLst>
          </p:cNvPr>
          <p:cNvSpPr/>
          <p:nvPr/>
        </p:nvSpPr>
        <p:spPr>
          <a:xfrm rot="5400000">
            <a:off x="6202108" y="589672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cxnSp>
        <p:nvCxnSpPr>
          <p:cNvPr id="394" name="Straight Connector 393">
            <a:extLst>
              <a:ext uri="{FF2B5EF4-FFF2-40B4-BE49-F238E27FC236}">
                <a16:creationId xmlns:a16="http://schemas.microsoft.com/office/drawing/2014/main" id="{66EA08EA-10E8-07B3-809B-572189B302D2}"/>
              </a:ext>
            </a:extLst>
          </p:cNvPr>
          <p:cNvCxnSpPr>
            <a:cxnSpLocks/>
            <a:stCxn id="391" idx="6"/>
            <a:endCxn id="398" idx="2"/>
          </p:cNvCxnSpPr>
          <p:nvPr/>
        </p:nvCxnSpPr>
        <p:spPr>
          <a:xfrm>
            <a:off x="7688489" y="4652019"/>
            <a:ext cx="11184" cy="124546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95" name="TextBox 394"/>
          <p:cNvSpPr txBox="1"/>
          <p:nvPr/>
        </p:nvSpPr>
        <p:spPr>
          <a:xfrm>
            <a:off x="6078031" y="4059565"/>
            <a:ext cx="362600" cy="461665"/>
          </a:xfrm>
          <a:prstGeom prst="rect">
            <a:avLst/>
          </a:prstGeom>
          <a:noFill/>
        </p:spPr>
        <p:txBody>
          <a:bodyPr wrap="none" rtlCol="0">
            <a:spAutoFit/>
          </a:bodyPr>
          <a:lstStyle>
            <a:defPPr>
              <a:defRPr lang="en-US"/>
            </a:defPPr>
            <a:lvl1pPr>
              <a:defRPr sz="2800"/>
            </a:lvl1pPr>
          </a:lstStyle>
          <a:p>
            <a:r>
              <a:rPr lang="en-US" sz="2400" dirty="0"/>
              <a:t>A</a:t>
            </a:r>
          </a:p>
        </p:txBody>
      </p:sp>
      <p:sp>
        <p:nvSpPr>
          <p:cNvPr id="396" name="TextBox 395"/>
          <p:cNvSpPr txBox="1"/>
          <p:nvPr/>
        </p:nvSpPr>
        <p:spPr>
          <a:xfrm>
            <a:off x="6078031" y="5977489"/>
            <a:ext cx="392154" cy="461665"/>
          </a:xfrm>
          <a:prstGeom prst="rect">
            <a:avLst/>
          </a:prstGeom>
          <a:noFill/>
        </p:spPr>
        <p:txBody>
          <a:bodyPr wrap="square" rtlCol="0">
            <a:spAutoFit/>
          </a:bodyPr>
          <a:lstStyle>
            <a:defPPr>
              <a:defRPr lang="en-US"/>
            </a:defPPr>
            <a:lvl1pPr>
              <a:defRPr sz="2800"/>
            </a:lvl1pPr>
          </a:lstStyle>
          <a:p>
            <a:r>
              <a:rPr lang="en-US" sz="2400" dirty="0"/>
              <a:t>C</a:t>
            </a:r>
          </a:p>
        </p:txBody>
      </p:sp>
      <p:sp>
        <p:nvSpPr>
          <p:cNvPr id="397" name="TextBox 396"/>
          <p:cNvSpPr txBox="1"/>
          <p:nvPr/>
        </p:nvSpPr>
        <p:spPr>
          <a:xfrm>
            <a:off x="7511998" y="4059564"/>
            <a:ext cx="352982" cy="461665"/>
          </a:xfrm>
          <a:prstGeom prst="rect">
            <a:avLst/>
          </a:prstGeom>
          <a:noFill/>
        </p:spPr>
        <p:txBody>
          <a:bodyPr wrap="none" rtlCol="0">
            <a:spAutoFit/>
          </a:bodyPr>
          <a:lstStyle>
            <a:defPPr>
              <a:defRPr lang="en-US"/>
            </a:defPPr>
            <a:lvl1pPr>
              <a:defRPr sz="2800"/>
            </a:lvl1pPr>
          </a:lstStyle>
          <a:p>
            <a:r>
              <a:rPr lang="en-US" sz="2400" dirty="0"/>
              <a:t>B</a:t>
            </a:r>
          </a:p>
        </p:txBody>
      </p:sp>
      <p:sp>
        <p:nvSpPr>
          <p:cNvPr id="398" name="Oval 397">
            <a:extLst>
              <a:ext uri="{FF2B5EF4-FFF2-40B4-BE49-F238E27FC236}">
                <a16:creationId xmlns:a16="http://schemas.microsoft.com/office/drawing/2014/main" id="{A4197692-1A04-EA71-457D-175797FDA5CE}"/>
              </a:ext>
            </a:extLst>
          </p:cNvPr>
          <p:cNvSpPr/>
          <p:nvPr/>
        </p:nvSpPr>
        <p:spPr>
          <a:xfrm rot="5400000">
            <a:off x="7627673" y="5900810"/>
            <a:ext cx="144000" cy="137351"/>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ln>
                <a:solidFill>
                  <a:schemeClr val="tx1"/>
                </a:solidFill>
              </a:ln>
            </a:endParaRPr>
          </a:p>
        </p:txBody>
      </p:sp>
      <p:sp>
        <p:nvSpPr>
          <p:cNvPr id="399" name="TextBox 398"/>
          <p:cNvSpPr txBox="1"/>
          <p:nvPr/>
        </p:nvSpPr>
        <p:spPr>
          <a:xfrm>
            <a:off x="7520652" y="5974220"/>
            <a:ext cx="344328" cy="461665"/>
          </a:xfrm>
          <a:prstGeom prst="rect">
            <a:avLst/>
          </a:prstGeom>
          <a:noFill/>
        </p:spPr>
        <p:txBody>
          <a:bodyPr wrap="square" rtlCol="0">
            <a:spAutoFit/>
          </a:bodyPr>
          <a:lstStyle>
            <a:defPPr>
              <a:defRPr lang="en-US"/>
            </a:defPPr>
            <a:lvl1pPr>
              <a:defRPr sz="2800"/>
            </a:lvl1pPr>
          </a:lstStyle>
          <a:p>
            <a:r>
              <a:rPr lang="en-US" sz="2400" dirty="0"/>
              <a:t>D</a:t>
            </a:r>
          </a:p>
        </p:txBody>
      </p:sp>
      <p:cxnSp>
        <p:nvCxnSpPr>
          <p:cNvPr id="400" name="Straight Connector 399">
            <a:extLst>
              <a:ext uri="{FF2B5EF4-FFF2-40B4-BE49-F238E27FC236}">
                <a16:creationId xmlns:a16="http://schemas.microsoft.com/office/drawing/2014/main" id="{66EA08EA-10E8-07B3-809B-572189B302D2}"/>
              </a:ext>
            </a:extLst>
          </p:cNvPr>
          <p:cNvCxnSpPr>
            <a:cxnSpLocks/>
            <a:stCxn id="391" idx="5"/>
            <a:endCxn id="393" idx="1"/>
          </p:cNvCxnSpPr>
          <p:nvPr/>
        </p:nvCxnSpPr>
        <p:spPr>
          <a:xfrm flipH="1">
            <a:off x="6325020" y="4630931"/>
            <a:ext cx="1312557" cy="128687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01" name="Straight Connector 400">
            <a:extLst>
              <a:ext uri="{FF2B5EF4-FFF2-40B4-BE49-F238E27FC236}">
                <a16:creationId xmlns:a16="http://schemas.microsoft.com/office/drawing/2014/main" id="{66EA08EA-10E8-07B3-809B-572189B302D2}"/>
              </a:ext>
            </a:extLst>
          </p:cNvPr>
          <p:cNvCxnSpPr>
            <a:cxnSpLocks/>
            <a:stCxn id="398" idx="3"/>
            <a:endCxn id="392" idx="7"/>
          </p:cNvCxnSpPr>
          <p:nvPr/>
        </p:nvCxnSpPr>
        <p:spPr>
          <a:xfrm flipH="1" flipV="1">
            <a:off x="6328106" y="4635694"/>
            <a:ext cx="1323007" cy="128288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402" name="Rectangle 401"/>
              <p:cNvSpPr/>
              <p:nvPr/>
            </p:nvSpPr>
            <p:spPr>
              <a:xfrm>
                <a:off x="2860595" y="889025"/>
                <a:ext cx="6470811" cy="738664"/>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r>
                        <m:rPr>
                          <m:sty m:val="p"/>
                        </m:rPr>
                        <a:rPr lang="en-US" sz="2800" b="0" i="0" smtClean="0">
                          <a:latin typeface="Cambria Math" panose="02040503050406030204" pitchFamily="18" charset="0"/>
                        </a:rPr>
                        <m:t>n</m:t>
                      </m:r>
                      <m:r>
                        <a:rPr lang="en-US" sz="2800" b="0" i="0" smtClean="0">
                          <a:latin typeface="Cambria Math" panose="02040503050406030204" pitchFamily="18" charset="0"/>
                        </a:rPr>
                        <m:t>=4⇒</m:t>
                      </m:r>
                      <m:r>
                        <m:rPr>
                          <m:nor/>
                        </m:rPr>
                        <a:rPr lang="en-US" sz="2800" dirty="0">
                          <a:solidFill>
                            <a:srgbClr val="002060"/>
                          </a:solidFill>
                        </a:rPr>
                        <m:t>number</m:t>
                      </m:r>
                      <m:r>
                        <m:rPr>
                          <m:nor/>
                        </m:rPr>
                        <a:rPr lang="en-US" sz="2800" dirty="0">
                          <a:solidFill>
                            <a:srgbClr val="002060"/>
                          </a:solidFill>
                        </a:rPr>
                        <m:t> </m:t>
                      </m:r>
                      <m:r>
                        <m:rPr>
                          <m:nor/>
                        </m:rPr>
                        <a:rPr lang="en-US" sz="2800" dirty="0">
                          <a:solidFill>
                            <a:srgbClr val="002060"/>
                          </a:solidFill>
                        </a:rPr>
                        <m:t>of</m:t>
                      </m:r>
                      <m:r>
                        <m:rPr>
                          <m:nor/>
                        </m:rPr>
                        <a:rPr lang="en-US" sz="2800" dirty="0">
                          <a:solidFill>
                            <a:srgbClr val="002060"/>
                          </a:solidFill>
                        </a:rPr>
                        <m:t> </m:t>
                      </m:r>
                      <m:r>
                        <m:rPr>
                          <m:nor/>
                        </m:rPr>
                        <a:rPr lang="en-US" sz="2800" dirty="0">
                          <a:solidFill>
                            <a:srgbClr val="002060"/>
                          </a:solidFill>
                        </a:rPr>
                        <m:t>labeled</m:t>
                      </m:r>
                      <m:r>
                        <m:rPr>
                          <m:nor/>
                        </m:rPr>
                        <a:rPr lang="en-US" sz="2800" dirty="0">
                          <a:solidFill>
                            <a:srgbClr val="002060"/>
                          </a:solidFill>
                        </a:rPr>
                        <m:t> </m:t>
                      </m:r>
                      <m:r>
                        <m:rPr>
                          <m:nor/>
                        </m:rPr>
                        <a:rPr lang="en-US" sz="2800" dirty="0">
                          <a:solidFill>
                            <a:srgbClr val="002060"/>
                          </a:solidFill>
                        </a:rPr>
                        <m:t>trees</m:t>
                      </m:r>
                      <m:r>
                        <a:rPr lang="en-US" sz="2800" b="0" i="0" dirty="0" smtClean="0">
                          <a:solidFill>
                            <a:srgbClr val="002060"/>
                          </a:solidFill>
                          <a:latin typeface="Cambria Math" panose="02040503050406030204" pitchFamily="18" charset="0"/>
                        </a:rPr>
                        <m:t>=</m:t>
                      </m:r>
                      <m:r>
                        <a:rPr lang="en-US" sz="2800" b="0" i="0" smtClean="0">
                          <a:latin typeface="Cambria Math" panose="02040503050406030204" pitchFamily="18" charset="0"/>
                        </a:rPr>
                        <m:t>16</m:t>
                      </m:r>
                    </m:oMath>
                  </m:oMathPara>
                </a14:m>
                <a:endParaRPr lang="en-US" sz="2800" dirty="0"/>
              </a:p>
            </p:txBody>
          </p:sp>
        </mc:Choice>
        <mc:Fallback xmlns="">
          <p:sp>
            <p:nvSpPr>
              <p:cNvPr id="402" name="Rectangle 401"/>
              <p:cNvSpPr>
                <a:spLocks noRot="1" noChangeAspect="1" noMove="1" noResize="1" noEditPoints="1" noAdjustHandles="1" noChangeArrowheads="1" noChangeShapeType="1" noTextEdit="1"/>
              </p:cNvSpPr>
              <p:nvPr/>
            </p:nvSpPr>
            <p:spPr>
              <a:xfrm>
                <a:off x="2860595" y="889025"/>
                <a:ext cx="6470811" cy="738664"/>
              </a:xfrm>
              <a:prstGeom prst="rect">
                <a:avLst/>
              </a:prstGeom>
              <a:blipFill rotWithShape="0">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742208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1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4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2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2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4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4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2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26"/>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4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5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5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5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4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4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34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5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54"/>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350"/>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356"/>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357"/>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33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336"/>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337"/>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343"/>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331"/>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330"/>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332"/>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342"/>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333"/>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334"/>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346"/>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363"/>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364"/>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365"/>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383"/>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359"/>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358"/>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360"/>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382"/>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nodeType="clickEffect">
                                  <p:stCondLst>
                                    <p:cond delay="0"/>
                                  </p:stCondLst>
                                  <p:childTnLst>
                                    <p:set>
                                      <p:cBhvr>
                                        <p:cTn id="128" dur="1" fill="hold">
                                          <p:stCondLst>
                                            <p:cond delay="0"/>
                                          </p:stCondLst>
                                        </p:cTn>
                                        <p:tgtEl>
                                          <p:spTgt spid="362"/>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361"/>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388"/>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371"/>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372"/>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373"/>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385"/>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367"/>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366"/>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368"/>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384"/>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369"/>
                                        </p:tgtEl>
                                        <p:attrNameLst>
                                          <p:attrName>style.visibility</p:attrName>
                                        </p:attrNameLst>
                                      </p:cBhvr>
                                      <p:to>
                                        <p:strVal val="visible"/>
                                      </p:to>
                                    </p:set>
                                  </p:childTnLst>
                                </p:cTn>
                              </p:par>
                              <p:par>
                                <p:cTn id="155" presetID="1" presetClass="entr" presetSubtype="0" fill="hold" nodeType="withEffect">
                                  <p:stCondLst>
                                    <p:cond delay="0"/>
                                  </p:stCondLst>
                                  <p:childTnLst>
                                    <p:set>
                                      <p:cBhvr>
                                        <p:cTn id="156" dur="1" fill="hold">
                                          <p:stCondLst>
                                            <p:cond delay="0"/>
                                          </p:stCondLst>
                                        </p:cTn>
                                        <p:tgtEl>
                                          <p:spTgt spid="370"/>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389"/>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395"/>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396"/>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397"/>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392"/>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391"/>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393"/>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399"/>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398"/>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nodeType="clickEffect">
                                  <p:stCondLst>
                                    <p:cond delay="0"/>
                                  </p:stCondLst>
                                  <p:childTnLst>
                                    <p:set>
                                      <p:cBhvr>
                                        <p:cTn id="180" dur="1" fill="hold">
                                          <p:stCondLst>
                                            <p:cond delay="0"/>
                                          </p:stCondLst>
                                        </p:cTn>
                                        <p:tgtEl>
                                          <p:spTgt spid="394"/>
                                        </p:tgtEl>
                                        <p:attrNameLst>
                                          <p:attrName>style.visibility</p:attrName>
                                        </p:attrNameLst>
                                      </p:cBhvr>
                                      <p:to>
                                        <p:strVal val="visible"/>
                                      </p:to>
                                    </p:set>
                                  </p:childTnLst>
                                </p:cTn>
                              </p:par>
                              <p:par>
                                <p:cTn id="181" presetID="1" presetClass="entr" presetSubtype="0" fill="hold" nodeType="withEffect">
                                  <p:stCondLst>
                                    <p:cond delay="0"/>
                                  </p:stCondLst>
                                  <p:childTnLst>
                                    <p:set>
                                      <p:cBhvr>
                                        <p:cTn id="182" dur="1" fill="hold">
                                          <p:stCondLst>
                                            <p:cond delay="0"/>
                                          </p:stCondLst>
                                        </p:cTn>
                                        <p:tgtEl>
                                          <p:spTgt spid="400"/>
                                        </p:tgtEl>
                                        <p:attrNameLst>
                                          <p:attrName>style.visibility</p:attrName>
                                        </p:attrNameLst>
                                      </p:cBhvr>
                                      <p:to>
                                        <p:strVal val="visible"/>
                                      </p:to>
                                    </p:set>
                                  </p:childTnLst>
                                </p:cTn>
                              </p:par>
                              <p:par>
                                <p:cTn id="183" presetID="1" presetClass="entr" presetSubtype="0" fill="hold" nodeType="withEffect">
                                  <p:stCondLst>
                                    <p:cond delay="0"/>
                                  </p:stCondLst>
                                  <p:childTnLst>
                                    <p:set>
                                      <p:cBhvr>
                                        <p:cTn id="184" dur="1" fill="hold">
                                          <p:stCondLst>
                                            <p:cond delay="0"/>
                                          </p:stCondLst>
                                        </p:cTn>
                                        <p:tgtEl>
                                          <p:spTgt spid="401"/>
                                        </p:tgtEl>
                                        <p:attrNameLst>
                                          <p:attrName>style.visibility</p:attrName>
                                        </p:attrNameLst>
                                      </p:cBhvr>
                                      <p:to>
                                        <p:strVal val="visible"/>
                                      </p:to>
                                    </p:set>
                                  </p:childTnLst>
                                </p:cTn>
                              </p:par>
                            </p:childTnLst>
                          </p:cTn>
                        </p:par>
                      </p:childTnLst>
                    </p:cTn>
                  </p:par>
                  <p:par>
                    <p:cTn id="185" fill="hold">
                      <p:stCondLst>
                        <p:cond delay="indefinite"/>
                      </p:stCondLst>
                      <p:childTnLst>
                        <p:par>
                          <p:cTn id="186" fill="hold">
                            <p:stCondLst>
                              <p:cond delay="0"/>
                            </p:stCondLst>
                            <p:childTnLst>
                              <p:par>
                                <p:cTn id="187" presetID="1" presetClass="entr" presetSubtype="0" fill="hold" grpId="0" nodeType="clickEffect">
                                  <p:stCondLst>
                                    <p:cond delay="0"/>
                                  </p:stCondLst>
                                  <p:childTnLst>
                                    <p:set>
                                      <p:cBhvr>
                                        <p:cTn id="188" dur="1" fill="hold">
                                          <p:stCondLst>
                                            <p:cond delay="0"/>
                                          </p:stCondLst>
                                        </p:cTn>
                                        <p:tgtEl>
                                          <p:spTgt spid="379"/>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380"/>
                                        </p:tgtEl>
                                        <p:attrNameLst>
                                          <p:attrName>style.visibility</p:attrName>
                                        </p:attrNameLst>
                                      </p:cBhvr>
                                      <p:to>
                                        <p:strVal val="visible"/>
                                      </p:to>
                                    </p:set>
                                  </p:childTnLst>
                                </p:cTn>
                              </p:par>
                              <p:par>
                                <p:cTn id="191" presetID="1" presetClass="entr" presetSubtype="0" fill="hold" grpId="0" nodeType="withEffect">
                                  <p:stCondLst>
                                    <p:cond delay="0"/>
                                  </p:stCondLst>
                                  <p:childTnLst>
                                    <p:set>
                                      <p:cBhvr>
                                        <p:cTn id="192" dur="1" fill="hold">
                                          <p:stCondLst>
                                            <p:cond delay="0"/>
                                          </p:stCondLst>
                                        </p:cTn>
                                        <p:tgtEl>
                                          <p:spTgt spid="381"/>
                                        </p:tgtEl>
                                        <p:attrNameLst>
                                          <p:attrName>style.visibility</p:attrName>
                                        </p:attrNameLst>
                                      </p:cBhvr>
                                      <p:to>
                                        <p:strVal val="visible"/>
                                      </p:to>
                                    </p:set>
                                  </p:childTnLst>
                                </p:cTn>
                              </p:par>
                              <p:par>
                                <p:cTn id="193" presetID="1" presetClass="entr" presetSubtype="0" fill="hold" grpId="0" nodeType="withEffect">
                                  <p:stCondLst>
                                    <p:cond delay="0"/>
                                  </p:stCondLst>
                                  <p:childTnLst>
                                    <p:set>
                                      <p:cBhvr>
                                        <p:cTn id="194" dur="1" fill="hold">
                                          <p:stCondLst>
                                            <p:cond delay="0"/>
                                          </p:stCondLst>
                                        </p:cTn>
                                        <p:tgtEl>
                                          <p:spTgt spid="387"/>
                                        </p:tgtEl>
                                        <p:attrNameLst>
                                          <p:attrName>style.visibility</p:attrName>
                                        </p:attrNameLst>
                                      </p:cBhvr>
                                      <p:to>
                                        <p:strVal val="visible"/>
                                      </p:to>
                                    </p:set>
                                  </p:childTnLst>
                                </p:cTn>
                              </p:par>
                              <p:par>
                                <p:cTn id="195" presetID="1" presetClass="entr" presetSubtype="0" fill="hold" grpId="0" nodeType="withEffect">
                                  <p:stCondLst>
                                    <p:cond delay="0"/>
                                  </p:stCondLst>
                                  <p:childTnLst>
                                    <p:set>
                                      <p:cBhvr>
                                        <p:cTn id="196" dur="1" fill="hold">
                                          <p:stCondLst>
                                            <p:cond delay="0"/>
                                          </p:stCondLst>
                                        </p:cTn>
                                        <p:tgtEl>
                                          <p:spTgt spid="375"/>
                                        </p:tgtEl>
                                        <p:attrNameLst>
                                          <p:attrName>style.visibility</p:attrName>
                                        </p:attrNameLst>
                                      </p:cBhvr>
                                      <p:to>
                                        <p:strVal val="visible"/>
                                      </p:to>
                                    </p:set>
                                  </p:childTnLst>
                                </p:cTn>
                              </p:par>
                              <p:par>
                                <p:cTn id="197" presetID="1" presetClass="entr" presetSubtype="0" fill="hold" grpId="0" nodeType="withEffect">
                                  <p:stCondLst>
                                    <p:cond delay="0"/>
                                  </p:stCondLst>
                                  <p:childTnLst>
                                    <p:set>
                                      <p:cBhvr>
                                        <p:cTn id="198" dur="1" fill="hold">
                                          <p:stCondLst>
                                            <p:cond delay="0"/>
                                          </p:stCondLst>
                                        </p:cTn>
                                        <p:tgtEl>
                                          <p:spTgt spid="374"/>
                                        </p:tgtEl>
                                        <p:attrNameLst>
                                          <p:attrName>style.visibility</p:attrName>
                                        </p:attrNameLst>
                                      </p:cBhvr>
                                      <p:to>
                                        <p:strVal val="visible"/>
                                      </p:to>
                                    </p:set>
                                  </p:childTnLst>
                                </p:cTn>
                              </p:par>
                              <p:par>
                                <p:cTn id="199" presetID="1" presetClass="entr" presetSubtype="0" fill="hold" grpId="0" nodeType="withEffect">
                                  <p:stCondLst>
                                    <p:cond delay="0"/>
                                  </p:stCondLst>
                                  <p:childTnLst>
                                    <p:set>
                                      <p:cBhvr>
                                        <p:cTn id="200" dur="1" fill="hold">
                                          <p:stCondLst>
                                            <p:cond delay="0"/>
                                          </p:stCondLst>
                                        </p:cTn>
                                        <p:tgtEl>
                                          <p:spTgt spid="376"/>
                                        </p:tgtEl>
                                        <p:attrNameLst>
                                          <p:attrName>style.visibility</p:attrName>
                                        </p:attrNameLst>
                                      </p:cBhvr>
                                      <p:to>
                                        <p:strVal val="visible"/>
                                      </p:to>
                                    </p:set>
                                  </p:childTnLst>
                                </p:cTn>
                              </p:par>
                              <p:par>
                                <p:cTn id="201" presetID="1" presetClass="entr" presetSubtype="0" fill="hold" grpId="0" nodeType="withEffect">
                                  <p:stCondLst>
                                    <p:cond delay="0"/>
                                  </p:stCondLst>
                                  <p:childTnLst>
                                    <p:set>
                                      <p:cBhvr>
                                        <p:cTn id="202" dur="1" fill="hold">
                                          <p:stCondLst>
                                            <p:cond delay="0"/>
                                          </p:stCondLst>
                                        </p:cTn>
                                        <p:tgtEl>
                                          <p:spTgt spid="386"/>
                                        </p:tgtEl>
                                        <p:attrNameLst>
                                          <p:attrName>style.visibility</p:attrName>
                                        </p:attrNameLst>
                                      </p:cBhvr>
                                      <p:to>
                                        <p:strVal val="visible"/>
                                      </p:to>
                                    </p:set>
                                  </p:childTnLst>
                                </p:cTn>
                              </p:par>
                            </p:childTnLst>
                          </p:cTn>
                        </p:par>
                      </p:childTnLst>
                    </p:cTn>
                  </p:par>
                  <p:par>
                    <p:cTn id="203" fill="hold">
                      <p:stCondLst>
                        <p:cond delay="indefinite"/>
                      </p:stCondLst>
                      <p:childTnLst>
                        <p:par>
                          <p:cTn id="204" fill="hold">
                            <p:stCondLst>
                              <p:cond delay="0"/>
                            </p:stCondLst>
                            <p:childTnLst>
                              <p:par>
                                <p:cTn id="205" presetID="1" presetClass="entr" presetSubtype="0" fill="hold" nodeType="clickEffect">
                                  <p:stCondLst>
                                    <p:cond delay="0"/>
                                  </p:stCondLst>
                                  <p:childTnLst>
                                    <p:set>
                                      <p:cBhvr>
                                        <p:cTn id="206" dur="1" fill="hold">
                                          <p:stCondLst>
                                            <p:cond delay="0"/>
                                          </p:stCondLst>
                                        </p:cTn>
                                        <p:tgtEl>
                                          <p:spTgt spid="377"/>
                                        </p:tgtEl>
                                        <p:attrNameLst>
                                          <p:attrName>style.visibility</p:attrName>
                                        </p:attrNameLst>
                                      </p:cBhvr>
                                      <p:to>
                                        <p:strVal val="visible"/>
                                      </p:to>
                                    </p:set>
                                  </p:childTnLst>
                                </p:cTn>
                              </p:par>
                              <p:par>
                                <p:cTn id="207" presetID="1" presetClass="entr" presetSubtype="0" fill="hold" nodeType="withEffect">
                                  <p:stCondLst>
                                    <p:cond delay="0"/>
                                  </p:stCondLst>
                                  <p:childTnLst>
                                    <p:set>
                                      <p:cBhvr>
                                        <p:cTn id="208" dur="1" fill="hold">
                                          <p:stCondLst>
                                            <p:cond delay="0"/>
                                          </p:stCondLst>
                                        </p:cTn>
                                        <p:tgtEl>
                                          <p:spTgt spid="378"/>
                                        </p:tgtEl>
                                        <p:attrNameLst>
                                          <p:attrName>style.visibility</p:attrName>
                                        </p:attrNameLst>
                                      </p:cBhvr>
                                      <p:to>
                                        <p:strVal val="visible"/>
                                      </p:to>
                                    </p:set>
                                  </p:childTnLst>
                                </p:cTn>
                              </p:par>
                              <p:par>
                                <p:cTn id="209" presetID="1" presetClass="entr" presetSubtype="0" fill="hold" nodeType="withEffect">
                                  <p:stCondLst>
                                    <p:cond delay="0"/>
                                  </p:stCondLst>
                                  <p:childTnLst>
                                    <p:set>
                                      <p:cBhvr>
                                        <p:cTn id="210" dur="1" fill="hold">
                                          <p:stCondLst>
                                            <p:cond delay="0"/>
                                          </p:stCondLst>
                                        </p:cTn>
                                        <p:tgtEl>
                                          <p:spTgt spid="3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4" grpId="0" animBg="1"/>
      <p:bldP spid="315" grpId="0" animBg="1"/>
      <p:bldP spid="316" grpId="0" animBg="1"/>
      <p:bldP spid="319" grpId="0"/>
      <p:bldP spid="320" grpId="0"/>
      <p:bldP spid="321" grpId="0"/>
      <p:bldP spid="322" grpId="0" animBg="1"/>
      <p:bldP spid="323" grpId="0" animBg="1"/>
      <p:bldP spid="324" grpId="0" animBg="1"/>
      <p:bldP spid="327" grpId="0"/>
      <p:bldP spid="328" grpId="0"/>
      <p:bldP spid="329" grpId="0"/>
      <p:bldP spid="330" grpId="0" animBg="1"/>
      <p:bldP spid="331" grpId="0" animBg="1"/>
      <p:bldP spid="332" grpId="0" animBg="1"/>
      <p:bldP spid="335" grpId="0"/>
      <p:bldP spid="336" grpId="0"/>
      <p:bldP spid="337" grpId="0"/>
      <p:bldP spid="338" grpId="0" animBg="1"/>
      <p:bldP spid="339" grpId="0"/>
      <p:bldP spid="340" grpId="0" animBg="1"/>
      <p:bldP spid="341" grpId="0"/>
      <p:bldP spid="342" grpId="0" animBg="1"/>
      <p:bldP spid="343" grpId="0"/>
      <p:bldP spid="347" grpId="0" animBg="1"/>
      <p:bldP spid="348" grpId="0" animBg="1"/>
      <p:bldP spid="349" grpId="0" animBg="1"/>
      <p:bldP spid="351" grpId="0"/>
      <p:bldP spid="352" grpId="0"/>
      <p:bldP spid="353" grpId="0"/>
      <p:bldP spid="354" grpId="0" animBg="1"/>
      <p:bldP spid="355" grpId="0"/>
      <p:bldP spid="358" grpId="0" animBg="1"/>
      <p:bldP spid="359" grpId="0" animBg="1"/>
      <p:bldP spid="360" grpId="0" animBg="1"/>
      <p:bldP spid="363" grpId="0"/>
      <p:bldP spid="364" grpId="0"/>
      <p:bldP spid="365" grpId="0"/>
      <p:bldP spid="366" grpId="0" animBg="1"/>
      <p:bldP spid="367" grpId="0" animBg="1"/>
      <p:bldP spid="368" grpId="0" animBg="1"/>
      <p:bldP spid="371" grpId="0"/>
      <p:bldP spid="372" grpId="0"/>
      <p:bldP spid="373" grpId="0"/>
      <p:bldP spid="374" grpId="0" animBg="1"/>
      <p:bldP spid="375" grpId="0" animBg="1"/>
      <p:bldP spid="376" grpId="0" animBg="1"/>
      <p:bldP spid="379" grpId="0"/>
      <p:bldP spid="380" grpId="0"/>
      <p:bldP spid="381" grpId="0"/>
      <p:bldP spid="382" grpId="0" animBg="1"/>
      <p:bldP spid="383" grpId="0"/>
      <p:bldP spid="384" grpId="0" animBg="1"/>
      <p:bldP spid="385" grpId="0"/>
      <p:bldP spid="386" grpId="0" animBg="1"/>
      <p:bldP spid="387" grpId="0"/>
      <p:bldP spid="391" grpId="0" animBg="1"/>
      <p:bldP spid="392" grpId="0" animBg="1"/>
      <p:bldP spid="393" grpId="0" animBg="1"/>
      <p:bldP spid="395" grpId="0"/>
      <p:bldP spid="396" grpId="0"/>
      <p:bldP spid="397" grpId="0"/>
      <p:bldP spid="398" grpId="0" animBg="1"/>
      <p:bldP spid="399"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pPr algn="just">
                  <a:spcBef>
                    <a:spcPts val="1000"/>
                  </a:spcBef>
                  <a:buClr>
                    <a:srgbClr val="B84742"/>
                  </a:buClr>
                </a:pPr>
                <a14:m>
                  <m:oMathPara xmlns:m="http://schemas.openxmlformats.org/officeDocument/2006/math">
                    <m:oMathParaPr>
                      <m:jc m:val="left"/>
                    </m:oMathParaPr>
                    <m:oMath xmlns:m="http://schemas.openxmlformats.org/officeDocument/2006/math">
                      <m:r>
                        <m:rPr>
                          <m:nor/>
                        </m:rPr>
                        <a:rPr lang="en-US" sz="3600"/>
                        <m:t>Counting</m:t>
                      </m:r>
                      <m:r>
                        <m:rPr>
                          <m:nor/>
                        </m:rPr>
                        <a:rPr lang="en-US" sz="3600"/>
                        <m:t> </m:t>
                      </m:r>
                      <m:r>
                        <m:rPr>
                          <m:nor/>
                        </m:rPr>
                        <a:rPr lang="en-US" sz="3600"/>
                        <m:t>Labeled</m:t>
                      </m:r>
                      <m:r>
                        <m:rPr>
                          <m:nor/>
                        </m:rPr>
                        <a:rPr lang="en-US" sz="3600"/>
                        <m:t> </m:t>
                      </m:r>
                      <m:r>
                        <m:rPr>
                          <m:nor/>
                        </m:rPr>
                        <a:rPr lang="en-US" sz="3600"/>
                        <m:t>Trees</m:t>
                      </m:r>
                    </m:oMath>
                  </m:oMathPara>
                </a14:m>
                <a:endParaRPr/>
              </a:p>
            </p:txBody>
          </p:sp>
        </mc:Choice>
        <mc:Fallback xmlns="">
          <p:sp>
            <p:nvSpPr>
              <p:cNvPr id="9" name="Title 1">
                <a:extLst>
                  <a:ext uri="{FF2B5EF4-FFF2-40B4-BE49-F238E27FC236}">
                    <a16:creationId xmlns:a16="http://schemas.microsoft.com/office/drawing/2014/main" xmlns="" xmlns:a14="http://schemas.microsoft.com/office/drawing/2010/main" id="{D5CD07E8-CBAA-45BA-85CF-1233D4AA86C9}"/>
                  </a:ext>
                </a:extLst>
              </p:cNvPr>
              <p:cNvSpPr txBox="1">
                <a:spLocks noRot="1" noChangeAspect="1" noMove="1" noResize="1" noEditPoints="1" noAdjustHandles="1" noChangeArrowheads="1" noChangeShapeType="1" noTextEdit="1"/>
              </p:cNvSpPr>
              <p:nvPr/>
            </p:nvSpPr>
            <p:spPr>
              <a:xfrm>
                <a:off x="0" y="0"/>
                <a:ext cx="12192000" cy="711200"/>
              </a:xfrm>
              <a:prstGeom prst="rect">
                <a:avLst/>
              </a:prstGeom>
              <a:blipFill rotWithShape="0">
                <a:blip r:embed="rId2"/>
                <a:stretch>
                  <a:fillRect/>
                </a:stretch>
              </a:blipFill>
              <a:ln>
                <a:noFill/>
              </a:ln>
            </p:spPr>
            <p:txBody>
              <a:bodyPr/>
              <a:lstStyle/>
              <a:p>
                <a:r>
                  <a:rPr lang="en-US">
                    <a:noFill/>
                  </a:rPr>
                  <a:t> </a:t>
                </a:r>
              </a:p>
            </p:txBody>
          </p:sp>
        </mc:Fallback>
      </mc:AlternateContent>
      <p:pic>
        <p:nvPicPr>
          <p:cNvPr id="4" name="Picture 3"/>
          <p:cNvPicPr>
            <a:picLocks noChangeAspect="1"/>
          </p:cNvPicPr>
          <p:nvPr/>
        </p:nvPicPr>
        <p:blipFill>
          <a:blip r:embed="rId3"/>
          <a:stretch>
            <a:fillRect/>
          </a:stretch>
        </p:blipFill>
        <p:spPr>
          <a:xfrm>
            <a:off x="503702" y="2073310"/>
            <a:ext cx="5336109" cy="3376978"/>
          </a:xfrm>
          <a:prstGeom prst="rect">
            <a:avLst/>
          </a:prstGeom>
        </p:spPr>
      </p:pic>
      <p:pic>
        <p:nvPicPr>
          <p:cNvPr id="5" name="Picture 4"/>
          <p:cNvPicPr>
            <a:picLocks noChangeAspect="1"/>
          </p:cNvPicPr>
          <p:nvPr/>
        </p:nvPicPr>
        <p:blipFill>
          <a:blip r:embed="rId4"/>
          <a:stretch>
            <a:fillRect/>
          </a:stretch>
        </p:blipFill>
        <p:spPr>
          <a:xfrm>
            <a:off x="6391477" y="2073310"/>
            <a:ext cx="5408637" cy="3418783"/>
          </a:xfrm>
          <a:prstGeom prst="rect">
            <a:avLst/>
          </a:prstGeom>
        </p:spPr>
      </p:pic>
      <mc:AlternateContent xmlns:mc="http://schemas.openxmlformats.org/markup-compatibility/2006" xmlns:a14="http://schemas.microsoft.com/office/drawing/2010/main">
        <mc:Choice Requires="a14">
          <p:sp>
            <p:nvSpPr>
              <p:cNvPr id="184" name="Rectangle 183"/>
              <p:cNvSpPr/>
              <p:nvPr/>
            </p:nvSpPr>
            <p:spPr>
              <a:xfrm>
                <a:off x="2860595" y="889025"/>
                <a:ext cx="6470811" cy="738664"/>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nSpc>
                    <a:spcPct val="150000"/>
                  </a:lnSpc>
                </a:pPr>
                <a14:m>
                  <m:oMathPara xmlns:m="http://schemas.openxmlformats.org/officeDocument/2006/math">
                    <m:oMathParaPr>
                      <m:jc m:val="centerGroup"/>
                    </m:oMathParaPr>
                    <m:oMath xmlns:m="http://schemas.openxmlformats.org/officeDocument/2006/math">
                      <m:r>
                        <m:rPr>
                          <m:sty m:val="p"/>
                        </m:rPr>
                        <a:rPr lang="en-US" sz="2800" b="0" i="0" smtClean="0">
                          <a:latin typeface="Cambria Math" panose="02040503050406030204" pitchFamily="18" charset="0"/>
                        </a:rPr>
                        <m:t>n</m:t>
                      </m:r>
                      <m:r>
                        <a:rPr lang="en-US" sz="2800" b="0" i="0" smtClean="0">
                          <a:latin typeface="Cambria Math" panose="02040503050406030204" pitchFamily="18" charset="0"/>
                        </a:rPr>
                        <m:t>=4⇒</m:t>
                      </m:r>
                      <m:r>
                        <m:rPr>
                          <m:nor/>
                        </m:rPr>
                        <a:rPr lang="en-US" sz="2800" dirty="0">
                          <a:solidFill>
                            <a:srgbClr val="002060"/>
                          </a:solidFill>
                        </a:rPr>
                        <m:t>number</m:t>
                      </m:r>
                      <m:r>
                        <m:rPr>
                          <m:nor/>
                        </m:rPr>
                        <a:rPr lang="en-US" sz="2800" dirty="0">
                          <a:solidFill>
                            <a:srgbClr val="002060"/>
                          </a:solidFill>
                        </a:rPr>
                        <m:t> </m:t>
                      </m:r>
                      <m:r>
                        <m:rPr>
                          <m:nor/>
                        </m:rPr>
                        <a:rPr lang="en-US" sz="2800" dirty="0">
                          <a:solidFill>
                            <a:srgbClr val="002060"/>
                          </a:solidFill>
                        </a:rPr>
                        <m:t>of</m:t>
                      </m:r>
                      <m:r>
                        <m:rPr>
                          <m:nor/>
                        </m:rPr>
                        <a:rPr lang="en-US" sz="2800" dirty="0">
                          <a:solidFill>
                            <a:srgbClr val="002060"/>
                          </a:solidFill>
                        </a:rPr>
                        <m:t> </m:t>
                      </m:r>
                      <m:r>
                        <m:rPr>
                          <m:nor/>
                        </m:rPr>
                        <a:rPr lang="en-US" sz="2800" dirty="0">
                          <a:solidFill>
                            <a:srgbClr val="002060"/>
                          </a:solidFill>
                        </a:rPr>
                        <m:t>labeled</m:t>
                      </m:r>
                      <m:r>
                        <m:rPr>
                          <m:nor/>
                        </m:rPr>
                        <a:rPr lang="en-US" sz="2800" dirty="0">
                          <a:solidFill>
                            <a:srgbClr val="002060"/>
                          </a:solidFill>
                        </a:rPr>
                        <m:t> </m:t>
                      </m:r>
                      <m:r>
                        <m:rPr>
                          <m:nor/>
                        </m:rPr>
                        <a:rPr lang="en-US" sz="2800" dirty="0">
                          <a:solidFill>
                            <a:srgbClr val="002060"/>
                          </a:solidFill>
                        </a:rPr>
                        <m:t>trees</m:t>
                      </m:r>
                      <m:r>
                        <a:rPr lang="en-US" sz="2800" b="0" i="0" dirty="0" smtClean="0">
                          <a:solidFill>
                            <a:srgbClr val="002060"/>
                          </a:solidFill>
                          <a:latin typeface="Cambria Math" panose="02040503050406030204" pitchFamily="18" charset="0"/>
                        </a:rPr>
                        <m:t>=</m:t>
                      </m:r>
                      <m:r>
                        <a:rPr lang="en-US" sz="2800" b="0" i="0" smtClean="0">
                          <a:latin typeface="Cambria Math" panose="02040503050406030204" pitchFamily="18" charset="0"/>
                        </a:rPr>
                        <m:t>16</m:t>
                      </m:r>
                    </m:oMath>
                  </m:oMathPara>
                </a14:m>
                <a:endParaRPr lang="en-US" sz="2800" dirty="0"/>
              </a:p>
            </p:txBody>
          </p:sp>
        </mc:Choice>
        <mc:Fallback xmlns="">
          <p:sp>
            <p:nvSpPr>
              <p:cNvPr id="184" name="Rectangle 183"/>
              <p:cNvSpPr>
                <a:spLocks noRot="1" noChangeAspect="1" noMove="1" noResize="1" noEditPoints="1" noAdjustHandles="1" noChangeArrowheads="1" noChangeShapeType="1" noTextEdit="1"/>
              </p:cNvSpPr>
              <p:nvPr/>
            </p:nvSpPr>
            <p:spPr>
              <a:xfrm>
                <a:off x="2860595" y="889025"/>
                <a:ext cx="6470811" cy="738664"/>
              </a:xfrm>
              <a:prstGeom prst="rect">
                <a:avLst/>
              </a:prstGeom>
              <a:blipFill rotWithShape="0">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409853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Method-2</a:t>
            </a:r>
          </a:p>
        </p:txBody>
      </p:sp>
    </p:spTree>
    <p:extLst>
      <p:ext uri="{BB962C8B-B14F-4D97-AF65-F5344CB8AC3E}">
        <p14:creationId xmlns:p14="http://schemas.microsoft.com/office/powerpoint/2010/main" val="23401961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40"/>
                <a:ext cx="11910570" cy="926308"/>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pPr algn="just"/>
                <a:r>
                  <a:rPr lang="en-US" sz="2800" dirty="0">
                    <a:solidFill>
                      <a:schemeClr val="bg1"/>
                    </a:solidFill>
                  </a:rPr>
                  <a:t>What is the maximum number of pendant vertices in a tree with</a:t>
                </a:r>
                <a14:m>
                  <m:oMath xmlns:m="http://schemas.openxmlformats.org/officeDocument/2006/math">
                    <m:r>
                      <a:rPr lang="en-US" sz="2800" i="0" dirty="0" smtClean="0">
                        <a:solidFill>
                          <a:schemeClr val="bg1"/>
                        </a:solidFill>
                        <a:latin typeface="Cambria Math" panose="02040503050406030204" pitchFamily="18" charset="0"/>
                      </a:rPr>
                      <m:t> </m:t>
                    </m:r>
                    <m:r>
                      <m:rPr>
                        <m:sty m:val="p"/>
                      </m:rPr>
                      <a:rPr lang="en-US" sz="2800" i="0" dirty="0" smtClean="0">
                        <a:solidFill>
                          <a:schemeClr val="bg1"/>
                        </a:solidFill>
                        <a:latin typeface="Cambria Math" panose="02040503050406030204" pitchFamily="18" charset="0"/>
                      </a:rPr>
                      <m:t>n</m:t>
                    </m:r>
                    <m:r>
                      <a:rPr lang="en-US" sz="2800" i="0" dirty="0" smtClean="0">
                        <a:solidFill>
                          <a:schemeClr val="bg1"/>
                        </a:solidFill>
                        <a:latin typeface="Cambria Math" panose="02040503050406030204" pitchFamily="18" charset="0"/>
                      </a:rPr>
                      <m:t>&gt;2</m:t>
                    </m:r>
                  </m:oMath>
                </a14:m>
                <a:r>
                  <a:rPr lang="en-US" sz="2800" dirty="0">
                    <a:solidFill>
                      <a:schemeClr val="bg1"/>
                    </a:solidFill>
                  </a:rPr>
                  <a:t> vertices? justify</a:t>
                </a:r>
                <a14:m>
                  <m:oMath xmlns:m="http://schemas.openxmlformats.org/officeDocument/2006/math">
                    <m:r>
                      <a:rPr lang="en-IN" sz="2800" b="0" i="1" dirty="0" smtClean="0">
                        <a:solidFill>
                          <a:schemeClr val="bg1"/>
                        </a:solidFill>
                        <a:latin typeface="Cambria Math" panose="02040503050406030204" pitchFamily="18" charset="0"/>
                      </a:rPr>
                      <m:t> </m:t>
                    </m:r>
                  </m:oMath>
                </a14:m>
                <a:endParaRPr lang="en-US" sz="2800" dirty="0">
                  <a:solidFill>
                    <a:schemeClr val="bg1"/>
                  </a:solidFill>
                </a:endParaRP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40"/>
                <a:ext cx="11910570" cy="926308"/>
              </a:xfrm>
              <a:prstGeom prst="rect">
                <a:avLst/>
              </a:prstGeom>
              <a:blipFill rotWithShape="0">
                <a:blip r:embed="rId2"/>
                <a:stretch>
                  <a:fillRect l="-1075" t="-6579" r="-1075" b="-20395"/>
                </a:stretch>
              </a:blipFill>
              <a:ln>
                <a:noFill/>
              </a:ln>
            </p:spPr>
            <p:txBody>
              <a:bodyPr/>
              <a:lstStyle/>
              <a:p>
                <a:r>
                  <a:rPr lang="en-US">
                    <a:noFill/>
                  </a:rPr>
                  <a:t> </a:t>
                </a:r>
              </a:p>
            </p:txBody>
          </p:sp>
        </mc:Fallback>
      </mc:AlternateContent>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2 ⇝ Example 1</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840299"/>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1180" y="2529840"/>
                <a:ext cx="11929641" cy="3924169"/>
              </a:xfrm>
            </p:spPr>
            <p:txBody>
              <a:bodyPr/>
              <a:lstStyle/>
              <a:p>
                <a:pPr>
                  <a:lnSpc>
                    <a:spcPct val="150000"/>
                  </a:lnSpc>
                  <a:buClr>
                    <a:srgbClr val="B84742"/>
                  </a:buClr>
                </a:pPr>
                <a:r>
                  <a:rPr lang="en-US" dirty="0"/>
                  <a:t>The maximum number of pendant vertices occurs in a star tree</a:t>
                </a:r>
              </a:p>
              <a:p>
                <a:pPr>
                  <a:lnSpc>
                    <a:spcPct val="150000"/>
                  </a:lnSpc>
                  <a:buClr>
                    <a:srgbClr val="B84742"/>
                  </a:buClr>
                </a:pPr>
                <a:r>
                  <a:rPr lang="en-US" dirty="0"/>
                  <a:t>Reason : In a star tree</a:t>
                </a:r>
              </a:p>
              <a:p>
                <a:pPr lvl="1">
                  <a:lnSpc>
                    <a:spcPct val="150000"/>
                  </a:lnSpc>
                  <a:buClr>
                    <a:srgbClr val="B84742"/>
                  </a:buClr>
                </a:pPr>
                <a:r>
                  <a:rPr lang="en-US" dirty="0"/>
                  <a:t>One central vertex has degree</a:t>
                </a:r>
                <a14:m>
                  <m:oMath xmlns:m="http://schemas.openxmlformats.org/officeDocument/2006/math">
                    <m:r>
                      <a:rPr lang="en-US" dirty="0">
                        <a:latin typeface="Cambria Math" panose="02040503050406030204" pitchFamily="18" charset="0"/>
                      </a:rPr>
                      <m:t> </m:t>
                    </m:r>
                    <m:r>
                      <m:rPr>
                        <m:sty m:val="p"/>
                      </m:rPr>
                      <a:rPr lang="en-US" dirty="0">
                        <a:latin typeface="Cambria Math" panose="02040503050406030204" pitchFamily="18" charset="0"/>
                      </a:rPr>
                      <m:t>n</m:t>
                    </m:r>
                    <m:r>
                      <a:rPr lang="en-US" dirty="0">
                        <a:latin typeface="Cambria Math" panose="02040503050406030204" pitchFamily="18" charset="0"/>
                      </a:rPr>
                      <m:t>−1</m:t>
                    </m:r>
                  </m:oMath>
                </a14:m>
                <a:r>
                  <a:rPr lang="en-US" dirty="0"/>
                  <a:t>.</a:t>
                </a:r>
              </a:p>
              <a:p>
                <a:pPr lvl="1">
                  <a:lnSpc>
                    <a:spcPct val="150000"/>
                  </a:lnSpc>
                  <a:buClr>
                    <a:srgbClr val="B84742"/>
                  </a:buClr>
                </a:pPr>
                <a:r>
                  <a:rPr lang="en-US" dirty="0"/>
                  <a:t>All remaining</a:t>
                </a:r>
                <a14:m>
                  <m:oMath xmlns:m="http://schemas.openxmlformats.org/officeDocument/2006/math">
                    <m:r>
                      <a:rPr lang="en-US" dirty="0">
                        <a:latin typeface="Cambria Math" panose="02040503050406030204" pitchFamily="18" charset="0"/>
                      </a:rPr>
                      <m:t> </m:t>
                    </m:r>
                    <m:r>
                      <m:rPr>
                        <m:sty m:val="p"/>
                      </m:rPr>
                      <a:rPr lang="en-US" dirty="0">
                        <a:latin typeface="Cambria Math" panose="02040503050406030204" pitchFamily="18" charset="0"/>
                      </a:rPr>
                      <m:t>n</m:t>
                    </m:r>
                    <m:r>
                      <a:rPr lang="en-US" dirty="0">
                        <a:latin typeface="Cambria Math" panose="02040503050406030204" pitchFamily="18" charset="0"/>
                      </a:rPr>
                      <m:t>−1</m:t>
                    </m:r>
                  </m:oMath>
                </a14:m>
                <a:r>
                  <a:rPr lang="en-US" dirty="0"/>
                  <a:t> vertices are leaves</a:t>
                </a:r>
                <a:endParaRPr lang="en-IN" b="1" dirty="0"/>
              </a:p>
              <a:p>
                <a:r>
                  <a:rPr lang="en-US" dirty="0"/>
                  <a:t>So, the maximum number of pendant vertices in a tree with</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n</m:t>
                    </m:r>
                    <m:r>
                      <a:rPr lang="en-US" i="0" dirty="0" smtClean="0">
                        <a:latin typeface="Cambria Math" panose="02040503050406030204" pitchFamily="18" charset="0"/>
                      </a:rPr>
                      <m:t>&gt;2</m:t>
                    </m:r>
                  </m:oMath>
                </a14:m>
                <a:r>
                  <a:rPr lang="en-US" dirty="0"/>
                  <a:t> vertices is </a:t>
                </a:r>
                <a:r>
                  <a:rPr lang="en-US" dirty="0">
                    <a:latin typeface="Cambria Math" panose="02040503050406030204" pitchFamily="18" charset="0"/>
                  </a:rPr>
                  <a:t>    </a:t>
                </a:r>
                <a14:m>
                  <m:oMath xmlns:m="http://schemas.openxmlformats.org/officeDocument/2006/math">
                    <m:r>
                      <m:rPr>
                        <m:sty m:val="p"/>
                      </m:rPr>
                      <a:rPr lang="en-US" i="0" dirty="0" smtClean="0">
                        <a:latin typeface="Cambria Math" panose="02040503050406030204" pitchFamily="18" charset="0"/>
                      </a:rPr>
                      <m:t>n</m:t>
                    </m:r>
                    <m:r>
                      <a:rPr lang="en-US" i="0" dirty="0" smtClean="0">
                        <a:latin typeface="Cambria Math" panose="02040503050406030204" pitchFamily="18" charset="0"/>
                      </a:rPr>
                      <m:t>−1</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1180" y="2529840"/>
                <a:ext cx="11929641" cy="3924169"/>
              </a:xfrm>
              <a:blipFill rotWithShape="0">
                <a:blip r:embed="rId3"/>
                <a:stretch>
                  <a:fillRect l="-971" r="-1074"/>
                </a:stretch>
              </a:blipFill>
            </p:spPr>
            <p:txBody>
              <a:bodyPr/>
              <a:lstStyle/>
              <a:p>
                <a:r>
                  <a:rPr lang="en-US">
                    <a:noFill/>
                  </a:rPr>
                  <a:t> </a:t>
                </a:r>
              </a:p>
            </p:txBody>
          </p:sp>
        </mc:Fallback>
      </mc:AlternateContent>
    </p:spTree>
    <p:extLst>
      <p:ext uri="{BB962C8B-B14F-4D97-AF65-F5344CB8AC3E}">
        <p14:creationId xmlns:p14="http://schemas.microsoft.com/office/powerpoint/2010/main" val="3664881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40"/>
            <a:ext cx="11929645" cy="926308"/>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For following tree find the distance between two vertices, Eccentricity, Radius, Diameter, Center.</a:t>
            </a: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2 ⇝ Example 2</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840299"/>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cxnSp>
        <p:nvCxnSpPr>
          <p:cNvPr id="57" name="Straight Connector 56">
            <a:extLst>
              <a:ext uri="{FF2B5EF4-FFF2-40B4-BE49-F238E27FC236}">
                <a16:creationId xmlns:a16="http://schemas.microsoft.com/office/drawing/2014/main" id="{761C1F4A-0F54-D84C-6D00-A1EB9F135299}"/>
              </a:ext>
            </a:extLst>
          </p:cNvPr>
          <p:cNvCxnSpPr>
            <a:cxnSpLocks/>
            <a:stCxn id="59" idx="3"/>
            <a:endCxn id="74" idx="7"/>
          </p:cNvCxnSpPr>
          <p:nvPr/>
        </p:nvCxnSpPr>
        <p:spPr>
          <a:xfrm flipH="1" flipV="1">
            <a:off x="10192784" y="4095580"/>
            <a:ext cx="618256"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8" name="Straight Connector 57">
            <a:extLst>
              <a:ext uri="{FF2B5EF4-FFF2-40B4-BE49-F238E27FC236}">
                <a16:creationId xmlns:a16="http://schemas.microsoft.com/office/drawing/2014/main" id="{6205DD86-315C-53B6-CEEF-A9919650168E}"/>
              </a:ext>
            </a:extLst>
          </p:cNvPr>
          <p:cNvCxnSpPr>
            <a:cxnSpLocks/>
            <a:stCxn id="59" idx="2"/>
            <a:endCxn id="60" idx="6"/>
          </p:cNvCxnSpPr>
          <p:nvPr/>
        </p:nvCxnSpPr>
        <p:spPr>
          <a:xfrm flipV="1">
            <a:off x="10861952" y="4116684"/>
            <a:ext cx="0" cy="57606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9" name="Oval 58">
            <a:extLst>
              <a:ext uri="{FF2B5EF4-FFF2-40B4-BE49-F238E27FC236}">
                <a16:creationId xmlns:a16="http://schemas.microsoft.com/office/drawing/2014/main" id="{6C0843A1-C99E-E42B-5017-D5F14DE578E1}"/>
              </a:ext>
            </a:extLst>
          </p:cNvPr>
          <p:cNvSpPr/>
          <p:nvPr/>
        </p:nvSpPr>
        <p:spPr>
          <a:xfrm rot="5400000">
            <a:off x="10789952" y="469274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0" name="Oval 59">
            <a:extLst>
              <a:ext uri="{FF2B5EF4-FFF2-40B4-BE49-F238E27FC236}">
                <a16:creationId xmlns:a16="http://schemas.microsoft.com/office/drawing/2014/main" id="{BDD11F87-DA81-9510-C1CB-0AF4093562CB}"/>
              </a:ext>
            </a:extLst>
          </p:cNvPr>
          <p:cNvSpPr/>
          <p:nvPr/>
        </p:nvSpPr>
        <p:spPr>
          <a:xfrm rot="5400000">
            <a:off x="10789952" y="397268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1" name="Oval 60">
            <a:extLst>
              <a:ext uri="{FF2B5EF4-FFF2-40B4-BE49-F238E27FC236}">
                <a16:creationId xmlns:a16="http://schemas.microsoft.com/office/drawing/2014/main" id="{57B11955-9C17-2938-6935-FD4C0AF03497}"/>
              </a:ext>
            </a:extLst>
          </p:cNvPr>
          <p:cNvSpPr/>
          <p:nvPr/>
        </p:nvSpPr>
        <p:spPr>
          <a:xfrm rot="5400000">
            <a:off x="10072461" y="468329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2" name="Straight Connector 61">
            <a:extLst>
              <a:ext uri="{FF2B5EF4-FFF2-40B4-BE49-F238E27FC236}">
                <a16:creationId xmlns:a16="http://schemas.microsoft.com/office/drawing/2014/main" id="{66EA08EA-10E8-07B3-809B-572189B302D2}"/>
              </a:ext>
            </a:extLst>
          </p:cNvPr>
          <p:cNvCxnSpPr>
            <a:cxnSpLocks/>
            <a:stCxn id="59" idx="4"/>
            <a:endCxn id="61" idx="0"/>
          </p:cNvCxnSpPr>
          <p:nvPr/>
        </p:nvCxnSpPr>
        <p:spPr>
          <a:xfrm flipH="1" flipV="1">
            <a:off x="10216461" y="4755294"/>
            <a:ext cx="573491" cy="945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3" name="Straight Connector 62">
            <a:extLst>
              <a:ext uri="{FF2B5EF4-FFF2-40B4-BE49-F238E27FC236}">
                <a16:creationId xmlns:a16="http://schemas.microsoft.com/office/drawing/2014/main" id="{761C1F4A-0F54-D84C-6D00-A1EB9F135299}"/>
              </a:ext>
            </a:extLst>
          </p:cNvPr>
          <p:cNvCxnSpPr>
            <a:cxnSpLocks/>
            <a:stCxn id="65" idx="3"/>
            <a:endCxn id="59" idx="7"/>
          </p:cNvCxnSpPr>
          <p:nvPr/>
        </p:nvCxnSpPr>
        <p:spPr>
          <a:xfrm flipH="1" flipV="1">
            <a:off x="10912864" y="4815660"/>
            <a:ext cx="656518" cy="64110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4" name="Straight Connector 63">
            <a:extLst>
              <a:ext uri="{FF2B5EF4-FFF2-40B4-BE49-F238E27FC236}">
                <a16:creationId xmlns:a16="http://schemas.microsoft.com/office/drawing/2014/main" id="{6205DD86-315C-53B6-CEEF-A9919650168E}"/>
              </a:ext>
            </a:extLst>
          </p:cNvPr>
          <p:cNvCxnSpPr>
            <a:cxnSpLocks/>
            <a:stCxn id="66" idx="4"/>
            <a:endCxn id="60" idx="0"/>
          </p:cNvCxnSpPr>
          <p:nvPr/>
        </p:nvCxnSpPr>
        <p:spPr>
          <a:xfrm flipH="1">
            <a:off x="10933952" y="4044668"/>
            <a:ext cx="576080" cy="1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5" name="Oval 64">
            <a:extLst>
              <a:ext uri="{FF2B5EF4-FFF2-40B4-BE49-F238E27FC236}">
                <a16:creationId xmlns:a16="http://schemas.microsoft.com/office/drawing/2014/main" id="{6C0843A1-C99E-E42B-5017-D5F14DE578E1}"/>
              </a:ext>
            </a:extLst>
          </p:cNvPr>
          <p:cNvSpPr/>
          <p:nvPr/>
        </p:nvSpPr>
        <p:spPr>
          <a:xfrm rot="5400000">
            <a:off x="11548294" y="543567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6" name="Oval 65">
            <a:extLst>
              <a:ext uri="{FF2B5EF4-FFF2-40B4-BE49-F238E27FC236}">
                <a16:creationId xmlns:a16="http://schemas.microsoft.com/office/drawing/2014/main" id="{BDD11F87-DA81-9510-C1CB-0AF4093562CB}"/>
              </a:ext>
            </a:extLst>
          </p:cNvPr>
          <p:cNvSpPr/>
          <p:nvPr/>
        </p:nvSpPr>
        <p:spPr>
          <a:xfrm rot="5400000">
            <a:off x="11510032" y="397266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7" name="Straight Connector 66">
            <a:extLst>
              <a:ext uri="{FF2B5EF4-FFF2-40B4-BE49-F238E27FC236}">
                <a16:creationId xmlns:a16="http://schemas.microsoft.com/office/drawing/2014/main" id="{6205DD86-315C-53B6-CEEF-A9919650168E}"/>
              </a:ext>
            </a:extLst>
          </p:cNvPr>
          <p:cNvCxnSpPr>
            <a:cxnSpLocks/>
            <a:stCxn id="61" idx="6"/>
            <a:endCxn id="68" idx="2"/>
          </p:cNvCxnSpPr>
          <p:nvPr/>
        </p:nvCxnSpPr>
        <p:spPr>
          <a:xfrm flipH="1">
            <a:off x="10141872" y="4827294"/>
            <a:ext cx="2589" cy="58553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8" name="Oval 67">
            <a:extLst>
              <a:ext uri="{FF2B5EF4-FFF2-40B4-BE49-F238E27FC236}">
                <a16:creationId xmlns:a16="http://schemas.microsoft.com/office/drawing/2014/main" id="{BDD11F87-DA81-9510-C1CB-0AF4093562CB}"/>
              </a:ext>
            </a:extLst>
          </p:cNvPr>
          <p:cNvSpPr/>
          <p:nvPr/>
        </p:nvSpPr>
        <p:spPr>
          <a:xfrm rot="5400000">
            <a:off x="10069872" y="541282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9" name="TextBox 68"/>
          <p:cNvSpPr txBox="1"/>
          <p:nvPr/>
        </p:nvSpPr>
        <p:spPr>
          <a:xfrm>
            <a:off x="9962288" y="5495522"/>
            <a:ext cx="356188" cy="523220"/>
          </a:xfrm>
          <a:prstGeom prst="rect">
            <a:avLst/>
          </a:prstGeom>
          <a:noFill/>
        </p:spPr>
        <p:txBody>
          <a:bodyPr wrap="none" rtlCol="0">
            <a:spAutoFit/>
          </a:bodyPr>
          <a:lstStyle/>
          <a:p>
            <a:r>
              <a:rPr lang="en-US" sz="2800" b="1" dirty="0">
                <a:latin typeface="Roboto Condensed" panose="02000000000000000000" pitchFamily="2" charset="0"/>
                <a:ea typeface="Roboto Condensed" panose="02000000000000000000" pitchFamily="2" charset="0"/>
              </a:rPr>
              <a:t>a</a:t>
            </a:r>
            <a:endParaRPr lang="en-US" b="1" dirty="0">
              <a:latin typeface="Roboto Condensed" panose="02000000000000000000" pitchFamily="2" charset="0"/>
              <a:ea typeface="Roboto Condensed" panose="02000000000000000000" pitchFamily="2" charset="0"/>
            </a:endParaRPr>
          </a:p>
        </p:txBody>
      </p:sp>
      <p:sp>
        <p:nvSpPr>
          <p:cNvPr id="70" name="TextBox 69"/>
          <p:cNvSpPr txBox="1"/>
          <p:nvPr/>
        </p:nvSpPr>
        <p:spPr>
          <a:xfrm>
            <a:off x="9790606" y="4468233"/>
            <a:ext cx="349776" cy="523220"/>
          </a:xfrm>
          <a:prstGeom prst="rect">
            <a:avLst/>
          </a:prstGeom>
          <a:noFill/>
        </p:spPr>
        <p:txBody>
          <a:bodyPr wrap="none" rtlCol="0">
            <a:spAutoFit/>
          </a:bodyPr>
          <a:lstStyle/>
          <a:p>
            <a:r>
              <a:rPr lang="en-US" sz="2800" b="1" dirty="0">
                <a:latin typeface="Roboto Condensed" panose="02000000000000000000" pitchFamily="2" charset="0"/>
                <a:ea typeface="Roboto Condensed" panose="02000000000000000000" pitchFamily="2" charset="0"/>
              </a:rPr>
              <a:t>c</a:t>
            </a:r>
            <a:endParaRPr lang="en-US" b="1" dirty="0">
              <a:latin typeface="Roboto Condensed" panose="02000000000000000000" pitchFamily="2" charset="0"/>
              <a:ea typeface="Roboto Condensed" panose="02000000000000000000" pitchFamily="2" charset="0"/>
            </a:endParaRPr>
          </a:p>
        </p:txBody>
      </p:sp>
      <p:sp>
        <p:nvSpPr>
          <p:cNvPr id="71" name="TextBox 70"/>
          <p:cNvSpPr txBox="1"/>
          <p:nvPr/>
        </p:nvSpPr>
        <p:spPr>
          <a:xfrm>
            <a:off x="11442200" y="5495522"/>
            <a:ext cx="356188" cy="523220"/>
          </a:xfrm>
          <a:prstGeom prst="rect">
            <a:avLst/>
          </a:prstGeom>
          <a:noFill/>
        </p:spPr>
        <p:txBody>
          <a:bodyPr wrap="none" rtlCol="0">
            <a:spAutoFit/>
          </a:bodyPr>
          <a:lstStyle/>
          <a:p>
            <a:r>
              <a:rPr lang="en-US" sz="2800" b="1" dirty="0">
                <a:latin typeface="Roboto Condensed" panose="02000000000000000000" pitchFamily="2" charset="0"/>
                <a:ea typeface="Roboto Condensed" panose="02000000000000000000" pitchFamily="2" charset="0"/>
              </a:rPr>
              <a:t>e</a:t>
            </a:r>
            <a:endParaRPr lang="en-US" b="1" dirty="0">
              <a:latin typeface="Roboto Condensed" panose="02000000000000000000" pitchFamily="2" charset="0"/>
              <a:ea typeface="Roboto Condensed" panose="02000000000000000000" pitchFamily="2" charset="0"/>
            </a:endParaRPr>
          </a:p>
        </p:txBody>
      </p:sp>
      <p:sp>
        <p:nvSpPr>
          <p:cNvPr id="72" name="TextBox 71"/>
          <p:cNvSpPr txBox="1"/>
          <p:nvPr/>
        </p:nvSpPr>
        <p:spPr>
          <a:xfrm>
            <a:off x="10493139" y="3639044"/>
            <a:ext cx="362600" cy="523220"/>
          </a:xfrm>
          <a:prstGeom prst="rect">
            <a:avLst/>
          </a:prstGeom>
          <a:noFill/>
        </p:spPr>
        <p:txBody>
          <a:bodyPr wrap="none" rtlCol="0">
            <a:spAutoFit/>
          </a:bodyPr>
          <a:lstStyle/>
          <a:p>
            <a:r>
              <a:rPr lang="en-US" sz="2800" b="1" dirty="0">
                <a:latin typeface="Roboto Condensed" panose="02000000000000000000" pitchFamily="2" charset="0"/>
                <a:ea typeface="Roboto Condensed" panose="02000000000000000000" pitchFamily="2" charset="0"/>
              </a:rPr>
              <a:t>d</a:t>
            </a:r>
            <a:endParaRPr lang="en-US" b="1" dirty="0">
              <a:latin typeface="Roboto Condensed" panose="02000000000000000000" pitchFamily="2" charset="0"/>
              <a:ea typeface="Roboto Condensed" panose="02000000000000000000" pitchFamily="2" charset="0"/>
            </a:endParaRPr>
          </a:p>
        </p:txBody>
      </p:sp>
      <p:sp>
        <p:nvSpPr>
          <p:cNvPr id="73" name="TextBox 72"/>
          <p:cNvSpPr txBox="1"/>
          <p:nvPr/>
        </p:nvSpPr>
        <p:spPr>
          <a:xfrm>
            <a:off x="11580881" y="3691886"/>
            <a:ext cx="362600" cy="523220"/>
          </a:xfrm>
          <a:prstGeom prst="rect">
            <a:avLst/>
          </a:prstGeom>
          <a:noFill/>
        </p:spPr>
        <p:txBody>
          <a:bodyPr wrap="none" rtlCol="0">
            <a:spAutoFit/>
          </a:bodyPr>
          <a:lstStyle/>
          <a:p>
            <a:r>
              <a:rPr lang="en-US" sz="2800" b="1" dirty="0">
                <a:latin typeface="Roboto Condensed" panose="02000000000000000000" pitchFamily="2" charset="0"/>
                <a:ea typeface="Roboto Condensed" panose="02000000000000000000" pitchFamily="2" charset="0"/>
              </a:rPr>
              <a:t>b</a:t>
            </a:r>
            <a:endParaRPr lang="en-US" b="1" dirty="0">
              <a:latin typeface="Roboto Condensed" panose="02000000000000000000" pitchFamily="2" charset="0"/>
              <a:ea typeface="Roboto Condensed" panose="02000000000000000000" pitchFamily="2" charset="0"/>
            </a:endParaRPr>
          </a:p>
        </p:txBody>
      </p:sp>
      <p:sp>
        <p:nvSpPr>
          <p:cNvPr id="74" name="Oval 73">
            <a:extLst>
              <a:ext uri="{FF2B5EF4-FFF2-40B4-BE49-F238E27FC236}">
                <a16:creationId xmlns:a16="http://schemas.microsoft.com/office/drawing/2014/main" id="{6C0843A1-C99E-E42B-5017-D5F14DE578E1}"/>
              </a:ext>
            </a:extLst>
          </p:cNvPr>
          <p:cNvSpPr/>
          <p:nvPr/>
        </p:nvSpPr>
        <p:spPr>
          <a:xfrm rot="5400000">
            <a:off x="10069872" y="397266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5" name="TextBox 74"/>
          <p:cNvSpPr txBox="1"/>
          <p:nvPr/>
        </p:nvSpPr>
        <p:spPr>
          <a:xfrm>
            <a:off x="10673314" y="4762235"/>
            <a:ext cx="301686" cy="523220"/>
          </a:xfrm>
          <a:prstGeom prst="rect">
            <a:avLst/>
          </a:prstGeom>
          <a:noFill/>
        </p:spPr>
        <p:txBody>
          <a:bodyPr wrap="none" rtlCol="0">
            <a:spAutoFit/>
          </a:bodyPr>
          <a:lstStyle/>
          <a:p>
            <a:r>
              <a:rPr lang="en-US" sz="2800" b="1" dirty="0">
                <a:latin typeface="Roboto Condensed" panose="02000000000000000000" pitchFamily="2" charset="0"/>
                <a:ea typeface="Roboto Condensed" panose="02000000000000000000" pitchFamily="2" charset="0"/>
              </a:rPr>
              <a:t>f</a:t>
            </a:r>
            <a:endParaRPr lang="en-US" b="1" dirty="0">
              <a:latin typeface="Roboto Condensed" panose="02000000000000000000" pitchFamily="2" charset="0"/>
              <a:ea typeface="Roboto Condensed" panose="02000000000000000000" pitchFamily="2" charset="0"/>
            </a:endParaRPr>
          </a:p>
        </p:txBody>
      </p:sp>
      <p:sp>
        <p:nvSpPr>
          <p:cNvPr id="76" name="TextBox 75"/>
          <p:cNvSpPr txBox="1"/>
          <p:nvPr/>
        </p:nvSpPr>
        <p:spPr>
          <a:xfrm>
            <a:off x="9790606" y="3646430"/>
            <a:ext cx="365806" cy="523220"/>
          </a:xfrm>
          <a:prstGeom prst="rect">
            <a:avLst/>
          </a:prstGeom>
          <a:noFill/>
        </p:spPr>
        <p:txBody>
          <a:bodyPr wrap="none" rtlCol="0">
            <a:spAutoFit/>
          </a:bodyPr>
          <a:lstStyle/>
          <a:p>
            <a:r>
              <a:rPr lang="en-US" sz="2800" b="1" dirty="0">
                <a:latin typeface="Roboto Condensed" panose="02000000000000000000" pitchFamily="2" charset="0"/>
                <a:ea typeface="Roboto Condensed" panose="02000000000000000000" pitchFamily="2" charset="0"/>
              </a:rPr>
              <a:t>g</a:t>
            </a:r>
            <a:endParaRPr lang="en-US" b="1" dirty="0">
              <a:latin typeface="Roboto Condensed" panose="02000000000000000000" pitchFamily="2" charset="0"/>
              <a:ea typeface="Roboto Condensed" panose="02000000000000000000" pitchFamily="2" charset="0"/>
            </a:endParaRPr>
          </a:p>
        </p:txBody>
      </p:sp>
      <p:graphicFrame>
        <p:nvGraphicFramePr>
          <p:cNvPr id="6" name="Table 5"/>
          <p:cNvGraphicFramePr>
            <a:graphicFrameLocks noGrp="1"/>
          </p:cNvGraphicFramePr>
          <p:nvPr>
            <p:extLst>
              <p:ext uri="{D42A27DB-BD31-4B8C-83A1-F6EECF244321}">
                <p14:modId xmlns:p14="http://schemas.microsoft.com/office/powerpoint/2010/main" val="371663549"/>
              </p:ext>
            </p:extLst>
          </p:nvPr>
        </p:nvGraphicFramePr>
        <p:xfrm>
          <a:off x="124952" y="2438353"/>
          <a:ext cx="9720000" cy="565714"/>
        </p:xfrm>
        <a:graphic>
          <a:graphicData uri="http://schemas.openxmlformats.org/drawingml/2006/table">
            <a:tbl>
              <a:tblPr firstRow="1" bandRow="1">
                <a:tableStyleId>{5C22544A-7EE6-4342-B048-85BDC9FD1C3A}</a:tableStyleId>
              </a:tblPr>
              <a:tblGrid>
                <a:gridCol w="1620000">
                  <a:extLst>
                    <a:ext uri="{9D8B030D-6E8A-4147-A177-3AD203B41FA5}">
                      <a16:colId xmlns:a16="http://schemas.microsoft.com/office/drawing/2014/main" val="2573274369"/>
                    </a:ext>
                  </a:extLst>
                </a:gridCol>
                <a:gridCol w="1620000">
                  <a:extLst>
                    <a:ext uri="{9D8B030D-6E8A-4147-A177-3AD203B41FA5}">
                      <a16:colId xmlns:a16="http://schemas.microsoft.com/office/drawing/2014/main" val="4051045428"/>
                    </a:ext>
                  </a:extLst>
                </a:gridCol>
                <a:gridCol w="1620000">
                  <a:extLst>
                    <a:ext uri="{9D8B030D-6E8A-4147-A177-3AD203B41FA5}">
                      <a16:colId xmlns:a16="http://schemas.microsoft.com/office/drawing/2014/main" val="1541333607"/>
                    </a:ext>
                  </a:extLst>
                </a:gridCol>
                <a:gridCol w="1620000">
                  <a:extLst>
                    <a:ext uri="{9D8B030D-6E8A-4147-A177-3AD203B41FA5}">
                      <a16:colId xmlns:a16="http://schemas.microsoft.com/office/drawing/2014/main" val="535765769"/>
                    </a:ext>
                  </a:extLst>
                </a:gridCol>
                <a:gridCol w="1620000">
                  <a:extLst>
                    <a:ext uri="{9D8B030D-6E8A-4147-A177-3AD203B41FA5}">
                      <a16:colId xmlns:a16="http://schemas.microsoft.com/office/drawing/2014/main" val="3481627474"/>
                    </a:ext>
                  </a:extLst>
                </a:gridCol>
                <a:gridCol w="1620000">
                  <a:extLst>
                    <a:ext uri="{9D8B030D-6E8A-4147-A177-3AD203B41FA5}">
                      <a16:colId xmlns:a16="http://schemas.microsoft.com/office/drawing/2014/main" val="676072984"/>
                    </a:ext>
                  </a:extLst>
                </a:gridCol>
              </a:tblGrid>
              <a:tr h="565714">
                <a:tc>
                  <a:txBody>
                    <a:bodyPr/>
                    <a:lstStyle/>
                    <a:p>
                      <a:endParaRPr lang="en-IN" sz="2400" dirty="0"/>
                    </a:p>
                  </a:txBody>
                  <a:tcPr anchor="ctr">
                    <a:solidFill>
                      <a:schemeClr val="accent1">
                        <a:lumMod val="20000"/>
                        <a:lumOff val="80000"/>
                      </a:schemeClr>
                    </a:solidFill>
                  </a:tcPr>
                </a:tc>
                <a:tc>
                  <a:txBody>
                    <a:bodyPr/>
                    <a:lstStyle/>
                    <a:p>
                      <a:endParaRPr lang="en-IN" dirty="0"/>
                    </a:p>
                  </a:txBody>
                  <a:tcPr>
                    <a:solidFill>
                      <a:schemeClr val="accent1">
                        <a:lumMod val="20000"/>
                        <a:lumOff val="80000"/>
                      </a:schemeClr>
                    </a:solidFill>
                  </a:tcPr>
                </a:tc>
                <a:tc>
                  <a:txBody>
                    <a:bodyPr/>
                    <a:lstStyle/>
                    <a:p>
                      <a:endParaRPr lang="en-IN" dirty="0"/>
                    </a:p>
                  </a:txBody>
                  <a:tcPr>
                    <a:solidFill>
                      <a:schemeClr val="accent1">
                        <a:lumMod val="20000"/>
                        <a:lumOff val="80000"/>
                      </a:schemeClr>
                    </a:solidFill>
                  </a:tcPr>
                </a:tc>
                <a:tc>
                  <a:txBody>
                    <a:bodyPr/>
                    <a:lstStyle/>
                    <a:p>
                      <a:endParaRPr lang="en-IN" dirty="0"/>
                    </a:p>
                  </a:txBody>
                  <a:tcPr>
                    <a:solidFill>
                      <a:schemeClr val="accent1">
                        <a:lumMod val="20000"/>
                        <a:lumOff val="80000"/>
                      </a:schemeClr>
                    </a:solidFill>
                  </a:tcPr>
                </a:tc>
                <a:tc>
                  <a:txBody>
                    <a:bodyPr/>
                    <a:lstStyle/>
                    <a:p>
                      <a:endParaRPr lang="en-IN" dirty="0"/>
                    </a:p>
                  </a:txBody>
                  <a:tcPr>
                    <a:solidFill>
                      <a:schemeClr val="accent1">
                        <a:lumMod val="20000"/>
                        <a:lumOff val="80000"/>
                      </a:schemeClr>
                    </a:solidFill>
                  </a:tcPr>
                </a:tc>
                <a:tc>
                  <a:txBody>
                    <a:bodyPr/>
                    <a:lstStyle/>
                    <a:p>
                      <a:endParaRPr lang="en-IN" dirty="0"/>
                    </a:p>
                  </a:txBody>
                  <a:tcPr>
                    <a:solidFill>
                      <a:schemeClr val="accent1">
                        <a:lumMod val="20000"/>
                        <a:lumOff val="80000"/>
                      </a:schemeClr>
                    </a:solidFill>
                  </a:tcPr>
                </a:tc>
                <a:extLst>
                  <a:ext uri="{0D108BD9-81ED-4DB2-BD59-A6C34878D82A}">
                    <a16:rowId xmlns:a16="http://schemas.microsoft.com/office/drawing/2014/main" val="4219683138"/>
                  </a:ext>
                </a:extLst>
              </a:tr>
            </a:tbl>
          </a:graphicData>
        </a:graphic>
      </p:graphicFrame>
      <p:graphicFrame>
        <p:nvGraphicFramePr>
          <p:cNvPr id="11" name="Table 10"/>
          <p:cNvGraphicFramePr>
            <a:graphicFrameLocks noGrp="1"/>
          </p:cNvGraphicFramePr>
          <p:nvPr/>
        </p:nvGraphicFramePr>
        <p:xfrm>
          <a:off x="124951" y="3085108"/>
          <a:ext cx="8100000" cy="565714"/>
        </p:xfrm>
        <a:graphic>
          <a:graphicData uri="http://schemas.openxmlformats.org/drawingml/2006/table">
            <a:tbl>
              <a:tblPr firstRow="1" bandRow="1">
                <a:tableStyleId>{5C22544A-7EE6-4342-B048-85BDC9FD1C3A}</a:tableStyleId>
              </a:tblPr>
              <a:tblGrid>
                <a:gridCol w="1620000">
                  <a:extLst>
                    <a:ext uri="{9D8B030D-6E8A-4147-A177-3AD203B41FA5}">
                      <a16:colId xmlns:a16="http://schemas.microsoft.com/office/drawing/2014/main" val="197265483"/>
                    </a:ext>
                  </a:extLst>
                </a:gridCol>
                <a:gridCol w="1620000">
                  <a:extLst>
                    <a:ext uri="{9D8B030D-6E8A-4147-A177-3AD203B41FA5}">
                      <a16:colId xmlns:a16="http://schemas.microsoft.com/office/drawing/2014/main" val="2409799903"/>
                    </a:ext>
                  </a:extLst>
                </a:gridCol>
                <a:gridCol w="1620000">
                  <a:extLst>
                    <a:ext uri="{9D8B030D-6E8A-4147-A177-3AD203B41FA5}">
                      <a16:colId xmlns:a16="http://schemas.microsoft.com/office/drawing/2014/main" val="1726805427"/>
                    </a:ext>
                  </a:extLst>
                </a:gridCol>
                <a:gridCol w="1620000">
                  <a:extLst>
                    <a:ext uri="{9D8B030D-6E8A-4147-A177-3AD203B41FA5}">
                      <a16:colId xmlns:a16="http://schemas.microsoft.com/office/drawing/2014/main" val="2345026362"/>
                    </a:ext>
                  </a:extLst>
                </a:gridCol>
                <a:gridCol w="1620000">
                  <a:extLst>
                    <a:ext uri="{9D8B030D-6E8A-4147-A177-3AD203B41FA5}">
                      <a16:colId xmlns:a16="http://schemas.microsoft.com/office/drawing/2014/main" val="1541232864"/>
                    </a:ext>
                  </a:extLst>
                </a:gridCol>
              </a:tblGrid>
              <a:tr h="565714">
                <a:tc>
                  <a:txBody>
                    <a:bodyPr/>
                    <a:lstStyle/>
                    <a:p>
                      <a:endParaRPr lang="en-IN" dirty="0"/>
                    </a:p>
                  </a:txBody>
                  <a:tcPr>
                    <a:solidFill>
                      <a:schemeClr val="bg1">
                        <a:lumMod val="75000"/>
                      </a:schemeClr>
                    </a:solidFill>
                  </a:tcPr>
                </a:tc>
                <a:tc>
                  <a:txBody>
                    <a:bodyPr/>
                    <a:lstStyle/>
                    <a:p>
                      <a:endParaRPr lang="en-IN" dirty="0"/>
                    </a:p>
                  </a:txBody>
                  <a:tcPr>
                    <a:solidFill>
                      <a:schemeClr val="bg1">
                        <a:lumMod val="75000"/>
                      </a:schemeClr>
                    </a:solidFill>
                  </a:tcPr>
                </a:tc>
                <a:tc>
                  <a:txBody>
                    <a:bodyPr/>
                    <a:lstStyle/>
                    <a:p>
                      <a:endParaRPr lang="en-IN" dirty="0"/>
                    </a:p>
                  </a:txBody>
                  <a:tcPr>
                    <a:solidFill>
                      <a:schemeClr val="bg1">
                        <a:lumMod val="75000"/>
                      </a:schemeClr>
                    </a:solidFill>
                  </a:tcPr>
                </a:tc>
                <a:tc>
                  <a:txBody>
                    <a:bodyPr/>
                    <a:lstStyle/>
                    <a:p>
                      <a:endParaRPr lang="en-IN" dirty="0"/>
                    </a:p>
                  </a:txBody>
                  <a:tcPr>
                    <a:solidFill>
                      <a:schemeClr val="bg1">
                        <a:lumMod val="75000"/>
                      </a:schemeClr>
                    </a:solidFill>
                  </a:tcPr>
                </a:tc>
                <a:tc>
                  <a:txBody>
                    <a:bodyPr/>
                    <a:lstStyle/>
                    <a:p>
                      <a:endParaRPr lang="en-IN" dirty="0"/>
                    </a:p>
                  </a:txBody>
                  <a:tcPr>
                    <a:solidFill>
                      <a:schemeClr val="bg1">
                        <a:lumMod val="75000"/>
                      </a:schemeClr>
                    </a:solidFill>
                  </a:tcPr>
                </a:tc>
                <a:extLst>
                  <a:ext uri="{0D108BD9-81ED-4DB2-BD59-A6C34878D82A}">
                    <a16:rowId xmlns:a16="http://schemas.microsoft.com/office/drawing/2014/main" val="2403524588"/>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1753775417"/>
              </p:ext>
            </p:extLst>
          </p:nvPr>
        </p:nvGraphicFramePr>
        <p:xfrm>
          <a:off x="124951" y="3729313"/>
          <a:ext cx="6480000" cy="565714"/>
        </p:xfrm>
        <a:graphic>
          <a:graphicData uri="http://schemas.openxmlformats.org/drawingml/2006/table">
            <a:tbl>
              <a:tblPr firstRow="1" bandRow="1">
                <a:tableStyleId>{5C22544A-7EE6-4342-B048-85BDC9FD1C3A}</a:tableStyleId>
              </a:tblPr>
              <a:tblGrid>
                <a:gridCol w="1620000">
                  <a:extLst>
                    <a:ext uri="{9D8B030D-6E8A-4147-A177-3AD203B41FA5}">
                      <a16:colId xmlns:a16="http://schemas.microsoft.com/office/drawing/2014/main" val="2784671440"/>
                    </a:ext>
                  </a:extLst>
                </a:gridCol>
                <a:gridCol w="1620000">
                  <a:extLst>
                    <a:ext uri="{9D8B030D-6E8A-4147-A177-3AD203B41FA5}">
                      <a16:colId xmlns:a16="http://schemas.microsoft.com/office/drawing/2014/main" val="272636576"/>
                    </a:ext>
                  </a:extLst>
                </a:gridCol>
                <a:gridCol w="1620000">
                  <a:extLst>
                    <a:ext uri="{9D8B030D-6E8A-4147-A177-3AD203B41FA5}">
                      <a16:colId xmlns:a16="http://schemas.microsoft.com/office/drawing/2014/main" val="1244138235"/>
                    </a:ext>
                  </a:extLst>
                </a:gridCol>
                <a:gridCol w="1620000">
                  <a:extLst>
                    <a:ext uri="{9D8B030D-6E8A-4147-A177-3AD203B41FA5}">
                      <a16:colId xmlns:a16="http://schemas.microsoft.com/office/drawing/2014/main" val="367059181"/>
                    </a:ext>
                  </a:extLst>
                </a:gridCol>
              </a:tblGrid>
              <a:tr h="565714">
                <a:tc>
                  <a:txBody>
                    <a:bodyPr/>
                    <a:lstStyle/>
                    <a:p>
                      <a:endParaRPr lang="en-IN" sz="2400" dirty="0"/>
                    </a:p>
                  </a:txBody>
                  <a:tcPr anchor="ctr">
                    <a:solidFill>
                      <a:schemeClr val="accent1">
                        <a:lumMod val="20000"/>
                        <a:lumOff val="80000"/>
                      </a:schemeClr>
                    </a:solidFill>
                  </a:tcPr>
                </a:tc>
                <a:tc>
                  <a:txBody>
                    <a:bodyPr/>
                    <a:lstStyle/>
                    <a:p>
                      <a:endParaRPr lang="en-IN" dirty="0"/>
                    </a:p>
                  </a:txBody>
                  <a:tcPr>
                    <a:solidFill>
                      <a:schemeClr val="accent1">
                        <a:lumMod val="20000"/>
                        <a:lumOff val="80000"/>
                      </a:schemeClr>
                    </a:solidFill>
                  </a:tcPr>
                </a:tc>
                <a:tc>
                  <a:txBody>
                    <a:bodyPr/>
                    <a:lstStyle/>
                    <a:p>
                      <a:endParaRPr lang="en-IN" dirty="0"/>
                    </a:p>
                  </a:txBody>
                  <a:tcPr>
                    <a:solidFill>
                      <a:schemeClr val="accent1">
                        <a:lumMod val="20000"/>
                        <a:lumOff val="80000"/>
                      </a:schemeClr>
                    </a:solidFill>
                  </a:tcPr>
                </a:tc>
                <a:tc>
                  <a:txBody>
                    <a:bodyPr/>
                    <a:lstStyle/>
                    <a:p>
                      <a:endParaRPr lang="en-IN" dirty="0"/>
                    </a:p>
                  </a:txBody>
                  <a:tcPr>
                    <a:solidFill>
                      <a:schemeClr val="accent1">
                        <a:lumMod val="20000"/>
                        <a:lumOff val="80000"/>
                      </a:schemeClr>
                    </a:solidFill>
                  </a:tcPr>
                </a:tc>
                <a:extLst>
                  <a:ext uri="{0D108BD9-81ED-4DB2-BD59-A6C34878D82A}">
                    <a16:rowId xmlns:a16="http://schemas.microsoft.com/office/drawing/2014/main" val="1599618106"/>
                  </a:ext>
                </a:extLst>
              </a:tr>
            </a:tbl>
          </a:graphicData>
        </a:graphic>
      </p:graphicFrame>
      <p:graphicFrame>
        <p:nvGraphicFramePr>
          <p:cNvPr id="52" name="Table 51"/>
          <p:cNvGraphicFramePr>
            <a:graphicFrameLocks noGrp="1"/>
          </p:cNvGraphicFramePr>
          <p:nvPr/>
        </p:nvGraphicFramePr>
        <p:xfrm>
          <a:off x="124951" y="4376173"/>
          <a:ext cx="4860000" cy="565714"/>
        </p:xfrm>
        <a:graphic>
          <a:graphicData uri="http://schemas.openxmlformats.org/drawingml/2006/table">
            <a:tbl>
              <a:tblPr firstRow="1" bandRow="1">
                <a:tableStyleId>{5C22544A-7EE6-4342-B048-85BDC9FD1C3A}</a:tableStyleId>
              </a:tblPr>
              <a:tblGrid>
                <a:gridCol w="1620000">
                  <a:extLst>
                    <a:ext uri="{9D8B030D-6E8A-4147-A177-3AD203B41FA5}">
                      <a16:colId xmlns:a16="http://schemas.microsoft.com/office/drawing/2014/main" val="197265483"/>
                    </a:ext>
                  </a:extLst>
                </a:gridCol>
                <a:gridCol w="1620000">
                  <a:extLst>
                    <a:ext uri="{9D8B030D-6E8A-4147-A177-3AD203B41FA5}">
                      <a16:colId xmlns:a16="http://schemas.microsoft.com/office/drawing/2014/main" val="2409799903"/>
                    </a:ext>
                  </a:extLst>
                </a:gridCol>
                <a:gridCol w="1620000">
                  <a:extLst>
                    <a:ext uri="{9D8B030D-6E8A-4147-A177-3AD203B41FA5}">
                      <a16:colId xmlns:a16="http://schemas.microsoft.com/office/drawing/2014/main" val="1726805427"/>
                    </a:ext>
                  </a:extLst>
                </a:gridCol>
              </a:tblGrid>
              <a:tr h="565714">
                <a:tc>
                  <a:txBody>
                    <a:bodyPr/>
                    <a:lstStyle/>
                    <a:p>
                      <a:endParaRPr lang="en-IN" dirty="0"/>
                    </a:p>
                  </a:txBody>
                  <a:tcPr>
                    <a:solidFill>
                      <a:schemeClr val="bg1">
                        <a:lumMod val="75000"/>
                      </a:schemeClr>
                    </a:solidFill>
                  </a:tcPr>
                </a:tc>
                <a:tc>
                  <a:txBody>
                    <a:bodyPr/>
                    <a:lstStyle/>
                    <a:p>
                      <a:endParaRPr lang="en-IN" dirty="0"/>
                    </a:p>
                  </a:txBody>
                  <a:tcPr>
                    <a:solidFill>
                      <a:schemeClr val="bg1">
                        <a:lumMod val="75000"/>
                      </a:schemeClr>
                    </a:solidFill>
                  </a:tcPr>
                </a:tc>
                <a:tc>
                  <a:txBody>
                    <a:bodyPr/>
                    <a:lstStyle/>
                    <a:p>
                      <a:endParaRPr lang="en-IN" dirty="0"/>
                    </a:p>
                  </a:txBody>
                  <a:tcPr>
                    <a:solidFill>
                      <a:schemeClr val="bg1">
                        <a:lumMod val="75000"/>
                      </a:schemeClr>
                    </a:solidFill>
                  </a:tcPr>
                </a:tc>
                <a:extLst>
                  <a:ext uri="{0D108BD9-81ED-4DB2-BD59-A6C34878D82A}">
                    <a16:rowId xmlns:a16="http://schemas.microsoft.com/office/drawing/2014/main" val="2403524588"/>
                  </a:ext>
                </a:extLst>
              </a:tr>
            </a:tbl>
          </a:graphicData>
        </a:graphic>
      </p:graphicFrame>
      <p:graphicFrame>
        <p:nvGraphicFramePr>
          <p:cNvPr id="53" name="Table 52"/>
          <p:cNvGraphicFramePr>
            <a:graphicFrameLocks noGrp="1"/>
          </p:cNvGraphicFramePr>
          <p:nvPr>
            <p:extLst>
              <p:ext uri="{D42A27DB-BD31-4B8C-83A1-F6EECF244321}">
                <p14:modId xmlns:p14="http://schemas.microsoft.com/office/powerpoint/2010/main" val="2398349511"/>
              </p:ext>
            </p:extLst>
          </p:nvPr>
        </p:nvGraphicFramePr>
        <p:xfrm>
          <a:off x="121446" y="5023033"/>
          <a:ext cx="3240000" cy="565714"/>
        </p:xfrm>
        <a:graphic>
          <a:graphicData uri="http://schemas.openxmlformats.org/drawingml/2006/table">
            <a:tbl>
              <a:tblPr firstRow="1" bandRow="1">
                <a:tableStyleId>{5C22544A-7EE6-4342-B048-85BDC9FD1C3A}</a:tableStyleId>
              </a:tblPr>
              <a:tblGrid>
                <a:gridCol w="1620000">
                  <a:extLst>
                    <a:ext uri="{9D8B030D-6E8A-4147-A177-3AD203B41FA5}">
                      <a16:colId xmlns:a16="http://schemas.microsoft.com/office/drawing/2014/main" val="2784671440"/>
                    </a:ext>
                  </a:extLst>
                </a:gridCol>
                <a:gridCol w="1620000">
                  <a:extLst>
                    <a:ext uri="{9D8B030D-6E8A-4147-A177-3AD203B41FA5}">
                      <a16:colId xmlns:a16="http://schemas.microsoft.com/office/drawing/2014/main" val="272636576"/>
                    </a:ext>
                  </a:extLst>
                </a:gridCol>
              </a:tblGrid>
              <a:tr h="565714">
                <a:tc>
                  <a:txBody>
                    <a:bodyPr/>
                    <a:lstStyle/>
                    <a:p>
                      <a:endParaRPr lang="en-IN" sz="2400" dirty="0"/>
                    </a:p>
                  </a:txBody>
                  <a:tcPr anchor="ctr">
                    <a:solidFill>
                      <a:schemeClr val="accent1">
                        <a:lumMod val="20000"/>
                        <a:lumOff val="80000"/>
                      </a:schemeClr>
                    </a:solidFill>
                  </a:tcPr>
                </a:tc>
                <a:tc>
                  <a:txBody>
                    <a:bodyPr/>
                    <a:lstStyle/>
                    <a:p>
                      <a:endParaRPr lang="en-IN" dirty="0"/>
                    </a:p>
                  </a:txBody>
                  <a:tcPr>
                    <a:solidFill>
                      <a:schemeClr val="accent1">
                        <a:lumMod val="20000"/>
                        <a:lumOff val="80000"/>
                      </a:schemeClr>
                    </a:solidFill>
                  </a:tcPr>
                </a:tc>
                <a:extLst>
                  <a:ext uri="{0D108BD9-81ED-4DB2-BD59-A6C34878D82A}">
                    <a16:rowId xmlns:a16="http://schemas.microsoft.com/office/drawing/2014/main" val="1599618106"/>
                  </a:ext>
                </a:extLst>
              </a:tr>
            </a:tbl>
          </a:graphicData>
        </a:graphic>
      </p:graphicFrame>
      <p:graphicFrame>
        <p:nvGraphicFramePr>
          <p:cNvPr id="54" name="Table 53"/>
          <p:cNvGraphicFramePr>
            <a:graphicFrameLocks noGrp="1"/>
          </p:cNvGraphicFramePr>
          <p:nvPr>
            <p:extLst>
              <p:ext uri="{D42A27DB-BD31-4B8C-83A1-F6EECF244321}">
                <p14:modId xmlns:p14="http://schemas.microsoft.com/office/powerpoint/2010/main" val="364399947"/>
              </p:ext>
            </p:extLst>
          </p:nvPr>
        </p:nvGraphicFramePr>
        <p:xfrm>
          <a:off x="3377065" y="5023033"/>
          <a:ext cx="1620000" cy="565714"/>
        </p:xfrm>
        <a:graphic>
          <a:graphicData uri="http://schemas.openxmlformats.org/drawingml/2006/table">
            <a:tbl>
              <a:tblPr firstRow="1" bandRow="1">
                <a:tableStyleId>{5C22544A-7EE6-4342-B048-85BDC9FD1C3A}</a:tableStyleId>
              </a:tblPr>
              <a:tblGrid>
                <a:gridCol w="1620000">
                  <a:extLst>
                    <a:ext uri="{9D8B030D-6E8A-4147-A177-3AD203B41FA5}">
                      <a16:colId xmlns:a16="http://schemas.microsoft.com/office/drawing/2014/main" val="197265483"/>
                    </a:ext>
                  </a:extLst>
                </a:gridCol>
              </a:tblGrid>
              <a:tr h="565714">
                <a:tc>
                  <a:txBody>
                    <a:bodyPr/>
                    <a:lstStyle/>
                    <a:p>
                      <a:endParaRPr lang="en-IN" dirty="0"/>
                    </a:p>
                  </a:txBody>
                  <a:tcPr>
                    <a:solidFill>
                      <a:schemeClr val="bg1">
                        <a:lumMod val="75000"/>
                      </a:schemeClr>
                    </a:solidFill>
                  </a:tcPr>
                </a:tc>
                <a:extLst>
                  <a:ext uri="{0D108BD9-81ED-4DB2-BD59-A6C34878D82A}">
                    <a16:rowId xmlns:a16="http://schemas.microsoft.com/office/drawing/2014/main" val="2403524588"/>
                  </a:ext>
                </a:extLst>
              </a:tr>
            </a:tbl>
          </a:graphicData>
        </a:graphic>
      </p:graphicFrame>
      <mc:AlternateContent xmlns:mc="http://schemas.openxmlformats.org/markup-compatibility/2006" xmlns:a14="http://schemas.microsoft.com/office/drawing/2010/main">
        <mc:Choice Requires="a14">
          <p:sp>
            <p:nvSpPr>
              <p:cNvPr id="2" name="TextBox 1"/>
              <p:cNvSpPr txBox="1"/>
              <p:nvPr/>
            </p:nvSpPr>
            <p:spPr>
              <a:xfrm>
                <a:off x="167425" y="2511580"/>
                <a:ext cx="936107"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a:solidFill>
                                <a:srgbClr val="002060"/>
                              </a:solidFill>
                              <a:latin typeface="Cambria Math" panose="02040503050406030204" pitchFamily="18" charset="0"/>
                            </a:rPr>
                            <m:t>a</m:t>
                          </m:r>
                          <m:r>
                            <a:rPr lang="en-US" sz="2400">
                              <a:solidFill>
                                <a:srgbClr val="002060"/>
                              </a:solidFill>
                              <a:latin typeface="Cambria Math" panose="02040503050406030204" pitchFamily="18" charset="0"/>
                            </a:rPr>
                            <m:t>,</m:t>
                          </m:r>
                          <m:r>
                            <m:rPr>
                              <m:sty m:val="p"/>
                            </m:rPr>
                            <a:rPr lang="en-US" sz="2400">
                              <a:solidFill>
                                <a:srgbClr val="002060"/>
                              </a:solidFill>
                              <a:latin typeface="Cambria Math" panose="02040503050406030204" pitchFamily="18" charset="0"/>
                            </a:rPr>
                            <m:t>b</m:t>
                          </m:r>
                        </m:e>
                      </m:d>
                    </m:oMath>
                  </m:oMathPara>
                </a14:m>
                <a:endParaRPr lang="en-IN" sz="2400" dirty="0">
                  <a:solidFill>
                    <a:srgbClr val="002060"/>
                  </a:solidFill>
                  <a:latin typeface="Cambria Math" panose="02040503050406030204" pitchFamily="18" charset="0"/>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167425" y="2511580"/>
                <a:ext cx="936107" cy="461665"/>
              </a:xfrm>
              <a:prstGeom prst="rect">
                <a:avLst/>
              </a:prstGeom>
              <a:blipFill rotWithShape="0">
                <a:blip r:embed="rId2"/>
                <a:stretch>
                  <a:fillRect l="-19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p:cNvSpPr txBox="1"/>
              <p:nvPr/>
            </p:nvSpPr>
            <p:spPr>
              <a:xfrm>
                <a:off x="167425" y="3117407"/>
                <a:ext cx="936107"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b="0" i="0" smtClean="0">
                              <a:solidFill>
                                <a:srgbClr val="002060"/>
                              </a:solidFill>
                              <a:latin typeface="Cambria Math" panose="02040503050406030204" pitchFamily="18" charset="0"/>
                            </a:rPr>
                            <m:t>b</m:t>
                          </m:r>
                          <m:r>
                            <a:rPr lang="en-US" sz="240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c</m:t>
                          </m:r>
                        </m:e>
                      </m:d>
                    </m:oMath>
                  </m:oMathPara>
                </a14:m>
                <a:endParaRPr lang="en-IN" sz="2400" dirty="0"/>
              </a:p>
            </p:txBody>
          </p:sp>
        </mc:Choice>
        <mc:Fallback xmlns="">
          <p:sp>
            <p:nvSpPr>
              <p:cNvPr id="33" name="TextBox 32"/>
              <p:cNvSpPr txBox="1">
                <a:spLocks noRot="1" noChangeAspect="1" noMove="1" noResize="1" noEditPoints="1" noAdjustHandles="1" noChangeArrowheads="1" noChangeShapeType="1" noTextEdit="1"/>
              </p:cNvSpPr>
              <p:nvPr/>
            </p:nvSpPr>
            <p:spPr>
              <a:xfrm>
                <a:off x="167425" y="3117407"/>
                <a:ext cx="936107" cy="461665"/>
              </a:xfrm>
              <a:prstGeom prst="rect">
                <a:avLst/>
              </a:prstGeom>
              <a:blipFill rotWithShape="0">
                <a:blip r:embed="rId3"/>
                <a:stretch>
                  <a:fillRect l="-19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p:cNvSpPr txBox="1"/>
              <p:nvPr/>
            </p:nvSpPr>
            <p:spPr>
              <a:xfrm>
                <a:off x="4984285" y="3117407"/>
                <a:ext cx="916563"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a:solidFill>
                                <a:srgbClr val="002060"/>
                              </a:solidFill>
                              <a:latin typeface="Cambria Math" panose="02040503050406030204" pitchFamily="18" charset="0"/>
                            </a:rPr>
                            <m:t>b</m:t>
                          </m:r>
                          <m:r>
                            <a:rPr lang="en-US" sz="2400" b="0" i="0" smtClean="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f</m:t>
                          </m:r>
                        </m:e>
                      </m:d>
                    </m:oMath>
                  </m:oMathPara>
                </a14:m>
                <a:endParaRPr lang="en-IN" sz="2400" dirty="0"/>
              </a:p>
            </p:txBody>
          </p:sp>
        </mc:Choice>
        <mc:Fallback xmlns="">
          <p:sp>
            <p:nvSpPr>
              <p:cNvPr id="34" name="TextBox 33"/>
              <p:cNvSpPr txBox="1">
                <a:spLocks noRot="1" noChangeAspect="1" noMove="1" noResize="1" noEditPoints="1" noAdjustHandles="1" noChangeArrowheads="1" noChangeShapeType="1" noTextEdit="1"/>
              </p:cNvSpPr>
              <p:nvPr/>
            </p:nvSpPr>
            <p:spPr>
              <a:xfrm>
                <a:off x="4984285" y="3117407"/>
                <a:ext cx="916563" cy="461665"/>
              </a:xfrm>
              <a:prstGeom prst="rect">
                <a:avLst/>
              </a:prstGeom>
              <a:blipFill rotWithShape="0">
                <a:blip r:embed="rId4"/>
                <a:stretch>
                  <a:fillRect l="-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6599309" y="3133969"/>
                <a:ext cx="893692"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a:solidFill>
                                <a:srgbClr val="002060"/>
                              </a:solidFill>
                              <a:latin typeface="Cambria Math" panose="02040503050406030204" pitchFamily="18" charset="0"/>
                            </a:rPr>
                            <m:t>b</m:t>
                          </m:r>
                          <m:r>
                            <a:rPr lang="en-US" sz="2400" b="0" i="0" smtClean="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g</m:t>
                          </m:r>
                        </m:e>
                      </m:d>
                    </m:oMath>
                  </m:oMathPara>
                </a14:m>
                <a:endParaRPr lang="en-IN" sz="2400" dirty="0"/>
              </a:p>
            </p:txBody>
          </p:sp>
        </mc:Choice>
        <mc:Fallback xmlns="">
          <p:sp>
            <p:nvSpPr>
              <p:cNvPr id="36" name="TextBox 35"/>
              <p:cNvSpPr txBox="1">
                <a:spLocks noRot="1" noChangeAspect="1" noMove="1" noResize="1" noEditPoints="1" noAdjustHandles="1" noChangeArrowheads="1" noChangeShapeType="1" noTextEdit="1"/>
              </p:cNvSpPr>
              <p:nvPr/>
            </p:nvSpPr>
            <p:spPr>
              <a:xfrm>
                <a:off x="6599309" y="3133969"/>
                <a:ext cx="893692" cy="461665"/>
              </a:xfrm>
              <a:prstGeom prst="rect">
                <a:avLst/>
              </a:prstGeom>
              <a:blipFill rotWithShape="0">
                <a:blip r:embed="rId5"/>
                <a:stretch>
                  <a:fillRect l="-2055" r="-4110" b="-11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1779513" y="2511110"/>
                <a:ext cx="913544"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a:solidFill>
                                <a:srgbClr val="002060"/>
                              </a:solidFill>
                              <a:latin typeface="Cambria Math" panose="02040503050406030204" pitchFamily="18" charset="0"/>
                            </a:rPr>
                            <m:t>a</m:t>
                          </m:r>
                          <m:r>
                            <a:rPr lang="en-US" sz="240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c</m:t>
                          </m:r>
                        </m:e>
                      </m:d>
                    </m:oMath>
                  </m:oMathPara>
                </a14:m>
                <a:endParaRPr lang="en-IN" sz="2400" dirty="0"/>
              </a:p>
            </p:txBody>
          </p:sp>
        </mc:Choice>
        <mc:Fallback xmlns="">
          <p:sp>
            <p:nvSpPr>
              <p:cNvPr id="37" name="TextBox 36"/>
              <p:cNvSpPr txBox="1">
                <a:spLocks noRot="1" noChangeAspect="1" noMove="1" noResize="1" noEditPoints="1" noAdjustHandles="1" noChangeArrowheads="1" noChangeShapeType="1" noTextEdit="1"/>
              </p:cNvSpPr>
              <p:nvPr/>
            </p:nvSpPr>
            <p:spPr>
              <a:xfrm>
                <a:off x="1779513" y="2511110"/>
                <a:ext cx="913544" cy="461665"/>
              </a:xfrm>
              <a:prstGeom prst="rect">
                <a:avLst/>
              </a:prstGeom>
              <a:blipFill rotWithShape="0">
                <a:blip r:embed="rId6"/>
                <a:stretch>
                  <a:fillRect l="-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p:cNvSpPr txBox="1"/>
              <p:nvPr/>
            </p:nvSpPr>
            <p:spPr>
              <a:xfrm>
                <a:off x="3357048" y="2511110"/>
                <a:ext cx="966266"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a:solidFill>
                                <a:srgbClr val="002060"/>
                              </a:solidFill>
                              <a:latin typeface="Cambria Math" panose="02040503050406030204" pitchFamily="18" charset="0"/>
                            </a:rPr>
                            <m:t>a</m:t>
                          </m:r>
                          <m:r>
                            <a:rPr lang="en-US" sz="240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d</m:t>
                          </m:r>
                        </m:e>
                      </m:d>
                    </m:oMath>
                  </m:oMathPara>
                </a14:m>
                <a:endParaRPr lang="en-IN" sz="2400" dirty="0"/>
              </a:p>
            </p:txBody>
          </p:sp>
        </mc:Choice>
        <mc:Fallback xmlns="">
          <p:sp>
            <p:nvSpPr>
              <p:cNvPr id="38" name="TextBox 37"/>
              <p:cNvSpPr txBox="1">
                <a:spLocks noRot="1" noChangeAspect="1" noMove="1" noResize="1" noEditPoints="1" noAdjustHandles="1" noChangeArrowheads="1" noChangeShapeType="1" noTextEdit="1"/>
              </p:cNvSpPr>
              <p:nvPr/>
            </p:nvSpPr>
            <p:spPr>
              <a:xfrm>
                <a:off x="3357048" y="2511110"/>
                <a:ext cx="966266" cy="461665"/>
              </a:xfrm>
              <a:prstGeom prst="rect">
                <a:avLst/>
              </a:prstGeom>
              <a:blipFill rotWithShape="0">
                <a:blip r:embed="rId7"/>
                <a:stretch>
                  <a:fillRect l="-189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p:cNvSpPr txBox="1"/>
              <p:nvPr/>
            </p:nvSpPr>
            <p:spPr>
              <a:xfrm>
                <a:off x="4934581" y="2511110"/>
                <a:ext cx="966267"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a:solidFill>
                                <a:srgbClr val="002060"/>
                              </a:solidFill>
                              <a:latin typeface="Cambria Math" panose="02040503050406030204" pitchFamily="18" charset="0"/>
                            </a:rPr>
                            <m:t>a</m:t>
                          </m:r>
                          <m:r>
                            <a:rPr lang="en-US" sz="240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e</m:t>
                          </m:r>
                        </m:e>
                      </m:d>
                    </m:oMath>
                  </m:oMathPara>
                </a14:m>
                <a:endParaRPr lang="en-IN" sz="2400" dirty="0"/>
              </a:p>
            </p:txBody>
          </p:sp>
        </mc:Choice>
        <mc:Fallback xmlns="">
          <p:sp>
            <p:nvSpPr>
              <p:cNvPr id="39" name="TextBox 38"/>
              <p:cNvSpPr txBox="1">
                <a:spLocks noRot="1" noChangeAspect="1" noMove="1" noResize="1" noEditPoints="1" noAdjustHandles="1" noChangeArrowheads="1" noChangeShapeType="1" noTextEdit="1"/>
              </p:cNvSpPr>
              <p:nvPr/>
            </p:nvSpPr>
            <p:spPr>
              <a:xfrm>
                <a:off x="4934581" y="2511110"/>
                <a:ext cx="966267" cy="461665"/>
              </a:xfrm>
              <a:prstGeom prst="rect">
                <a:avLst/>
              </a:prstGeom>
              <a:blipFill rotWithShape="0">
                <a:blip r:embed="rId8"/>
                <a:stretch>
                  <a:fillRect l="-1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6599308" y="2511110"/>
                <a:ext cx="893692"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a:solidFill>
                                <a:srgbClr val="002060"/>
                              </a:solidFill>
                              <a:latin typeface="Cambria Math" panose="02040503050406030204" pitchFamily="18" charset="0"/>
                            </a:rPr>
                            <m:t>a</m:t>
                          </m:r>
                          <m:r>
                            <a:rPr lang="en-US" sz="240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f</m:t>
                          </m:r>
                        </m:e>
                      </m:d>
                    </m:oMath>
                  </m:oMathPara>
                </a14:m>
                <a:endParaRPr lang="en-IN" sz="2400" dirty="0"/>
              </a:p>
            </p:txBody>
          </p:sp>
        </mc:Choice>
        <mc:Fallback xmlns="">
          <p:sp>
            <p:nvSpPr>
              <p:cNvPr id="40" name="TextBox 39"/>
              <p:cNvSpPr txBox="1">
                <a:spLocks noRot="1" noChangeAspect="1" noMove="1" noResize="1" noEditPoints="1" noAdjustHandles="1" noChangeArrowheads="1" noChangeShapeType="1" noTextEdit="1"/>
              </p:cNvSpPr>
              <p:nvPr/>
            </p:nvSpPr>
            <p:spPr>
              <a:xfrm>
                <a:off x="6599308" y="2511110"/>
                <a:ext cx="893692" cy="461665"/>
              </a:xfrm>
              <a:prstGeom prst="rect">
                <a:avLst/>
              </a:prstGeom>
              <a:blipFill rotWithShape="0">
                <a:blip r:embed="rId9"/>
                <a:stretch>
                  <a:fillRect l="-20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p:cNvSpPr txBox="1"/>
              <p:nvPr/>
            </p:nvSpPr>
            <p:spPr>
              <a:xfrm>
                <a:off x="8176842" y="2498782"/>
                <a:ext cx="94175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a:solidFill>
                                <a:srgbClr val="002060"/>
                              </a:solidFill>
                              <a:latin typeface="Cambria Math" panose="02040503050406030204" pitchFamily="18" charset="0"/>
                            </a:rPr>
                            <m:t>a</m:t>
                          </m:r>
                          <m:r>
                            <a:rPr lang="en-US" sz="240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g</m:t>
                          </m:r>
                        </m:e>
                      </m:d>
                    </m:oMath>
                  </m:oMathPara>
                </a14:m>
                <a:endParaRPr lang="en-IN" sz="2400" dirty="0"/>
              </a:p>
            </p:txBody>
          </p:sp>
        </mc:Choice>
        <mc:Fallback xmlns="">
          <p:sp>
            <p:nvSpPr>
              <p:cNvPr id="41" name="TextBox 40"/>
              <p:cNvSpPr txBox="1">
                <a:spLocks noRot="1" noChangeAspect="1" noMove="1" noResize="1" noEditPoints="1" noAdjustHandles="1" noChangeArrowheads="1" noChangeShapeType="1" noTextEdit="1"/>
              </p:cNvSpPr>
              <p:nvPr/>
            </p:nvSpPr>
            <p:spPr>
              <a:xfrm>
                <a:off x="8176842" y="2498782"/>
                <a:ext cx="941758" cy="461665"/>
              </a:xfrm>
              <a:prstGeom prst="rect">
                <a:avLst/>
              </a:prstGeom>
              <a:blipFill rotWithShape="0">
                <a:blip r:embed="rId10"/>
                <a:stretch>
                  <a:fillRect l="-1935" b="-10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p:cNvSpPr txBox="1"/>
              <p:nvPr/>
            </p:nvSpPr>
            <p:spPr>
              <a:xfrm>
                <a:off x="3391518" y="3117407"/>
                <a:ext cx="931796"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a:solidFill>
                                <a:srgbClr val="002060"/>
                              </a:solidFill>
                              <a:latin typeface="Cambria Math" panose="02040503050406030204" pitchFamily="18" charset="0"/>
                            </a:rPr>
                            <m:t>b</m:t>
                          </m:r>
                          <m:r>
                            <a:rPr lang="en-US" sz="2400" b="0" i="0" smtClean="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e</m:t>
                          </m:r>
                        </m:e>
                      </m:d>
                    </m:oMath>
                  </m:oMathPara>
                </a14:m>
                <a:endParaRPr lang="en-IN" sz="2400" dirty="0"/>
              </a:p>
            </p:txBody>
          </p:sp>
        </mc:Choice>
        <mc:Fallback xmlns="">
          <p:sp>
            <p:nvSpPr>
              <p:cNvPr id="42" name="TextBox 41"/>
              <p:cNvSpPr txBox="1">
                <a:spLocks noRot="1" noChangeAspect="1" noMove="1" noResize="1" noEditPoints="1" noAdjustHandles="1" noChangeArrowheads="1" noChangeShapeType="1" noTextEdit="1"/>
              </p:cNvSpPr>
              <p:nvPr/>
            </p:nvSpPr>
            <p:spPr>
              <a:xfrm>
                <a:off x="3391518" y="3117407"/>
                <a:ext cx="931796" cy="461665"/>
              </a:xfrm>
              <a:prstGeom prst="rect">
                <a:avLst/>
              </a:prstGeom>
              <a:blipFill rotWithShape="0">
                <a:blip r:embed="rId11"/>
                <a:stretch>
                  <a:fillRect l="-19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p:cNvSpPr txBox="1"/>
              <p:nvPr/>
            </p:nvSpPr>
            <p:spPr>
              <a:xfrm>
                <a:off x="1730144" y="3117407"/>
                <a:ext cx="962913"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a:solidFill>
                                <a:srgbClr val="002060"/>
                              </a:solidFill>
                              <a:latin typeface="Cambria Math" panose="02040503050406030204" pitchFamily="18" charset="0"/>
                            </a:rPr>
                            <m:t>b</m:t>
                          </m:r>
                          <m:r>
                            <a:rPr lang="en-US" sz="2400" b="0" i="0" smtClean="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d</m:t>
                          </m:r>
                        </m:e>
                      </m:d>
                    </m:oMath>
                  </m:oMathPara>
                </a14:m>
                <a:endParaRPr lang="en-IN" sz="2400" dirty="0"/>
              </a:p>
            </p:txBody>
          </p:sp>
        </mc:Choice>
        <mc:Fallback xmlns="">
          <p:sp>
            <p:nvSpPr>
              <p:cNvPr id="43" name="TextBox 42"/>
              <p:cNvSpPr txBox="1">
                <a:spLocks noRot="1" noChangeAspect="1" noMove="1" noResize="1" noEditPoints="1" noAdjustHandles="1" noChangeArrowheads="1" noChangeShapeType="1" noTextEdit="1"/>
              </p:cNvSpPr>
              <p:nvPr/>
            </p:nvSpPr>
            <p:spPr>
              <a:xfrm>
                <a:off x="1730144" y="3117407"/>
                <a:ext cx="962913" cy="461665"/>
              </a:xfrm>
              <a:prstGeom prst="rect">
                <a:avLst/>
              </a:prstGeom>
              <a:blipFill rotWithShape="0">
                <a:blip r:embed="rId12"/>
                <a:stretch>
                  <a:fillRect l="-189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p:cNvSpPr txBox="1"/>
              <p:nvPr/>
            </p:nvSpPr>
            <p:spPr>
              <a:xfrm>
                <a:off x="167426" y="3753441"/>
                <a:ext cx="936106"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b="0" i="0" smtClean="0">
                              <a:solidFill>
                                <a:srgbClr val="002060"/>
                              </a:solidFill>
                              <a:latin typeface="Cambria Math" panose="02040503050406030204" pitchFamily="18" charset="0"/>
                            </a:rPr>
                            <m:t>c</m:t>
                          </m:r>
                          <m:r>
                            <a:rPr lang="en-US" sz="240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d</m:t>
                          </m:r>
                        </m:e>
                      </m:d>
                    </m:oMath>
                  </m:oMathPara>
                </a14:m>
                <a:endParaRPr lang="en-IN" sz="2400" dirty="0"/>
              </a:p>
            </p:txBody>
          </p:sp>
        </mc:Choice>
        <mc:Fallback xmlns="">
          <p:sp>
            <p:nvSpPr>
              <p:cNvPr id="44" name="TextBox 43"/>
              <p:cNvSpPr txBox="1">
                <a:spLocks noRot="1" noChangeAspect="1" noMove="1" noResize="1" noEditPoints="1" noAdjustHandles="1" noChangeArrowheads="1" noChangeShapeType="1" noTextEdit="1"/>
              </p:cNvSpPr>
              <p:nvPr/>
            </p:nvSpPr>
            <p:spPr>
              <a:xfrm>
                <a:off x="167426" y="3753441"/>
                <a:ext cx="936106" cy="461665"/>
              </a:xfrm>
              <a:prstGeom prst="rect">
                <a:avLst/>
              </a:prstGeom>
              <a:blipFill rotWithShape="0">
                <a:blip r:embed="rId13"/>
                <a:stretch>
                  <a:fillRect l="-19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p:cNvSpPr txBox="1"/>
              <p:nvPr/>
            </p:nvSpPr>
            <p:spPr>
              <a:xfrm>
                <a:off x="3391518" y="3753441"/>
                <a:ext cx="931796"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b="0" i="0" smtClean="0">
                              <a:solidFill>
                                <a:srgbClr val="002060"/>
                              </a:solidFill>
                              <a:latin typeface="Cambria Math" panose="02040503050406030204" pitchFamily="18" charset="0"/>
                            </a:rPr>
                            <m:t>c</m:t>
                          </m:r>
                          <m:r>
                            <a:rPr lang="en-US" sz="2400" b="0" i="0" smtClean="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f</m:t>
                          </m:r>
                        </m:e>
                      </m:d>
                    </m:oMath>
                  </m:oMathPara>
                </a14:m>
                <a:endParaRPr lang="en-IN" sz="2400" dirty="0"/>
              </a:p>
            </p:txBody>
          </p:sp>
        </mc:Choice>
        <mc:Fallback xmlns="">
          <p:sp>
            <p:nvSpPr>
              <p:cNvPr id="45" name="TextBox 44"/>
              <p:cNvSpPr txBox="1">
                <a:spLocks noRot="1" noChangeAspect="1" noMove="1" noResize="1" noEditPoints="1" noAdjustHandles="1" noChangeArrowheads="1" noChangeShapeType="1" noTextEdit="1"/>
              </p:cNvSpPr>
              <p:nvPr/>
            </p:nvSpPr>
            <p:spPr>
              <a:xfrm>
                <a:off x="3391518" y="3753441"/>
                <a:ext cx="931796" cy="461665"/>
              </a:xfrm>
              <a:prstGeom prst="rect">
                <a:avLst/>
              </a:prstGeom>
              <a:blipFill rotWithShape="0">
                <a:blip r:embed="rId14"/>
                <a:stretch>
                  <a:fillRect l="-19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p:cNvSpPr txBox="1"/>
              <p:nvPr/>
            </p:nvSpPr>
            <p:spPr>
              <a:xfrm>
                <a:off x="1730144" y="3753441"/>
                <a:ext cx="892971"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b="0" i="0" smtClean="0">
                              <a:solidFill>
                                <a:srgbClr val="002060"/>
                              </a:solidFill>
                              <a:latin typeface="Cambria Math" panose="02040503050406030204" pitchFamily="18" charset="0"/>
                            </a:rPr>
                            <m:t>c</m:t>
                          </m:r>
                          <m:r>
                            <a:rPr lang="en-US" sz="2400" b="0" i="0" smtClean="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e</m:t>
                          </m:r>
                        </m:e>
                      </m:d>
                    </m:oMath>
                  </m:oMathPara>
                </a14:m>
                <a:endParaRPr lang="en-IN" sz="2400" dirty="0"/>
              </a:p>
            </p:txBody>
          </p:sp>
        </mc:Choice>
        <mc:Fallback xmlns="">
          <p:sp>
            <p:nvSpPr>
              <p:cNvPr id="46" name="TextBox 45"/>
              <p:cNvSpPr txBox="1">
                <a:spLocks noRot="1" noChangeAspect="1" noMove="1" noResize="1" noEditPoints="1" noAdjustHandles="1" noChangeArrowheads="1" noChangeShapeType="1" noTextEdit="1"/>
              </p:cNvSpPr>
              <p:nvPr/>
            </p:nvSpPr>
            <p:spPr>
              <a:xfrm>
                <a:off x="1730144" y="3753441"/>
                <a:ext cx="892971" cy="461665"/>
              </a:xfrm>
              <a:prstGeom prst="rect">
                <a:avLst/>
              </a:prstGeom>
              <a:blipFill rotWithShape="0">
                <a:blip r:embed="rId15"/>
                <a:stretch>
                  <a:fillRect l="-20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p:cNvSpPr txBox="1"/>
              <p:nvPr/>
            </p:nvSpPr>
            <p:spPr>
              <a:xfrm>
                <a:off x="4960683" y="3751220"/>
                <a:ext cx="940165"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b="0" i="0" smtClean="0">
                              <a:solidFill>
                                <a:srgbClr val="002060"/>
                              </a:solidFill>
                              <a:latin typeface="Cambria Math" panose="02040503050406030204" pitchFamily="18" charset="0"/>
                            </a:rPr>
                            <m:t>c</m:t>
                          </m:r>
                          <m:r>
                            <a:rPr lang="en-US" sz="2400" b="0" i="0" smtClean="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g</m:t>
                          </m:r>
                        </m:e>
                      </m:d>
                    </m:oMath>
                  </m:oMathPara>
                </a14:m>
                <a:endParaRPr lang="en-IN" sz="2400" dirty="0"/>
              </a:p>
            </p:txBody>
          </p:sp>
        </mc:Choice>
        <mc:Fallback xmlns="">
          <p:sp>
            <p:nvSpPr>
              <p:cNvPr id="47" name="TextBox 46"/>
              <p:cNvSpPr txBox="1">
                <a:spLocks noRot="1" noChangeAspect="1" noMove="1" noResize="1" noEditPoints="1" noAdjustHandles="1" noChangeArrowheads="1" noChangeShapeType="1" noTextEdit="1"/>
              </p:cNvSpPr>
              <p:nvPr/>
            </p:nvSpPr>
            <p:spPr>
              <a:xfrm>
                <a:off x="4960683" y="3751220"/>
                <a:ext cx="940165" cy="461665"/>
              </a:xfrm>
              <a:prstGeom prst="rect">
                <a:avLst/>
              </a:prstGeom>
              <a:blipFill rotWithShape="0">
                <a:blip r:embed="rId16"/>
                <a:stretch>
                  <a:fillRect l="-1948" b="-11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p:cNvSpPr txBox="1"/>
              <p:nvPr/>
            </p:nvSpPr>
            <p:spPr>
              <a:xfrm>
                <a:off x="150496" y="4407198"/>
                <a:ext cx="953035"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b="0" i="0" smtClean="0">
                              <a:solidFill>
                                <a:srgbClr val="002060"/>
                              </a:solidFill>
                              <a:latin typeface="Cambria Math" panose="02040503050406030204" pitchFamily="18" charset="0"/>
                            </a:rPr>
                            <m:t>d</m:t>
                          </m:r>
                          <m:r>
                            <a:rPr lang="en-US" sz="240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e</m:t>
                          </m:r>
                        </m:e>
                      </m:d>
                    </m:oMath>
                  </m:oMathPara>
                </a14:m>
                <a:endParaRPr lang="en-IN" sz="2400" dirty="0"/>
              </a:p>
            </p:txBody>
          </p:sp>
        </mc:Choice>
        <mc:Fallback xmlns="">
          <p:sp>
            <p:nvSpPr>
              <p:cNvPr id="56" name="TextBox 55"/>
              <p:cNvSpPr txBox="1">
                <a:spLocks noRot="1" noChangeAspect="1" noMove="1" noResize="1" noEditPoints="1" noAdjustHandles="1" noChangeArrowheads="1" noChangeShapeType="1" noTextEdit="1"/>
              </p:cNvSpPr>
              <p:nvPr/>
            </p:nvSpPr>
            <p:spPr>
              <a:xfrm>
                <a:off x="150496" y="4407198"/>
                <a:ext cx="953035" cy="461665"/>
              </a:xfrm>
              <a:prstGeom prst="rect">
                <a:avLst/>
              </a:prstGeom>
              <a:blipFill rotWithShape="0">
                <a:blip r:embed="rId17"/>
                <a:stretch>
                  <a:fillRect l="-1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p:cNvSpPr txBox="1"/>
              <p:nvPr/>
            </p:nvSpPr>
            <p:spPr>
              <a:xfrm>
                <a:off x="1723125" y="4433598"/>
                <a:ext cx="909900"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b="0" i="0" smtClean="0">
                              <a:solidFill>
                                <a:srgbClr val="002060"/>
                              </a:solidFill>
                              <a:latin typeface="Cambria Math" panose="02040503050406030204" pitchFamily="18" charset="0"/>
                            </a:rPr>
                            <m:t>d</m:t>
                          </m:r>
                          <m:r>
                            <a:rPr lang="en-US" sz="2400" b="0" i="0" smtClean="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f</m:t>
                          </m:r>
                        </m:e>
                      </m:d>
                    </m:oMath>
                  </m:oMathPara>
                </a14:m>
                <a:endParaRPr lang="en-IN" sz="2400" dirty="0"/>
              </a:p>
            </p:txBody>
          </p:sp>
        </mc:Choice>
        <mc:Fallback xmlns="">
          <p:sp>
            <p:nvSpPr>
              <p:cNvPr id="77" name="TextBox 76"/>
              <p:cNvSpPr txBox="1">
                <a:spLocks noRot="1" noChangeAspect="1" noMove="1" noResize="1" noEditPoints="1" noAdjustHandles="1" noChangeArrowheads="1" noChangeShapeType="1" noTextEdit="1"/>
              </p:cNvSpPr>
              <p:nvPr/>
            </p:nvSpPr>
            <p:spPr>
              <a:xfrm>
                <a:off x="1723125" y="4433598"/>
                <a:ext cx="909900" cy="461665"/>
              </a:xfrm>
              <a:prstGeom prst="rect">
                <a:avLst/>
              </a:prstGeom>
              <a:blipFill rotWithShape="0">
                <a:blip r:embed="rId18"/>
                <a:stretch>
                  <a:fillRect l="-20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p:cNvSpPr txBox="1"/>
              <p:nvPr/>
            </p:nvSpPr>
            <p:spPr>
              <a:xfrm>
                <a:off x="3391518" y="4404708"/>
                <a:ext cx="931796"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b="0" i="0" smtClean="0">
                              <a:solidFill>
                                <a:srgbClr val="002060"/>
                              </a:solidFill>
                              <a:latin typeface="Cambria Math" panose="02040503050406030204" pitchFamily="18" charset="0"/>
                            </a:rPr>
                            <m:t>d</m:t>
                          </m:r>
                          <m:r>
                            <a:rPr lang="en-US" sz="2400" b="0" i="1" smtClean="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g</m:t>
                          </m:r>
                        </m:e>
                      </m:d>
                    </m:oMath>
                  </m:oMathPara>
                </a14:m>
                <a:endParaRPr lang="en-IN" sz="2400" dirty="0"/>
              </a:p>
            </p:txBody>
          </p:sp>
        </mc:Choice>
        <mc:Fallback xmlns="">
          <p:sp>
            <p:nvSpPr>
              <p:cNvPr id="78" name="TextBox 77"/>
              <p:cNvSpPr txBox="1">
                <a:spLocks noRot="1" noChangeAspect="1" noMove="1" noResize="1" noEditPoints="1" noAdjustHandles="1" noChangeArrowheads="1" noChangeShapeType="1" noTextEdit="1"/>
              </p:cNvSpPr>
              <p:nvPr/>
            </p:nvSpPr>
            <p:spPr>
              <a:xfrm>
                <a:off x="3391518" y="4404708"/>
                <a:ext cx="931796" cy="461665"/>
              </a:xfrm>
              <a:prstGeom prst="rect">
                <a:avLst/>
              </a:prstGeom>
              <a:blipFill rotWithShape="0">
                <a:blip r:embed="rId19"/>
                <a:stretch>
                  <a:fillRect l="-1961" b="-1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p:cNvSpPr txBox="1"/>
              <p:nvPr/>
            </p:nvSpPr>
            <p:spPr>
              <a:xfrm>
                <a:off x="1691508" y="5076150"/>
                <a:ext cx="93160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b="0" i="0" smtClean="0">
                              <a:solidFill>
                                <a:srgbClr val="002060"/>
                              </a:solidFill>
                              <a:latin typeface="Cambria Math" panose="02040503050406030204" pitchFamily="18" charset="0"/>
                            </a:rPr>
                            <m:t>e</m:t>
                          </m:r>
                          <m:r>
                            <a:rPr lang="en-US" sz="2400" b="0" i="0" smtClean="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g</m:t>
                          </m:r>
                        </m:e>
                      </m:d>
                    </m:oMath>
                  </m:oMathPara>
                </a14:m>
                <a:endParaRPr lang="en-IN" sz="2400" dirty="0"/>
              </a:p>
            </p:txBody>
          </p:sp>
        </mc:Choice>
        <mc:Fallback xmlns="">
          <p:sp>
            <p:nvSpPr>
              <p:cNvPr id="79" name="TextBox 78"/>
              <p:cNvSpPr txBox="1">
                <a:spLocks noRot="1" noChangeAspect="1" noMove="1" noResize="1" noEditPoints="1" noAdjustHandles="1" noChangeArrowheads="1" noChangeShapeType="1" noTextEdit="1"/>
              </p:cNvSpPr>
              <p:nvPr/>
            </p:nvSpPr>
            <p:spPr>
              <a:xfrm>
                <a:off x="1691508" y="5076150"/>
                <a:ext cx="931608" cy="461665"/>
              </a:xfrm>
              <a:prstGeom prst="rect">
                <a:avLst/>
              </a:prstGeom>
              <a:blipFill rotWithShape="0">
                <a:blip r:embed="rId20"/>
                <a:stretch>
                  <a:fillRect l="-1961" b="-1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p:cNvSpPr txBox="1"/>
              <p:nvPr/>
            </p:nvSpPr>
            <p:spPr>
              <a:xfrm>
                <a:off x="167426" y="5078640"/>
                <a:ext cx="936106"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b="0" i="0" smtClean="0">
                              <a:solidFill>
                                <a:srgbClr val="002060"/>
                              </a:solidFill>
                              <a:latin typeface="Cambria Math" panose="02040503050406030204" pitchFamily="18" charset="0"/>
                            </a:rPr>
                            <m:t>e</m:t>
                          </m:r>
                          <m:r>
                            <a:rPr lang="en-US" sz="240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f</m:t>
                          </m:r>
                        </m:e>
                      </m:d>
                    </m:oMath>
                  </m:oMathPara>
                </a14:m>
                <a:endParaRPr lang="en-IN" sz="2400" dirty="0"/>
              </a:p>
            </p:txBody>
          </p:sp>
        </mc:Choice>
        <mc:Fallback xmlns="">
          <p:sp>
            <p:nvSpPr>
              <p:cNvPr id="80" name="TextBox 79"/>
              <p:cNvSpPr txBox="1">
                <a:spLocks noRot="1" noChangeAspect="1" noMove="1" noResize="1" noEditPoints="1" noAdjustHandles="1" noChangeArrowheads="1" noChangeShapeType="1" noTextEdit="1"/>
              </p:cNvSpPr>
              <p:nvPr/>
            </p:nvSpPr>
            <p:spPr>
              <a:xfrm>
                <a:off x="167426" y="5078640"/>
                <a:ext cx="936106" cy="461665"/>
              </a:xfrm>
              <a:prstGeom prst="rect">
                <a:avLst/>
              </a:prstGeom>
              <a:blipFill rotWithShape="0">
                <a:blip r:embed="rId21"/>
                <a:stretch>
                  <a:fillRect l="-19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p:cNvSpPr txBox="1"/>
              <p:nvPr/>
            </p:nvSpPr>
            <p:spPr>
              <a:xfrm>
                <a:off x="3423045" y="5070190"/>
                <a:ext cx="936106"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b="0" i="0" smtClean="0">
                              <a:solidFill>
                                <a:srgbClr val="002060"/>
                              </a:solidFill>
                              <a:latin typeface="Cambria Math" panose="02040503050406030204" pitchFamily="18" charset="0"/>
                            </a:rPr>
                            <m:t>f</m:t>
                          </m:r>
                          <m:r>
                            <a:rPr lang="en-US" sz="240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g</m:t>
                          </m:r>
                        </m:e>
                      </m:d>
                    </m:oMath>
                  </m:oMathPara>
                </a14:m>
                <a:endParaRPr lang="en-IN" sz="2400" dirty="0"/>
              </a:p>
            </p:txBody>
          </p:sp>
        </mc:Choice>
        <mc:Fallback xmlns="">
          <p:sp>
            <p:nvSpPr>
              <p:cNvPr id="81" name="TextBox 80"/>
              <p:cNvSpPr txBox="1">
                <a:spLocks noRot="1" noChangeAspect="1" noMove="1" noResize="1" noEditPoints="1" noAdjustHandles="1" noChangeArrowheads="1" noChangeShapeType="1" noTextEdit="1"/>
              </p:cNvSpPr>
              <p:nvPr/>
            </p:nvSpPr>
            <p:spPr>
              <a:xfrm>
                <a:off x="3423045" y="5070190"/>
                <a:ext cx="936106" cy="461665"/>
              </a:xfrm>
              <a:prstGeom prst="rect">
                <a:avLst/>
              </a:prstGeom>
              <a:blipFill>
                <a:blip r:embed="rId22"/>
                <a:stretch>
                  <a:fillRect l="-1961" b="-12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3" name="TextBox 82"/>
              <p:cNvSpPr txBox="1"/>
              <p:nvPr/>
            </p:nvSpPr>
            <p:spPr>
              <a:xfrm>
                <a:off x="1109096" y="2506122"/>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=4</m:t>
                      </m:r>
                    </m:oMath>
                  </m:oMathPara>
                </a14:m>
                <a:endParaRPr lang="en-IN" sz="2400" dirty="0">
                  <a:solidFill>
                    <a:srgbClr val="002060"/>
                  </a:solidFill>
                  <a:latin typeface="Cambria Math" panose="02040503050406030204" pitchFamily="18" charset="0"/>
                </a:endParaRPr>
              </a:p>
            </p:txBody>
          </p:sp>
        </mc:Choice>
        <mc:Fallback xmlns="">
          <p:sp>
            <p:nvSpPr>
              <p:cNvPr id="83" name="TextBox 82"/>
              <p:cNvSpPr txBox="1">
                <a:spLocks noRot="1" noChangeAspect="1" noMove="1" noResize="1" noEditPoints="1" noAdjustHandles="1" noChangeArrowheads="1" noChangeShapeType="1" noTextEdit="1"/>
              </p:cNvSpPr>
              <p:nvPr/>
            </p:nvSpPr>
            <p:spPr>
              <a:xfrm>
                <a:off x="1109096" y="2506122"/>
                <a:ext cx="621048" cy="461665"/>
              </a:xfrm>
              <a:prstGeom prst="rect">
                <a:avLst/>
              </a:prstGeom>
              <a:blipFill>
                <a:blip r:embed="rId23"/>
                <a:stretch>
                  <a:fillRect r="-882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5" name="TextBox 84"/>
              <p:cNvSpPr txBox="1"/>
              <p:nvPr/>
            </p:nvSpPr>
            <p:spPr>
              <a:xfrm>
                <a:off x="2625773" y="2513677"/>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=1</m:t>
                      </m:r>
                    </m:oMath>
                  </m:oMathPara>
                </a14:m>
                <a:endParaRPr lang="en-IN" sz="2400" dirty="0">
                  <a:solidFill>
                    <a:srgbClr val="002060"/>
                  </a:solidFill>
                  <a:latin typeface="Cambria Math" panose="02040503050406030204" pitchFamily="18" charset="0"/>
                </a:endParaRPr>
              </a:p>
            </p:txBody>
          </p:sp>
        </mc:Choice>
        <mc:Fallback xmlns="">
          <p:sp>
            <p:nvSpPr>
              <p:cNvPr id="85" name="TextBox 84"/>
              <p:cNvSpPr txBox="1">
                <a:spLocks noRot="1" noChangeAspect="1" noMove="1" noResize="1" noEditPoints="1" noAdjustHandles="1" noChangeArrowheads="1" noChangeShapeType="1" noTextEdit="1"/>
              </p:cNvSpPr>
              <p:nvPr/>
            </p:nvSpPr>
            <p:spPr>
              <a:xfrm>
                <a:off x="2625773" y="2513677"/>
                <a:ext cx="621048" cy="461665"/>
              </a:xfrm>
              <a:prstGeom prst="rect">
                <a:avLst/>
              </a:prstGeom>
              <a:blipFill rotWithShape="0">
                <a:blip r:embed="rId24"/>
                <a:stretch>
                  <a:fillRect r="-88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p:cNvSpPr txBox="1"/>
              <p:nvPr/>
            </p:nvSpPr>
            <p:spPr>
              <a:xfrm>
                <a:off x="4329663" y="2512839"/>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=3</m:t>
                      </m:r>
                    </m:oMath>
                  </m:oMathPara>
                </a14:m>
                <a:endParaRPr lang="en-IN" sz="2400" dirty="0">
                  <a:solidFill>
                    <a:srgbClr val="002060"/>
                  </a:solidFill>
                  <a:latin typeface="Cambria Math" panose="02040503050406030204" pitchFamily="18" charset="0"/>
                </a:endParaRPr>
              </a:p>
            </p:txBody>
          </p:sp>
        </mc:Choice>
        <mc:Fallback xmlns="">
          <p:sp>
            <p:nvSpPr>
              <p:cNvPr id="86" name="TextBox 85"/>
              <p:cNvSpPr txBox="1">
                <a:spLocks noRot="1" noChangeAspect="1" noMove="1" noResize="1" noEditPoints="1" noAdjustHandles="1" noChangeArrowheads="1" noChangeShapeType="1" noTextEdit="1"/>
              </p:cNvSpPr>
              <p:nvPr/>
            </p:nvSpPr>
            <p:spPr>
              <a:xfrm>
                <a:off x="4329663" y="2512839"/>
                <a:ext cx="621048" cy="461665"/>
              </a:xfrm>
              <a:prstGeom prst="rect">
                <a:avLst/>
              </a:prstGeom>
              <a:blipFill>
                <a:blip r:embed="rId25"/>
                <a:stretch>
                  <a:fillRect r="-980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7" name="TextBox 86"/>
              <p:cNvSpPr txBox="1"/>
              <p:nvPr/>
            </p:nvSpPr>
            <p:spPr>
              <a:xfrm>
                <a:off x="5816013" y="2511853"/>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=3</m:t>
                      </m:r>
                    </m:oMath>
                  </m:oMathPara>
                </a14:m>
                <a:endParaRPr lang="en-IN" sz="2400" dirty="0">
                  <a:solidFill>
                    <a:srgbClr val="002060"/>
                  </a:solidFill>
                  <a:latin typeface="Cambria Math" panose="02040503050406030204" pitchFamily="18" charset="0"/>
                </a:endParaRPr>
              </a:p>
            </p:txBody>
          </p:sp>
        </mc:Choice>
        <mc:Fallback xmlns="">
          <p:sp>
            <p:nvSpPr>
              <p:cNvPr id="87" name="TextBox 86"/>
              <p:cNvSpPr txBox="1">
                <a:spLocks noRot="1" noChangeAspect="1" noMove="1" noResize="1" noEditPoints="1" noAdjustHandles="1" noChangeArrowheads="1" noChangeShapeType="1" noTextEdit="1"/>
              </p:cNvSpPr>
              <p:nvPr/>
            </p:nvSpPr>
            <p:spPr>
              <a:xfrm>
                <a:off x="5816013" y="2511853"/>
                <a:ext cx="621048" cy="461665"/>
              </a:xfrm>
              <a:prstGeom prst="rect">
                <a:avLst/>
              </a:prstGeom>
              <a:blipFill rotWithShape="0">
                <a:blip r:embed="rId26"/>
                <a:stretch>
                  <a:fillRect r="-98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TextBox 87"/>
              <p:cNvSpPr txBox="1"/>
              <p:nvPr/>
            </p:nvSpPr>
            <p:spPr>
              <a:xfrm>
                <a:off x="7548452" y="2505284"/>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=2</m:t>
                      </m:r>
                    </m:oMath>
                  </m:oMathPara>
                </a14:m>
                <a:endParaRPr lang="en-IN" sz="2400" dirty="0">
                  <a:solidFill>
                    <a:srgbClr val="002060"/>
                  </a:solidFill>
                  <a:latin typeface="Cambria Math" panose="02040503050406030204" pitchFamily="18" charset="0"/>
                </a:endParaRPr>
              </a:p>
            </p:txBody>
          </p:sp>
        </mc:Choice>
        <mc:Fallback xmlns="">
          <p:sp>
            <p:nvSpPr>
              <p:cNvPr id="88" name="TextBox 87"/>
              <p:cNvSpPr txBox="1">
                <a:spLocks noRot="1" noChangeAspect="1" noMove="1" noResize="1" noEditPoints="1" noAdjustHandles="1" noChangeArrowheads="1" noChangeShapeType="1" noTextEdit="1"/>
              </p:cNvSpPr>
              <p:nvPr/>
            </p:nvSpPr>
            <p:spPr>
              <a:xfrm>
                <a:off x="7548452" y="2505284"/>
                <a:ext cx="621048" cy="461665"/>
              </a:xfrm>
              <a:prstGeom prst="rect">
                <a:avLst/>
              </a:prstGeom>
              <a:blipFill>
                <a:blip r:embed="rId27"/>
                <a:stretch>
                  <a:fillRect r="-980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9" name="TextBox 88"/>
              <p:cNvSpPr txBox="1"/>
              <p:nvPr/>
            </p:nvSpPr>
            <p:spPr>
              <a:xfrm>
                <a:off x="9069618" y="2511110"/>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=3</m:t>
                      </m:r>
                    </m:oMath>
                  </m:oMathPara>
                </a14:m>
                <a:endParaRPr lang="en-IN" sz="2400" dirty="0">
                  <a:solidFill>
                    <a:srgbClr val="002060"/>
                  </a:solidFill>
                  <a:latin typeface="Cambria Math" panose="02040503050406030204" pitchFamily="18" charset="0"/>
                </a:endParaRPr>
              </a:p>
            </p:txBody>
          </p:sp>
        </mc:Choice>
        <mc:Fallback xmlns="">
          <p:sp>
            <p:nvSpPr>
              <p:cNvPr id="89" name="TextBox 88"/>
              <p:cNvSpPr txBox="1">
                <a:spLocks noRot="1" noChangeAspect="1" noMove="1" noResize="1" noEditPoints="1" noAdjustHandles="1" noChangeArrowheads="1" noChangeShapeType="1" noTextEdit="1"/>
              </p:cNvSpPr>
              <p:nvPr/>
            </p:nvSpPr>
            <p:spPr>
              <a:xfrm>
                <a:off x="9069618" y="2511110"/>
                <a:ext cx="621048" cy="461665"/>
              </a:xfrm>
              <a:prstGeom prst="rect">
                <a:avLst/>
              </a:prstGeom>
              <a:blipFill rotWithShape="0">
                <a:blip r:embed="rId28"/>
                <a:stretch>
                  <a:fillRect r="-88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TextBox 89"/>
              <p:cNvSpPr txBox="1"/>
              <p:nvPr/>
            </p:nvSpPr>
            <p:spPr>
              <a:xfrm>
                <a:off x="1109096" y="3146110"/>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=3</m:t>
                      </m:r>
                    </m:oMath>
                  </m:oMathPara>
                </a14:m>
                <a:endParaRPr lang="en-IN" sz="2400" dirty="0">
                  <a:solidFill>
                    <a:srgbClr val="002060"/>
                  </a:solidFill>
                  <a:latin typeface="Cambria Math" panose="02040503050406030204" pitchFamily="18" charset="0"/>
                </a:endParaRPr>
              </a:p>
            </p:txBody>
          </p:sp>
        </mc:Choice>
        <mc:Fallback xmlns="">
          <p:sp>
            <p:nvSpPr>
              <p:cNvPr id="90" name="TextBox 89"/>
              <p:cNvSpPr txBox="1">
                <a:spLocks noRot="1" noChangeAspect="1" noMove="1" noResize="1" noEditPoints="1" noAdjustHandles="1" noChangeArrowheads="1" noChangeShapeType="1" noTextEdit="1"/>
              </p:cNvSpPr>
              <p:nvPr/>
            </p:nvSpPr>
            <p:spPr>
              <a:xfrm>
                <a:off x="1109096" y="3146110"/>
                <a:ext cx="621048" cy="461665"/>
              </a:xfrm>
              <a:prstGeom prst="rect">
                <a:avLst/>
              </a:prstGeom>
              <a:blipFill>
                <a:blip r:embed="rId29"/>
                <a:stretch>
                  <a:fillRect r="-882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1" name="TextBox 90"/>
              <p:cNvSpPr txBox="1"/>
              <p:nvPr/>
            </p:nvSpPr>
            <p:spPr>
              <a:xfrm>
                <a:off x="2625773" y="3148677"/>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=1</m:t>
                      </m:r>
                    </m:oMath>
                  </m:oMathPara>
                </a14:m>
                <a:endParaRPr lang="en-IN" sz="2400" dirty="0">
                  <a:solidFill>
                    <a:srgbClr val="002060"/>
                  </a:solidFill>
                  <a:latin typeface="Cambria Math" panose="02040503050406030204" pitchFamily="18" charset="0"/>
                </a:endParaRPr>
              </a:p>
            </p:txBody>
          </p:sp>
        </mc:Choice>
        <mc:Fallback xmlns="">
          <p:sp>
            <p:nvSpPr>
              <p:cNvPr id="91" name="TextBox 90"/>
              <p:cNvSpPr txBox="1">
                <a:spLocks noRot="1" noChangeAspect="1" noMove="1" noResize="1" noEditPoints="1" noAdjustHandles="1" noChangeArrowheads="1" noChangeShapeType="1" noTextEdit="1"/>
              </p:cNvSpPr>
              <p:nvPr/>
            </p:nvSpPr>
            <p:spPr>
              <a:xfrm>
                <a:off x="2625773" y="3148677"/>
                <a:ext cx="621048" cy="461665"/>
              </a:xfrm>
              <a:prstGeom prst="rect">
                <a:avLst/>
              </a:prstGeom>
              <a:blipFill rotWithShape="0">
                <a:blip r:embed="rId30"/>
                <a:stretch>
                  <a:fillRect r="-88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TextBox 91"/>
              <p:cNvSpPr txBox="1"/>
              <p:nvPr/>
            </p:nvSpPr>
            <p:spPr>
              <a:xfrm>
                <a:off x="4320155" y="3146110"/>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=3</m:t>
                      </m:r>
                    </m:oMath>
                  </m:oMathPara>
                </a14:m>
                <a:endParaRPr lang="en-IN" sz="2400" dirty="0">
                  <a:solidFill>
                    <a:srgbClr val="002060"/>
                  </a:solidFill>
                  <a:latin typeface="Cambria Math" panose="02040503050406030204" pitchFamily="18" charset="0"/>
                </a:endParaRPr>
              </a:p>
            </p:txBody>
          </p:sp>
        </mc:Choice>
        <mc:Fallback xmlns="">
          <p:sp>
            <p:nvSpPr>
              <p:cNvPr id="92" name="TextBox 91"/>
              <p:cNvSpPr txBox="1">
                <a:spLocks noRot="1" noChangeAspect="1" noMove="1" noResize="1" noEditPoints="1" noAdjustHandles="1" noChangeArrowheads="1" noChangeShapeType="1" noTextEdit="1"/>
              </p:cNvSpPr>
              <p:nvPr/>
            </p:nvSpPr>
            <p:spPr>
              <a:xfrm>
                <a:off x="4320155" y="3146110"/>
                <a:ext cx="621048" cy="461665"/>
              </a:xfrm>
              <a:prstGeom prst="rect">
                <a:avLst/>
              </a:prstGeom>
              <a:blipFill>
                <a:blip r:embed="rId31"/>
                <a:stretch>
                  <a:fillRect r="-882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3" name="TextBox 92"/>
              <p:cNvSpPr txBox="1"/>
              <p:nvPr/>
            </p:nvSpPr>
            <p:spPr>
              <a:xfrm>
                <a:off x="5816013" y="3146853"/>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=2</m:t>
                      </m:r>
                    </m:oMath>
                  </m:oMathPara>
                </a14:m>
                <a:endParaRPr lang="en-IN" sz="2400" dirty="0">
                  <a:solidFill>
                    <a:srgbClr val="002060"/>
                  </a:solidFill>
                  <a:latin typeface="Cambria Math" panose="02040503050406030204" pitchFamily="18" charset="0"/>
                </a:endParaRPr>
              </a:p>
            </p:txBody>
          </p:sp>
        </mc:Choice>
        <mc:Fallback xmlns="">
          <p:sp>
            <p:nvSpPr>
              <p:cNvPr id="93" name="TextBox 92"/>
              <p:cNvSpPr txBox="1">
                <a:spLocks noRot="1" noChangeAspect="1" noMove="1" noResize="1" noEditPoints="1" noAdjustHandles="1" noChangeArrowheads="1" noChangeShapeType="1" noTextEdit="1"/>
              </p:cNvSpPr>
              <p:nvPr/>
            </p:nvSpPr>
            <p:spPr>
              <a:xfrm>
                <a:off x="5816013" y="3146853"/>
                <a:ext cx="621048" cy="461665"/>
              </a:xfrm>
              <a:prstGeom prst="rect">
                <a:avLst/>
              </a:prstGeom>
              <a:blipFill rotWithShape="0">
                <a:blip r:embed="rId32"/>
                <a:stretch>
                  <a:fillRect r="-98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TextBox 93"/>
              <p:cNvSpPr txBox="1"/>
              <p:nvPr/>
            </p:nvSpPr>
            <p:spPr>
              <a:xfrm>
                <a:off x="7548452" y="3146110"/>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=3</m:t>
                      </m:r>
                    </m:oMath>
                  </m:oMathPara>
                </a14:m>
                <a:endParaRPr lang="en-IN" sz="2400" dirty="0">
                  <a:solidFill>
                    <a:srgbClr val="002060"/>
                  </a:solidFill>
                  <a:latin typeface="Cambria Math" panose="02040503050406030204" pitchFamily="18" charset="0"/>
                </a:endParaRPr>
              </a:p>
            </p:txBody>
          </p:sp>
        </mc:Choice>
        <mc:Fallback xmlns="">
          <p:sp>
            <p:nvSpPr>
              <p:cNvPr id="94" name="TextBox 93"/>
              <p:cNvSpPr txBox="1">
                <a:spLocks noRot="1" noChangeAspect="1" noMove="1" noResize="1" noEditPoints="1" noAdjustHandles="1" noChangeArrowheads="1" noChangeShapeType="1" noTextEdit="1"/>
              </p:cNvSpPr>
              <p:nvPr/>
            </p:nvSpPr>
            <p:spPr>
              <a:xfrm>
                <a:off x="7548452" y="3146110"/>
                <a:ext cx="621048" cy="461665"/>
              </a:xfrm>
              <a:prstGeom prst="rect">
                <a:avLst/>
              </a:prstGeom>
              <a:blipFill>
                <a:blip r:embed="rId33"/>
                <a:stretch>
                  <a:fillRect r="-980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2" name="TextBox 81"/>
              <p:cNvSpPr txBox="1"/>
              <p:nvPr/>
            </p:nvSpPr>
            <p:spPr>
              <a:xfrm>
                <a:off x="1068152" y="3789674"/>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=2</m:t>
                      </m:r>
                    </m:oMath>
                  </m:oMathPara>
                </a14:m>
                <a:endParaRPr lang="en-IN" sz="2400" dirty="0">
                  <a:solidFill>
                    <a:srgbClr val="002060"/>
                  </a:solidFill>
                  <a:latin typeface="Cambria Math" panose="02040503050406030204" pitchFamily="18" charset="0"/>
                </a:endParaRPr>
              </a:p>
            </p:txBody>
          </p:sp>
        </mc:Choice>
        <mc:Fallback xmlns="">
          <p:sp>
            <p:nvSpPr>
              <p:cNvPr id="82" name="TextBox 81"/>
              <p:cNvSpPr txBox="1">
                <a:spLocks noRot="1" noChangeAspect="1" noMove="1" noResize="1" noEditPoints="1" noAdjustHandles="1" noChangeArrowheads="1" noChangeShapeType="1" noTextEdit="1"/>
              </p:cNvSpPr>
              <p:nvPr/>
            </p:nvSpPr>
            <p:spPr>
              <a:xfrm>
                <a:off x="1068152" y="3789674"/>
                <a:ext cx="621048" cy="461665"/>
              </a:xfrm>
              <a:prstGeom prst="rect">
                <a:avLst/>
              </a:prstGeom>
              <a:blipFill>
                <a:blip r:embed="rId34"/>
                <a:stretch>
                  <a:fillRect r="-980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4" name="TextBox 83"/>
              <p:cNvSpPr txBox="1"/>
              <p:nvPr/>
            </p:nvSpPr>
            <p:spPr>
              <a:xfrm>
                <a:off x="2625773" y="3780180"/>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=2</m:t>
                      </m:r>
                    </m:oMath>
                  </m:oMathPara>
                </a14:m>
                <a:endParaRPr lang="en-IN" sz="2400" dirty="0">
                  <a:solidFill>
                    <a:srgbClr val="002060"/>
                  </a:solidFill>
                  <a:latin typeface="Cambria Math" panose="02040503050406030204" pitchFamily="18" charset="0"/>
                </a:endParaRPr>
              </a:p>
            </p:txBody>
          </p:sp>
        </mc:Choice>
        <mc:Fallback xmlns="">
          <p:sp>
            <p:nvSpPr>
              <p:cNvPr id="84" name="TextBox 83"/>
              <p:cNvSpPr txBox="1">
                <a:spLocks noRot="1" noChangeAspect="1" noMove="1" noResize="1" noEditPoints="1" noAdjustHandles="1" noChangeArrowheads="1" noChangeShapeType="1" noTextEdit="1"/>
              </p:cNvSpPr>
              <p:nvPr/>
            </p:nvSpPr>
            <p:spPr>
              <a:xfrm>
                <a:off x="2625773" y="3780180"/>
                <a:ext cx="621048" cy="461665"/>
              </a:xfrm>
              <a:prstGeom prst="rect">
                <a:avLst/>
              </a:prstGeom>
              <a:blipFill rotWithShape="0">
                <a:blip r:embed="rId35"/>
                <a:stretch>
                  <a:fillRect r="-88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p:cNvSpPr txBox="1"/>
              <p:nvPr/>
            </p:nvSpPr>
            <p:spPr>
              <a:xfrm>
                <a:off x="4320155" y="3777569"/>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=1</m:t>
                      </m:r>
                    </m:oMath>
                  </m:oMathPara>
                </a14:m>
                <a:endParaRPr lang="en-IN" sz="2400" dirty="0">
                  <a:solidFill>
                    <a:srgbClr val="002060"/>
                  </a:solidFill>
                  <a:latin typeface="Cambria Math" panose="02040503050406030204" pitchFamily="18" charset="0"/>
                </a:endParaRPr>
              </a:p>
            </p:txBody>
          </p:sp>
        </mc:Choice>
        <mc:Fallback xmlns="">
          <p:sp>
            <p:nvSpPr>
              <p:cNvPr id="95" name="TextBox 94"/>
              <p:cNvSpPr txBox="1">
                <a:spLocks noRot="1" noChangeAspect="1" noMove="1" noResize="1" noEditPoints="1" noAdjustHandles="1" noChangeArrowheads="1" noChangeShapeType="1" noTextEdit="1"/>
              </p:cNvSpPr>
              <p:nvPr/>
            </p:nvSpPr>
            <p:spPr>
              <a:xfrm>
                <a:off x="4320155" y="3777569"/>
                <a:ext cx="621048" cy="461665"/>
              </a:xfrm>
              <a:prstGeom prst="rect">
                <a:avLst/>
              </a:prstGeom>
              <a:blipFill>
                <a:blip r:embed="rId36"/>
                <a:stretch>
                  <a:fillRect r="-882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6" name="TextBox 95"/>
              <p:cNvSpPr txBox="1"/>
              <p:nvPr/>
            </p:nvSpPr>
            <p:spPr>
              <a:xfrm>
                <a:off x="5816013" y="3778356"/>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=2</m:t>
                      </m:r>
                    </m:oMath>
                  </m:oMathPara>
                </a14:m>
                <a:endParaRPr lang="en-IN" sz="2400" dirty="0">
                  <a:solidFill>
                    <a:srgbClr val="002060"/>
                  </a:solidFill>
                  <a:latin typeface="Cambria Math" panose="02040503050406030204" pitchFamily="18" charset="0"/>
                </a:endParaRPr>
              </a:p>
            </p:txBody>
          </p:sp>
        </mc:Choice>
        <mc:Fallback xmlns="">
          <p:sp>
            <p:nvSpPr>
              <p:cNvPr id="96" name="TextBox 95"/>
              <p:cNvSpPr txBox="1">
                <a:spLocks noRot="1" noChangeAspect="1" noMove="1" noResize="1" noEditPoints="1" noAdjustHandles="1" noChangeArrowheads="1" noChangeShapeType="1" noTextEdit="1"/>
              </p:cNvSpPr>
              <p:nvPr/>
            </p:nvSpPr>
            <p:spPr>
              <a:xfrm>
                <a:off x="5816013" y="3778356"/>
                <a:ext cx="621048" cy="461665"/>
              </a:xfrm>
              <a:prstGeom prst="rect">
                <a:avLst/>
              </a:prstGeom>
              <a:blipFill rotWithShape="0">
                <a:blip r:embed="rId37"/>
                <a:stretch>
                  <a:fillRect r="-98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TextBox 97"/>
              <p:cNvSpPr txBox="1"/>
              <p:nvPr/>
            </p:nvSpPr>
            <p:spPr>
              <a:xfrm>
                <a:off x="1068152" y="4409303"/>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=2</m:t>
                      </m:r>
                    </m:oMath>
                  </m:oMathPara>
                </a14:m>
                <a:endParaRPr lang="en-IN" sz="2400" dirty="0">
                  <a:solidFill>
                    <a:srgbClr val="002060"/>
                  </a:solidFill>
                  <a:latin typeface="Cambria Math" panose="02040503050406030204" pitchFamily="18" charset="0"/>
                </a:endParaRPr>
              </a:p>
            </p:txBody>
          </p:sp>
        </mc:Choice>
        <mc:Fallback xmlns="">
          <p:sp>
            <p:nvSpPr>
              <p:cNvPr id="98" name="TextBox 97"/>
              <p:cNvSpPr txBox="1">
                <a:spLocks noRot="1" noChangeAspect="1" noMove="1" noResize="1" noEditPoints="1" noAdjustHandles="1" noChangeArrowheads="1" noChangeShapeType="1" noTextEdit="1"/>
              </p:cNvSpPr>
              <p:nvPr/>
            </p:nvSpPr>
            <p:spPr>
              <a:xfrm>
                <a:off x="1068152" y="4409303"/>
                <a:ext cx="621048" cy="461665"/>
              </a:xfrm>
              <a:prstGeom prst="rect">
                <a:avLst/>
              </a:prstGeom>
              <a:blipFill>
                <a:blip r:embed="rId38"/>
                <a:stretch>
                  <a:fillRect r="-980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9" name="TextBox 98"/>
              <p:cNvSpPr txBox="1"/>
              <p:nvPr/>
            </p:nvSpPr>
            <p:spPr>
              <a:xfrm>
                <a:off x="2632401" y="4436165"/>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=1</m:t>
                      </m:r>
                    </m:oMath>
                  </m:oMathPara>
                </a14:m>
                <a:endParaRPr lang="en-IN" sz="2400" dirty="0">
                  <a:solidFill>
                    <a:srgbClr val="002060"/>
                  </a:solidFill>
                  <a:latin typeface="Cambria Math" panose="02040503050406030204" pitchFamily="18" charset="0"/>
                </a:endParaRPr>
              </a:p>
            </p:txBody>
          </p:sp>
        </mc:Choice>
        <mc:Fallback xmlns="">
          <p:sp>
            <p:nvSpPr>
              <p:cNvPr id="99" name="TextBox 98"/>
              <p:cNvSpPr txBox="1">
                <a:spLocks noRot="1" noChangeAspect="1" noMove="1" noResize="1" noEditPoints="1" noAdjustHandles="1" noChangeArrowheads="1" noChangeShapeType="1" noTextEdit="1"/>
              </p:cNvSpPr>
              <p:nvPr/>
            </p:nvSpPr>
            <p:spPr>
              <a:xfrm>
                <a:off x="2632401" y="4436165"/>
                <a:ext cx="621048" cy="461665"/>
              </a:xfrm>
              <a:prstGeom prst="rect">
                <a:avLst/>
              </a:prstGeom>
              <a:blipFill rotWithShape="0">
                <a:blip r:embed="rId39"/>
                <a:stretch>
                  <a:fillRect r="-88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0" name="TextBox 99"/>
              <p:cNvSpPr txBox="1"/>
              <p:nvPr/>
            </p:nvSpPr>
            <p:spPr>
              <a:xfrm>
                <a:off x="4323314" y="4433598"/>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=2</m:t>
                      </m:r>
                    </m:oMath>
                  </m:oMathPara>
                </a14:m>
                <a:endParaRPr lang="en-IN" sz="2400" dirty="0">
                  <a:solidFill>
                    <a:srgbClr val="002060"/>
                  </a:solidFill>
                  <a:latin typeface="Cambria Math" panose="02040503050406030204" pitchFamily="18" charset="0"/>
                </a:endParaRPr>
              </a:p>
            </p:txBody>
          </p:sp>
        </mc:Choice>
        <mc:Fallback xmlns="">
          <p:sp>
            <p:nvSpPr>
              <p:cNvPr id="100" name="TextBox 99"/>
              <p:cNvSpPr txBox="1">
                <a:spLocks noRot="1" noChangeAspect="1" noMove="1" noResize="1" noEditPoints="1" noAdjustHandles="1" noChangeArrowheads="1" noChangeShapeType="1" noTextEdit="1"/>
              </p:cNvSpPr>
              <p:nvPr/>
            </p:nvSpPr>
            <p:spPr>
              <a:xfrm>
                <a:off x="4323314" y="4433598"/>
                <a:ext cx="621048" cy="461665"/>
              </a:xfrm>
              <a:prstGeom prst="rect">
                <a:avLst/>
              </a:prstGeom>
              <a:blipFill>
                <a:blip r:embed="rId40"/>
                <a:stretch>
                  <a:fillRect r="-980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1" name="TextBox 100"/>
              <p:cNvSpPr txBox="1"/>
              <p:nvPr/>
            </p:nvSpPr>
            <p:spPr>
              <a:xfrm>
                <a:off x="1044346" y="5073397"/>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=1</m:t>
                      </m:r>
                    </m:oMath>
                  </m:oMathPara>
                </a14:m>
                <a:endParaRPr lang="en-IN" sz="2400" dirty="0">
                  <a:solidFill>
                    <a:srgbClr val="002060"/>
                  </a:solidFill>
                  <a:latin typeface="Cambria Math" panose="02040503050406030204" pitchFamily="18" charset="0"/>
                </a:endParaRPr>
              </a:p>
            </p:txBody>
          </p:sp>
        </mc:Choice>
        <mc:Fallback xmlns="">
          <p:sp>
            <p:nvSpPr>
              <p:cNvPr id="101" name="TextBox 100"/>
              <p:cNvSpPr txBox="1">
                <a:spLocks noRot="1" noChangeAspect="1" noMove="1" noResize="1" noEditPoints="1" noAdjustHandles="1" noChangeArrowheads="1" noChangeShapeType="1" noTextEdit="1"/>
              </p:cNvSpPr>
              <p:nvPr/>
            </p:nvSpPr>
            <p:spPr>
              <a:xfrm>
                <a:off x="1044346" y="5073397"/>
                <a:ext cx="621048" cy="461665"/>
              </a:xfrm>
              <a:prstGeom prst="rect">
                <a:avLst/>
              </a:prstGeom>
              <a:blipFill>
                <a:blip r:embed="rId41"/>
                <a:stretch>
                  <a:fillRect r="-980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2" name="TextBox 101"/>
              <p:cNvSpPr txBox="1"/>
              <p:nvPr/>
            </p:nvSpPr>
            <p:spPr>
              <a:xfrm>
                <a:off x="2625773" y="5080048"/>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=2</m:t>
                      </m:r>
                    </m:oMath>
                  </m:oMathPara>
                </a14:m>
                <a:endParaRPr lang="en-IN" sz="2400" dirty="0">
                  <a:solidFill>
                    <a:srgbClr val="002060"/>
                  </a:solidFill>
                  <a:latin typeface="Cambria Math" panose="02040503050406030204" pitchFamily="18" charset="0"/>
                </a:endParaRPr>
              </a:p>
            </p:txBody>
          </p:sp>
        </mc:Choice>
        <mc:Fallback xmlns="">
          <p:sp>
            <p:nvSpPr>
              <p:cNvPr id="102" name="TextBox 101"/>
              <p:cNvSpPr txBox="1">
                <a:spLocks noRot="1" noChangeAspect="1" noMove="1" noResize="1" noEditPoints="1" noAdjustHandles="1" noChangeArrowheads="1" noChangeShapeType="1" noTextEdit="1"/>
              </p:cNvSpPr>
              <p:nvPr/>
            </p:nvSpPr>
            <p:spPr>
              <a:xfrm>
                <a:off x="2625773" y="5080048"/>
                <a:ext cx="621048" cy="461665"/>
              </a:xfrm>
              <a:prstGeom prst="rect">
                <a:avLst/>
              </a:prstGeom>
              <a:blipFill>
                <a:blip r:embed="rId42"/>
                <a:stretch>
                  <a:fillRect r="-882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3" name="TextBox 102"/>
              <p:cNvSpPr txBox="1"/>
              <p:nvPr/>
            </p:nvSpPr>
            <p:spPr>
              <a:xfrm>
                <a:off x="4299965" y="5077271"/>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=1</m:t>
                      </m:r>
                    </m:oMath>
                  </m:oMathPara>
                </a14:m>
                <a:endParaRPr lang="en-IN" sz="2400" dirty="0">
                  <a:solidFill>
                    <a:srgbClr val="002060"/>
                  </a:solidFill>
                  <a:latin typeface="Cambria Math" panose="02040503050406030204" pitchFamily="18" charset="0"/>
                </a:endParaRPr>
              </a:p>
            </p:txBody>
          </p:sp>
        </mc:Choice>
        <mc:Fallback xmlns="">
          <p:sp>
            <p:nvSpPr>
              <p:cNvPr id="103" name="TextBox 102"/>
              <p:cNvSpPr txBox="1">
                <a:spLocks noRot="1" noChangeAspect="1" noMove="1" noResize="1" noEditPoints="1" noAdjustHandles="1" noChangeArrowheads="1" noChangeShapeType="1" noTextEdit="1"/>
              </p:cNvSpPr>
              <p:nvPr/>
            </p:nvSpPr>
            <p:spPr>
              <a:xfrm>
                <a:off x="4299965" y="5077271"/>
                <a:ext cx="621048" cy="461665"/>
              </a:xfrm>
              <a:prstGeom prst="rect">
                <a:avLst/>
              </a:prstGeom>
              <a:blipFill>
                <a:blip r:embed="rId43"/>
                <a:stretch>
                  <a:fillRect r="-9804"/>
                </a:stretch>
              </a:blipFill>
            </p:spPr>
            <p:txBody>
              <a:bodyPr/>
              <a:lstStyle/>
              <a:p>
                <a:r>
                  <a:rPr lang="en-IN">
                    <a:noFill/>
                  </a:rPr>
                  <a:t> </a:t>
                </a:r>
              </a:p>
            </p:txBody>
          </p:sp>
        </mc:Fallback>
      </mc:AlternateContent>
      <p:cxnSp>
        <p:nvCxnSpPr>
          <p:cNvPr id="3" name="Straight Connector 2">
            <a:extLst>
              <a:ext uri="{FF2B5EF4-FFF2-40B4-BE49-F238E27FC236}">
                <a16:creationId xmlns:a16="http://schemas.microsoft.com/office/drawing/2014/main" id="{A27570BB-7479-E40E-1AD3-0A962E003B8C}"/>
              </a:ext>
            </a:extLst>
          </p:cNvPr>
          <p:cNvCxnSpPr>
            <a:cxnSpLocks/>
          </p:cNvCxnSpPr>
          <p:nvPr/>
        </p:nvCxnSpPr>
        <p:spPr>
          <a:xfrm flipH="1">
            <a:off x="10085491" y="4836748"/>
            <a:ext cx="2589" cy="585534"/>
          </a:xfrm>
          <a:prstGeom prst="line">
            <a:avLst/>
          </a:prstGeom>
          <a:solidFill>
            <a:schemeClr val="bg1"/>
          </a:solidFill>
          <a:ln w="38100">
            <a:solidFill>
              <a:srgbClr val="FFC000"/>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4" name="Straight Connector 3">
            <a:extLst>
              <a:ext uri="{FF2B5EF4-FFF2-40B4-BE49-F238E27FC236}">
                <a16:creationId xmlns:a16="http://schemas.microsoft.com/office/drawing/2014/main" id="{49D2F007-FEB8-E103-BD1B-F8BA29ACB1F9}"/>
              </a:ext>
            </a:extLst>
          </p:cNvPr>
          <p:cNvCxnSpPr>
            <a:cxnSpLocks/>
          </p:cNvCxnSpPr>
          <p:nvPr/>
        </p:nvCxnSpPr>
        <p:spPr>
          <a:xfrm flipH="1">
            <a:off x="10119559" y="4854433"/>
            <a:ext cx="667810" cy="0"/>
          </a:xfrm>
          <a:prstGeom prst="line">
            <a:avLst/>
          </a:prstGeom>
          <a:solidFill>
            <a:schemeClr val="bg1"/>
          </a:solidFill>
          <a:ln w="38100">
            <a:solidFill>
              <a:srgbClr val="FFC000"/>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7" name="Straight Connector 6">
            <a:extLst>
              <a:ext uri="{FF2B5EF4-FFF2-40B4-BE49-F238E27FC236}">
                <a16:creationId xmlns:a16="http://schemas.microsoft.com/office/drawing/2014/main" id="{BE0EFFAA-4B8C-5672-9710-2150D67B5EC8}"/>
              </a:ext>
            </a:extLst>
          </p:cNvPr>
          <p:cNvCxnSpPr>
            <a:cxnSpLocks/>
          </p:cNvCxnSpPr>
          <p:nvPr/>
        </p:nvCxnSpPr>
        <p:spPr>
          <a:xfrm>
            <a:off x="10769668" y="4111267"/>
            <a:ext cx="804" cy="702000"/>
          </a:xfrm>
          <a:prstGeom prst="line">
            <a:avLst/>
          </a:prstGeom>
          <a:solidFill>
            <a:schemeClr val="bg1"/>
          </a:solidFill>
          <a:ln w="38100">
            <a:solidFill>
              <a:srgbClr val="FFC000"/>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a:extLst>
              <a:ext uri="{FF2B5EF4-FFF2-40B4-BE49-F238E27FC236}">
                <a16:creationId xmlns:a16="http://schemas.microsoft.com/office/drawing/2014/main" id="{194BE2CB-81E2-488F-7186-3CABE7BA9673}"/>
              </a:ext>
            </a:extLst>
          </p:cNvPr>
          <p:cNvCxnSpPr>
            <a:cxnSpLocks/>
          </p:cNvCxnSpPr>
          <p:nvPr/>
        </p:nvCxnSpPr>
        <p:spPr>
          <a:xfrm flipH="1">
            <a:off x="10783602" y="4130323"/>
            <a:ext cx="756000" cy="0"/>
          </a:xfrm>
          <a:prstGeom prst="line">
            <a:avLst/>
          </a:prstGeom>
          <a:solidFill>
            <a:schemeClr val="bg1"/>
          </a:solidFill>
          <a:ln w="38100">
            <a:solidFill>
              <a:srgbClr val="FFC000"/>
            </a:solidFill>
            <a:prstDash val="sysDot"/>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1133493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down)">
                                      <p:cBhvr>
                                        <p:cTn id="23" dur="500"/>
                                        <p:tgtEl>
                                          <p:spTgt spid="3"/>
                                        </p:tgtEl>
                                      </p:cBhvr>
                                    </p:animEffect>
                                  </p:childTnLst>
                                </p:cTn>
                              </p:par>
                            </p:childTnLst>
                          </p:cTn>
                        </p:par>
                        <p:par>
                          <p:cTn id="24" fill="hold">
                            <p:stCondLst>
                              <p:cond delay="500"/>
                            </p:stCondLst>
                            <p:childTnLst>
                              <p:par>
                                <p:cTn id="25" presetID="22" presetClass="entr" presetSubtype="8" fill="hold" nodeType="after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par>
                          <p:cTn id="28" fill="hold">
                            <p:stCondLst>
                              <p:cond delay="1000"/>
                            </p:stCondLst>
                            <p:childTnLst>
                              <p:par>
                                <p:cTn id="29" presetID="22" presetClass="entr" presetSubtype="4" fill="hold"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down)">
                                      <p:cBhvr>
                                        <p:cTn id="31" dur="500"/>
                                        <p:tgtEl>
                                          <p:spTgt spid="7"/>
                                        </p:tgtEl>
                                      </p:cBhvr>
                                    </p:animEffect>
                                  </p:childTnLst>
                                </p:cTn>
                              </p:par>
                            </p:childTnLst>
                          </p:cTn>
                        </p:par>
                        <p:par>
                          <p:cTn id="32" fill="hold">
                            <p:stCondLst>
                              <p:cond delay="1500"/>
                            </p:stCondLst>
                            <p:childTnLst>
                              <p:par>
                                <p:cTn id="33" presetID="22" presetClass="entr" presetSubtype="8" fill="hold"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ipe(left)">
                                      <p:cBhvr>
                                        <p:cTn id="35" dur="500"/>
                                        <p:tgtEl>
                                          <p:spTgt spid="14"/>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83"/>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xit" presetSubtype="0" fill="hold" nodeType="clickEffect">
                                  <p:stCondLst>
                                    <p:cond delay="0"/>
                                  </p:stCondLst>
                                  <p:childTnLst>
                                    <p:set>
                                      <p:cBhvr>
                                        <p:cTn id="43" dur="1" fill="hold">
                                          <p:stCondLst>
                                            <p:cond delay="0"/>
                                          </p:stCondLst>
                                        </p:cTn>
                                        <p:tgtEl>
                                          <p:spTgt spid="3"/>
                                        </p:tgtEl>
                                        <p:attrNameLst>
                                          <p:attrName>style.visibility</p:attrName>
                                        </p:attrNameLst>
                                      </p:cBhvr>
                                      <p:to>
                                        <p:strVal val="hidden"/>
                                      </p:to>
                                    </p:set>
                                  </p:childTnLst>
                                </p:cTn>
                              </p:par>
                              <p:par>
                                <p:cTn id="44" presetID="1" presetClass="exit" presetSubtype="0" fill="hold" nodeType="withEffect">
                                  <p:stCondLst>
                                    <p:cond delay="0"/>
                                  </p:stCondLst>
                                  <p:childTnLst>
                                    <p:set>
                                      <p:cBhvr>
                                        <p:cTn id="45" dur="1" fill="hold">
                                          <p:stCondLst>
                                            <p:cond delay="0"/>
                                          </p:stCondLst>
                                        </p:cTn>
                                        <p:tgtEl>
                                          <p:spTgt spid="4"/>
                                        </p:tgtEl>
                                        <p:attrNameLst>
                                          <p:attrName>style.visibility</p:attrName>
                                        </p:attrNameLst>
                                      </p:cBhvr>
                                      <p:to>
                                        <p:strVal val="hidden"/>
                                      </p:to>
                                    </p:set>
                                  </p:childTnLst>
                                </p:cTn>
                              </p:par>
                              <p:par>
                                <p:cTn id="46" presetID="1" presetClass="exit" presetSubtype="0" fill="hold" nodeType="withEffect">
                                  <p:stCondLst>
                                    <p:cond delay="0"/>
                                  </p:stCondLst>
                                  <p:childTnLst>
                                    <p:set>
                                      <p:cBhvr>
                                        <p:cTn id="47" dur="1" fill="hold">
                                          <p:stCondLst>
                                            <p:cond delay="0"/>
                                          </p:stCondLst>
                                        </p:cTn>
                                        <p:tgtEl>
                                          <p:spTgt spid="7"/>
                                        </p:tgtEl>
                                        <p:attrNameLst>
                                          <p:attrName>style.visibility</p:attrName>
                                        </p:attrNameLst>
                                      </p:cBhvr>
                                      <p:to>
                                        <p:strVal val="hidden"/>
                                      </p:to>
                                    </p:set>
                                  </p:childTnLst>
                                </p:cTn>
                              </p:par>
                              <p:par>
                                <p:cTn id="48" presetID="1" presetClass="exit" presetSubtype="0" fill="hold" nodeType="withEffect">
                                  <p:stCondLst>
                                    <p:cond delay="0"/>
                                  </p:stCondLst>
                                  <p:childTnLst>
                                    <p:set>
                                      <p:cBhvr>
                                        <p:cTn id="49" dur="1" fill="hold">
                                          <p:stCondLst>
                                            <p:cond delay="0"/>
                                          </p:stCondLst>
                                        </p:cTn>
                                        <p:tgtEl>
                                          <p:spTgt spid="14"/>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85"/>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86"/>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87"/>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88"/>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89"/>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clickEffect">
                                  <p:stCondLst>
                                    <p:cond delay="0"/>
                                  </p:stCondLst>
                                  <p:childTnLst>
                                    <p:set>
                                      <p:cBhvr>
                                        <p:cTn id="73" dur="1" fill="hold">
                                          <p:stCondLst>
                                            <p:cond delay="0"/>
                                          </p:stCondLst>
                                        </p:cTn>
                                        <p:tgtEl>
                                          <p:spTgt spid="11"/>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33"/>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43"/>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42"/>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34"/>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36"/>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90"/>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91"/>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92"/>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93"/>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94"/>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nodeType="clickEffect">
                                  <p:stCondLst>
                                    <p:cond delay="0"/>
                                  </p:stCondLst>
                                  <p:childTnLst>
                                    <p:set>
                                      <p:cBhvr>
                                        <p:cTn id="107" dur="1" fill="hold">
                                          <p:stCondLst>
                                            <p:cond delay="0"/>
                                          </p:stCondLst>
                                        </p:cTn>
                                        <p:tgtEl>
                                          <p:spTgt spid="12"/>
                                        </p:tgtEl>
                                        <p:attrNameLst>
                                          <p:attrName>style.visibility</p:attrName>
                                        </p:attrNameLst>
                                      </p:cBhvr>
                                      <p:to>
                                        <p:strVal val="visible"/>
                                      </p:to>
                                    </p:set>
                                  </p:childTnLst>
                                </p:cTn>
                              </p:par>
                              <p:par>
                                <p:cTn id="108" presetID="1" presetClass="entr" presetSubtype="0" fill="hold" grpId="0" nodeType="withEffect">
                                  <p:stCondLst>
                                    <p:cond delay="0"/>
                                  </p:stCondLst>
                                  <p:childTnLst>
                                    <p:set>
                                      <p:cBhvr>
                                        <p:cTn id="109" dur="1" fill="hold">
                                          <p:stCondLst>
                                            <p:cond delay="0"/>
                                          </p:stCondLst>
                                        </p:cTn>
                                        <p:tgtEl>
                                          <p:spTgt spid="44"/>
                                        </p:tgtEl>
                                        <p:attrNameLst>
                                          <p:attrName>style.visibility</p:attrName>
                                        </p:attrNameLst>
                                      </p:cBhvr>
                                      <p:to>
                                        <p:strVal val="visible"/>
                                      </p:to>
                                    </p:set>
                                  </p:childTnLst>
                                </p:cTn>
                              </p:par>
                              <p:par>
                                <p:cTn id="110" presetID="1" presetClass="entr" presetSubtype="0" fill="hold" grpId="0" nodeType="withEffect">
                                  <p:stCondLst>
                                    <p:cond delay="0"/>
                                  </p:stCondLst>
                                  <p:childTnLst>
                                    <p:set>
                                      <p:cBhvr>
                                        <p:cTn id="111" dur="1" fill="hold">
                                          <p:stCondLst>
                                            <p:cond delay="0"/>
                                          </p:stCondLst>
                                        </p:cTn>
                                        <p:tgtEl>
                                          <p:spTgt spid="46"/>
                                        </p:tgtEl>
                                        <p:attrNameLst>
                                          <p:attrName>style.visibility</p:attrName>
                                        </p:attrNameLst>
                                      </p:cBhvr>
                                      <p:to>
                                        <p:strVal val="visible"/>
                                      </p:to>
                                    </p:set>
                                  </p:childTnLst>
                                </p:cTn>
                              </p:par>
                              <p:par>
                                <p:cTn id="112" presetID="1" presetClass="entr" presetSubtype="0" fill="hold" grpId="0" nodeType="withEffect">
                                  <p:stCondLst>
                                    <p:cond delay="0"/>
                                  </p:stCondLst>
                                  <p:childTnLst>
                                    <p:set>
                                      <p:cBhvr>
                                        <p:cTn id="113" dur="1" fill="hold">
                                          <p:stCondLst>
                                            <p:cond delay="0"/>
                                          </p:stCondLst>
                                        </p:cTn>
                                        <p:tgtEl>
                                          <p:spTgt spid="45"/>
                                        </p:tgtEl>
                                        <p:attrNameLst>
                                          <p:attrName>style.visibility</p:attrName>
                                        </p:attrNameLst>
                                      </p:cBhvr>
                                      <p:to>
                                        <p:strVal val="visible"/>
                                      </p:to>
                                    </p:set>
                                  </p:childTnLst>
                                </p:cTn>
                              </p:par>
                              <p:par>
                                <p:cTn id="114" presetID="1" presetClass="entr" presetSubtype="0" fill="hold" grpId="0" nodeType="withEffect">
                                  <p:stCondLst>
                                    <p:cond delay="0"/>
                                  </p:stCondLst>
                                  <p:childTnLst>
                                    <p:set>
                                      <p:cBhvr>
                                        <p:cTn id="115" dur="1" fill="hold">
                                          <p:stCondLst>
                                            <p:cond delay="0"/>
                                          </p:stCondLst>
                                        </p:cTn>
                                        <p:tgtEl>
                                          <p:spTgt spid="47"/>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82"/>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0"/>
                                          </p:stCondLst>
                                        </p:cTn>
                                        <p:tgtEl>
                                          <p:spTgt spid="84"/>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1" presetClass="entr" presetSubtype="0" fill="hold" grpId="0" nodeType="clickEffect">
                                  <p:stCondLst>
                                    <p:cond delay="0"/>
                                  </p:stCondLst>
                                  <p:childTnLst>
                                    <p:set>
                                      <p:cBhvr>
                                        <p:cTn id="127" dur="1" fill="hold">
                                          <p:stCondLst>
                                            <p:cond delay="0"/>
                                          </p:stCondLst>
                                        </p:cTn>
                                        <p:tgtEl>
                                          <p:spTgt spid="95"/>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1" presetClass="entr" presetSubtype="0" fill="hold" grpId="0" nodeType="clickEffect">
                                  <p:stCondLst>
                                    <p:cond delay="0"/>
                                  </p:stCondLst>
                                  <p:childTnLst>
                                    <p:set>
                                      <p:cBhvr>
                                        <p:cTn id="131" dur="1" fill="hold">
                                          <p:stCondLst>
                                            <p:cond delay="0"/>
                                          </p:stCondLst>
                                        </p:cTn>
                                        <p:tgtEl>
                                          <p:spTgt spid="96"/>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presetID="1" presetClass="entr" presetSubtype="0" fill="hold" nodeType="clickEffect">
                                  <p:stCondLst>
                                    <p:cond delay="0"/>
                                  </p:stCondLst>
                                  <p:childTnLst>
                                    <p:set>
                                      <p:cBhvr>
                                        <p:cTn id="135" dur="1" fill="hold">
                                          <p:stCondLst>
                                            <p:cond delay="0"/>
                                          </p:stCondLst>
                                        </p:cTn>
                                        <p:tgtEl>
                                          <p:spTgt spid="52"/>
                                        </p:tgtEl>
                                        <p:attrNameLst>
                                          <p:attrName>style.visibility</p:attrName>
                                        </p:attrNameLst>
                                      </p:cBhvr>
                                      <p:to>
                                        <p:strVal val="visible"/>
                                      </p:to>
                                    </p:set>
                                  </p:childTnLst>
                                </p:cTn>
                              </p:par>
                              <p:par>
                                <p:cTn id="136" presetID="1" presetClass="entr" presetSubtype="0" fill="hold" grpId="0" nodeType="withEffect">
                                  <p:stCondLst>
                                    <p:cond delay="0"/>
                                  </p:stCondLst>
                                  <p:childTnLst>
                                    <p:set>
                                      <p:cBhvr>
                                        <p:cTn id="137" dur="1" fill="hold">
                                          <p:stCondLst>
                                            <p:cond delay="0"/>
                                          </p:stCondLst>
                                        </p:cTn>
                                        <p:tgtEl>
                                          <p:spTgt spid="56"/>
                                        </p:tgtEl>
                                        <p:attrNameLst>
                                          <p:attrName>style.visibility</p:attrName>
                                        </p:attrNameLst>
                                      </p:cBhvr>
                                      <p:to>
                                        <p:strVal val="visible"/>
                                      </p:to>
                                    </p:set>
                                  </p:childTnLst>
                                </p:cTn>
                              </p:par>
                              <p:par>
                                <p:cTn id="138" presetID="1" presetClass="entr" presetSubtype="0" fill="hold" grpId="0" nodeType="withEffect">
                                  <p:stCondLst>
                                    <p:cond delay="0"/>
                                  </p:stCondLst>
                                  <p:childTnLst>
                                    <p:set>
                                      <p:cBhvr>
                                        <p:cTn id="139" dur="1" fill="hold">
                                          <p:stCondLst>
                                            <p:cond delay="0"/>
                                          </p:stCondLst>
                                        </p:cTn>
                                        <p:tgtEl>
                                          <p:spTgt spid="77"/>
                                        </p:tgtEl>
                                        <p:attrNameLst>
                                          <p:attrName>style.visibility</p:attrName>
                                        </p:attrNameLst>
                                      </p:cBhvr>
                                      <p:to>
                                        <p:strVal val="visible"/>
                                      </p:to>
                                    </p:set>
                                  </p:childTnLst>
                                </p:cTn>
                              </p:par>
                              <p:par>
                                <p:cTn id="140" presetID="1" presetClass="entr" presetSubtype="0" fill="hold" grpId="0" nodeType="withEffect">
                                  <p:stCondLst>
                                    <p:cond delay="0"/>
                                  </p:stCondLst>
                                  <p:childTnLst>
                                    <p:set>
                                      <p:cBhvr>
                                        <p:cTn id="141" dur="1" fill="hold">
                                          <p:stCondLst>
                                            <p:cond delay="0"/>
                                          </p:stCondLst>
                                        </p:cTn>
                                        <p:tgtEl>
                                          <p:spTgt spid="78"/>
                                        </p:tgtEl>
                                        <p:attrNameLst>
                                          <p:attrName>style.visibility</p:attrName>
                                        </p:attrNameLst>
                                      </p:cBhvr>
                                      <p:to>
                                        <p:strVal val="visible"/>
                                      </p:to>
                                    </p:set>
                                  </p:childTnLst>
                                </p:cTn>
                              </p:par>
                            </p:childTnLst>
                          </p:cTn>
                        </p:par>
                      </p:childTnLst>
                    </p:cTn>
                  </p:par>
                  <p:par>
                    <p:cTn id="142" fill="hold">
                      <p:stCondLst>
                        <p:cond delay="indefinite"/>
                      </p:stCondLst>
                      <p:childTnLst>
                        <p:par>
                          <p:cTn id="143" fill="hold">
                            <p:stCondLst>
                              <p:cond delay="0"/>
                            </p:stCondLst>
                            <p:childTnLst>
                              <p:par>
                                <p:cTn id="144" presetID="1" presetClass="entr" presetSubtype="0" fill="hold" grpId="0" nodeType="clickEffect">
                                  <p:stCondLst>
                                    <p:cond delay="0"/>
                                  </p:stCondLst>
                                  <p:childTnLst>
                                    <p:set>
                                      <p:cBhvr>
                                        <p:cTn id="145" dur="1" fill="hold">
                                          <p:stCondLst>
                                            <p:cond delay="0"/>
                                          </p:stCondLst>
                                        </p:cTn>
                                        <p:tgtEl>
                                          <p:spTgt spid="98"/>
                                        </p:tgtEl>
                                        <p:attrNameLst>
                                          <p:attrName>style.visibility</p:attrName>
                                        </p:attrNameLst>
                                      </p:cBhvr>
                                      <p:to>
                                        <p:strVal val="visible"/>
                                      </p:to>
                                    </p:set>
                                  </p:childTnLst>
                                </p:cTn>
                              </p:par>
                            </p:childTnLst>
                          </p:cTn>
                        </p:par>
                      </p:childTnLst>
                    </p:cTn>
                  </p:par>
                  <p:par>
                    <p:cTn id="146" fill="hold">
                      <p:stCondLst>
                        <p:cond delay="indefinite"/>
                      </p:stCondLst>
                      <p:childTnLst>
                        <p:par>
                          <p:cTn id="147" fill="hold">
                            <p:stCondLst>
                              <p:cond delay="0"/>
                            </p:stCondLst>
                            <p:childTnLst>
                              <p:par>
                                <p:cTn id="148" presetID="1" presetClass="entr" presetSubtype="0" fill="hold" grpId="0" nodeType="clickEffect">
                                  <p:stCondLst>
                                    <p:cond delay="0"/>
                                  </p:stCondLst>
                                  <p:childTnLst>
                                    <p:set>
                                      <p:cBhvr>
                                        <p:cTn id="149" dur="1" fill="hold">
                                          <p:stCondLst>
                                            <p:cond delay="0"/>
                                          </p:stCondLst>
                                        </p:cTn>
                                        <p:tgtEl>
                                          <p:spTgt spid="99"/>
                                        </p:tgtEl>
                                        <p:attrNameLst>
                                          <p:attrName>style.visibility</p:attrName>
                                        </p:attrNameLst>
                                      </p:cBhvr>
                                      <p:to>
                                        <p:strVal val="visible"/>
                                      </p:to>
                                    </p:set>
                                  </p:childTnLst>
                                </p:cTn>
                              </p:par>
                            </p:childTnLst>
                          </p:cTn>
                        </p:par>
                      </p:childTnLst>
                    </p:cTn>
                  </p:par>
                  <p:par>
                    <p:cTn id="150" fill="hold">
                      <p:stCondLst>
                        <p:cond delay="indefinite"/>
                      </p:stCondLst>
                      <p:childTnLst>
                        <p:par>
                          <p:cTn id="151" fill="hold">
                            <p:stCondLst>
                              <p:cond delay="0"/>
                            </p:stCondLst>
                            <p:childTnLst>
                              <p:par>
                                <p:cTn id="152" presetID="1" presetClass="entr" presetSubtype="0" fill="hold" grpId="0" nodeType="clickEffect">
                                  <p:stCondLst>
                                    <p:cond delay="0"/>
                                  </p:stCondLst>
                                  <p:childTnLst>
                                    <p:set>
                                      <p:cBhvr>
                                        <p:cTn id="153" dur="1" fill="hold">
                                          <p:stCondLst>
                                            <p:cond delay="0"/>
                                          </p:stCondLst>
                                        </p:cTn>
                                        <p:tgtEl>
                                          <p:spTgt spid="100"/>
                                        </p:tgtEl>
                                        <p:attrNameLst>
                                          <p:attrName>style.visibility</p:attrName>
                                        </p:attrNameLst>
                                      </p:cBhvr>
                                      <p:to>
                                        <p:strVal val="visible"/>
                                      </p:to>
                                    </p:set>
                                  </p:childTnLst>
                                </p:cTn>
                              </p:par>
                            </p:childTnLst>
                          </p:cTn>
                        </p:par>
                      </p:childTnLst>
                    </p:cTn>
                  </p:par>
                  <p:par>
                    <p:cTn id="154" fill="hold">
                      <p:stCondLst>
                        <p:cond delay="indefinite"/>
                      </p:stCondLst>
                      <p:childTnLst>
                        <p:par>
                          <p:cTn id="155" fill="hold">
                            <p:stCondLst>
                              <p:cond delay="0"/>
                            </p:stCondLst>
                            <p:childTnLst>
                              <p:par>
                                <p:cTn id="156" presetID="1" presetClass="entr" presetSubtype="0" fill="hold" nodeType="clickEffect">
                                  <p:stCondLst>
                                    <p:cond delay="0"/>
                                  </p:stCondLst>
                                  <p:childTnLst>
                                    <p:set>
                                      <p:cBhvr>
                                        <p:cTn id="157" dur="1" fill="hold">
                                          <p:stCondLst>
                                            <p:cond delay="0"/>
                                          </p:stCondLst>
                                        </p:cTn>
                                        <p:tgtEl>
                                          <p:spTgt spid="53"/>
                                        </p:tgtEl>
                                        <p:attrNameLst>
                                          <p:attrName>style.visibility</p:attrName>
                                        </p:attrNameLst>
                                      </p:cBhvr>
                                      <p:to>
                                        <p:strVal val="visible"/>
                                      </p:to>
                                    </p:set>
                                  </p:childTnLst>
                                </p:cTn>
                              </p:par>
                              <p:par>
                                <p:cTn id="158" presetID="1" presetClass="entr" presetSubtype="0" fill="hold" grpId="0" nodeType="withEffect">
                                  <p:stCondLst>
                                    <p:cond delay="0"/>
                                  </p:stCondLst>
                                  <p:childTnLst>
                                    <p:set>
                                      <p:cBhvr>
                                        <p:cTn id="159" dur="1" fill="hold">
                                          <p:stCondLst>
                                            <p:cond delay="0"/>
                                          </p:stCondLst>
                                        </p:cTn>
                                        <p:tgtEl>
                                          <p:spTgt spid="80"/>
                                        </p:tgtEl>
                                        <p:attrNameLst>
                                          <p:attrName>style.visibility</p:attrName>
                                        </p:attrNameLst>
                                      </p:cBhvr>
                                      <p:to>
                                        <p:strVal val="visible"/>
                                      </p:to>
                                    </p:set>
                                  </p:childTnLst>
                                </p:cTn>
                              </p:par>
                              <p:par>
                                <p:cTn id="160" presetID="1" presetClass="entr" presetSubtype="0" fill="hold" grpId="0" nodeType="withEffect">
                                  <p:stCondLst>
                                    <p:cond delay="0"/>
                                  </p:stCondLst>
                                  <p:childTnLst>
                                    <p:set>
                                      <p:cBhvr>
                                        <p:cTn id="161" dur="1" fill="hold">
                                          <p:stCondLst>
                                            <p:cond delay="0"/>
                                          </p:stCondLst>
                                        </p:cTn>
                                        <p:tgtEl>
                                          <p:spTgt spid="79"/>
                                        </p:tgtEl>
                                        <p:attrNameLst>
                                          <p:attrName>style.visibility</p:attrName>
                                        </p:attrNameLst>
                                      </p:cBhvr>
                                      <p:to>
                                        <p:strVal val="visible"/>
                                      </p:to>
                                    </p:set>
                                  </p:childTnLst>
                                </p:cTn>
                              </p:par>
                            </p:childTnLst>
                          </p:cTn>
                        </p:par>
                      </p:childTnLst>
                    </p:cTn>
                  </p:par>
                  <p:par>
                    <p:cTn id="162" fill="hold">
                      <p:stCondLst>
                        <p:cond delay="indefinite"/>
                      </p:stCondLst>
                      <p:childTnLst>
                        <p:par>
                          <p:cTn id="163" fill="hold">
                            <p:stCondLst>
                              <p:cond delay="0"/>
                            </p:stCondLst>
                            <p:childTnLst>
                              <p:par>
                                <p:cTn id="164" presetID="1" presetClass="entr" presetSubtype="0" fill="hold" grpId="0" nodeType="clickEffect">
                                  <p:stCondLst>
                                    <p:cond delay="0"/>
                                  </p:stCondLst>
                                  <p:childTnLst>
                                    <p:set>
                                      <p:cBhvr>
                                        <p:cTn id="165" dur="1" fill="hold">
                                          <p:stCondLst>
                                            <p:cond delay="0"/>
                                          </p:stCondLst>
                                        </p:cTn>
                                        <p:tgtEl>
                                          <p:spTgt spid="101"/>
                                        </p:tgtEl>
                                        <p:attrNameLst>
                                          <p:attrName>style.visibility</p:attrName>
                                        </p:attrNameLst>
                                      </p:cBhvr>
                                      <p:to>
                                        <p:strVal val="visible"/>
                                      </p:to>
                                    </p:set>
                                  </p:childTnLst>
                                </p:cTn>
                              </p:par>
                            </p:childTnLst>
                          </p:cTn>
                        </p:par>
                      </p:childTnLst>
                    </p:cTn>
                  </p:par>
                  <p:par>
                    <p:cTn id="166" fill="hold">
                      <p:stCondLst>
                        <p:cond delay="indefinite"/>
                      </p:stCondLst>
                      <p:childTnLst>
                        <p:par>
                          <p:cTn id="167" fill="hold">
                            <p:stCondLst>
                              <p:cond delay="0"/>
                            </p:stCondLst>
                            <p:childTnLst>
                              <p:par>
                                <p:cTn id="168" presetID="1" presetClass="entr" presetSubtype="0" fill="hold" grpId="0" nodeType="clickEffect">
                                  <p:stCondLst>
                                    <p:cond delay="0"/>
                                  </p:stCondLst>
                                  <p:childTnLst>
                                    <p:set>
                                      <p:cBhvr>
                                        <p:cTn id="169" dur="1" fill="hold">
                                          <p:stCondLst>
                                            <p:cond delay="0"/>
                                          </p:stCondLst>
                                        </p:cTn>
                                        <p:tgtEl>
                                          <p:spTgt spid="102"/>
                                        </p:tgtEl>
                                        <p:attrNameLst>
                                          <p:attrName>style.visibility</p:attrName>
                                        </p:attrNameLst>
                                      </p:cBhvr>
                                      <p:to>
                                        <p:strVal val="visible"/>
                                      </p:to>
                                    </p:set>
                                  </p:childTnLst>
                                </p:cTn>
                              </p:par>
                            </p:childTnLst>
                          </p:cTn>
                        </p:par>
                      </p:childTnLst>
                    </p:cTn>
                  </p:par>
                  <p:par>
                    <p:cTn id="170" fill="hold">
                      <p:stCondLst>
                        <p:cond delay="indefinite"/>
                      </p:stCondLst>
                      <p:childTnLst>
                        <p:par>
                          <p:cTn id="171" fill="hold">
                            <p:stCondLst>
                              <p:cond delay="0"/>
                            </p:stCondLst>
                            <p:childTnLst>
                              <p:par>
                                <p:cTn id="172" presetID="1" presetClass="entr" presetSubtype="0" fill="hold" nodeType="clickEffect">
                                  <p:stCondLst>
                                    <p:cond delay="0"/>
                                  </p:stCondLst>
                                  <p:childTnLst>
                                    <p:set>
                                      <p:cBhvr>
                                        <p:cTn id="173" dur="1" fill="hold">
                                          <p:stCondLst>
                                            <p:cond delay="0"/>
                                          </p:stCondLst>
                                        </p:cTn>
                                        <p:tgtEl>
                                          <p:spTgt spid="54"/>
                                        </p:tgtEl>
                                        <p:attrNameLst>
                                          <p:attrName>style.visibility</p:attrName>
                                        </p:attrNameLst>
                                      </p:cBhvr>
                                      <p:to>
                                        <p:strVal val="visible"/>
                                      </p:to>
                                    </p:set>
                                  </p:childTnLst>
                                </p:cTn>
                              </p:par>
                              <p:par>
                                <p:cTn id="174" presetID="1" presetClass="entr" presetSubtype="0" fill="hold" grpId="0" nodeType="withEffect">
                                  <p:stCondLst>
                                    <p:cond delay="0"/>
                                  </p:stCondLst>
                                  <p:childTnLst>
                                    <p:set>
                                      <p:cBhvr>
                                        <p:cTn id="175" dur="1" fill="hold">
                                          <p:stCondLst>
                                            <p:cond delay="0"/>
                                          </p:stCondLst>
                                        </p:cTn>
                                        <p:tgtEl>
                                          <p:spTgt spid="81"/>
                                        </p:tgtEl>
                                        <p:attrNameLst>
                                          <p:attrName>style.visibility</p:attrName>
                                        </p:attrNameLst>
                                      </p:cBhvr>
                                      <p:to>
                                        <p:strVal val="visible"/>
                                      </p:to>
                                    </p:set>
                                  </p:childTnLst>
                                </p:cTn>
                              </p:par>
                            </p:childTnLst>
                          </p:cTn>
                        </p:par>
                      </p:childTnLst>
                    </p:cTn>
                  </p:par>
                  <p:par>
                    <p:cTn id="176" fill="hold">
                      <p:stCondLst>
                        <p:cond delay="indefinite"/>
                      </p:stCondLst>
                      <p:childTnLst>
                        <p:par>
                          <p:cTn id="177" fill="hold">
                            <p:stCondLst>
                              <p:cond delay="0"/>
                            </p:stCondLst>
                            <p:childTnLst>
                              <p:par>
                                <p:cTn id="178" presetID="1" presetClass="entr" presetSubtype="0" fill="hold" grpId="0" nodeType="clickEffect">
                                  <p:stCondLst>
                                    <p:cond delay="0"/>
                                  </p:stCondLst>
                                  <p:childTnLst>
                                    <p:set>
                                      <p:cBhvr>
                                        <p:cTn id="179" dur="1" fill="hold">
                                          <p:stCondLst>
                                            <p:cond delay="0"/>
                                          </p:stCondLst>
                                        </p:cTn>
                                        <p:tgtEl>
                                          <p:spTgt spid="1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3" grpId="0"/>
      <p:bldP spid="34" grpId="0"/>
      <p:bldP spid="36" grpId="0"/>
      <p:bldP spid="37" grpId="0"/>
      <p:bldP spid="38" grpId="0"/>
      <p:bldP spid="39" grpId="0"/>
      <p:bldP spid="40" grpId="0"/>
      <p:bldP spid="41" grpId="0"/>
      <p:bldP spid="42" grpId="0"/>
      <p:bldP spid="43" grpId="0"/>
      <p:bldP spid="44" grpId="0"/>
      <p:bldP spid="45" grpId="0"/>
      <p:bldP spid="46" grpId="0"/>
      <p:bldP spid="47" grpId="0"/>
      <p:bldP spid="56" grpId="0"/>
      <p:bldP spid="77" grpId="0"/>
      <p:bldP spid="78" grpId="0"/>
      <p:bldP spid="79" grpId="0"/>
      <p:bldP spid="80" grpId="0"/>
      <p:bldP spid="81" grpId="0"/>
      <p:bldP spid="83" grpId="0"/>
      <p:bldP spid="85" grpId="0"/>
      <p:bldP spid="86" grpId="0"/>
      <p:bldP spid="87" grpId="0"/>
      <p:bldP spid="88" grpId="0"/>
      <p:bldP spid="89" grpId="0"/>
      <p:bldP spid="90" grpId="0"/>
      <p:bldP spid="91" grpId="0"/>
      <p:bldP spid="92" grpId="0"/>
      <p:bldP spid="93" grpId="0"/>
      <p:bldP spid="94" grpId="0"/>
      <p:bldP spid="82" grpId="0"/>
      <p:bldP spid="84" grpId="0"/>
      <p:bldP spid="95" grpId="0"/>
      <p:bldP spid="96" grpId="0"/>
      <p:bldP spid="98" grpId="0"/>
      <p:bldP spid="99" grpId="0"/>
      <p:bldP spid="100" grpId="0"/>
      <p:bldP spid="101" grpId="0"/>
      <p:bldP spid="102" grpId="0"/>
      <p:bldP spid="10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2B89E-B2F2-6ADB-91BD-87AECFEAC79E}"/>
            </a:ext>
          </a:extLst>
        </p:cNvPr>
        <p:cNvGrpSpPr/>
        <p:nvPr/>
      </p:nvGrpSpPr>
      <p:grpSpPr>
        <a:xfrm>
          <a:off x="0" y="0"/>
          <a:ext cx="0" cy="0"/>
          <a:chOff x="0" y="0"/>
          <a:chExt cx="0" cy="0"/>
        </a:xfrm>
      </p:grpSpPr>
      <p:sp>
        <p:nvSpPr>
          <p:cNvPr id="19" name="Content Placeholder 2">
            <a:extLst>
              <a:ext uri="{FF2B5EF4-FFF2-40B4-BE49-F238E27FC236}">
                <a16:creationId xmlns:a16="http://schemas.microsoft.com/office/drawing/2014/main" id="{C2DCD2BF-FE68-BBCD-EADD-AF53EF45FB4B}"/>
              </a:ext>
            </a:extLst>
          </p:cNvPr>
          <p:cNvSpPr txBox="1">
            <a:spLocks/>
          </p:cNvSpPr>
          <p:nvPr/>
        </p:nvSpPr>
        <p:spPr>
          <a:xfrm>
            <a:off x="131176" y="867840"/>
            <a:ext cx="11929645" cy="926308"/>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For following tree find the distance between two vertices, Eccentricity, Radius, Diameter, Center.</a:t>
            </a:r>
          </a:p>
        </p:txBody>
      </p:sp>
      <p:sp>
        <p:nvSpPr>
          <p:cNvPr id="9" name="Title 1">
            <a:extLst>
              <a:ext uri="{FF2B5EF4-FFF2-40B4-BE49-F238E27FC236}">
                <a16:creationId xmlns:a16="http://schemas.microsoft.com/office/drawing/2014/main" id="{AFB42197-183A-F74E-BF2C-AC3F22B56560}"/>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2 ⇝ Example 3</a:t>
            </a:r>
            <a:endParaRPr lang="en-US" dirty="0"/>
          </a:p>
        </p:txBody>
      </p:sp>
      <p:sp>
        <p:nvSpPr>
          <p:cNvPr id="35" name="Content Placeholder 2">
            <a:extLst>
              <a:ext uri="{FF2B5EF4-FFF2-40B4-BE49-F238E27FC236}">
                <a16:creationId xmlns:a16="http://schemas.microsoft.com/office/drawing/2014/main" id="{20EE1169-2875-CB9D-D45C-FB434D98BC7D}"/>
              </a:ext>
            </a:extLst>
          </p:cNvPr>
          <p:cNvSpPr txBox="1">
            <a:spLocks/>
          </p:cNvSpPr>
          <p:nvPr/>
        </p:nvSpPr>
        <p:spPr>
          <a:xfrm>
            <a:off x="131176" y="1840299"/>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graphicFrame>
        <p:nvGraphicFramePr>
          <p:cNvPr id="6" name="Table 5">
            <a:extLst>
              <a:ext uri="{FF2B5EF4-FFF2-40B4-BE49-F238E27FC236}">
                <a16:creationId xmlns:a16="http://schemas.microsoft.com/office/drawing/2014/main" id="{7FCA188E-FEF6-8325-3412-B05CE96CAAA2}"/>
              </a:ext>
            </a:extLst>
          </p:cNvPr>
          <p:cNvGraphicFramePr>
            <a:graphicFrameLocks noGrp="1"/>
          </p:cNvGraphicFramePr>
          <p:nvPr/>
        </p:nvGraphicFramePr>
        <p:xfrm>
          <a:off x="124952" y="2438353"/>
          <a:ext cx="9720000" cy="565714"/>
        </p:xfrm>
        <a:graphic>
          <a:graphicData uri="http://schemas.openxmlformats.org/drawingml/2006/table">
            <a:tbl>
              <a:tblPr firstRow="1" bandRow="1">
                <a:tableStyleId>{5C22544A-7EE6-4342-B048-85BDC9FD1C3A}</a:tableStyleId>
              </a:tblPr>
              <a:tblGrid>
                <a:gridCol w="1620000">
                  <a:extLst>
                    <a:ext uri="{9D8B030D-6E8A-4147-A177-3AD203B41FA5}">
                      <a16:colId xmlns:a16="http://schemas.microsoft.com/office/drawing/2014/main" val="2573274369"/>
                    </a:ext>
                  </a:extLst>
                </a:gridCol>
                <a:gridCol w="1620000">
                  <a:extLst>
                    <a:ext uri="{9D8B030D-6E8A-4147-A177-3AD203B41FA5}">
                      <a16:colId xmlns:a16="http://schemas.microsoft.com/office/drawing/2014/main" val="4051045428"/>
                    </a:ext>
                  </a:extLst>
                </a:gridCol>
                <a:gridCol w="1620000">
                  <a:extLst>
                    <a:ext uri="{9D8B030D-6E8A-4147-A177-3AD203B41FA5}">
                      <a16:colId xmlns:a16="http://schemas.microsoft.com/office/drawing/2014/main" val="1541333607"/>
                    </a:ext>
                  </a:extLst>
                </a:gridCol>
                <a:gridCol w="1620000">
                  <a:extLst>
                    <a:ext uri="{9D8B030D-6E8A-4147-A177-3AD203B41FA5}">
                      <a16:colId xmlns:a16="http://schemas.microsoft.com/office/drawing/2014/main" val="535765769"/>
                    </a:ext>
                  </a:extLst>
                </a:gridCol>
                <a:gridCol w="1620000">
                  <a:extLst>
                    <a:ext uri="{9D8B030D-6E8A-4147-A177-3AD203B41FA5}">
                      <a16:colId xmlns:a16="http://schemas.microsoft.com/office/drawing/2014/main" val="3481627474"/>
                    </a:ext>
                  </a:extLst>
                </a:gridCol>
                <a:gridCol w="1620000">
                  <a:extLst>
                    <a:ext uri="{9D8B030D-6E8A-4147-A177-3AD203B41FA5}">
                      <a16:colId xmlns:a16="http://schemas.microsoft.com/office/drawing/2014/main" val="676072984"/>
                    </a:ext>
                  </a:extLst>
                </a:gridCol>
              </a:tblGrid>
              <a:tr h="565714">
                <a:tc>
                  <a:txBody>
                    <a:bodyPr/>
                    <a:lstStyle/>
                    <a:p>
                      <a:endParaRPr lang="en-IN" sz="2400" dirty="0"/>
                    </a:p>
                  </a:txBody>
                  <a:tcPr anchor="ctr">
                    <a:solidFill>
                      <a:schemeClr val="accent1">
                        <a:lumMod val="20000"/>
                        <a:lumOff val="80000"/>
                      </a:schemeClr>
                    </a:solidFill>
                  </a:tcPr>
                </a:tc>
                <a:tc>
                  <a:txBody>
                    <a:bodyPr/>
                    <a:lstStyle/>
                    <a:p>
                      <a:endParaRPr lang="en-IN" dirty="0"/>
                    </a:p>
                  </a:txBody>
                  <a:tcPr>
                    <a:solidFill>
                      <a:schemeClr val="accent1">
                        <a:lumMod val="20000"/>
                        <a:lumOff val="80000"/>
                      </a:schemeClr>
                    </a:solidFill>
                  </a:tcPr>
                </a:tc>
                <a:tc>
                  <a:txBody>
                    <a:bodyPr/>
                    <a:lstStyle/>
                    <a:p>
                      <a:endParaRPr lang="en-IN" dirty="0"/>
                    </a:p>
                  </a:txBody>
                  <a:tcPr>
                    <a:solidFill>
                      <a:schemeClr val="accent1">
                        <a:lumMod val="20000"/>
                        <a:lumOff val="80000"/>
                      </a:schemeClr>
                    </a:solidFill>
                  </a:tcPr>
                </a:tc>
                <a:tc>
                  <a:txBody>
                    <a:bodyPr/>
                    <a:lstStyle/>
                    <a:p>
                      <a:endParaRPr lang="en-IN" dirty="0"/>
                    </a:p>
                  </a:txBody>
                  <a:tcPr>
                    <a:solidFill>
                      <a:schemeClr val="accent1">
                        <a:lumMod val="20000"/>
                        <a:lumOff val="80000"/>
                      </a:schemeClr>
                    </a:solidFill>
                  </a:tcPr>
                </a:tc>
                <a:tc>
                  <a:txBody>
                    <a:bodyPr/>
                    <a:lstStyle/>
                    <a:p>
                      <a:endParaRPr lang="en-IN" dirty="0"/>
                    </a:p>
                  </a:txBody>
                  <a:tcPr>
                    <a:solidFill>
                      <a:schemeClr val="accent1">
                        <a:lumMod val="20000"/>
                        <a:lumOff val="80000"/>
                      </a:schemeClr>
                    </a:solidFill>
                  </a:tcPr>
                </a:tc>
                <a:tc>
                  <a:txBody>
                    <a:bodyPr/>
                    <a:lstStyle/>
                    <a:p>
                      <a:endParaRPr lang="en-IN" dirty="0"/>
                    </a:p>
                  </a:txBody>
                  <a:tcPr>
                    <a:solidFill>
                      <a:schemeClr val="accent1">
                        <a:lumMod val="20000"/>
                        <a:lumOff val="80000"/>
                      </a:schemeClr>
                    </a:solidFill>
                  </a:tcPr>
                </a:tc>
                <a:extLst>
                  <a:ext uri="{0D108BD9-81ED-4DB2-BD59-A6C34878D82A}">
                    <a16:rowId xmlns:a16="http://schemas.microsoft.com/office/drawing/2014/main" val="4219683138"/>
                  </a:ext>
                </a:extLst>
              </a:tr>
            </a:tbl>
          </a:graphicData>
        </a:graphic>
      </p:graphicFrame>
      <p:graphicFrame>
        <p:nvGraphicFramePr>
          <p:cNvPr id="11" name="Table 10">
            <a:extLst>
              <a:ext uri="{FF2B5EF4-FFF2-40B4-BE49-F238E27FC236}">
                <a16:creationId xmlns:a16="http://schemas.microsoft.com/office/drawing/2014/main" id="{4126BF0A-D280-D3AE-9E45-40E36C7EB982}"/>
              </a:ext>
            </a:extLst>
          </p:cNvPr>
          <p:cNvGraphicFramePr>
            <a:graphicFrameLocks noGrp="1"/>
          </p:cNvGraphicFramePr>
          <p:nvPr/>
        </p:nvGraphicFramePr>
        <p:xfrm>
          <a:off x="124951" y="3085108"/>
          <a:ext cx="8100000" cy="565714"/>
        </p:xfrm>
        <a:graphic>
          <a:graphicData uri="http://schemas.openxmlformats.org/drawingml/2006/table">
            <a:tbl>
              <a:tblPr firstRow="1" bandRow="1">
                <a:tableStyleId>{5C22544A-7EE6-4342-B048-85BDC9FD1C3A}</a:tableStyleId>
              </a:tblPr>
              <a:tblGrid>
                <a:gridCol w="1620000">
                  <a:extLst>
                    <a:ext uri="{9D8B030D-6E8A-4147-A177-3AD203B41FA5}">
                      <a16:colId xmlns:a16="http://schemas.microsoft.com/office/drawing/2014/main" val="197265483"/>
                    </a:ext>
                  </a:extLst>
                </a:gridCol>
                <a:gridCol w="1620000">
                  <a:extLst>
                    <a:ext uri="{9D8B030D-6E8A-4147-A177-3AD203B41FA5}">
                      <a16:colId xmlns:a16="http://schemas.microsoft.com/office/drawing/2014/main" val="2409799903"/>
                    </a:ext>
                  </a:extLst>
                </a:gridCol>
                <a:gridCol w="1620000">
                  <a:extLst>
                    <a:ext uri="{9D8B030D-6E8A-4147-A177-3AD203B41FA5}">
                      <a16:colId xmlns:a16="http://schemas.microsoft.com/office/drawing/2014/main" val="1726805427"/>
                    </a:ext>
                  </a:extLst>
                </a:gridCol>
                <a:gridCol w="1620000">
                  <a:extLst>
                    <a:ext uri="{9D8B030D-6E8A-4147-A177-3AD203B41FA5}">
                      <a16:colId xmlns:a16="http://schemas.microsoft.com/office/drawing/2014/main" val="2345026362"/>
                    </a:ext>
                  </a:extLst>
                </a:gridCol>
                <a:gridCol w="1620000">
                  <a:extLst>
                    <a:ext uri="{9D8B030D-6E8A-4147-A177-3AD203B41FA5}">
                      <a16:colId xmlns:a16="http://schemas.microsoft.com/office/drawing/2014/main" val="1541232864"/>
                    </a:ext>
                  </a:extLst>
                </a:gridCol>
              </a:tblGrid>
              <a:tr h="565714">
                <a:tc>
                  <a:txBody>
                    <a:bodyPr/>
                    <a:lstStyle/>
                    <a:p>
                      <a:endParaRPr lang="en-IN" dirty="0"/>
                    </a:p>
                  </a:txBody>
                  <a:tcPr>
                    <a:solidFill>
                      <a:schemeClr val="bg1">
                        <a:lumMod val="75000"/>
                      </a:schemeClr>
                    </a:solidFill>
                  </a:tcPr>
                </a:tc>
                <a:tc>
                  <a:txBody>
                    <a:bodyPr/>
                    <a:lstStyle/>
                    <a:p>
                      <a:endParaRPr lang="en-IN" dirty="0"/>
                    </a:p>
                  </a:txBody>
                  <a:tcPr>
                    <a:solidFill>
                      <a:schemeClr val="bg1">
                        <a:lumMod val="75000"/>
                      </a:schemeClr>
                    </a:solidFill>
                  </a:tcPr>
                </a:tc>
                <a:tc>
                  <a:txBody>
                    <a:bodyPr/>
                    <a:lstStyle/>
                    <a:p>
                      <a:endParaRPr lang="en-IN" dirty="0"/>
                    </a:p>
                  </a:txBody>
                  <a:tcPr>
                    <a:solidFill>
                      <a:schemeClr val="bg1">
                        <a:lumMod val="75000"/>
                      </a:schemeClr>
                    </a:solidFill>
                  </a:tcPr>
                </a:tc>
                <a:tc>
                  <a:txBody>
                    <a:bodyPr/>
                    <a:lstStyle/>
                    <a:p>
                      <a:endParaRPr lang="en-IN" dirty="0"/>
                    </a:p>
                  </a:txBody>
                  <a:tcPr>
                    <a:solidFill>
                      <a:schemeClr val="bg1">
                        <a:lumMod val="75000"/>
                      </a:schemeClr>
                    </a:solidFill>
                  </a:tcPr>
                </a:tc>
                <a:tc>
                  <a:txBody>
                    <a:bodyPr/>
                    <a:lstStyle/>
                    <a:p>
                      <a:endParaRPr lang="en-IN" dirty="0"/>
                    </a:p>
                  </a:txBody>
                  <a:tcPr>
                    <a:solidFill>
                      <a:schemeClr val="bg1">
                        <a:lumMod val="75000"/>
                      </a:schemeClr>
                    </a:solidFill>
                  </a:tcPr>
                </a:tc>
                <a:extLst>
                  <a:ext uri="{0D108BD9-81ED-4DB2-BD59-A6C34878D82A}">
                    <a16:rowId xmlns:a16="http://schemas.microsoft.com/office/drawing/2014/main" val="2403524588"/>
                  </a:ext>
                </a:extLst>
              </a:tr>
            </a:tbl>
          </a:graphicData>
        </a:graphic>
      </p:graphicFrame>
      <p:graphicFrame>
        <p:nvGraphicFramePr>
          <p:cNvPr id="12" name="Table 11">
            <a:extLst>
              <a:ext uri="{FF2B5EF4-FFF2-40B4-BE49-F238E27FC236}">
                <a16:creationId xmlns:a16="http://schemas.microsoft.com/office/drawing/2014/main" id="{0EDEE939-97ED-BE61-467C-5E9827A967F8}"/>
              </a:ext>
            </a:extLst>
          </p:cNvPr>
          <p:cNvGraphicFramePr>
            <a:graphicFrameLocks noGrp="1"/>
          </p:cNvGraphicFramePr>
          <p:nvPr/>
        </p:nvGraphicFramePr>
        <p:xfrm>
          <a:off x="124951" y="3729313"/>
          <a:ext cx="6480000" cy="565714"/>
        </p:xfrm>
        <a:graphic>
          <a:graphicData uri="http://schemas.openxmlformats.org/drawingml/2006/table">
            <a:tbl>
              <a:tblPr firstRow="1" bandRow="1">
                <a:tableStyleId>{5C22544A-7EE6-4342-B048-85BDC9FD1C3A}</a:tableStyleId>
              </a:tblPr>
              <a:tblGrid>
                <a:gridCol w="1620000">
                  <a:extLst>
                    <a:ext uri="{9D8B030D-6E8A-4147-A177-3AD203B41FA5}">
                      <a16:colId xmlns:a16="http://schemas.microsoft.com/office/drawing/2014/main" val="2784671440"/>
                    </a:ext>
                  </a:extLst>
                </a:gridCol>
                <a:gridCol w="1620000">
                  <a:extLst>
                    <a:ext uri="{9D8B030D-6E8A-4147-A177-3AD203B41FA5}">
                      <a16:colId xmlns:a16="http://schemas.microsoft.com/office/drawing/2014/main" val="272636576"/>
                    </a:ext>
                  </a:extLst>
                </a:gridCol>
                <a:gridCol w="1620000">
                  <a:extLst>
                    <a:ext uri="{9D8B030D-6E8A-4147-A177-3AD203B41FA5}">
                      <a16:colId xmlns:a16="http://schemas.microsoft.com/office/drawing/2014/main" val="1244138235"/>
                    </a:ext>
                  </a:extLst>
                </a:gridCol>
                <a:gridCol w="1620000">
                  <a:extLst>
                    <a:ext uri="{9D8B030D-6E8A-4147-A177-3AD203B41FA5}">
                      <a16:colId xmlns:a16="http://schemas.microsoft.com/office/drawing/2014/main" val="367059181"/>
                    </a:ext>
                  </a:extLst>
                </a:gridCol>
              </a:tblGrid>
              <a:tr h="565714">
                <a:tc>
                  <a:txBody>
                    <a:bodyPr/>
                    <a:lstStyle/>
                    <a:p>
                      <a:endParaRPr lang="en-IN" sz="2400" dirty="0"/>
                    </a:p>
                  </a:txBody>
                  <a:tcPr anchor="ctr">
                    <a:solidFill>
                      <a:schemeClr val="accent1">
                        <a:lumMod val="20000"/>
                        <a:lumOff val="80000"/>
                      </a:schemeClr>
                    </a:solidFill>
                  </a:tcPr>
                </a:tc>
                <a:tc>
                  <a:txBody>
                    <a:bodyPr/>
                    <a:lstStyle/>
                    <a:p>
                      <a:endParaRPr lang="en-IN" dirty="0"/>
                    </a:p>
                  </a:txBody>
                  <a:tcPr>
                    <a:solidFill>
                      <a:schemeClr val="accent1">
                        <a:lumMod val="20000"/>
                        <a:lumOff val="80000"/>
                      </a:schemeClr>
                    </a:solidFill>
                  </a:tcPr>
                </a:tc>
                <a:tc>
                  <a:txBody>
                    <a:bodyPr/>
                    <a:lstStyle/>
                    <a:p>
                      <a:endParaRPr lang="en-IN" dirty="0"/>
                    </a:p>
                  </a:txBody>
                  <a:tcPr>
                    <a:solidFill>
                      <a:schemeClr val="accent1">
                        <a:lumMod val="20000"/>
                        <a:lumOff val="80000"/>
                      </a:schemeClr>
                    </a:solidFill>
                  </a:tcPr>
                </a:tc>
                <a:tc>
                  <a:txBody>
                    <a:bodyPr/>
                    <a:lstStyle/>
                    <a:p>
                      <a:endParaRPr lang="en-IN" dirty="0"/>
                    </a:p>
                  </a:txBody>
                  <a:tcPr>
                    <a:solidFill>
                      <a:schemeClr val="accent1">
                        <a:lumMod val="20000"/>
                        <a:lumOff val="80000"/>
                      </a:schemeClr>
                    </a:solidFill>
                  </a:tcPr>
                </a:tc>
                <a:extLst>
                  <a:ext uri="{0D108BD9-81ED-4DB2-BD59-A6C34878D82A}">
                    <a16:rowId xmlns:a16="http://schemas.microsoft.com/office/drawing/2014/main" val="1599618106"/>
                  </a:ext>
                </a:extLst>
              </a:tr>
            </a:tbl>
          </a:graphicData>
        </a:graphic>
      </p:graphicFrame>
      <p:graphicFrame>
        <p:nvGraphicFramePr>
          <p:cNvPr id="52" name="Table 51">
            <a:extLst>
              <a:ext uri="{FF2B5EF4-FFF2-40B4-BE49-F238E27FC236}">
                <a16:creationId xmlns:a16="http://schemas.microsoft.com/office/drawing/2014/main" id="{2E8EDB38-409D-B568-2DB1-5F21C4054292}"/>
              </a:ext>
            </a:extLst>
          </p:cNvPr>
          <p:cNvGraphicFramePr>
            <a:graphicFrameLocks noGrp="1"/>
          </p:cNvGraphicFramePr>
          <p:nvPr/>
        </p:nvGraphicFramePr>
        <p:xfrm>
          <a:off x="124951" y="4376173"/>
          <a:ext cx="4860000" cy="565714"/>
        </p:xfrm>
        <a:graphic>
          <a:graphicData uri="http://schemas.openxmlformats.org/drawingml/2006/table">
            <a:tbl>
              <a:tblPr firstRow="1" bandRow="1">
                <a:tableStyleId>{5C22544A-7EE6-4342-B048-85BDC9FD1C3A}</a:tableStyleId>
              </a:tblPr>
              <a:tblGrid>
                <a:gridCol w="1620000">
                  <a:extLst>
                    <a:ext uri="{9D8B030D-6E8A-4147-A177-3AD203B41FA5}">
                      <a16:colId xmlns:a16="http://schemas.microsoft.com/office/drawing/2014/main" val="197265483"/>
                    </a:ext>
                  </a:extLst>
                </a:gridCol>
                <a:gridCol w="1620000">
                  <a:extLst>
                    <a:ext uri="{9D8B030D-6E8A-4147-A177-3AD203B41FA5}">
                      <a16:colId xmlns:a16="http://schemas.microsoft.com/office/drawing/2014/main" val="2409799903"/>
                    </a:ext>
                  </a:extLst>
                </a:gridCol>
                <a:gridCol w="1620000">
                  <a:extLst>
                    <a:ext uri="{9D8B030D-6E8A-4147-A177-3AD203B41FA5}">
                      <a16:colId xmlns:a16="http://schemas.microsoft.com/office/drawing/2014/main" val="1726805427"/>
                    </a:ext>
                  </a:extLst>
                </a:gridCol>
              </a:tblGrid>
              <a:tr h="565714">
                <a:tc>
                  <a:txBody>
                    <a:bodyPr/>
                    <a:lstStyle/>
                    <a:p>
                      <a:endParaRPr lang="en-IN" dirty="0"/>
                    </a:p>
                  </a:txBody>
                  <a:tcPr>
                    <a:solidFill>
                      <a:schemeClr val="bg1">
                        <a:lumMod val="75000"/>
                      </a:schemeClr>
                    </a:solidFill>
                  </a:tcPr>
                </a:tc>
                <a:tc>
                  <a:txBody>
                    <a:bodyPr/>
                    <a:lstStyle/>
                    <a:p>
                      <a:endParaRPr lang="en-IN" dirty="0"/>
                    </a:p>
                  </a:txBody>
                  <a:tcPr>
                    <a:solidFill>
                      <a:schemeClr val="bg1">
                        <a:lumMod val="75000"/>
                      </a:schemeClr>
                    </a:solidFill>
                  </a:tcPr>
                </a:tc>
                <a:tc>
                  <a:txBody>
                    <a:bodyPr/>
                    <a:lstStyle/>
                    <a:p>
                      <a:endParaRPr lang="en-IN" dirty="0"/>
                    </a:p>
                  </a:txBody>
                  <a:tcPr>
                    <a:solidFill>
                      <a:schemeClr val="bg1">
                        <a:lumMod val="75000"/>
                      </a:schemeClr>
                    </a:solidFill>
                  </a:tcPr>
                </a:tc>
                <a:extLst>
                  <a:ext uri="{0D108BD9-81ED-4DB2-BD59-A6C34878D82A}">
                    <a16:rowId xmlns:a16="http://schemas.microsoft.com/office/drawing/2014/main" val="2403524588"/>
                  </a:ext>
                </a:extLst>
              </a:tr>
            </a:tbl>
          </a:graphicData>
        </a:graphic>
      </p:graphicFrame>
      <p:graphicFrame>
        <p:nvGraphicFramePr>
          <p:cNvPr id="53" name="Table 52">
            <a:extLst>
              <a:ext uri="{FF2B5EF4-FFF2-40B4-BE49-F238E27FC236}">
                <a16:creationId xmlns:a16="http://schemas.microsoft.com/office/drawing/2014/main" id="{91633EFF-1E04-EB9E-C667-7299D46361C8}"/>
              </a:ext>
            </a:extLst>
          </p:cNvPr>
          <p:cNvGraphicFramePr>
            <a:graphicFrameLocks noGrp="1"/>
          </p:cNvGraphicFramePr>
          <p:nvPr/>
        </p:nvGraphicFramePr>
        <p:xfrm>
          <a:off x="121446" y="5023033"/>
          <a:ext cx="3240000" cy="565714"/>
        </p:xfrm>
        <a:graphic>
          <a:graphicData uri="http://schemas.openxmlformats.org/drawingml/2006/table">
            <a:tbl>
              <a:tblPr firstRow="1" bandRow="1">
                <a:tableStyleId>{5C22544A-7EE6-4342-B048-85BDC9FD1C3A}</a:tableStyleId>
              </a:tblPr>
              <a:tblGrid>
                <a:gridCol w="1620000">
                  <a:extLst>
                    <a:ext uri="{9D8B030D-6E8A-4147-A177-3AD203B41FA5}">
                      <a16:colId xmlns:a16="http://schemas.microsoft.com/office/drawing/2014/main" val="2784671440"/>
                    </a:ext>
                  </a:extLst>
                </a:gridCol>
                <a:gridCol w="1620000">
                  <a:extLst>
                    <a:ext uri="{9D8B030D-6E8A-4147-A177-3AD203B41FA5}">
                      <a16:colId xmlns:a16="http://schemas.microsoft.com/office/drawing/2014/main" val="272636576"/>
                    </a:ext>
                  </a:extLst>
                </a:gridCol>
              </a:tblGrid>
              <a:tr h="565714">
                <a:tc>
                  <a:txBody>
                    <a:bodyPr/>
                    <a:lstStyle/>
                    <a:p>
                      <a:endParaRPr lang="en-IN" sz="2400" dirty="0"/>
                    </a:p>
                  </a:txBody>
                  <a:tcPr anchor="ctr">
                    <a:solidFill>
                      <a:schemeClr val="accent1">
                        <a:lumMod val="20000"/>
                        <a:lumOff val="80000"/>
                      </a:schemeClr>
                    </a:solidFill>
                  </a:tcPr>
                </a:tc>
                <a:tc>
                  <a:txBody>
                    <a:bodyPr/>
                    <a:lstStyle/>
                    <a:p>
                      <a:endParaRPr lang="en-IN" dirty="0"/>
                    </a:p>
                  </a:txBody>
                  <a:tcPr>
                    <a:solidFill>
                      <a:schemeClr val="accent1">
                        <a:lumMod val="20000"/>
                        <a:lumOff val="80000"/>
                      </a:schemeClr>
                    </a:solidFill>
                  </a:tcPr>
                </a:tc>
                <a:extLst>
                  <a:ext uri="{0D108BD9-81ED-4DB2-BD59-A6C34878D82A}">
                    <a16:rowId xmlns:a16="http://schemas.microsoft.com/office/drawing/2014/main" val="1599618106"/>
                  </a:ext>
                </a:extLst>
              </a:tr>
            </a:tbl>
          </a:graphicData>
        </a:graphic>
      </p:graphicFrame>
      <p:graphicFrame>
        <p:nvGraphicFramePr>
          <p:cNvPr id="54" name="Table 53">
            <a:extLst>
              <a:ext uri="{FF2B5EF4-FFF2-40B4-BE49-F238E27FC236}">
                <a16:creationId xmlns:a16="http://schemas.microsoft.com/office/drawing/2014/main" id="{549EDF3C-A133-8235-E0A3-95D427D2CEB9}"/>
              </a:ext>
            </a:extLst>
          </p:cNvPr>
          <p:cNvGraphicFramePr>
            <a:graphicFrameLocks noGrp="1"/>
          </p:cNvGraphicFramePr>
          <p:nvPr/>
        </p:nvGraphicFramePr>
        <p:xfrm>
          <a:off x="3377065" y="5023033"/>
          <a:ext cx="1620000" cy="565714"/>
        </p:xfrm>
        <a:graphic>
          <a:graphicData uri="http://schemas.openxmlformats.org/drawingml/2006/table">
            <a:tbl>
              <a:tblPr firstRow="1" bandRow="1">
                <a:tableStyleId>{5C22544A-7EE6-4342-B048-85BDC9FD1C3A}</a:tableStyleId>
              </a:tblPr>
              <a:tblGrid>
                <a:gridCol w="1620000">
                  <a:extLst>
                    <a:ext uri="{9D8B030D-6E8A-4147-A177-3AD203B41FA5}">
                      <a16:colId xmlns:a16="http://schemas.microsoft.com/office/drawing/2014/main" val="197265483"/>
                    </a:ext>
                  </a:extLst>
                </a:gridCol>
              </a:tblGrid>
              <a:tr h="565714">
                <a:tc>
                  <a:txBody>
                    <a:bodyPr/>
                    <a:lstStyle/>
                    <a:p>
                      <a:endParaRPr lang="en-IN" dirty="0"/>
                    </a:p>
                  </a:txBody>
                  <a:tcPr>
                    <a:solidFill>
                      <a:schemeClr val="bg1">
                        <a:lumMod val="75000"/>
                      </a:schemeClr>
                    </a:solidFill>
                  </a:tcPr>
                </a:tc>
                <a:extLst>
                  <a:ext uri="{0D108BD9-81ED-4DB2-BD59-A6C34878D82A}">
                    <a16:rowId xmlns:a16="http://schemas.microsoft.com/office/drawing/2014/main" val="2403524588"/>
                  </a:ext>
                </a:extLst>
              </a:tr>
            </a:tbl>
          </a:graphicData>
        </a:graphic>
      </p:graphicFrame>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091F0DE-1904-2AE5-48D3-CA14D04FB109}"/>
                  </a:ext>
                </a:extLst>
              </p:cNvPr>
              <p:cNvSpPr txBox="1"/>
              <p:nvPr/>
            </p:nvSpPr>
            <p:spPr>
              <a:xfrm>
                <a:off x="167425" y="2511580"/>
                <a:ext cx="936107"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a:solidFill>
                                <a:srgbClr val="002060"/>
                              </a:solidFill>
                              <a:latin typeface="Cambria Math" panose="02040503050406030204" pitchFamily="18" charset="0"/>
                            </a:rPr>
                            <m:t>a</m:t>
                          </m:r>
                          <m:r>
                            <a:rPr lang="en-US" sz="2400">
                              <a:solidFill>
                                <a:srgbClr val="002060"/>
                              </a:solidFill>
                              <a:latin typeface="Cambria Math" panose="02040503050406030204" pitchFamily="18" charset="0"/>
                            </a:rPr>
                            <m:t>,</m:t>
                          </m:r>
                          <m:r>
                            <m:rPr>
                              <m:sty m:val="p"/>
                            </m:rPr>
                            <a:rPr lang="en-US" sz="2400">
                              <a:solidFill>
                                <a:srgbClr val="002060"/>
                              </a:solidFill>
                              <a:latin typeface="Cambria Math" panose="02040503050406030204" pitchFamily="18" charset="0"/>
                            </a:rPr>
                            <m:t>b</m:t>
                          </m:r>
                        </m:e>
                      </m:d>
                    </m:oMath>
                  </m:oMathPara>
                </a14:m>
                <a:endParaRPr lang="en-IN" sz="2400" dirty="0">
                  <a:solidFill>
                    <a:srgbClr val="002060"/>
                  </a:solidFill>
                  <a:latin typeface="Cambria Math" panose="02040503050406030204" pitchFamily="18" charset="0"/>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167425" y="2511580"/>
                <a:ext cx="936107" cy="461665"/>
              </a:xfrm>
              <a:prstGeom prst="rect">
                <a:avLst/>
              </a:prstGeom>
              <a:blipFill rotWithShape="0">
                <a:blip r:embed="rId2"/>
                <a:stretch>
                  <a:fillRect l="-19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5F712EC2-F2F0-97B7-9426-22AB98EA9650}"/>
                  </a:ext>
                </a:extLst>
              </p:cNvPr>
              <p:cNvSpPr txBox="1"/>
              <p:nvPr/>
            </p:nvSpPr>
            <p:spPr>
              <a:xfrm>
                <a:off x="167425" y="3117407"/>
                <a:ext cx="936107"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b="0" i="0" smtClean="0">
                              <a:solidFill>
                                <a:srgbClr val="002060"/>
                              </a:solidFill>
                              <a:latin typeface="Cambria Math" panose="02040503050406030204" pitchFamily="18" charset="0"/>
                            </a:rPr>
                            <m:t>b</m:t>
                          </m:r>
                          <m:r>
                            <a:rPr lang="en-US" sz="240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c</m:t>
                          </m:r>
                        </m:e>
                      </m:d>
                    </m:oMath>
                  </m:oMathPara>
                </a14:m>
                <a:endParaRPr lang="en-IN" sz="2400" dirty="0"/>
              </a:p>
            </p:txBody>
          </p:sp>
        </mc:Choice>
        <mc:Fallback xmlns="">
          <p:sp>
            <p:nvSpPr>
              <p:cNvPr id="33" name="TextBox 32"/>
              <p:cNvSpPr txBox="1">
                <a:spLocks noRot="1" noChangeAspect="1" noMove="1" noResize="1" noEditPoints="1" noAdjustHandles="1" noChangeArrowheads="1" noChangeShapeType="1" noTextEdit="1"/>
              </p:cNvSpPr>
              <p:nvPr/>
            </p:nvSpPr>
            <p:spPr>
              <a:xfrm>
                <a:off x="167425" y="3117407"/>
                <a:ext cx="936107" cy="461665"/>
              </a:xfrm>
              <a:prstGeom prst="rect">
                <a:avLst/>
              </a:prstGeom>
              <a:blipFill rotWithShape="0">
                <a:blip r:embed="rId3"/>
                <a:stretch>
                  <a:fillRect l="-19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B4A3BD94-3CDD-6854-5CE1-4273CBD0FC1C}"/>
                  </a:ext>
                </a:extLst>
              </p:cNvPr>
              <p:cNvSpPr txBox="1"/>
              <p:nvPr/>
            </p:nvSpPr>
            <p:spPr>
              <a:xfrm>
                <a:off x="4984285" y="3117407"/>
                <a:ext cx="916563"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a:solidFill>
                                <a:srgbClr val="002060"/>
                              </a:solidFill>
                              <a:latin typeface="Cambria Math" panose="02040503050406030204" pitchFamily="18" charset="0"/>
                            </a:rPr>
                            <m:t>b</m:t>
                          </m:r>
                          <m:r>
                            <a:rPr lang="en-US" sz="2400" b="0" i="0" smtClean="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f</m:t>
                          </m:r>
                        </m:e>
                      </m:d>
                    </m:oMath>
                  </m:oMathPara>
                </a14:m>
                <a:endParaRPr lang="en-IN" sz="2400" dirty="0"/>
              </a:p>
            </p:txBody>
          </p:sp>
        </mc:Choice>
        <mc:Fallback xmlns="">
          <p:sp>
            <p:nvSpPr>
              <p:cNvPr id="34" name="TextBox 33"/>
              <p:cNvSpPr txBox="1">
                <a:spLocks noRot="1" noChangeAspect="1" noMove="1" noResize="1" noEditPoints="1" noAdjustHandles="1" noChangeArrowheads="1" noChangeShapeType="1" noTextEdit="1"/>
              </p:cNvSpPr>
              <p:nvPr/>
            </p:nvSpPr>
            <p:spPr>
              <a:xfrm>
                <a:off x="4984285" y="3117407"/>
                <a:ext cx="916563" cy="461665"/>
              </a:xfrm>
              <a:prstGeom prst="rect">
                <a:avLst/>
              </a:prstGeom>
              <a:blipFill rotWithShape="0">
                <a:blip r:embed="rId4"/>
                <a:stretch>
                  <a:fillRect l="-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A9095235-983F-5049-FA18-956D400987C8}"/>
                  </a:ext>
                </a:extLst>
              </p:cNvPr>
              <p:cNvSpPr txBox="1"/>
              <p:nvPr/>
            </p:nvSpPr>
            <p:spPr>
              <a:xfrm>
                <a:off x="6599309" y="3133969"/>
                <a:ext cx="893692"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a:solidFill>
                                <a:srgbClr val="002060"/>
                              </a:solidFill>
                              <a:latin typeface="Cambria Math" panose="02040503050406030204" pitchFamily="18" charset="0"/>
                            </a:rPr>
                            <m:t>b</m:t>
                          </m:r>
                          <m:r>
                            <a:rPr lang="en-US" sz="2400" b="0" i="0" smtClean="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g</m:t>
                          </m:r>
                        </m:e>
                      </m:d>
                    </m:oMath>
                  </m:oMathPara>
                </a14:m>
                <a:endParaRPr lang="en-IN" sz="2400" dirty="0"/>
              </a:p>
            </p:txBody>
          </p:sp>
        </mc:Choice>
        <mc:Fallback xmlns="">
          <p:sp>
            <p:nvSpPr>
              <p:cNvPr id="36" name="TextBox 35"/>
              <p:cNvSpPr txBox="1">
                <a:spLocks noRot="1" noChangeAspect="1" noMove="1" noResize="1" noEditPoints="1" noAdjustHandles="1" noChangeArrowheads="1" noChangeShapeType="1" noTextEdit="1"/>
              </p:cNvSpPr>
              <p:nvPr/>
            </p:nvSpPr>
            <p:spPr>
              <a:xfrm>
                <a:off x="6599309" y="3133969"/>
                <a:ext cx="893692" cy="461665"/>
              </a:xfrm>
              <a:prstGeom prst="rect">
                <a:avLst/>
              </a:prstGeom>
              <a:blipFill rotWithShape="0">
                <a:blip r:embed="rId5"/>
                <a:stretch>
                  <a:fillRect l="-2055" r="-4110" b="-11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38AF9DAB-CF97-1CA5-051A-09EB606FCB4C}"/>
                  </a:ext>
                </a:extLst>
              </p:cNvPr>
              <p:cNvSpPr txBox="1"/>
              <p:nvPr/>
            </p:nvSpPr>
            <p:spPr>
              <a:xfrm>
                <a:off x="1779513" y="2511110"/>
                <a:ext cx="913544"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a:solidFill>
                                <a:srgbClr val="002060"/>
                              </a:solidFill>
                              <a:latin typeface="Cambria Math" panose="02040503050406030204" pitchFamily="18" charset="0"/>
                            </a:rPr>
                            <m:t>a</m:t>
                          </m:r>
                          <m:r>
                            <a:rPr lang="en-US" sz="240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c</m:t>
                          </m:r>
                        </m:e>
                      </m:d>
                    </m:oMath>
                  </m:oMathPara>
                </a14:m>
                <a:endParaRPr lang="en-IN" sz="2400" dirty="0"/>
              </a:p>
            </p:txBody>
          </p:sp>
        </mc:Choice>
        <mc:Fallback xmlns="">
          <p:sp>
            <p:nvSpPr>
              <p:cNvPr id="37" name="TextBox 36"/>
              <p:cNvSpPr txBox="1">
                <a:spLocks noRot="1" noChangeAspect="1" noMove="1" noResize="1" noEditPoints="1" noAdjustHandles="1" noChangeArrowheads="1" noChangeShapeType="1" noTextEdit="1"/>
              </p:cNvSpPr>
              <p:nvPr/>
            </p:nvSpPr>
            <p:spPr>
              <a:xfrm>
                <a:off x="1779513" y="2511110"/>
                <a:ext cx="913544" cy="461665"/>
              </a:xfrm>
              <a:prstGeom prst="rect">
                <a:avLst/>
              </a:prstGeom>
              <a:blipFill rotWithShape="0">
                <a:blip r:embed="rId6"/>
                <a:stretch>
                  <a:fillRect l="-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817F9491-BACB-7DC9-5676-0E39771691F2}"/>
                  </a:ext>
                </a:extLst>
              </p:cNvPr>
              <p:cNvSpPr txBox="1"/>
              <p:nvPr/>
            </p:nvSpPr>
            <p:spPr>
              <a:xfrm>
                <a:off x="3357048" y="2511110"/>
                <a:ext cx="966266"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a:solidFill>
                                <a:srgbClr val="002060"/>
                              </a:solidFill>
                              <a:latin typeface="Cambria Math" panose="02040503050406030204" pitchFamily="18" charset="0"/>
                            </a:rPr>
                            <m:t>a</m:t>
                          </m:r>
                          <m:r>
                            <a:rPr lang="en-US" sz="240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d</m:t>
                          </m:r>
                        </m:e>
                      </m:d>
                    </m:oMath>
                  </m:oMathPara>
                </a14:m>
                <a:endParaRPr lang="en-IN" sz="2400" dirty="0"/>
              </a:p>
            </p:txBody>
          </p:sp>
        </mc:Choice>
        <mc:Fallback xmlns="">
          <p:sp>
            <p:nvSpPr>
              <p:cNvPr id="38" name="TextBox 37"/>
              <p:cNvSpPr txBox="1">
                <a:spLocks noRot="1" noChangeAspect="1" noMove="1" noResize="1" noEditPoints="1" noAdjustHandles="1" noChangeArrowheads="1" noChangeShapeType="1" noTextEdit="1"/>
              </p:cNvSpPr>
              <p:nvPr/>
            </p:nvSpPr>
            <p:spPr>
              <a:xfrm>
                <a:off x="3357048" y="2511110"/>
                <a:ext cx="966266" cy="461665"/>
              </a:xfrm>
              <a:prstGeom prst="rect">
                <a:avLst/>
              </a:prstGeom>
              <a:blipFill rotWithShape="0">
                <a:blip r:embed="rId7"/>
                <a:stretch>
                  <a:fillRect l="-189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2BA54B6A-0812-B73B-AB98-2DA095A0A73C}"/>
                  </a:ext>
                </a:extLst>
              </p:cNvPr>
              <p:cNvSpPr txBox="1"/>
              <p:nvPr/>
            </p:nvSpPr>
            <p:spPr>
              <a:xfrm>
                <a:off x="4934581" y="2511110"/>
                <a:ext cx="966267"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a:solidFill>
                                <a:srgbClr val="002060"/>
                              </a:solidFill>
                              <a:latin typeface="Cambria Math" panose="02040503050406030204" pitchFamily="18" charset="0"/>
                            </a:rPr>
                            <m:t>a</m:t>
                          </m:r>
                          <m:r>
                            <a:rPr lang="en-US" sz="240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e</m:t>
                          </m:r>
                        </m:e>
                      </m:d>
                    </m:oMath>
                  </m:oMathPara>
                </a14:m>
                <a:endParaRPr lang="en-IN" sz="2400" dirty="0"/>
              </a:p>
            </p:txBody>
          </p:sp>
        </mc:Choice>
        <mc:Fallback xmlns="">
          <p:sp>
            <p:nvSpPr>
              <p:cNvPr id="39" name="TextBox 38"/>
              <p:cNvSpPr txBox="1">
                <a:spLocks noRot="1" noChangeAspect="1" noMove="1" noResize="1" noEditPoints="1" noAdjustHandles="1" noChangeArrowheads="1" noChangeShapeType="1" noTextEdit="1"/>
              </p:cNvSpPr>
              <p:nvPr/>
            </p:nvSpPr>
            <p:spPr>
              <a:xfrm>
                <a:off x="4934581" y="2511110"/>
                <a:ext cx="966267" cy="461665"/>
              </a:xfrm>
              <a:prstGeom prst="rect">
                <a:avLst/>
              </a:prstGeom>
              <a:blipFill rotWithShape="0">
                <a:blip r:embed="rId8"/>
                <a:stretch>
                  <a:fillRect l="-1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7498289-4D4A-0638-B4FF-72C29AC5AB6A}"/>
                  </a:ext>
                </a:extLst>
              </p:cNvPr>
              <p:cNvSpPr txBox="1"/>
              <p:nvPr/>
            </p:nvSpPr>
            <p:spPr>
              <a:xfrm>
                <a:off x="6599308" y="2511110"/>
                <a:ext cx="893692"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a:solidFill>
                                <a:srgbClr val="002060"/>
                              </a:solidFill>
                              <a:latin typeface="Cambria Math" panose="02040503050406030204" pitchFamily="18" charset="0"/>
                            </a:rPr>
                            <m:t>a</m:t>
                          </m:r>
                          <m:r>
                            <a:rPr lang="en-US" sz="240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f</m:t>
                          </m:r>
                        </m:e>
                      </m:d>
                    </m:oMath>
                  </m:oMathPara>
                </a14:m>
                <a:endParaRPr lang="en-IN" sz="2400" dirty="0"/>
              </a:p>
            </p:txBody>
          </p:sp>
        </mc:Choice>
        <mc:Fallback xmlns="">
          <p:sp>
            <p:nvSpPr>
              <p:cNvPr id="40" name="TextBox 39"/>
              <p:cNvSpPr txBox="1">
                <a:spLocks noRot="1" noChangeAspect="1" noMove="1" noResize="1" noEditPoints="1" noAdjustHandles="1" noChangeArrowheads="1" noChangeShapeType="1" noTextEdit="1"/>
              </p:cNvSpPr>
              <p:nvPr/>
            </p:nvSpPr>
            <p:spPr>
              <a:xfrm>
                <a:off x="6599308" y="2511110"/>
                <a:ext cx="893692" cy="461665"/>
              </a:xfrm>
              <a:prstGeom prst="rect">
                <a:avLst/>
              </a:prstGeom>
              <a:blipFill rotWithShape="0">
                <a:blip r:embed="rId9"/>
                <a:stretch>
                  <a:fillRect l="-20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91E1B100-052A-10CD-C462-7D8B8945B704}"/>
                  </a:ext>
                </a:extLst>
              </p:cNvPr>
              <p:cNvSpPr txBox="1"/>
              <p:nvPr/>
            </p:nvSpPr>
            <p:spPr>
              <a:xfrm>
                <a:off x="8176842" y="2498782"/>
                <a:ext cx="94175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a:solidFill>
                                <a:srgbClr val="002060"/>
                              </a:solidFill>
                              <a:latin typeface="Cambria Math" panose="02040503050406030204" pitchFamily="18" charset="0"/>
                            </a:rPr>
                            <m:t>a</m:t>
                          </m:r>
                          <m:r>
                            <a:rPr lang="en-US" sz="240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g</m:t>
                          </m:r>
                        </m:e>
                      </m:d>
                    </m:oMath>
                  </m:oMathPara>
                </a14:m>
                <a:endParaRPr lang="en-IN" sz="2400" dirty="0"/>
              </a:p>
            </p:txBody>
          </p:sp>
        </mc:Choice>
        <mc:Fallback xmlns="">
          <p:sp>
            <p:nvSpPr>
              <p:cNvPr id="41" name="TextBox 40"/>
              <p:cNvSpPr txBox="1">
                <a:spLocks noRot="1" noChangeAspect="1" noMove="1" noResize="1" noEditPoints="1" noAdjustHandles="1" noChangeArrowheads="1" noChangeShapeType="1" noTextEdit="1"/>
              </p:cNvSpPr>
              <p:nvPr/>
            </p:nvSpPr>
            <p:spPr>
              <a:xfrm>
                <a:off x="8176842" y="2498782"/>
                <a:ext cx="941758" cy="461665"/>
              </a:xfrm>
              <a:prstGeom prst="rect">
                <a:avLst/>
              </a:prstGeom>
              <a:blipFill rotWithShape="0">
                <a:blip r:embed="rId10"/>
                <a:stretch>
                  <a:fillRect l="-1935" b="-10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A5B9D366-989B-E85E-4F4A-4F9CF21875D3}"/>
                  </a:ext>
                </a:extLst>
              </p:cNvPr>
              <p:cNvSpPr txBox="1"/>
              <p:nvPr/>
            </p:nvSpPr>
            <p:spPr>
              <a:xfrm>
                <a:off x="3391518" y="3117407"/>
                <a:ext cx="931796"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a:solidFill>
                                <a:srgbClr val="002060"/>
                              </a:solidFill>
                              <a:latin typeface="Cambria Math" panose="02040503050406030204" pitchFamily="18" charset="0"/>
                            </a:rPr>
                            <m:t>b</m:t>
                          </m:r>
                          <m:r>
                            <a:rPr lang="en-US" sz="2400" b="0" i="0" smtClean="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e</m:t>
                          </m:r>
                        </m:e>
                      </m:d>
                    </m:oMath>
                  </m:oMathPara>
                </a14:m>
                <a:endParaRPr lang="en-IN" sz="2400" dirty="0"/>
              </a:p>
            </p:txBody>
          </p:sp>
        </mc:Choice>
        <mc:Fallback xmlns="">
          <p:sp>
            <p:nvSpPr>
              <p:cNvPr id="42" name="TextBox 41"/>
              <p:cNvSpPr txBox="1">
                <a:spLocks noRot="1" noChangeAspect="1" noMove="1" noResize="1" noEditPoints="1" noAdjustHandles="1" noChangeArrowheads="1" noChangeShapeType="1" noTextEdit="1"/>
              </p:cNvSpPr>
              <p:nvPr/>
            </p:nvSpPr>
            <p:spPr>
              <a:xfrm>
                <a:off x="3391518" y="3117407"/>
                <a:ext cx="931796" cy="461665"/>
              </a:xfrm>
              <a:prstGeom prst="rect">
                <a:avLst/>
              </a:prstGeom>
              <a:blipFill rotWithShape="0">
                <a:blip r:embed="rId11"/>
                <a:stretch>
                  <a:fillRect l="-19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2DD0DBAC-3499-6558-1A51-DC1276E1D6D7}"/>
                  </a:ext>
                </a:extLst>
              </p:cNvPr>
              <p:cNvSpPr txBox="1"/>
              <p:nvPr/>
            </p:nvSpPr>
            <p:spPr>
              <a:xfrm>
                <a:off x="1730144" y="3117407"/>
                <a:ext cx="962913"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a:solidFill>
                                <a:srgbClr val="002060"/>
                              </a:solidFill>
                              <a:latin typeface="Cambria Math" panose="02040503050406030204" pitchFamily="18" charset="0"/>
                            </a:rPr>
                            <m:t>b</m:t>
                          </m:r>
                          <m:r>
                            <a:rPr lang="en-US" sz="2400" b="0" i="0" smtClean="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d</m:t>
                          </m:r>
                        </m:e>
                      </m:d>
                    </m:oMath>
                  </m:oMathPara>
                </a14:m>
                <a:endParaRPr lang="en-IN" sz="2400" dirty="0"/>
              </a:p>
            </p:txBody>
          </p:sp>
        </mc:Choice>
        <mc:Fallback xmlns="">
          <p:sp>
            <p:nvSpPr>
              <p:cNvPr id="43" name="TextBox 42"/>
              <p:cNvSpPr txBox="1">
                <a:spLocks noRot="1" noChangeAspect="1" noMove="1" noResize="1" noEditPoints="1" noAdjustHandles="1" noChangeArrowheads="1" noChangeShapeType="1" noTextEdit="1"/>
              </p:cNvSpPr>
              <p:nvPr/>
            </p:nvSpPr>
            <p:spPr>
              <a:xfrm>
                <a:off x="1730144" y="3117407"/>
                <a:ext cx="962913" cy="461665"/>
              </a:xfrm>
              <a:prstGeom prst="rect">
                <a:avLst/>
              </a:prstGeom>
              <a:blipFill rotWithShape="0">
                <a:blip r:embed="rId12"/>
                <a:stretch>
                  <a:fillRect l="-189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EB5161D2-B0E3-43A9-3E03-260DB649F7C9}"/>
                  </a:ext>
                </a:extLst>
              </p:cNvPr>
              <p:cNvSpPr txBox="1"/>
              <p:nvPr/>
            </p:nvSpPr>
            <p:spPr>
              <a:xfrm>
                <a:off x="167426" y="3753441"/>
                <a:ext cx="936106"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b="0" i="0" smtClean="0">
                              <a:solidFill>
                                <a:srgbClr val="002060"/>
                              </a:solidFill>
                              <a:latin typeface="Cambria Math" panose="02040503050406030204" pitchFamily="18" charset="0"/>
                            </a:rPr>
                            <m:t>c</m:t>
                          </m:r>
                          <m:r>
                            <a:rPr lang="en-US" sz="240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d</m:t>
                          </m:r>
                        </m:e>
                      </m:d>
                    </m:oMath>
                  </m:oMathPara>
                </a14:m>
                <a:endParaRPr lang="en-IN" sz="2400" dirty="0"/>
              </a:p>
            </p:txBody>
          </p:sp>
        </mc:Choice>
        <mc:Fallback xmlns="">
          <p:sp>
            <p:nvSpPr>
              <p:cNvPr id="44" name="TextBox 43"/>
              <p:cNvSpPr txBox="1">
                <a:spLocks noRot="1" noChangeAspect="1" noMove="1" noResize="1" noEditPoints="1" noAdjustHandles="1" noChangeArrowheads="1" noChangeShapeType="1" noTextEdit="1"/>
              </p:cNvSpPr>
              <p:nvPr/>
            </p:nvSpPr>
            <p:spPr>
              <a:xfrm>
                <a:off x="167426" y="3753441"/>
                <a:ext cx="936106" cy="461665"/>
              </a:xfrm>
              <a:prstGeom prst="rect">
                <a:avLst/>
              </a:prstGeom>
              <a:blipFill rotWithShape="0">
                <a:blip r:embed="rId13"/>
                <a:stretch>
                  <a:fillRect l="-19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1EBC3FA7-FE38-39C2-9E90-32AC48B0D2CC}"/>
                  </a:ext>
                </a:extLst>
              </p:cNvPr>
              <p:cNvSpPr txBox="1"/>
              <p:nvPr/>
            </p:nvSpPr>
            <p:spPr>
              <a:xfrm>
                <a:off x="3391518" y="3753441"/>
                <a:ext cx="931796"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b="0" i="0" smtClean="0">
                              <a:solidFill>
                                <a:srgbClr val="002060"/>
                              </a:solidFill>
                              <a:latin typeface="Cambria Math" panose="02040503050406030204" pitchFamily="18" charset="0"/>
                            </a:rPr>
                            <m:t>c</m:t>
                          </m:r>
                          <m:r>
                            <a:rPr lang="en-US" sz="2400" b="0" i="0" smtClean="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f</m:t>
                          </m:r>
                        </m:e>
                      </m:d>
                    </m:oMath>
                  </m:oMathPara>
                </a14:m>
                <a:endParaRPr lang="en-IN" sz="2400" dirty="0"/>
              </a:p>
            </p:txBody>
          </p:sp>
        </mc:Choice>
        <mc:Fallback xmlns="">
          <p:sp>
            <p:nvSpPr>
              <p:cNvPr id="45" name="TextBox 44"/>
              <p:cNvSpPr txBox="1">
                <a:spLocks noRot="1" noChangeAspect="1" noMove="1" noResize="1" noEditPoints="1" noAdjustHandles="1" noChangeArrowheads="1" noChangeShapeType="1" noTextEdit="1"/>
              </p:cNvSpPr>
              <p:nvPr/>
            </p:nvSpPr>
            <p:spPr>
              <a:xfrm>
                <a:off x="3391518" y="3753441"/>
                <a:ext cx="931796" cy="461665"/>
              </a:xfrm>
              <a:prstGeom prst="rect">
                <a:avLst/>
              </a:prstGeom>
              <a:blipFill rotWithShape="0">
                <a:blip r:embed="rId14"/>
                <a:stretch>
                  <a:fillRect l="-19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5C95BD1-A0CF-0468-9EC8-471C85A7900C}"/>
                  </a:ext>
                </a:extLst>
              </p:cNvPr>
              <p:cNvSpPr txBox="1"/>
              <p:nvPr/>
            </p:nvSpPr>
            <p:spPr>
              <a:xfrm>
                <a:off x="1730144" y="3753441"/>
                <a:ext cx="892971"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b="0" i="0" smtClean="0">
                              <a:solidFill>
                                <a:srgbClr val="002060"/>
                              </a:solidFill>
                              <a:latin typeface="Cambria Math" panose="02040503050406030204" pitchFamily="18" charset="0"/>
                            </a:rPr>
                            <m:t>c</m:t>
                          </m:r>
                          <m:r>
                            <a:rPr lang="en-US" sz="2400" b="0" i="0" smtClean="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e</m:t>
                          </m:r>
                        </m:e>
                      </m:d>
                    </m:oMath>
                  </m:oMathPara>
                </a14:m>
                <a:endParaRPr lang="en-IN" sz="2400" dirty="0"/>
              </a:p>
            </p:txBody>
          </p:sp>
        </mc:Choice>
        <mc:Fallback xmlns="">
          <p:sp>
            <p:nvSpPr>
              <p:cNvPr id="46" name="TextBox 45"/>
              <p:cNvSpPr txBox="1">
                <a:spLocks noRot="1" noChangeAspect="1" noMove="1" noResize="1" noEditPoints="1" noAdjustHandles="1" noChangeArrowheads="1" noChangeShapeType="1" noTextEdit="1"/>
              </p:cNvSpPr>
              <p:nvPr/>
            </p:nvSpPr>
            <p:spPr>
              <a:xfrm>
                <a:off x="1730144" y="3753441"/>
                <a:ext cx="892971" cy="461665"/>
              </a:xfrm>
              <a:prstGeom prst="rect">
                <a:avLst/>
              </a:prstGeom>
              <a:blipFill rotWithShape="0">
                <a:blip r:embed="rId15"/>
                <a:stretch>
                  <a:fillRect l="-20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07BE2E6-F31A-D2BE-0EA1-D99FF514844C}"/>
                  </a:ext>
                </a:extLst>
              </p:cNvPr>
              <p:cNvSpPr txBox="1"/>
              <p:nvPr/>
            </p:nvSpPr>
            <p:spPr>
              <a:xfrm>
                <a:off x="4960683" y="3751220"/>
                <a:ext cx="940165"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b="0" i="0" smtClean="0">
                              <a:solidFill>
                                <a:srgbClr val="002060"/>
                              </a:solidFill>
                              <a:latin typeface="Cambria Math" panose="02040503050406030204" pitchFamily="18" charset="0"/>
                            </a:rPr>
                            <m:t>c</m:t>
                          </m:r>
                          <m:r>
                            <a:rPr lang="en-US" sz="2400" b="0" i="0" smtClean="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g</m:t>
                          </m:r>
                        </m:e>
                      </m:d>
                    </m:oMath>
                  </m:oMathPara>
                </a14:m>
                <a:endParaRPr lang="en-IN" sz="2400" dirty="0"/>
              </a:p>
            </p:txBody>
          </p:sp>
        </mc:Choice>
        <mc:Fallback xmlns="">
          <p:sp>
            <p:nvSpPr>
              <p:cNvPr id="47" name="TextBox 46"/>
              <p:cNvSpPr txBox="1">
                <a:spLocks noRot="1" noChangeAspect="1" noMove="1" noResize="1" noEditPoints="1" noAdjustHandles="1" noChangeArrowheads="1" noChangeShapeType="1" noTextEdit="1"/>
              </p:cNvSpPr>
              <p:nvPr/>
            </p:nvSpPr>
            <p:spPr>
              <a:xfrm>
                <a:off x="4960683" y="3751220"/>
                <a:ext cx="940165" cy="461665"/>
              </a:xfrm>
              <a:prstGeom prst="rect">
                <a:avLst/>
              </a:prstGeom>
              <a:blipFill rotWithShape="0">
                <a:blip r:embed="rId16"/>
                <a:stretch>
                  <a:fillRect l="-1948" b="-11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ED2D484A-B96A-AE0B-7DA5-0CABD654AA89}"/>
                  </a:ext>
                </a:extLst>
              </p:cNvPr>
              <p:cNvSpPr txBox="1"/>
              <p:nvPr/>
            </p:nvSpPr>
            <p:spPr>
              <a:xfrm>
                <a:off x="150496" y="4407198"/>
                <a:ext cx="953035"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b="0" i="0" smtClean="0">
                              <a:solidFill>
                                <a:srgbClr val="002060"/>
                              </a:solidFill>
                              <a:latin typeface="Cambria Math" panose="02040503050406030204" pitchFamily="18" charset="0"/>
                            </a:rPr>
                            <m:t>d</m:t>
                          </m:r>
                          <m:r>
                            <a:rPr lang="en-US" sz="240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e</m:t>
                          </m:r>
                        </m:e>
                      </m:d>
                    </m:oMath>
                  </m:oMathPara>
                </a14:m>
                <a:endParaRPr lang="en-IN" sz="2400" dirty="0"/>
              </a:p>
            </p:txBody>
          </p:sp>
        </mc:Choice>
        <mc:Fallback xmlns="">
          <p:sp>
            <p:nvSpPr>
              <p:cNvPr id="56" name="TextBox 55"/>
              <p:cNvSpPr txBox="1">
                <a:spLocks noRot="1" noChangeAspect="1" noMove="1" noResize="1" noEditPoints="1" noAdjustHandles="1" noChangeArrowheads="1" noChangeShapeType="1" noTextEdit="1"/>
              </p:cNvSpPr>
              <p:nvPr/>
            </p:nvSpPr>
            <p:spPr>
              <a:xfrm>
                <a:off x="150496" y="4407198"/>
                <a:ext cx="953035" cy="461665"/>
              </a:xfrm>
              <a:prstGeom prst="rect">
                <a:avLst/>
              </a:prstGeom>
              <a:blipFill rotWithShape="0">
                <a:blip r:embed="rId17"/>
                <a:stretch>
                  <a:fillRect l="-1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DC7177F0-0B95-D23C-CF0B-6A801131F0E3}"/>
                  </a:ext>
                </a:extLst>
              </p:cNvPr>
              <p:cNvSpPr txBox="1"/>
              <p:nvPr/>
            </p:nvSpPr>
            <p:spPr>
              <a:xfrm>
                <a:off x="1723125" y="4433598"/>
                <a:ext cx="909900"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b="0" i="0" smtClean="0">
                              <a:solidFill>
                                <a:srgbClr val="002060"/>
                              </a:solidFill>
                              <a:latin typeface="Cambria Math" panose="02040503050406030204" pitchFamily="18" charset="0"/>
                            </a:rPr>
                            <m:t>d</m:t>
                          </m:r>
                          <m:r>
                            <a:rPr lang="en-US" sz="2400" b="0" i="0" smtClean="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f</m:t>
                          </m:r>
                        </m:e>
                      </m:d>
                    </m:oMath>
                  </m:oMathPara>
                </a14:m>
                <a:endParaRPr lang="en-IN" sz="2400" dirty="0"/>
              </a:p>
            </p:txBody>
          </p:sp>
        </mc:Choice>
        <mc:Fallback xmlns="">
          <p:sp>
            <p:nvSpPr>
              <p:cNvPr id="77" name="TextBox 76"/>
              <p:cNvSpPr txBox="1">
                <a:spLocks noRot="1" noChangeAspect="1" noMove="1" noResize="1" noEditPoints="1" noAdjustHandles="1" noChangeArrowheads="1" noChangeShapeType="1" noTextEdit="1"/>
              </p:cNvSpPr>
              <p:nvPr/>
            </p:nvSpPr>
            <p:spPr>
              <a:xfrm>
                <a:off x="1723125" y="4433598"/>
                <a:ext cx="909900" cy="461665"/>
              </a:xfrm>
              <a:prstGeom prst="rect">
                <a:avLst/>
              </a:prstGeom>
              <a:blipFill rotWithShape="0">
                <a:blip r:embed="rId18"/>
                <a:stretch>
                  <a:fillRect l="-20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E588549E-B23F-5F2B-3A01-F61B0AED430F}"/>
                  </a:ext>
                </a:extLst>
              </p:cNvPr>
              <p:cNvSpPr txBox="1"/>
              <p:nvPr/>
            </p:nvSpPr>
            <p:spPr>
              <a:xfrm>
                <a:off x="3391518" y="4404708"/>
                <a:ext cx="931796"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b="0" i="0" smtClean="0">
                              <a:solidFill>
                                <a:srgbClr val="002060"/>
                              </a:solidFill>
                              <a:latin typeface="Cambria Math" panose="02040503050406030204" pitchFamily="18" charset="0"/>
                            </a:rPr>
                            <m:t>d</m:t>
                          </m:r>
                          <m:r>
                            <a:rPr lang="en-US" sz="2400" b="0" i="1" smtClean="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g</m:t>
                          </m:r>
                        </m:e>
                      </m:d>
                    </m:oMath>
                  </m:oMathPara>
                </a14:m>
                <a:endParaRPr lang="en-IN" sz="2400" dirty="0"/>
              </a:p>
            </p:txBody>
          </p:sp>
        </mc:Choice>
        <mc:Fallback xmlns="">
          <p:sp>
            <p:nvSpPr>
              <p:cNvPr id="78" name="TextBox 77"/>
              <p:cNvSpPr txBox="1">
                <a:spLocks noRot="1" noChangeAspect="1" noMove="1" noResize="1" noEditPoints="1" noAdjustHandles="1" noChangeArrowheads="1" noChangeShapeType="1" noTextEdit="1"/>
              </p:cNvSpPr>
              <p:nvPr/>
            </p:nvSpPr>
            <p:spPr>
              <a:xfrm>
                <a:off x="3391518" y="4404708"/>
                <a:ext cx="931796" cy="461665"/>
              </a:xfrm>
              <a:prstGeom prst="rect">
                <a:avLst/>
              </a:prstGeom>
              <a:blipFill rotWithShape="0">
                <a:blip r:embed="rId19"/>
                <a:stretch>
                  <a:fillRect l="-1961" b="-1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031167DB-4A17-BBCF-8F7A-A0253320E942}"/>
                  </a:ext>
                </a:extLst>
              </p:cNvPr>
              <p:cNvSpPr txBox="1"/>
              <p:nvPr/>
            </p:nvSpPr>
            <p:spPr>
              <a:xfrm>
                <a:off x="1691508" y="5076150"/>
                <a:ext cx="93160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b="0" i="0" smtClean="0">
                              <a:solidFill>
                                <a:srgbClr val="002060"/>
                              </a:solidFill>
                              <a:latin typeface="Cambria Math" panose="02040503050406030204" pitchFamily="18" charset="0"/>
                            </a:rPr>
                            <m:t>e</m:t>
                          </m:r>
                          <m:r>
                            <a:rPr lang="en-US" sz="2400" b="0" i="0" smtClean="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g</m:t>
                          </m:r>
                        </m:e>
                      </m:d>
                    </m:oMath>
                  </m:oMathPara>
                </a14:m>
                <a:endParaRPr lang="en-IN" sz="2400" dirty="0"/>
              </a:p>
            </p:txBody>
          </p:sp>
        </mc:Choice>
        <mc:Fallback xmlns="">
          <p:sp>
            <p:nvSpPr>
              <p:cNvPr id="79" name="TextBox 78"/>
              <p:cNvSpPr txBox="1">
                <a:spLocks noRot="1" noChangeAspect="1" noMove="1" noResize="1" noEditPoints="1" noAdjustHandles="1" noChangeArrowheads="1" noChangeShapeType="1" noTextEdit="1"/>
              </p:cNvSpPr>
              <p:nvPr/>
            </p:nvSpPr>
            <p:spPr>
              <a:xfrm>
                <a:off x="1691508" y="5076150"/>
                <a:ext cx="931608" cy="461665"/>
              </a:xfrm>
              <a:prstGeom prst="rect">
                <a:avLst/>
              </a:prstGeom>
              <a:blipFill rotWithShape="0">
                <a:blip r:embed="rId20"/>
                <a:stretch>
                  <a:fillRect l="-1961" b="-1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43A72276-8081-D1B0-B9AD-0A34539FC63F}"/>
                  </a:ext>
                </a:extLst>
              </p:cNvPr>
              <p:cNvSpPr txBox="1"/>
              <p:nvPr/>
            </p:nvSpPr>
            <p:spPr>
              <a:xfrm>
                <a:off x="167426" y="5078640"/>
                <a:ext cx="936106"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b="0" i="0" smtClean="0">
                              <a:solidFill>
                                <a:srgbClr val="002060"/>
                              </a:solidFill>
                              <a:latin typeface="Cambria Math" panose="02040503050406030204" pitchFamily="18" charset="0"/>
                            </a:rPr>
                            <m:t>e</m:t>
                          </m:r>
                          <m:r>
                            <a:rPr lang="en-US" sz="240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f</m:t>
                          </m:r>
                        </m:e>
                      </m:d>
                    </m:oMath>
                  </m:oMathPara>
                </a14:m>
                <a:endParaRPr lang="en-IN" sz="2400" dirty="0"/>
              </a:p>
            </p:txBody>
          </p:sp>
        </mc:Choice>
        <mc:Fallback xmlns="">
          <p:sp>
            <p:nvSpPr>
              <p:cNvPr id="80" name="TextBox 79"/>
              <p:cNvSpPr txBox="1">
                <a:spLocks noRot="1" noChangeAspect="1" noMove="1" noResize="1" noEditPoints="1" noAdjustHandles="1" noChangeArrowheads="1" noChangeShapeType="1" noTextEdit="1"/>
              </p:cNvSpPr>
              <p:nvPr/>
            </p:nvSpPr>
            <p:spPr>
              <a:xfrm>
                <a:off x="167426" y="5078640"/>
                <a:ext cx="936106" cy="461665"/>
              </a:xfrm>
              <a:prstGeom prst="rect">
                <a:avLst/>
              </a:prstGeom>
              <a:blipFill rotWithShape="0">
                <a:blip r:embed="rId21"/>
                <a:stretch>
                  <a:fillRect l="-19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828D7959-A269-FE12-9E90-56A77E7CB9F3}"/>
                  </a:ext>
                </a:extLst>
              </p:cNvPr>
              <p:cNvSpPr txBox="1"/>
              <p:nvPr/>
            </p:nvSpPr>
            <p:spPr>
              <a:xfrm>
                <a:off x="3423045" y="5070190"/>
                <a:ext cx="936106"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b="0" i="0" smtClean="0">
                              <a:solidFill>
                                <a:srgbClr val="002060"/>
                              </a:solidFill>
                              <a:latin typeface="Cambria Math" panose="02040503050406030204" pitchFamily="18" charset="0"/>
                            </a:rPr>
                            <m:t>f</m:t>
                          </m:r>
                          <m:r>
                            <a:rPr lang="en-US" sz="240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g</m:t>
                          </m:r>
                        </m:e>
                      </m:d>
                    </m:oMath>
                  </m:oMathPara>
                </a14:m>
                <a:endParaRPr lang="en-IN" sz="2400" dirty="0"/>
              </a:p>
            </p:txBody>
          </p:sp>
        </mc:Choice>
        <mc:Fallback xmlns="">
          <p:sp>
            <p:nvSpPr>
              <p:cNvPr id="81" name="TextBox 80">
                <a:extLst>
                  <a:ext uri="{FF2B5EF4-FFF2-40B4-BE49-F238E27FC236}">
                    <a16:creationId xmlns:a16="http://schemas.microsoft.com/office/drawing/2014/main" id="{828D7959-A269-FE12-9E90-56A77E7CB9F3}"/>
                  </a:ext>
                </a:extLst>
              </p:cNvPr>
              <p:cNvSpPr txBox="1">
                <a:spLocks noRot="1" noChangeAspect="1" noMove="1" noResize="1" noEditPoints="1" noAdjustHandles="1" noChangeArrowheads="1" noChangeShapeType="1" noTextEdit="1"/>
              </p:cNvSpPr>
              <p:nvPr/>
            </p:nvSpPr>
            <p:spPr>
              <a:xfrm>
                <a:off x="3423045" y="5070190"/>
                <a:ext cx="936106" cy="461665"/>
              </a:xfrm>
              <a:prstGeom prst="rect">
                <a:avLst/>
              </a:prstGeom>
              <a:blipFill>
                <a:blip r:embed="rId22"/>
                <a:stretch>
                  <a:fillRect l="-1961" b="-12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F27DF48C-67C1-509A-D4ED-8C4A803EA4FA}"/>
                  </a:ext>
                </a:extLst>
              </p:cNvPr>
              <p:cNvSpPr txBox="1"/>
              <p:nvPr/>
            </p:nvSpPr>
            <p:spPr>
              <a:xfrm>
                <a:off x="1109096" y="2506122"/>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=4</m:t>
                      </m:r>
                    </m:oMath>
                  </m:oMathPara>
                </a14:m>
                <a:endParaRPr lang="en-IN" sz="2400" dirty="0">
                  <a:solidFill>
                    <a:srgbClr val="002060"/>
                  </a:solidFill>
                  <a:latin typeface="Cambria Math" panose="02040503050406030204" pitchFamily="18" charset="0"/>
                </a:endParaRPr>
              </a:p>
            </p:txBody>
          </p:sp>
        </mc:Choice>
        <mc:Fallback xmlns="">
          <p:sp>
            <p:nvSpPr>
              <p:cNvPr id="83" name="TextBox 82">
                <a:extLst>
                  <a:ext uri="{FF2B5EF4-FFF2-40B4-BE49-F238E27FC236}">
                    <a16:creationId xmlns:a16="http://schemas.microsoft.com/office/drawing/2014/main" id="{F27DF48C-67C1-509A-D4ED-8C4A803EA4FA}"/>
                  </a:ext>
                </a:extLst>
              </p:cNvPr>
              <p:cNvSpPr txBox="1">
                <a:spLocks noRot="1" noChangeAspect="1" noMove="1" noResize="1" noEditPoints="1" noAdjustHandles="1" noChangeArrowheads="1" noChangeShapeType="1" noTextEdit="1"/>
              </p:cNvSpPr>
              <p:nvPr/>
            </p:nvSpPr>
            <p:spPr>
              <a:xfrm>
                <a:off x="1109096" y="2506122"/>
                <a:ext cx="621048" cy="461665"/>
              </a:xfrm>
              <a:prstGeom prst="rect">
                <a:avLst/>
              </a:prstGeom>
              <a:blipFill>
                <a:blip r:embed="rId23"/>
                <a:stretch>
                  <a:fillRect r="-882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4F4AF25F-04C1-0686-A578-E5FB1A5B665F}"/>
                  </a:ext>
                </a:extLst>
              </p:cNvPr>
              <p:cNvSpPr txBox="1"/>
              <p:nvPr/>
            </p:nvSpPr>
            <p:spPr>
              <a:xfrm>
                <a:off x="2625773" y="2513677"/>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=1</m:t>
                      </m:r>
                    </m:oMath>
                  </m:oMathPara>
                </a14:m>
                <a:endParaRPr lang="en-IN" sz="2400" dirty="0">
                  <a:solidFill>
                    <a:srgbClr val="002060"/>
                  </a:solidFill>
                  <a:latin typeface="Cambria Math" panose="02040503050406030204" pitchFamily="18" charset="0"/>
                </a:endParaRPr>
              </a:p>
            </p:txBody>
          </p:sp>
        </mc:Choice>
        <mc:Fallback xmlns="">
          <p:sp>
            <p:nvSpPr>
              <p:cNvPr id="85" name="TextBox 84"/>
              <p:cNvSpPr txBox="1">
                <a:spLocks noRot="1" noChangeAspect="1" noMove="1" noResize="1" noEditPoints="1" noAdjustHandles="1" noChangeArrowheads="1" noChangeShapeType="1" noTextEdit="1"/>
              </p:cNvSpPr>
              <p:nvPr/>
            </p:nvSpPr>
            <p:spPr>
              <a:xfrm>
                <a:off x="2625773" y="2513677"/>
                <a:ext cx="621048" cy="461665"/>
              </a:xfrm>
              <a:prstGeom prst="rect">
                <a:avLst/>
              </a:prstGeom>
              <a:blipFill rotWithShape="0">
                <a:blip r:embed="rId24"/>
                <a:stretch>
                  <a:fillRect r="-88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59061180-D3B2-B4D0-A4CC-4C4DFC55D676}"/>
                  </a:ext>
                </a:extLst>
              </p:cNvPr>
              <p:cNvSpPr txBox="1"/>
              <p:nvPr/>
            </p:nvSpPr>
            <p:spPr>
              <a:xfrm>
                <a:off x="4329663" y="2512839"/>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=3</m:t>
                      </m:r>
                    </m:oMath>
                  </m:oMathPara>
                </a14:m>
                <a:endParaRPr lang="en-IN" sz="2400" dirty="0">
                  <a:solidFill>
                    <a:srgbClr val="002060"/>
                  </a:solidFill>
                  <a:latin typeface="Cambria Math" panose="02040503050406030204" pitchFamily="18" charset="0"/>
                </a:endParaRPr>
              </a:p>
            </p:txBody>
          </p:sp>
        </mc:Choice>
        <mc:Fallback xmlns="">
          <p:sp>
            <p:nvSpPr>
              <p:cNvPr id="86" name="TextBox 85">
                <a:extLst>
                  <a:ext uri="{FF2B5EF4-FFF2-40B4-BE49-F238E27FC236}">
                    <a16:creationId xmlns:a16="http://schemas.microsoft.com/office/drawing/2014/main" id="{59061180-D3B2-B4D0-A4CC-4C4DFC55D676}"/>
                  </a:ext>
                </a:extLst>
              </p:cNvPr>
              <p:cNvSpPr txBox="1">
                <a:spLocks noRot="1" noChangeAspect="1" noMove="1" noResize="1" noEditPoints="1" noAdjustHandles="1" noChangeArrowheads="1" noChangeShapeType="1" noTextEdit="1"/>
              </p:cNvSpPr>
              <p:nvPr/>
            </p:nvSpPr>
            <p:spPr>
              <a:xfrm>
                <a:off x="4329663" y="2512839"/>
                <a:ext cx="621048" cy="461665"/>
              </a:xfrm>
              <a:prstGeom prst="rect">
                <a:avLst/>
              </a:prstGeom>
              <a:blipFill>
                <a:blip r:embed="rId25"/>
                <a:stretch>
                  <a:fillRect r="-980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22FA38B8-3CB1-19CC-921F-1609DD514D2F}"/>
                  </a:ext>
                </a:extLst>
              </p:cNvPr>
              <p:cNvSpPr txBox="1"/>
              <p:nvPr/>
            </p:nvSpPr>
            <p:spPr>
              <a:xfrm>
                <a:off x="5816013" y="2511853"/>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=3</m:t>
                      </m:r>
                    </m:oMath>
                  </m:oMathPara>
                </a14:m>
                <a:endParaRPr lang="en-IN" sz="2400" dirty="0">
                  <a:solidFill>
                    <a:srgbClr val="002060"/>
                  </a:solidFill>
                  <a:latin typeface="Cambria Math" panose="02040503050406030204" pitchFamily="18" charset="0"/>
                </a:endParaRPr>
              </a:p>
            </p:txBody>
          </p:sp>
        </mc:Choice>
        <mc:Fallback xmlns="">
          <p:sp>
            <p:nvSpPr>
              <p:cNvPr id="87" name="TextBox 86"/>
              <p:cNvSpPr txBox="1">
                <a:spLocks noRot="1" noChangeAspect="1" noMove="1" noResize="1" noEditPoints="1" noAdjustHandles="1" noChangeArrowheads="1" noChangeShapeType="1" noTextEdit="1"/>
              </p:cNvSpPr>
              <p:nvPr/>
            </p:nvSpPr>
            <p:spPr>
              <a:xfrm>
                <a:off x="5816013" y="2511853"/>
                <a:ext cx="621048" cy="461665"/>
              </a:xfrm>
              <a:prstGeom prst="rect">
                <a:avLst/>
              </a:prstGeom>
              <a:blipFill rotWithShape="0">
                <a:blip r:embed="rId26"/>
                <a:stretch>
                  <a:fillRect r="-98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58A08220-8B49-6860-0566-3938DF35AD46}"/>
                  </a:ext>
                </a:extLst>
              </p:cNvPr>
              <p:cNvSpPr txBox="1"/>
              <p:nvPr/>
            </p:nvSpPr>
            <p:spPr>
              <a:xfrm>
                <a:off x="7548452" y="2505284"/>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=2</m:t>
                      </m:r>
                    </m:oMath>
                  </m:oMathPara>
                </a14:m>
                <a:endParaRPr lang="en-IN" sz="2400" dirty="0">
                  <a:solidFill>
                    <a:srgbClr val="002060"/>
                  </a:solidFill>
                  <a:latin typeface="Cambria Math" panose="02040503050406030204" pitchFamily="18" charset="0"/>
                </a:endParaRPr>
              </a:p>
            </p:txBody>
          </p:sp>
        </mc:Choice>
        <mc:Fallback xmlns="">
          <p:sp>
            <p:nvSpPr>
              <p:cNvPr id="88" name="TextBox 87">
                <a:extLst>
                  <a:ext uri="{FF2B5EF4-FFF2-40B4-BE49-F238E27FC236}">
                    <a16:creationId xmlns:a16="http://schemas.microsoft.com/office/drawing/2014/main" id="{58A08220-8B49-6860-0566-3938DF35AD46}"/>
                  </a:ext>
                </a:extLst>
              </p:cNvPr>
              <p:cNvSpPr txBox="1">
                <a:spLocks noRot="1" noChangeAspect="1" noMove="1" noResize="1" noEditPoints="1" noAdjustHandles="1" noChangeArrowheads="1" noChangeShapeType="1" noTextEdit="1"/>
              </p:cNvSpPr>
              <p:nvPr/>
            </p:nvSpPr>
            <p:spPr>
              <a:xfrm>
                <a:off x="7548452" y="2505284"/>
                <a:ext cx="621048" cy="461665"/>
              </a:xfrm>
              <a:prstGeom prst="rect">
                <a:avLst/>
              </a:prstGeom>
              <a:blipFill>
                <a:blip r:embed="rId27"/>
                <a:stretch>
                  <a:fillRect r="-980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5AF00D52-A251-69DE-DD6B-1C8425A0F65A}"/>
                  </a:ext>
                </a:extLst>
              </p:cNvPr>
              <p:cNvSpPr txBox="1"/>
              <p:nvPr/>
            </p:nvSpPr>
            <p:spPr>
              <a:xfrm>
                <a:off x="9069618" y="2511110"/>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=3</m:t>
                      </m:r>
                    </m:oMath>
                  </m:oMathPara>
                </a14:m>
                <a:endParaRPr lang="en-IN" sz="2400" dirty="0">
                  <a:solidFill>
                    <a:srgbClr val="002060"/>
                  </a:solidFill>
                  <a:latin typeface="Cambria Math" panose="02040503050406030204" pitchFamily="18" charset="0"/>
                </a:endParaRPr>
              </a:p>
            </p:txBody>
          </p:sp>
        </mc:Choice>
        <mc:Fallback xmlns="">
          <p:sp>
            <p:nvSpPr>
              <p:cNvPr id="89" name="TextBox 88"/>
              <p:cNvSpPr txBox="1">
                <a:spLocks noRot="1" noChangeAspect="1" noMove="1" noResize="1" noEditPoints="1" noAdjustHandles="1" noChangeArrowheads="1" noChangeShapeType="1" noTextEdit="1"/>
              </p:cNvSpPr>
              <p:nvPr/>
            </p:nvSpPr>
            <p:spPr>
              <a:xfrm>
                <a:off x="9069618" y="2511110"/>
                <a:ext cx="621048" cy="461665"/>
              </a:xfrm>
              <a:prstGeom prst="rect">
                <a:avLst/>
              </a:prstGeom>
              <a:blipFill rotWithShape="0">
                <a:blip r:embed="rId28"/>
                <a:stretch>
                  <a:fillRect r="-88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8CBB8CA0-BD16-C36A-904C-E372778C858A}"/>
                  </a:ext>
                </a:extLst>
              </p:cNvPr>
              <p:cNvSpPr txBox="1"/>
              <p:nvPr/>
            </p:nvSpPr>
            <p:spPr>
              <a:xfrm>
                <a:off x="1109096" y="3146110"/>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=3</m:t>
                      </m:r>
                    </m:oMath>
                  </m:oMathPara>
                </a14:m>
                <a:endParaRPr lang="en-IN" sz="2400" dirty="0">
                  <a:solidFill>
                    <a:srgbClr val="002060"/>
                  </a:solidFill>
                  <a:latin typeface="Cambria Math" panose="02040503050406030204" pitchFamily="18" charset="0"/>
                </a:endParaRPr>
              </a:p>
            </p:txBody>
          </p:sp>
        </mc:Choice>
        <mc:Fallback xmlns="">
          <p:sp>
            <p:nvSpPr>
              <p:cNvPr id="90" name="TextBox 89">
                <a:extLst>
                  <a:ext uri="{FF2B5EF4-FFF2-40B4-BE49-F238E27FC236}">
                    <a16:creationId xmlns:a16="http://schemas.microsoft.com/office/drawing/2014/main" id="{8CBB8CA0-BD16-C36A-904C-E372778C858A}"/>
                  </a:ext>
                </a:extLst>
              </p:cNvPr>
              <p:cNvSpPr txBox="1">
                <a:spLocks noRot="1" noChangeAspect="1" noMove="1" noResize="1" noEditPoints="1" noAdjustHandles="1" noChangeArrowheads="1" noChangeShapeType="1" noTextEdit="1"/>
              </p:cNvSpPr>
              <p:nvPr/>
            </p:nvSpPr>
            <p:spPr>
              <a:xfrm>
                <a:off x="1109096" y="3146110"/>
                <a:ext cx="621048" cy="461665"/>
              </a:xfrm>
              <a:prstGeom prst="rect">
                <a:avLst/>
              </a:prstGeom>
              <a:blipFill>
                <a:blip r:embed="rId29"/>
                <a:stretch>
                  <a:fillRect r="-882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69389693-E840-0B56-0C09-900AF52303B5}"/>
                  </a:ext>
                </a:extLst>
              </p:cNvPr>
              <p:cNvSpPr txBox="1"/>
              <p:nvPr/>
            </p:nvSpPr>
            <p:spPr>
              <a:xfrm>
                <a:off x="2625773" y="3148677"/>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=1</m:t>
                      </m:r>
                    </m:oMath>
                  </m:oMathPara>
                </a14:m>
                <a:endParaRPr lang="en-IN" sz="2400" dirty="0">
                  <a:solidFill>
                    <a:srgbClr val="002060"/>
                  </a:solidFill>
                  <a:latin typeface="Cambria Math" panose="02040503050406030204" pitchFamily="18" charset="0"/>
                </a:endParaRPr>
              </a:p>
            </p:txBody>
          </p:sp>
        </mc:Choice>
        <mc:Fallback xmlns="">
          <p:sp>
            <p:nvSpPr>
              <p:cNvPr id="91" name="TextBox 90">
                <a:extLst>
                  <a:ext uri="{FF2B5EF4-FFF2-40B4-BE49-F238E27FC236}">
                    <a16:creationId xmlns:a16="http://schemas.microsoft.com/office/drawing/2014/main" id="{69389693-E840-0B56-0C09-900AF52303B5}"/>
                  </a:ext>
                </a:extLst>
              </p:cNvPr>
              <p:cNvSpPr txBox="1">
                <a:spLocks noRot="1" noChangeAspect="1" noMove="1" noResize="1" noEditPoints="1" noAdjustHandles="1" noChangeArrowheads="1" noChangeShapeType="1" noTextEdit="1"/>
              </p:cNvSpPr>
              <p:nvPr/>
            </p:nvSpPr>
            <p:spPr>
              <a:xfrm>
                <a:off x="2625773" y="3148677"/>
                <a:ext cx="621048" cy="461665"/>
              </a:xfrm>
              <a:prstGeom prst="rect">
                <a:avLst/>
              </a:prstGeom>
              <a:blipFill>
                <a:blip r:embed="rId30"/>
                <a:stretch>
                  <a:fillRect r="-882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18B5E2FF-16CB-FAC2-4D0F-BF0B002F69D5}"/>
                  </a:ext>
                </a:extLst>
              </p:cNvPr>
              <p:cNvSpPr txBox="1"/>
              <p:nvPr/>
            </p:nvSpPr>
            <p:spPr>
              <a:xfrm>
                <a:off x="4320155" y="3146110"/>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=3</m:t>
                      </m:r>
                    </m:oMath>
                  </m:oMathPara>
                </a14:m>
                <a:endParaRPr lang="en-IN" sz="2400" dirty="0">
                  <a:solidFill>
                    <a:srgbClr val="002060"/>
                  </a:solidFill>
                  <a:latin typeface="Cambria Math" panose="02040503050406030204" pitchFamily="18" charset="0"/>
                </a:endParaRPr>
              </a:p>
            </p:txBody>
          </p:sp>
        </mc:Choice>
        <mc:Fallback xmlns="">
          <p:sp>
            <p:nvSpPr>
              <p:cNvPr id="92" name="TextBox 91">
                <a:extLst>
                  <a:ext uri="{FF2B5EF4-FFF2-40B4-BE49-F238E27FC236}">
                    <a16:creationId xmlns:a16="http://schemas.microsoft.com/office/drawing/2014/main" id="{18B5E2FF-16CB-FAC2-4D0F-BF0B002F69D5}"/>
                  </a:ext>
                </a:extLst>
              </p:cNvPr>
              <p:cNvSpPr txBox="1">
                <a:spLocks noRot="1" noChangeAspect="1" noMove="1" noResize="1" noEditPoints="1" noAdjustHandles="1" noChangeArrowheads="1" noChangeShapeType="1" noTextEdit="1"/>
              </p:cNvSpPr>
              <p:nvPr/>
            </p:nvSpPr>
            <p:spPr>
              <a:xfrm>
                <a:off x="4320155" y="3146110"/>
                <a:ext cx="621048" cy="461665"/>
              </a:xfrm>
              <a:prstGeom prst="rect">
                <a:avLst/>
              </a:prstGeom>
              <a:blipFill>
                <a:blip r:embed="rId31"/>
                <a:stretch>
                  <a:fillRect r="-882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9628D214-7E92-2018-86E8-9C66B0F13F88}"/>
                  </a:ext>
                </a:extLst>
              </p:cNvPr>
              <p:cNvSpPr txBox="1"/>
              <p:nvPr/>
            </p:nvSpPr>
            <p:spPr>
              <a:xfrm>
                <a:off x="5816013" y="3146853"/>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=2</m:t>
                      </m:r>
                    </m:oMath>
                  </m:oMathPara>
                </a14:m>
                <a:endParaRPr lang="en-IN" sz="2400" dirty="0">
                  <a:solidFill>
                    <a:srgbClr val="002060"/>
                  </a:solidFill>
                  <a:latin typeface="Cambria Math" panose="02040503050406030204" pitchFamily="18" charset="0"/>
                </a:endParaRPr>
              </a:p>
            </p:txBody>
          </p:sp>
        </mc:Choice>
        <mc:Fallback xmlns="">
          <p:sp>
            <p:nvSpPr>
              <p:cNvPr id="93" name="TextBox 92">
                <a:extLst>
                  <a:ext uri="{FF2B5EF4-FFF2-40B4-BE49-F238E27FC236}">
                    <a16:creationId xmlns:a16="http://schemas.microsoft.com/office/drawing/2014/main" id="{9628D214-7E92-2018-86E8-9C66B0F13F88}"/>
                  </a:ext>
                </a:extLst>
              </p:cNvPr>
              <p:cNvSpPr txBox="1">
                <a:spLocks noRot="1" noChangeAspect="1" noMove="1" noResize="1" noEditPoints="1" noAdjustHandles="1" noChangeArrowheads="1" noChangeShapeType="1" noTextEdit="1"/>
              </p:cNvSpPr>
              <p:nvPr/>
            </p:nvSpPr>
            <p:spPr>
              <a:xfrm>
                <a:off x="5816013" y="3146853"/>
                <a:ext cx="621048" cy="461665"/>
              </a:xfrm>
              <a:prstGeom prst="rect">
                <a:avLst/>
              </a:prstGeom>
              <a:blipFill>
                <a:blip r:embed="rId32"/>
                <a:stretch>
                  <a:fillRect r="-980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8F740326-F9D8-BA76-23C2-3BFD2B711F1C}"/>
                  </a:ext>
                </a:extLst>
              </p:cNvPr>
              <p:cNvSpPr txBox="1"/>
              <p:nvPr/>
            </p:nvSpPr>
            <p:spPr>
              <a:xfrm>
                <a:off x="7548452" y="3146110"/>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=3</m:t>
                      </m:r>
                    </m:oMath>
                  </m:oMathPara>
                </a14:m>
                <a:endParaRPr lang="en-IN" sz="2400" dirty="0">
                  <a:solidFill>
                    <a:srgbClr val="002060"/>
                  </a:solidFill>
                  <a:latin typeface="Cambria Math" panose="02040503050406030204" pitchFamily="18" charset="0"/>
                </a:endParaRPr>
              </a:p>
            </p:txBody>
          </p:sp>
        </mc:Choice>
        <mc:Fallback xmlns="">
          <p:sp>
            <p:nvSpPr>
              <p:cNvPr id="94" name="TextBox 93">
                <a:extLst>
                  <a:ext uri="{FF2B5EF4-FFF2-40B4-BE49-F238E27FC236}">
                    <a16:creationId xmlns:a16="http://schemas.microsoft.com/office/drawing/2014/main" id="{8F740326-F9D8-BA76-23C2-3BFD2B711F1C}"/>
                  </a:ext>
                </a:extLst>
              </p:cNvPr>
              <p:cNvSpPr txBox="1">
                <a:spLocks noRot="1" noChangeAspect="1" noMove="1" noResize="1" noEditPoints="1" noAdjustHandles="1" noChangeArrowheads="1" noChangeShapeType="1" noTextEdit="1"/>
              </p:cNvSpPr>
              <p:nvPr/>
            </p:nvSpPr>
            <p:spPr>
              <a:xfrm>
                <a:off x="7548452" y="3146110"/>
                <a:ext cx="621048" cy="461665"/>
              </a:xfrm>
              <a:prstGeom prst="rect">
                <a:avLst/>
              </a:prstGeom>
              <a:blipFill>
                <a:blip r:embed="rId33"/>
                <a:stretch>
                  <a:fillRect r="-980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658949BE-2615-2CE2-9488-A41F81D1B976}"/>
                  </a:ext>
                </a:extLst>
              </p:cNvPr>
              <p:cNvSpPr txBox="1"/>
              <p:nvPr/>
            </p:nvSpPr>
            <p:spPr>
              <a:xfrm>
                <a:off x="1068152" y="3789674"/>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=2</m:t>
                      </m:r>
                    </m:oMath>
                  </m:oMathPara>
                </a14:m>
                <a:endParaRPr lang="en-IN" sz="2400" dirty="0">
                  <a:solidFill>
                    <a:srgbClr val="002060"/>
                  </a:solidFill>
                  <a:latin typeface="Cambria Math" panose="02040503050406030204" pitchFamily="18" charset="0"/>
                </a:endParaRPr>
              </a:p>
            </p:txBody>
          </p:sp>
        </mc:Choice>
        <mc:Fallback xmlns="">
          <p:sp>
            <p:nvSpPr>
              <p:cNvPr id="82" name="TextBox 81">
                <a:extLst>
                  <a:ext uri="{FF2B5EF4-FFF2-40B4-BE49-F238E27FC236}">
                    <a16:creationId xmlns:a16="http://schemas.microsoft.com/office/drawing/2014/main" id="{658949BE-2615-2CE2-9488-A41F81D1B976}"/>
                  </a:ext>
                </a:extLst>
              </p:cNvPr>
              <p:cNvSpPr txBox="1">
                <a:spLocks noRot="1" noChangeAspect="1" noMove="1" noResize="1" noEditPoints="1" noAdjustHandles="1" noChangeArrowheads="1" noChangeShapeType="1" noTextEdit="1"/>
              </p:cNvSpPr>
              <p:nvPr/>
            </p:nvSpPr>
            <p:spPr>
              <a:xfrm>
                <a:off x="1068152" y="3789674"/>
                <a:ext cx="621048" cy="461665"/>
              </a:xfrm>
              <a:prstGeom prst="rect">
                <a:avLst/>
              </a:prstGeom>
              <a:blipFill>
                <a:blip r:embed="rId34"/>
                <a:stretch>
                  <a:fillRect r="-980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4333B3C3-DA1E-7A21-A159-26BD8889C88A}"/>
                  </a:ext>
                </a:extLst>
              </p:cNvPr>
              <p:cNvSpPr txBox="1"/>
              <p:nvPr/>
            </p:nvSpPr>
            <p:spPr>
              <a:xfrm>
                <a:off x="2625773" y="3780180"/>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=2</m:t>
                      </m:r>
                    </m:oMath>
                  </m:oMathPara>
                </a14:m>
                <a:endParaRPr lang="en-IN" sz="2400" dirty="0">
                  <a:solidFill>
                    <a:srgbClr val="002060"/>
                  </a:solidFill>
                  <a:latin typeface="Cambria Math" panose="02040503050406030204" pitchFamily="18" charset="0"/>
                </a:endParaRPr>
              </a:p>
            </p:txBody>
          </p:sp>
        </mc:Choice>
        <mc:Fallback xmlns="">
          <p:sp>
            <p:nvSpPr>
              <p:cNvPr id="84" name="TextBox 83"/>
              <p:cNvSpPr txBox="1">
                <a:spLocks noRot="1" noChangeAspect="1" noMove="1" noResize="1" noEditPoints="1" noAdjustHandles="1" noChangeArrowheads="1" noChangeShapeType="1" noTextEdit="1"/>
              </p:cNvSpPr>
              <p:nvPr/>
            </p:nvSpPr>
            <p:spPr>
              <a:xfrm>
                <a:off x="2625773" y="3780180"/>
                <a:ext cx="621048" cy="461665"/>
              </a:xfrm>
              <a:prstGeom prst="rect">
                <a:avLst/>
              </a:prstGeom>
              <a:blipFill rotWithShape="0">
                <a:blip r:embed="rId35"/>
                <a:stretch>
                  <a:fillRect r="-88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B28B41B7-E197-4120-E625-42FD663130BC}"/>
                  </a:ext>
                </a:extLst>
              </p:cNvPr>
              <p:cNvSpPr txBox="1"/>
              <p:nvPr/>
            </p:nvSpPr>
            <p:spPr>
              <a:xfrm>
                <a:off x="4320155" y="3777569"/>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=1</m:t>
                      </m:r>
                    </m:oMath>
                  </m:oMathPara>
                </a14:m>
                <a:endParaRPr lang="en-IN" sz="2400" dirty="0">
                  <a:solidFill>
                    <a:srgbClr val="002060"/>
                  </a:solidFill>
                  <a:latin typeface="Cambria Math" panose="02040503050406030204" pitchFamily="18" charset="0"/>
                </a:endParaRPr>
              </a:p>
            </p:txBody>
          </p:sp>
        </mc:Choice>
        <mc:Fallback xmlns="">
          <p:sp>
            <p:nvSpPr>
              <p:cNvPr id="95" name="TextBox 94">
                <a:extLst>
                  <a:ext uri="{FF2B5EF4-FFF2-40B4-BE49-F238E27FC236}">
                    <a16:creationId xmlns:a16="http://schemas.microsoft.com/office/drawing/2014/main" id="{B28B41B7-E197-4120-E625-42FD663130BC}"/>
                  </a:ext>
                </a:extLst>
              </p:cNvPr>
              <p:cNvSpPr txBox="1">
                <a:spLocks noRot="1" noChangeAspect="1" noMove="1" noResize="1" noEditPoints="1" noAdjustHandles="1" noChangeArrowheads="1" noChangeShapeType="1" noTextEdit="1"/>
              </p:cNvSpPr>
              <p:nvPr/>
            </p:nvSpPr>
            <p:spPr>
              <a:xfrm>
                <a:off x="4320155" y="3777569"/>
                <a:ext cx="621048" cy="461665"/>
              </a:xfrm>
              <a:prstGeom prst="rect">
                <a:avLst/>
              </a:prstGeom>
              <a:blipFill>
                <a:blip r:embed="rId36"/>
                <a:stretch>
                  <a:fillRect r="-882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744C41AB-0960-7F96-2349-3E50E2D47173}"/>
                  </a:ext>
                </a:extLst>
              </p:cNvPr>
              <p:cNvSpPr txBox="1"/>
              <p:nvPr/>
            </p:nvSpPr>
            <p:spPr>
              <a:xfrm>
                <a:off x="5816013" y="3778356"/>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=2</m:t>
                      </m:r>
                    </m:oMath>
                  </m:oMathPara>
                </a14:m>
                <a:endParaRPr lang="en-IN" sz="2400" dirty="0">
                  <a:solidFill>
                    <a:srgbClr val="002060"/>
                  </a:solidFill>
                  <a:latin typeface="Cambria Math" panose="02040503050406030204" pitchFamily="18" charset="0"/>
                </a:endParaRPr>
              </a:p>
            </p:txBody>
          </p:sp>
        </mc:Choice>
        <mc:Fallback xmlns="">
          <p:sp>
            <p:nvSpPr>
              <p:cNvPr id="96" name="TextBox 95"/>
              <p:cNvSpPr txBox="1">
                <a:spLocks noRot="1" noChangeAspect="1" noMove="1" noResize="1" noEditPoints="1" noAdjustHandles="1" noChangeArrowheads="1" noChangeShapeType="1" noTextEdit="1"/>
              </p:cNvSpPr>
              <p:nvPr/>
            </p:nvSpPr>
            <p:spPr>
              <a:xfrm>
                <a:off x="5816013" y="3778356"/>
                <a:ext cx="621048" cy="461665"/>
              </a:xfrm>
              <a:prstGeom prst="rect">
                <a:avLst/>
              </a:prstGeom>
              <a:blipFill rotWithShape="0">
                <a:blip r:embed="rId37"/>
                <a:stretch>
                  <a:fillRect r="-98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74E23042-89AA-D707-45B7-BE1B2C3D58CC}"/>
                  </a:ext>
                </a:extLst>
              </p:cNvPr>
              <p:cNvSpPr txBox="1"/>
              <p:nvPr/>
            </p:nvSpPr>
            <p:spPr>
              <a:xfrm>
                <a:off x="1068152" y="4409303"/>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=2</m:t>
                      </m:r>
                    </m:oMath>
                  </m:oMathPara>
                </a14:m>
                <a:endParaRPr lang="en-IN" sz="2400" dirty="0">
                  <a:solidFill>
                    <a:srgbClr val="002060"/>
                  </a:solidFill>
                  <a:latin typeface="Cambria Math" panose="02040503050406030204" pitchFamily="18" charset="0"/>
                </a:endParaRPr>
              </a:p>
            </p:txBody>
          </p:sp>
        </mc:Choice>
        <mc:Fallback xmlns="">
          <p:sp>
            <p:nvSpPr>
              <p:cNvPr id="98" name="TextBox 97">
                <a:extLst>
                  <a:ext uri="{FF2B5EF4-FFF2-40B4-BE49-F238E27FC236}">
                    <a16:creationId xmlns:a16="http://schemas.microsoft.com/office/drawing/2014/main" id="{74E23042-89AA-D707-45B7-BE1B2C3D58CC}"/>
                  </a:ext>
                </a:extLst>
              </p:cNvPr>
              <p:cNvSpPr txBox="1">
                <a:spLocks noRot="1" noChangeAspect="1" noMove="1" noResize="1" noEditPoints="1" noAdjustHandles="1" noChangeArrowheads="1" noChangeShapeType="1" noTextEdit="1"/>
              </p:cNvSpPr>
              <p:nvPr/>
            </p:nvSpPr>
            <p:spPr>
              <a:xfrm>
                <a:off x="1068152" y="4409303"/>
                <a:ext cx="621048" cy="461665"/>
              </a:xfrm>
              <a:prstGeom prst="rect">
                <a:avLst/>
              </a:prstGeom>
              <a:blipFill>
                <a:blip r:embed="rId38"/>
                <a:stretch>
                  <a:fillRect r="-980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3ECFE023-AB27-EBA0-CED7-A861E6D7CA03}"/>
                  </a:ext>
                </a:extLst>
              </p:cNvPr>
              <p:cNvSpPr txBox="1"/>
              <p:nvPr/>
            </p:nvSpPr>
            <p:spPr>
              <a:xfrm>
                <a:off x="2632401" y="4436165"/>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=1</m:t>
                      </m:r>
                    </m:oMath>
                  </m:oMathPara>
                </a14:m>
                <a:endParaRPr lang="en-IN" sz="2400" dirty="0">
                  <a:solidFill>
                    <a:srgbClr val="002060"/>
                  </a:solidFill>
                  <a:latin typeface="Cambria Math" panose="02040503050406030204" pitchFamily="18" charset="0"/>
                </a:endParaRPr>
              </a:p>
            </p:txBody>
          </p:sp>
        </mc:Choice>
        <mc:Fallback xmlns="">
          <p:sp>
            <p:nvSpPr>
              <p:cNvPr id="99" name="TextBox 98"/>
              <p:cNvSpPr txBox="1">
                <a:spLocks noRot="1" noChangeAspect="1" noMove="1" noResize="1" noEditPoints="1" noAdjustHandles="1" noChangeArrowheads="1" noChangeShapeType="1" noTextEdit="1"/>
              </p:cNvSpPr>
              <p:nvPr/>
            </p:nvSpPr>
            <p:spPr>
              <a:xfrm>
                <a:off x="2632401" y="4436165"/>
                <a:ext cx="621048" cy="461665"/>
              </a:xfrm>
              <a:prstGeom prst="rect">
                <a:avLst/>
              </a:prstGeom>
              <a:blipFill rotWithShape="0">
                <a:blip r:embed="rId39"/>
                <a:stretch>
                  <a:fillRect r="-88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64353FB4-3DB5-EDE9-F37D-77FF3B8F9C84}"/>
                  </a:ext>
                </a:extLst>
              </p:cNvPr>
              <p:cNvSpPr txBox="1"/>
              <p:nvPr/>
            </p:nvSpPr>
            <p:spPr>
              <a:xfrm>
                <a:off x="4323314" y="4433598"/>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=2</m:t>
                      </m:r>
                    </m:oMath>
                  </m:oMathPara>
                </a14:m>
                <a:endParaRPr lang="en-IN" sz="2400" dirty="0">
                  <a:solidFill>
                    <a:srgbClr val="002060"/>
                  </a:solidFill>
                  <a:latin typeface="Cambria Math" panose="02040503050406030204" pitchFamily="18" charset="0"/>
                </a:endParaRPr>
              </a:p>
            </p:txBody>
          </p:sp>
        </mc:Choice>
        <mc:Fallback xmlns="">
          <p:sp>
            <p:nvSpPr>
              <p:cNvPr id="100" name="TextBox 99">
                <a:extLst>
                  <a:ext uri="{FF2B5EF4-FFF2-40B4-BE49-F238E27FC236}">
                    <a16:creationId xmlns:a16="http://schemas.microsoft.com/office/drawing/2014/main" id="{64353FB4-3DB5-EDE9-F37D-77FF3B8F9C84}"/>
                  </a:ext>
                </a:extLst>
              </p:cNvPr>
              <p:cNvSpPr txBox="1">
                <a:spLocks noRot="1" noChangeAspect="1" noMove="1" noResize="1" noEditPoints="1" noAdjustHandles="1" noChangeArrowheads="1" noChangeShapeType="1" noTextEdit="1"/>
              </p:cNvSpPr>
              <p:nvPr/>
            </p:nvSpPr>
            <p:spPr>
              <a:xfrm>
                <a:off x="4323314" y="4433598"/>
                <a:ext cx="621048" cy="461665"/>
              </a:xfrm>
              <a:prstGeom prst="rect">
                <a:avLst/>
              </a:prstGeom>
              <a:blipFill>
                <a:blip r:embed="rId40"/>
                <a:stretch>
                  <a:fillRect r="-980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7EF0DEF1-5506-4945-0E3B-08A228F07AE0}"/>
                  </a:ext>
                </a:extLst>
              </p:cNvPr>
              <p:cNvSpPr txBox="1"/>
              <p:nvPr/>
            </p:nvSpPr>
            <p:spPr>
              <a:xfrm>
                <a:off x="1044346" y="5073397"/>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=1</m:t>
                      </m:r>
                    </m:oMath>
                  </m:oMathPara>
                </a14:m>
                <a:endParaRPr lang="en-IN" sz="2400" dirty="0">
                  <a:solidFill>
                    <a:srgbClr val="002060"/>
                  </a:solidFill>
                  <a:latin typeface="Cambria Math" panose="02040503050406030204" pitchFamily="18" charset="0"/>
                </a:endParaRPr>
              </a:p>
            </p:txBody>
          </p:sp>
        </mc:Choice>
        <mc:Fallback xmlns="">
          <p:sp>
            <p:nvSpPr>
              <p:cNvPr id="101" name="TextBox 100">
                <a:extLst>
                  <a:ext uri="{FF2B5EF4-FFF2-40B4-BE49-F238E27FC236}">
                    <a16:creationId xmlns:a16="http://schemas.microsoft.com/office/drawing/2014/main" id="{7EF0DEF1-5506-4945-0E3B-08A228F07AE0}"/>
                  </a:ext>
                </a:extLst>
              </p:cNvPr>
              <p:cNvSpPr txBox="1">
                <a:spLocks noRot="1" noChangeAspect="1" noMove="1" noResize="1" noEditPoints="1" noAdjustHandles="1" noChangeArrowheads="1" noChangeShapeType="1" noTextEdit="1"/>
              </p:cNvSpPr>
              <p:nvPr/>
            </p:nvSpPr>
            <p:spPr>
              <a:xfrm>
                <a:off x="1044346" y="5073397"/>
                <a:ext cx="621048" cy="461665"/>
              </a:xfrm>
              <a:prstGeom prst="rect">
                <a:avLst/>
              </a:prstGeom>
              <a:blipFill>
                <a:blip r:embed="rId41"/>
                <a:stretch>
                  <a:fillRect r="-980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B05A911C-1A21-A806-C8B5-F32EF3FE1B0F}"/>
                  </a:ext>
                </a:extLst>
              </p:cNvPr>
              <p:cNvSpPr txBox="1"/>
              <p:nvPr/>
            </p:nvSpPr>
            <p:spPr>
              <a:xfrm>
                <a:off x="2625773" y="5080048"/>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=2</m:t>
                      </m:r>
                    </m:oMath>
                  </m:oMathPara>
                </a14:m>
                <a:endParaRPr lang="en-IN" sz="2400" dirty="0">
                  <a:solidFill>
                    <a:srgbClr val="002060"/>
                  </a:solidFill>
                  <a:latin typeface="Cambria Math" panose="02040503050406030204" pitchFamily="18" charset="0"/>
                </a:endParaRPr>
              </a:p>
            </p:txBody>
          </p:sp>
        </mc:Choice>
        <mc:Fallback xmlns="">
          <p:sp>
            <p:nvSpPr>
              <p:cNvPr id="102" name="TextBox 101">
                <a:extLst>
                  <a:ext uri="{FF2B5EF4-FFF2-40B4-BE49-F238E27FC236}">
                    <a16:creationId xmlns:a16="http://schemas.microsoft.com/office/drawing/2014/main" id="{B05A911C-1A21-A806-C8B5-F32EF3FE1B0F}"/>
                  </a:ext>
                </a:extLst>
              </p:cNvPr>
              <p:cNvSpPr txBox="1">
                <a:spLocks noRot="1" noChangeAspect="1" noMove="1" noResize="1" noEditPoints="1" noAdjustHandles="1" noChangeArrowheads="1" noChangeShapeType="1" noTextEdit="1"/>
              </p:cNvSpPr>
              <p:nvPr/>
            </p:nvSpPr>
            <p:spPr>
              <a:xfrm>
                <a:off x="2625773" y="5080048"/>
                <a:ext cx="621048" cy="461665"/>
              </a:xfrm>
              <a:prstGeom prst="rect">
                <a:avLst/>
              </a:prstGeom>
              <a:blipFill>
                <a:blip r:embed="rId42"/>
                <a:stretch>
                  <a:fillRect r="-882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57D39447-80B2-1EEB-C624-06302A493931}"/>
                  </a:ext>
                </a:extLst>
              </p:cNvPr>
              <p:cNvSpPr txBox="1"/>
              <p:nvPr/>
            </p:nvSpPr>
            <p:spPr>
              <a:xfrm>
                <a:off x="4299965" y="5077271"/>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=1</m:t>
                      </m:r>
                    </m:oMath>
                  </m:oMathPara>
                </a14:m>
                <a:endParaRPr lang="en-IN" sz="2400" dirty="0">
                  <a:solidFill>
                    <a:srgbClr val="002060"/>
                  </a:solidFill>
                  <a:latin typeface="Cambria Math" panose="02040503050406030204" pitchFamily="18" charset="0"/>
                </a:endParaRPr>
              </a:p>
            </p:txBody>
          </p:sp>
        </mc:Choice>
        <mc:Fallback xmlns="">
          <p:sp>
            <p:nvSpPr>
              <p:cNvPr id="103" name="TextBox 102">
                <a:extLst>
                  <a:ext uri="{FF2B5EF4-FFF2-40B4-BE49-F238E27FC236}">
                    <a16:creationId xmlns:a16="http://schemas.microsoft.com/office/drawing/2014/main" id="{57D39447-80B2-1EEB-C624-06302A493931}"/>
                  </a:ext>
                </a:extLst>
              </p:cNvPr>
              <p:cNvSpPr txBox="1">
                <a:spLocks noRot="1" noChangeAspect="1" noMove="1" noResize="1" noEditPoints="1" noAdjustHandles="1" noChangeArrowheads="1" noChangeShapeType="1" noTextEdit="1"/>
              </p:cNvSpPr>
              <p:nvPr/>
            </p:nvSpPr>
            <p:spPr>
              <a:xfrm>
                <a:off x="4299965" y="5077271"/>
                <a:ext cx="621048" cy="461665"/>
              </a:xfrm>
              <a:prstGeom prst="rect">
                <a:avLst/>
              </a:prstGeom>
              <a:blipFill>
                <a:blip r:embed="rId43"/>
                <a:stretch>
                  <a:fillRect r="-980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15" name="Table 14">
                <a:extLst>
                  <a:ext uri="{FF2B5EF4-FFF2-40B4-BE49-F238E27FC236}">
                    <a16:creationId xmlns:a16="http://schemas.microsoft.com/office/drawing/2014/main" id="{D36C9E2D-C963-5B98-B7CA-141894FC2D93}"/>
                  </a:ext>
                </a:extLst>
              </p:cNvPr>
              <p:cNvGraphicFramePr>
                <a:graphicFrameLocks noGrp="1"/>
              </p:cNvGraphicFramePr>
              <p:nvPr/>
            </p:nvGraphicFramePr>
            <p:xfrm>
              <a:off x="121446" y="5672870"/>
              <a:ext cx="9539999" cy="565714"/>
            </p:xfrm>
            <a:graphic>
              <a:graphicData uri="http://schemas.openxmlformats.org/drawingml/2006/table">
                <a:tbl>
                  <a:tblPr firstRow="1" bandRow="1">
                    <a:tableStyleId>{5C22544A-7EE6-4342-B048-85BDC9FD1C3A}</a:tableStyleId>
                  </a:tblPr>
                  <a:tblGrid>
                    <a:gridCol w="1362857">
                      <a:extLst>
                        <a:ext uri="{9D8B030D-6E8A-4147-A177-3AD203B41FA5}">
                          <a16:colId xmlns:a16="http://schemas.microsoft.com/office/drawing/2014/main" val="2573274369"/>
                        </a:ext>
                      </a:extLst>
                    </a:gridCol>
                    <a:gridCol w="1362857">
                      <a:extLst>
                        <a:ext uri="{9D8B030D-6E8A-4147-A177-3AD203B41FA5}">
                          <a16:colId xmlns:a16="http://schemas.microsoft.com/office/drawing/2014/main" val="4051045428"/>
                        </a:ext>
                      </a:extLst>
                    </a:gridCol>
                    <a:gridCol w="1362857">
                      <a:extLst>
                        <a:ext uri="{9D8B030D-6E8A-4147-A177-3AD203B41FA5}">
                          <a16:colId xmlns:a16="http://schemas.microsoft.com/office/drawing/2014/main" val="1541333607"/>
                        </a:ext>
                      </a:extLst>
                    </a:gridCol>
                    <a:gridCol w="1362857">
                      <a:extLst>
                        <a:ext uri="{9D8B030D-6E8A-4147-A177-3AD203B41FA5}">
                          <a16:colId xmlns:a16="http://schemas.microsoft.com/office/drawing/2014/main" val="535765769"/>
                        </a:ext>
                      </a:extLst>
                    </a:gridCol>
                    <a:gridCol w="1362857">
                      <a:extLst>
                        <a:ext uri="{9D8B030D-6E8A-4147-A177-3AD203B41FA5}">
                          <a16:colId xmlns:a16="http://schemas.microsoft.com/office/drawing/2014/main" val="3481627474"/>
                        </a:ext>
                      </a:extLst>
                    </a:gridCol>
                    <a:gridCol w="1362857">
                      <a:extLst>
                        <a:ext uri="{9D8B030D-6E8A-4147-A177-3AD203B41FA5}">
                          <a16:colId xmlns:a16="http://schemas.microsoft.com/office/drawing/2014/main" val="676072984"/>
                        </a:ext>
                      </a:extLst>
                    </a:gridCol>
                    <a:gridCol w="1362857">
                      <a:extLst>
                        <a:ext uri="{9D8B030D-6E8A-4147-A177-3AD203B41FA5}">
                          <a16:colId xmlns:a16="http://schemas.microsoft.com/office/drawing/2014/main" val="2065311432"/>
                        </a:ext>
                      </a:extLst>
                    </a:gridCol>
                  </a:tblGrid>
                  <a:tr h="565714">
                    <a:tc>
                      <a:txBody>
                        <a:bodyPr/>
                        <a:lstStyle/>
                        <a:p>
                          <a:pPr algn="l"/>
                          <a14:m>
                            <m:oMathPara xmlns:m="http://schemas.openxmlformats.org/officeDocument/2006/math">
                              <m:oMathParaPr>
                                <m:jc m:val="left"/>
                              </m:oMathParaPr>
                              <m:oMath xmlns:m="http://schemas.openxmlformats.org/officeDocument/2006/math">
                                <m:r>
                                  <a:rPr lang="en-IN" sz="2400" kern="1200" smtClean="0">
                                    <a:solidFill>
                                      <a:srgbClr val="002060"/>
                                    </a:solidFill>
                                    <a:latin typeface="Cambria Math" panose="02040503050406030204" pitchFamily="18" charset="0"/>
                                    <a:ea typeface="+mn-ea"/>
                                    <a:cs typeface="+mn-cs"/>
                                  </a:rPr>
                                  <m:t>𝐞</m:t>
                                </m:r>
                                <m:d>
                                  <m:dPr>
                                    <m:ctrlPr>
                                      <a:rPr lang="en-IN" sz="2400" i="1" kern="1200" smtClean="0">
                                        <a:solidFill>
                                          <a:srgbClr val="002060"/>
                                        </a:solidFill>
                                        <a:latin typeface="Cambria Math" panose="02040503050406030204" pitchFamily="18" charset="0"/>
                                        <a:ea typeface="+mn-ea"/>
                                        <a:cs typeface="+mn-cs"/>
                                      </a:rPr>
                                    </m:ctrlPr>
                                  </m:dPr>
                                  <m:e>
                                    <m:r>
                                      <a:rPr lang="en-IN" sz="2400" kern="1200" smtClean="0">
                                        <a:solidFill>
                                          <a:srgbClr val="002060"/>
                                        </a:solidFill>
                                        <a:latin typeface="Cambria Math" panose="02040503050406030204" pitchFamily="18" charset="0"/>
                                        <a:ea typeface="+mn-ea"/>
                                        <a:cs typeface="+mn-cs"/>
                                      </a:rPr>
                                      <m:t>𝐚</m:t>
                                    </m:r>
                                  </m:e>
                                </m:d>
                                <m:r>
                                  <a:rPr lang="en-IN" sz="2400" b="1" i="0" kern="1200" smtClean="0">
                                    <a:solidFill>
                                      <a:srgbClr val="002060"/>
                                    </a:solidFill>
                                    <a:latin typeface="Cambria Math" panose="02040503050406030204" pitchFamily="18" charset="0"/>
                                    <a:ea typeface="+mn-ea"/>
                                    <a:cs typeface="+mn-cs"/>
                                  </a:rPr>
                                  <m:t>=</m:t>
                                </m:r>
                              </m:oMath>
                            </m:oMathPara>
                          </a14:m>
                          <a:endParaRPr lang="en-IN" sz="2400" kern="1200" dirty="0">
                            <a:solidFill>
                              <a:srgbClr val="002060"/>
                            </a:solidFill>
                            <a:latin typeface="Cambria Math" panose="02040503050406030204" pitchFamily="18" charset="0"/>
                            <a:ea typeface="+mn-ea"/>
                            <a:cs typeface="+mn-cs"/>
                          </a:endParaRPr>
                        </a:p>
                      </a:txBody>
                      <a:tcPr anchor="ctr">
                        <a:solidFill>
                          <a:schemeClr val="accent3">
                            <a:lumMod val="40000"/>
                            <a:lumOff val="60000"/>
                          </a:schemeClr>
                        </a:solidFill>
                      </a:tcPr>
                    </a:tc>
                    <a:tc>
                      <a:txBody>
                        <a:bodyPr/>
                        <a:lstStyle/>
                        <a:p>
                          <a:pPr algn="l"/>
                          <a14:m>
                            <m:oMathPara xmlns:m="http://schemas.openxmlformats.org/officeDocument/2006/math">
                              <m:oMathParaPr>
                                <m:jc m:val="left"/>
                              </m:oMathParaPr>
                              <m:oMath xmlns:m="http://schemas.openxmlformats.org/officeDocument/2006/math">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𝐞</m:t>
                                </m:r>
                                <m:d>
                                  <m:dPr>
                                    <m:ctrlPr>
                                      <a:rPr kumimoji="0" lang="en-IN" sz="2400" b="1" i="1"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ctrlPr>
                                  </m:dPr>
                                  <m:e>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𝐛</m:t>
                                    </m:r>
                                  </m:e>
                                </m:d>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m:t>
                                </m:r>
                              </m:oMath>
                            </m:oMathPara>
                          </a14:m>
                          <a:endParaRPr lang="en-IN" dirty="0"/>
                        </a:p>
                      </a:txBody>
                      <a:tcPr anchor="ctr">
                        <a:solidFill>
                          <a:schemeClr val="accent3">
                            <a:lumMod val="40000"/>
                            <a:lumOff val="60000"/>
                          </a:schemeClr>
                        </a:solidFill>
                      </a:tcPr>
                    </a:tc>
                    <a:tc>
                      <a:txBody>
                        <a:bodyPr/>
                        <a:lstStyle/>
                        <a:p>
                          <a:pPr algn="l"/>
                          <a14:m>
                            <m:oMathPara xmlns:m="http://schemas.openxmlformats.org/officeDocument/2006/math">
                              <m:oMathParaPr>
                                <m:jc m:val="left"/>
                              </m:oMathParaPr>
                              <m:oMath xmlns:m="http://schemas.openxmlformats.org/officeDocument/2006/math">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𝐞</m:t>
                                </m:r>
                                <m:d>
                                  <m:dPr>
                                    <m:ctrlPr>
                                      <a:rPr kumimoji="0" lang="en-IN" sz="2400" b="1" i="1"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ctrlPr>
                                  </m:dPr>
                                  <m:e>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𝐜</m:t>
                                    </m:r>
                                  </m:e>
                                </m:d>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m:t>
                                </m:r>
                              </m:oMath>
                            </m:oMathPara>
                          </a14:m>
                          <a:endParaRPr lang="en-IN" dirty="0"/>
                        </a:p>
                      </a:txBody>
                      <a:tcPr anchor="ctr">
                        <a:solidFill>
                          <a:schemeClr val="accent3">
                            <a:lumMod val="40000"/>
                            <a:lumOff val="60000"/>
                          </a:schemeClr>
                        </a:solidFill>
                      </a:tcPr>
                    </a:tc>
                    <a:tc>
                      <a:txBody>
                        <a:bodyPr/>
                        <a:lstStyle/>
                        <a:p>
                          <a:pPr algn="l"/>
                          <a14:m>
                            <m:oMathPara xmlns:m="http://schemas.openxmlformats.org/officeDocument/2006/math">
                              <m:oMathParaPr>
                                <m:jc m:val="left"/>
                              </m:oMathParaPr>
                              <m:oMath xmlns:m="http://schemas.openxmlformats.org/officeDocument/2006/math">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𝐞</m:t>
                                </m:r>
                                <m:d>
                                  <m:dPr>
                                    <m:ctrlPr>
                                      <a:rPr kumimoji="0" lang="en-IN" sz="2400" b="1" i="1"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ctrlPr>
                                  </m:dPr>
                                  <m:e>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𝐝</m:t>
                                    </m:r>
                                  </m:e>
                                </m:d>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m:t>
                                </m:r>
                              </m:oMath>
                            </m:oMathPara>
                          </a14:m>
                          <a:endParaRPr lang="en-IN" dirty="0"/>
                        </a:p>
                      </a:txBody>
                      <a:tcPr anchor="ctr">
                        <a:solidFill>
                          <a:schemeClr val="accent3">
                            <a:lumMod val="40000"/>
                            <a:lumOff val="60000"/>
                          </a:schemeClr>
                        </a:solidFill>
                      </a:tcPr>
                    </a:tc>
                    <a:tc>
                      <a:txBody>
                        <a:bodyPr/>
                        <a:lstStyle/>
                        <a:p>
                          <a:pPr algn="l"/>
                          <a14:m>
                            <m:oMathPara xmlns:m="http://schemas.openxmlformats.org/officeDocument/2006/math">
                              <m:oMathParaPr>
                                <m:jc m:val="left"/>
                              </m:oMathParaPr>
                              <m:oMath xmlns:m="http://schemas.openxmlformats.org/officeDocument/2006/math">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𝐞</m:t>
                                </m:r>
                                <m:d>
                                  <m:dPr>
                                    <m:ctrlPr>
                                      <a:rPr kumimoji="0" lang="en-IN" sz="2400" b="1" i="1"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ctrlPr>
                                  </m:dPr>
                                  <m:e>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𝐞</m:t>
                                    </m:r>
                                  </m:e>
                                </m:d>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m:t>
                                </m:r>
                              </m:oMath>
                            </m:oMathPara>
                          </a14:m>
                          <a:endParaRPr lang="en-IN" dirty="0"/>
                        </a:p>
                      </a:txBody>
                      <a:tcPr anchor="ctr">
                        <a:solidFill>
                          <a:schemeClr val="accent3">
                            <a:lumMod val="40000"/>
                            <a:lumOff val="60000"/>
                          </a:schemeClr>
                        </a:solidFill>
                      </a:tcPr>
                    </a:tc>
                    <a:tc>
                      <a:txBody>
                        <a:bodyPr/>
                        <a:lstStyle/>
                        <a:p>
                          <a:pPr algn="l"/>
                          <a14:m>
                            <m:oMathPara xmlns:m="http://schemas.openxmlformats.org/officeDocument/2006/math">
                              <m:oMathParaPr>
                                <m:jc m:val="left"/>
                              </m:oMathParaPr>
                              <m:oMath xmlns:m="http://schemas.openxmlformats.org/officeDocument/2006/math">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𝐞</m:t>
                                </m:r>
                                <m:d>
                                  <m:dPr>
                                    <m:ctrlPr>
                                      <a:rPr kumimoji="0" lang="en-IN" sz="2400" b="1" i="1"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ctrlPr>
                                  </m:dPr>
                                  <m:e>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𝐟</m:t>
                                    </m:r>
                                  </m:e>
                                </m:d>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m:t>
                                </m:r>
                              </m:oMath>
                            </m:oMathPara>
                          </a14:m>
                          <a:endParaRPr lang="en-IN" dirty="0"/>
                        </a:p>
                      </a:txBody>
                      <a:tcPr anchor="ctr">
                        <a:solidFill>
                          <a:schemeClr val="accent3">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𝐞</m:t>
                                </m:r>
                                <m:d>
                                  <m:dPr>
                                    <m:ctrlPr>
                                      <a:rPr kumimoji="0" lang="en-IN" sz="2400" b="1" i="1"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ctrlPr>
                                  </m:dPr>
                                  <m:e>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𝐠</m:t>
                                    </m:r>
                                  </m:e>
                                </m:d>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m:t>
                                </m:r>
                              </m:oMath>
                            </m:oMathPara>
                          </a14:m>
                          <a:endParaRPr kumimoji="0" lang="en-IN" sz="2400" b="1" i="0" u="none" strike="noStrike" kern="1200" cap="none" spc="0" normalizeH="0" baseline="0" dirty="0">
                            <a:ln>
                              <a:noFill/>
                            </a:ln>
                            <a:solidFill>
                              <a:srgbClr val="002060"/>
                            </a:solidFill>
                            <a:effectLst/>
                            <a:uLnTx/>
                            <a:uFillTx/>
                            <a:latin typeface="Cambria Math" panose="02040503050406030204" pitchFamily="18" charset="0"/>
                            <a:ea typeface="+mn-ea"/>
                            <a:cs typeface="+mn-cs"/>
                          </a:endParaRPr>
                        </a:p>
                      </a:txBody>
                      <a:tcPr anchor="ctr">
                        <a:solidFill>
                          <a:schemeClr val="accent3">
                            <a:lumMod val="40000"/>
                            <a:lumOff val="60000"/>
                          </a:schemeClr>
                        </a:solidFill>
                      </a:tcPr>
                    </a:tc>
                    <a:extLst>
                      <a:ext uri="{0D108BD9-81ED-4DB2-BD59-A6C34878D82A}">
                        <a16:rowId xmlns:a16="http://schemas.microsoft.com/office/drawing/2014/main" val="4219683138"/>
                      </a:ext>
                    </a:extLst>
                  </a:tr>
                </a:tbl>
              </a:graphicData>
            </a:graphic>
          </p:graphicFrame>
        </mc:Choice>
        <mc:Fallback xmlns="">
          <p:graphicFrame>
            <p:nvGraphicFramePr>
              <p:cNvPr id="15" name="Table 14">
                <a:extLst>
                  <a:ext uri="{FF2B5EF4-FFF2-40B4-BE49-F238E27FC236}">
                    <a16:creationId xmlns:a16="http://schemas.microsoft.com/office/drawing/2014/main" id="{D36C9E2D-C963-5B98-B7CA-141894FC2D93}"/>
                  </a:ext>
                </a:extLst>
              </p:cNvPr>
              <p:cNvGraphicFramePr>
                <a:graphicFrameLocks noGrp="1"/>
              </p:cNvGraphicFramePr>
              <p:nvPr/>
            </p:nvGraphicFramePr>
            <p:xfrm>
              <a:off x="121446" y="5672870"/>
              <a:ext cx="9539999" cy="565714"/>
            </p:xfrm>
            <a:graphic>
              <a:graphicData uri="http://schemas.openxmlformats.org/drawingml/2006/table">
                <a:tbl>
                  <a:tblPr firstRow="1" bandRow="1">
                    <a:tableStyleId>{5C22544A-7EE6-4342-B048-85BDC9FD1C3A}</a:tableStyleId>
                  </a:tblPr>
                  <a:tblGrid>
                    <a:gridCol w="1362857">
                      <a:extLst>
                        <a:ext uri="{9D8B030D-6E8A-4147-A177-3AD203B41FA5}">
                          <a16:colId xmlns:a16="http://schemas.microsoft.com/office/drawing/2014/main" val="2573274369"/>
                        </a:ext>
                      </a:extLst>
                    </a:gridCol>
                    <a:gridCol w="1362857">
                      <a:extLst>
                        <a:ext uri="{9D8B030D-6E8A-4147-A177-3AD203B41FA5}">
                          <a16:colId xmlns:a16="http://schemas.microsoft.com/office/drawing/2014/main" val="4051045428"/>
                        </a:ext>
                      </a:extLst>
                    </a:gridCol>
                    <a:gridCol w="1362857">
                      <a:extLst>
                        <a:ext uri="{9D8B030D-6E8A-4147-A177-3AD203B41FA5}">
                          <a16:colId xmlns:a16="http://schemas.microsoft.com/office/drawing/2014/main" val="1541333607"/>
                        </a:ext>
                      </a:extLst>
                    </a:gridCol>
                    <a:gridCol w="1362857">
                      <a:extLst>
                        <a:ext uri="{9D8B030D-6E8A-4147-A177-3AD203B41FA5}">
                          <a16:colId xmlns:a16="http://schemas.microsoft.com/office/drawing/2014/main" val="535765769"/>
                        </a:ext>
                      </a:extLst>
                    </a:gridCol>
                    <a:gridCol w="1362857">
                      <a:extLst>
                        <a:ext uri="{9D8B030D-6E8A-4147-A177-3AD203B41FA5}">
                          <a16:colId xmlns:a16="http://schemas.microsoft.com/office/drawing/2014/main" val="3481627474"/>
                        </a:ext>
                      </a:extLst>
                    </a:gridCol>
                    <a:gridCol w="1362857">
                      <a:extLst>
                        <a:ext uri="{9D8B030D-6E8A-4147-A177-3AD203B41FA5}">
                          <a16:colId xmlns:a16="http://schemas.microsoft.com/office/drawing/2014/main" val="676072984"/>
                        </a:ext>
                      </a:extLst>
                    </a:gridCol>
                    <a:gridCol w="1362857">
                      <a:extLst>
                        <a:ext uri="{9D8B030D-6E8A-4147-A177-3AD203B41FA5}">
                          <a16:colId xmlns:a16="http://schemas.microsoft.com/office/drawing/2014/main" val="2065311432"/>
                        </a:ext>
                      </a:extLst>
                    </a:gridCol>
                  </a:tblGrid>
                  <a:tr h="565714">
                    <a:tc>
                      <a:txBody>
                        <a:bodyPr/>
                        <a:lstStyle/>
                        <a:p>
                          <a:endParaRPr lang="en-US"/>
                        </a:p>
                      </a:txBody>
                      <a:tcPr anchor="ctr">
                        <a:blipFill>
                          <a:blip r:embed="rId44"/>
                          <a:stretch>
                            <a:fillRect l="-446" t="-1064" r="-601339" b="-4255"/>
                          </a:stretch>
                        </a:blipFill>
                      </a:tcPr>
                    </a:tc>
                    <a:tc>
                      <a:txBody>
                        <a:bodyPr/>
                        <a:lstStyle/>
                        <a:p>
                          <a:endParaRPr lang="en-US"/>
                        </a:p>
                      </a:txBody>
                      <a:tcPr anchor="ctr">
                        <a:blipFill>
                          <a:blip r:embed="rId44"/>
                          <a:stretch>
                            <a:fillRect l="-100897" t="-1064" r="-504036" b="-4255"/>
                          </a:stretch>
                        </a:blipFill>
                      </a:tcPr>
                    </a:tc>
                    <a:tc>
                      <a:txBody>
                        <a:bodyPr/>
                        <a:lstStyle/>
                        <a:p>
                          <a:endParaRPr lang="en-US"/>
                        </a:p>
                      </a:txBody>
                      <a:tcPr anchor="ctr">
                        <a:blipFill>
                          <a:blip r:embed="rId44"/>
                          <a:stretch>
                            <a:fillRect l="-200000" t="-1064" r="-401786" b="-4255"/>
                          </a:stretch>
                        </a:blipFill>
                      </a:tcPr>
                    </a:tc>
                    <a:tc>
                      <a:txBody>
                        <a:bodyPr/>
                        <a:lstStyle/>
                        <a:p>
                          <a:endParaRPr lang="en-US"/>
                        </a:p>
                      </a:txBody>
                      <a:tcPr anchor="ctr">
                        <a:blipFill>
                          <a:blip r:embed="rId44"/>
                          <a:stretch>
                            <a:fillRect l="-300000" t="-1064" r="-301786" b="-4255"/>
                          </a:stretch>
                        </a:blipFill>
                      </a:tcPr>
                    </a:tc>
                    <a:tc>
                      <a:txBody>
                        <a:bodyPr/>
                        <a:lstStyle/>
                        <a:p>
                          <a:endParaRPr lang="en-US"/>
                        </a:p>
                      </a:txBody>
                      <a:tcPr anchor="ctr">
                        <a:blipFill>
                          <a:blip r:embed="rId44"/>
                          <a:stretch>
                            <a:fillRect l="-400000" t="-1064" r="-201786" b="-4255"/>
                          </a:stretch>
                        </a:blipFill>
                      </a:tcPr>
                    </a:tc>
                    <a:tc>
                      <a:txBody>
                        <a:bodyPr/>
                        <a:lstStyle/>
                        <a:p>
                          <a:endParaRPr lang="en-US"/>
                        </a:p>
                      </a:txBody>
                      <a:tcPr anchor="ctr">
                        <a:blipFill>
                          <a:blip r:embed="rId44"/>
                          <a:stretch>
                            <a:fillRect l="-502242" t="-1064" r="-102691" b="-4255"/>
                          </a:stretch>
                        </a:blipFill>
                      </a:tcPr>
                    </a:tc>
                    <a:tc>
                      <a:txBody>
                        <a:bodyPr/>
                        <a:lstStyle/>
                        <a:p>
                          <a:endParaRPr lang="en-US"/>
                        </a:p>
                      </a:txBody>
                      <a:tcPr anchor="ctr">
                        <a:blipFill>
                          <a:blip r:embed="rId44"/>
                          <a:stretch>
                            <a:fillRect l="-599554" t="-1064" r="-2232" b="-4255"/>
                          </a:stretch>
                        </a:blipFill>
                      </a:tcPr>
                    </a:tc>
                    <a:extLst>
                      <a:ext uri="{0D108BD9-81ED-4DB2-BD59-A6C34878D82A}">
                        <a16:rowId xmlns:a16="http://schemas.microsoft.com/office/drawing/2014/main" val="4219683138"/>
                      </a:ext>
                    </a:extLst>
                  </a:tr>
                </a:tbl>
              </a:graphicData>
            </a:graphic>
          </p:graphicFrame>
        </mc:Fallback>
      </mc:AlternateContent>
      <p:sp>
        <p:nvSpPr>
          <p:cNvPr id="5" name="Rounded Rectangle 4">
            <a:extLst>
              <a:ext uri="{FF2B5EF4-FFF2-40B4-BE49-F238E27FC236}">
                <a16:creationId xmlns:a16="http://schemas.microsoft.com/office/drawing/2014/main" id="{9682F567-DA57-0F2F-A530-4280AC947A7F}"/>
              </a:ext>
            </a:extLst>
          </p:cNvPr>
          <p:cNvSpPr/>
          <p:nvPr/>
        </p:nvSpPr>
        <p:spPr>
          <a:xfrm>
            <a:off x="121446" y="2423142"/>
            <a:ext cx="9723506" cy="565714"/>
          </a:xfrm>
          <a:prstGeom prst="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A866F54-F3E4-D65E-4766-2F1A4C6E9A52}"/>
              </a:ext>
            </a:extLst>
          </p:cNvPr>
          <p:cNvSpPr/>
          <p:nvPr/>
        </p:nvSpPr>
        <p:spPr>
          <a:xfrm>
            <a:off x="1167193" y="2497755"/>
            <a:ext cx="570224" cy="423247"/>
          </a:xfrm>
          <a:prstGeom prst="rect">
            <a:avLst/>
          </a:prstGeom>
          <a:noFill/>
          <a:ln w="381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1496318-9302-CC88-D17A-F7C6E9C75AFA}"/>
                  </a:ext>
                </a:extLst>
              </p:cNvPr>
              <p:cNvSpPr txBox="1"/>
              <p:nvPr/>
            </p:nvSpPr>
            <p:spPr>
              <a:xfrm>
                <a:off x="1110889" y="5724894"/>
                <a:ext cx="349349"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1" i="0" smtClean="0">
                          <a:solidFill>
                            <a:srgbClr val="002060"/>
                          </a:solidFill>
                          <a:latin typeface="Cambria Math" panose="02040503050406030204" pitchFamily="18" charset="0"/>
                        </a:rPr>
                        <m:t>𝟒</m:t>
                      </m:r>
                    </m:oMath>
                  </m:oMathPara>
                </a14:m>
                <a:endParaRPr lang="en-IN" sz="2400" b="1" dirty="0">
                  <a:solidFill>
                    <a:srgbClr val="002060"/>
                  </a:solidFill>
                  <a:latin typeface="Cambria Math" panose="02040503050406030204" pitchFamily="18" charset="0"/>
                </a:endParaRPr>
              </a:p>
            </p:txBody>
          </p:sp>
        </mc:Choice>
        <mc:Fallback xmlns="">
          <p:sp>
            <p:nvSpPr>
              <p:cNvPr id="10" name="TextBox 9">
                <a:extLst>
                  <a:ext uri="{FF2B5EF4-FFF2-40B4-BE49-F238E27FC236}">
                    <a16:creationId xmlns:a16="http://schemas.microsoft.com/office/drawing/2014/main" id="{C1496318-9302-CC88-D17A-F7C6E9C75AFA}"/>
                  </a:ext>
                </a:extLst>
              </p:cNvPr>
              <p:cNvSpPr txBox="1">
                <a:spLocks noRot="1" noChangeAspect="1" noMove="1" noResize="1" noEditPoints="1" noAdjustHandles="1" noChangeArrowheads="1" noChangeShapeType="1" noTextEdit="1"/>
              </p:cNvSpPr>
              <p:nvPr/>
            </p:nvSpPr>
            <p:spPr>
              <a:xfrm>
                <a:off x="1110889" y="5724894"/>
                <a:ext cx="349349" cy="461665"/>
              </a:xfrm>
              <a:prstGeom prst="rect">
                <a:avLst/>
              </a:prstGeom>
              <a:blipFill>
                <a:blip r:embed="rId45"/>
                <a:stretch>
                  <a:fillRect l="-3448" r="-8621"/>
                </a:stretch>
              </a:blipFill>
            </p:spPr>
            <p:txBody>
              <a:bodyPr/>
              <a:lstStyle/>
              <a:p>
                <a:r>
                  <a:rPr lang="en-IN">
                    <a:noFill/>
                  </a:rPr>
                  <a:t> </a:t>
                </a:r>
              </a:p>
            </p:txBody>
          </p:sp>
        </mc:Fallback>
      </mc:AlternateContent>
      <p:sp>
        <p:nvSpPr>
          <p:cNvPr id="13" name="Rounded Rectangle 4">
            <a:extLst>
              <a:ext uri="{FF2B5EF4-FFF2-40B4-BE49-F238E27FC236}">
                <a16:creationId xmlns:a16="http://schemas.microsoft.com/office/drawing/2014/main" id="{B679C3CF-7BB0-6410-5E93-595EDEB07919}"/>
              </a:ext>
            </a:extLst>
          </p:cNvPr>
          <p:cNvSpPr/>
          <p:nvPr/>
        </p:nvSpPr>
        <p:spPr>
          <a:xfrm>
            <a:off x="122179" y="3064117"/>
            <a:ext cx="8100000" cy="565714"/>
          </a:xfrm>
          <a:prstGeom prst="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4">
            <a:extLst>
              <a:ext uri="{FF2B5EF4-FFF2-40B4-BE49-F238E27FC236}">
                <a16:creationId xmlns:a16="http://schemas.microsoft.com/office/drawing/2014/main" id="{4B94BC4B-859F-6601-B21D-FE6F7143CA5F}"/>
              </a:ext>
            </a:extLst>
          </p:cNvPr>
          <p:cNvSpPr/>
          <p:nvPr/>
        </p:nvSpPr>
        <p:spPr>
          <a:xfrm>
            <a:off x="122975" y="2422925"/>
            <a:ext cx="1705825" cy="565714"/>
          </a:xfrm>
          <a:prstGeom prst="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5F540E4-0CDB-4D4A-3833-024A991B1068}"/>
                  </a:ext>
                </a:extLst>
              </p:cNvPr>
              <p:cNvSpPr txBox="1"/>
              <p:nvPr/>
            </p:nvSpPr>
            <p:spPr>
              <a:xfrm>
                <a:off x="2482562" y="5724893"/>
                <a:ext cx="349349"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1" i="0" smtClean="0">
                          <a:solidFill>
                            <a:srgbClr val="002060"/>
                          </a:solidFill>
                          <a:latin typeface="Cambria Math" panose="02040503050406030204" pitchFamily="18" charset="0"/>
                        </a:rPr>
                        <m:t>𝟒</m:t>
                      </m:r>
                    </m:oMath>
                  </m:oMathPara>
                </a14:m>
                <a:endParaRPr lang="en-IN" sz="2400" b="1" dirty="0">
                  <a:solidFill>
                    <a:srgbClr val="002060"/>
                  </a:solidFill>
                  <a:latin typeface="Cambria Math" panose="02040503050406030204" pitchFamily="18" charset="0"/>
                </a:endParaRPr>
              </a:p>
            </p:txBody>
          </p:sp>
        </mc:Choice>
        <mc:Fallback xmlns="">
          <p:sp>
            <p:nvSpPr>
              <p:cNvPr id="17" name="TextBox 16">
                <a:extLst>
                  <a:ext uri="{FF2B5EF4-FFF2-40B4-BE49-F238E27FC236}">
                    <a16:creationId xmlns:a16="http://schemas.microsoft.com/office/drawing/2014/main" id="{05F540E4-0CDB-4D4A-3833-024A991B1068}"/>
                  </a:ext>
                </a:extLst>
              </p:cNvPr>
              <p:cNvSpPr txBox="1">
                <a:spLocks noRot="1" noChangeAspect="1" noMove="1" noResize="1" noEditPoints="1" noAdjustHandles="1" noChangeArrowheads="1" noChangeShapeType="1" noTextEdit="1"/>
              </p:cNvSpPr>
              <p:nvPr/>
            </p:nvSpPr>
            <p:spPr>
              <a:xfrm>
                <a:off x="2482562" y="5724893"/>
                <a:ext cx="349349" cy="461665"/>
              </a:xfrm>
              <a:prstGeom prst="rect">
                <a:avLst/>
              </a:prstGeom>
              <a:blipFill>
                <a:blip r:embed="rId46"/>
                <a:stretch>
                  <a:fillRect l="-3448" r="-8621"/>
                </a:stretch>
              </a:blipFill>
            </p:spPr>
            <p:txBody>
              <a:bodyPr/>
              <a:lstStyle/>
              <a:p>
                <a:r>
                  <a:rPr lang="en-IN">
                    <a:noFill/>
                  </a:rPr>
                  <a:t> </a:t>
                </a:r>
              </a:p>
            </p:txBody>
          </p:sp>
        </mc:Fallback>
      </mc:AlternateContent>
      <p:sp>
        <p:nvSpPr>
          <p:cNvPr id="21" name="Rectangle 20">
            <a:extLst>
              <a:ext uri="{FF2B5EF4-FFF2-40B4-BE49-F238E27FC236}">
                <a16:creationId xmlns:a16="http://schemas.microsoft.com/office/drawing/2014/main" id="{1BE1FB42-A43F-A3F7-63B3-9A90E69A3222}"/>
              </a:ext>
            </a:extLst>
          </p:cNvPr>
          <p:cNvSpPr/>
          <p:nvPr/>
        </p:nvSpPr>
        <p:spPr>
          <a:xfrm>
            <a:off x="1140755" y="3134701"/>
            <a:ext cx="570224" cy="423247"/>
          </a:xfrm>
          <a:prstGeom prst="rect">
            <a:avLst/>
          </a:prstGeom>
          <a:noFill/>
          <a:ln w="381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8E805A8A-88A7-D0C1-E9B1-A57DB6693808}"/>
                  </a:ext>
                </a:extLst>
              </p:cNvPr>
              <p:cNvSpPr txBox="1"/>
              <p:nvPr/>
            </p:nvSpPr>
            <p:spPr>
              <a:xfrm>
                <a:off x="3821354" y="5724892"/>
                <a:ext cx="349349"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400" b="1" i="0" smtClean="0">
                          <a:solidFill>
                            <a:srgbClr val="002060"/>
                          </a:solidFill>
                          <a:latin typeface="Cambria Math" panose="02040503050406030204" pitchFamily="18" charset="0"/>
                        </a:rPr>
                        <m:t>𝟑</m:t>
                      </m:r>
                    </m:oMath>
                  </m:oMathPara>
                </a14:m>
                <a:endParaRPr lang="en-IN" sz="2400" b="1" dirty="0">
                  <a:solidFill>
                    <a:srgbClr val="002060"/>
                  </a:solidFill>
                  <a:latin typeface="Cambria Math" panose="02040503050406030204" pitchFamily="18" charset="0"/>
                </a:endParaRPr>
              </a:p>
            </p:txBody>
          </p:sp>
        </mc:Choice>
        <mc:Fallback xmlns="">
          <p:sp>
            <p:nvSpPr>
              <p:cNvPr id="23" name="TextBox 22">
                <a:extLst>
                  <a:ext uri="{FF2B5EF4-FFF2-40B4-BE49-F238E27FC236}">
                    <a16:creationId xmlns:a16="http://schemas.microsoft.com/office/drawing/2014/main" id="{8E805A8A-88A7-D0C1-E9B1-A57DB6693808}"/>
                  </a:ext>
                </a:extLst>
              </p:cNvPr>
              <p:cNvSpPr txBox="1">
                <a:spLocks noRot="1" noChangeAspect="1" noMove="1" noResize="1" noEditPoints="1" noAdjustHandles="1" noChangeArrowheads="1" noChangeShapeType="1" noTextEdit="1"/>
              </p:cNvSpPr>
              <p:nvPr/>
            </p:nvSpPr>
            <p:spPr>
              <a:xfrm>
                <a:off x="3821354" y="5724892"/>
                <a:ext cx="349349" cy="461665"/>
              </a:xfrm>
              <a:prstGeom prst="rect">
                <a:avLst/>
              </a:prstGeom>
              <a:blipFill>
                <a:blip r:embed="rId47"/>
                <a:stretch>
                  <a:fillRect l="-5263" r="-877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2C4EBFC-1803-02A3-3729-3E3BF333244A}"/>
                  </a:ext>
                </a:extLst>
              </p:cNvPr>
              <p:cNvSpPr txBox="1"/>
              <p:nvPr/>
            </p:nvSpPr>
            <p:spPr>
              <a:xfrm>
                <a:off x="5211492" y="5724892"/>
                <a:ext cx="349349"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400" b="1" i="0" smtClean="0">
                          <a:solidFill>
                            <a:srgbClr val="002060"/>
                          </a:solidFill>
                          <a:latin typeface="Cambria Math" panose="02040503050406030204" pitchFamily="18" charset="0"/>
                        </a:rPr>
                        <m:t>𝟑</m:t>
                      </m:r>
                    </m:oMath>
                  </m:oMathPara>
                </a14:m>
                <a:endParaRPr lang="en-IN" sz="2400" b="1" dirty="0">
                  <a:solidFill>
                    <a:srgbClr val="002060"/>
                  </a:solidFill>
                  <a:latin typeface="Cambria Math" panose="02040503050406030204" pitchFamily="18" charset="0"/>
                </a:endParaRPr>
              </a:p>
            </p:txBody>
          </p:sp>
        </mc:Choice>
        <mc:Fallback xmlns="">
          <p:sp>
            <p:nvSpPr>
              <p:cNvPr id="24" name="TextBox 23">
                <a:extLst>
                  <a:ext uri="{FF2B5EF4-FFF2-40B4-BE49-F238E27FC236}">
                    <a16:creationId xmlns:a16="http://schemas.microsoft.com/office/drawing/2014/main" id="{F2C4EBFC-1803-02A3-3729-3E3BF333244A}"/>
                  </a:ext>
                </a:extLst>
              </p:cNvPr>
              <p:cNvSpPr txBox="1">
                <a:spLocks noRot="1" noChangeAspect="1" noMove="1" noResize="1" noEditPoints="1" noAdjustHandles="1" noChangeArrowheads="1" noChangeShapeType="1" noTextEdit="1"/>
              </p:cNvSpPr>
              <p:nvPr/>
            </p:nvSpPr>
            <p:spPr>
              <a:xfrm>
                <a:off x="5211492" y="5724892"/>
                <a:ext cx="349349" cy="461665"/>
              </a:xfrm>
              <a:prstGeom prst="rect">
                <a:avLst/>
              </a:prstGeom>
              <a:blipFill>
                <a:blip r:embed="rId48"/>
                <a:stretch>
                  <a:fillRect l="-5263" r="-877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03ADF40-EF44-9415-651E-E461EEB851D3}"/>
                  </a:ext>
                </a:extLst>
              </p:cNvPr>
              <p:cNvSpPr txBox="1"/>
              <p:nvPr/>
            </p:nvSpPr>
            <p:spPr>
              <a:xfrm>
                <a:off x="6531819" y="5724892"/>
                <a:ext cx="349349"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400" b="1" i="0" smtClean="0">
                          <a:solidFill>
                            <a:srgbClr val="002060"/>
                          </a:solidFill>
                          <a:latin typeface="Cambria Math" panose="02040503050406030204" pitchFamily="18" charset="0"/>
                        </a:rPr>
                        <m:t>𝟑</m:t>
                      </m:r>
                    </m:oMath>
                  </m:oMathPara>
                </a14:m>
                <a:endParaRPr lang="en-IN" sz="2400" b="1" dirty="0">
                  <a:solidFill>
                    <a:srgbClr val="002060"/>
                  </a:solidFill>
                  <a:latin typeface="Cambria Math" panose="02040503050406030204" pitchFamily="18" charset="0"/>
                </a:endParaRPr>
              </a:p>
            </p:txBody>
          </p:sp>
        </mc:Choice>
        <mc:Fallback xmlns="">
          <p:sp>
            <p:nvSpPr>
              <p:cNvPr id="25" name="TextBox 24">
                <a:extLst>
                  <a:ext uri="{FF2B5EF4-FFF2-40B4-BE49-F238E27FC236}">
                    <a16:creationId xmlns:a16="http://schemas.microsoft.com/office/drawing/2014/main" id="{F03ADF40-EF44-9415-651E-E461EEB851D3}"/>
                  </a:ext>
                </a:extLst>
              </p:cNvPr>
              <p:cNvSpPr txBox="1">
                <a:spLocks noRot="1" noChangeAspect="1" noMove="1" noResize="1" noEditPoints="1" noAdjustHandles="1" noChangeArrowheads="1" noChangeShapeType="1" noTextEdit="1"/>
              </p:cNvSpPr>
              <p:nvPr/>
            </p:nvSpPr>
            <p:spPr>
              <a:xfrm>
                <a:off x="6531819" y="5724892"/>
                <a:ext cx="349349" cy="461665"/>
              </a:xfrm>
              <a:prstGeom prst="rect">
                <a:avLst/>
              </a:prstGeom>
              <a:blipFill>
                <a:blip r:embed="rId49"/>
                <a:stretch>
                  <a:fillRect l="-3448" r="-86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14AA6D6E-FFB2-0421-1C54-8F603ABEC8FF}"/>
                  </a:ext>
                </a:extLst>
              </p:cNvPr>
              <p:cNvSpPr txBox="1"/>
              <p:nvPr/>
            </p:nvSpPr>
            <p:spPr>
              <a:xfrm>
                <a:off x="7872830" y="5724891"/>
                <a:ext cx="349349"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400" b="1" i="0" smtClean="0">
                          <a:solidFill>
                            <a:srgbClr val="002060"/>
                          </a:solidFill>
                          <a:latin typeface="Cambria Math" panose="02040503050406030204" pitchFamily="18" charset="0"/>
                        </a:rPr>
                        <m:t>𝟐</m:t>
                      </m:r>
                    </m:oMath>
                  </m:oMathPara>
                </a14:m>
                <a:endParaRPr lang="en-IN" sz="2400" b="1" dirty="0">
                  <a:solidFill>
                    <a:srgbClr val="002060"/>
                  </a:solidFill>
                  <a:latin typeface="Cambria Math" panose="02040503050406030204" pitchFamily="18" charset="0"/>
                </a:endParaRPr>
              </a:p>
            </p:txBody>
          </p:sp>
        </mc:Choice>
        <mc:Fallback xmlns="">
          <p:sp>
            <p:nvSpPr>
              <p:cNvPr id="26" name="TextBox 25">
                <a:extLst>
                  <a:ext uri="{FF2B5EF4-FFF2-40B4-BE49-F238E27FC236}">
                    <a16:creationId xmlns:a16="http://schemas.microsoft.com/office/drawing/2014/main" id="{14AA6D6E-FFB2-0421-1C54-8F603ABEC8FF}"/>
                  </a:ext>
                </a:extLst>
              </p:cNvPr>
              <p:cNvSpPr txBox="1">
                <a:spLocks noRot="1" noChangeAspect="1" noMove="1" noResize="1" noEditPoints="1" noAdjustHandles="1" noChangeArrowheads="1" noChangeShapeType="1" noTextEdit="1"/>
              </p:cNvSpPr>
              <p:nvPr/>
            </p:nvSpPr>
            <p:spPr>
              <a:xfrm>
                <a:off x="7872830" y="5724891"/>
                <a:ext cx="349349" cy="461665"/>
              </a:xfrm>
              <a:prstGeom prst="rect">
                <a:avLst/>
              </a:prstGeom>
              <a:blipFill>
                <a:blip r:embed="rId50"/>
                <a:stretch>
                  <a:fillRect l="-3448" r="-862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8033AE84-590A-CED7-7670-E72A3DFF213F}"/>
                  </a:ext>
                </a:extLst>
              </p:cNvPr>
              <p:cNvSpPr txBox="1"/>
              <p:nvPr/>
            </p:nvSpPr>
            <p:spPr>
              <a:xfrm>
                <a:off x="9249659" y="5724890"/>
                <a:ext cx="349349"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IN" sz="2400" b="1" i="0" smtClean="0">
                          <a:solidFill>
                            <a:srgbClr val="002060"/>
                          </a:solidFill>
                          <a:latin typeface="Cambria Math" panose="02040503050406030204" pitchFamily="18" charset="0"/>
                        </a:rPr>
                        <m:t>𝟑</m:t>
                      </m:r>
                    </m:oMath>
                  </m:oMathPara>
                </a14:m>
                <a:endParaRPr lang="en-IN" sz="2400" b="1" dirty="0">
                  <a:solidFill>
                    <a:srgbClr val="002060"/>
                  </a:solidFill>
                  <a:latin typeface="Cambria Math" panose="02040503050406030204" pitchFamily="18" charset="0"/>
                </a:endParaRPr>
              </a:p>
            </p:txBody>
          </p:sp>
        </mc:Choice>
        <mc:Fallback xmlns="">
          <p:sp>
            <p:nvSpPr>
              <p:cNvPr id="27" name="TextBox 26">
                <a:extLst>
                  <a:ext uri="{FF2B5EF4-FFF2-40B4-BE49-F238E27FC236}">
                    <a16:creationId xmlns:a16="http://schemas.microsoft.com/office/drawing/2014/main" id="{8033AE84-590A-CED7-7670-E72A3DFF213F}"/>
                  </a:ext>
                </a:extLst>
              </p:cNvPr>
              <p:cNvSpPr txBox="1">
                <a:spLocks noRot="1" noChangeAspect="1" noMove="1" noResize="1" noEditPoints="1" noAdjustHandles="1" noChangeArrowheads="1" noChangeShapeType="1" noTextEdit="1"/>
              </p:cNvSpPr>
              <p:nvPr/>
            </p:nvSpPr>
            <p:spPr>
              <a:xfrm>
                <a:off x="9249659" y="5724890"/>
                <a:ext cx="349349" cy="461665"/>
              </a:xfrm>
              <a:prstGeom prst="rect">
                <a:avLst/>
              </a:prstGeom>
              <a:blipFill>
                <a:blip r:embed="rId51"/>
                <a:stretch>
                  <a:fillRect l="-3448" r="-8621"/>
                </a:stretch>
              </a:blipFill>
            </p:spPr>
            <p:txBody>
              <a:bodyPr/>
              <a:lstStyle/>
              <a:p>
                <a:r>
                  <a:rPr lang="en-IN">
                    <a:noFill/>
                  </a:rPr>
                  <a:t> </a:t>
                </a:r>
              </a:p>
            </p:txBody>
          </p:sp>
        </mc:Fallback>
      </mc:AlternateContent>
      <p:sp>
        <p:nvSpPr>
          <p:cNvPr id="29" name="Rectangle 28">
            <a:extLst>
              <a:ext uri="{FF2B5EF4-FFF2-40B4-BE49-F238E27FC236}">
                <a16:creationId xmlns:a16="http://schemas.microsoft.com/office/drawing/2014/main" id="{D0D0CF01-84A9-85DC-3B93-DD996ED8545C}"/>
              </a:ext>
            </a:extLst>
          </p:cNvPr>
          <p:cNvSpPr/>
          <p:nvPr/>
        </p:nvSpPr>
        <p:spPr>
          <a:xfrm>
            <a:off x="4365887" y="2498503"/>
            <a:ext cx="570224" cy="423247"/>
          </a:xfrm>
          <a:prstGeom prst="rect">
            <a:avLst/>
          </a:prstGeom>
          <a:noFill/>
          <a:ln w="381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Rectangle 29">
            <a:extLst>
              <a:ext uri="{FF2B5EF4-FFF2-40B4-BE49-F238E27FC236}">
                <a16:creationId xmlns:a16="http://schemas.microsoft.com/office/drawing/2014/main" id="{04BC6D01-AD7A-1A62-FD8A-C87BC37664F0}"/>
              </a:ext>
            </a:extLst>
          </p:cNvPr>
          <p:cNvSpPr/>
          <p:nvPr/>
        </p:nvSpPr>
        <p:spPr>
          <a:xfrm>
            <a:off x="5874179" y="2504435"/>
            <a:ext cx="570224" cy="423247"/>
          </a:xfrm>
          <a:prstGeom prst="rect">
            <a:avLst/>
          </a:prstGeom>
          <a:noFill/>
          <a:ln w="381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Rectangle 30">
            <a:extLst>
              <a:ext uri="{FF2B5EF4-FFF2-40B4-BE49-F238E27FC236}">
                <a16:creationId xmlns:a16="http://schemas.microsoft.com/office/drawing/2014/main" id="{F8310A40-D505-6A83-1B79-FA1315E8E389}"/>
              </a:ext>
            </a:extLst>
          </p:cNvPr>
          <p:cNvSpPr/>
          <p:nvPr/>
        </p:nvSpPr>
        <p:spPr>
          <a:xfrm>
            <a:off x="7597697" y="2511110"/>
            <a:ext cx="570224" cy="423247"/>
          </a:xfrm>
          <a:prstGeom prst="rect">
            <a:avLst/>
          </a:prstGeom>
          <a:noFill/>
          <a:ln w="381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Rectangle 31">
            <a:extLst>
              <a:ext uri="{FF2B5EF4-FFF2-40B4-BE49-F238E27FC236}">
                <a16:creationId xmlns:a16="http://schemas.microsoft.com/office/drawing/2014/main" id="{3FCE8EF4-63F7-EF56-4CFA-ED8260133626}"/>
              </a:ext>
            </a:extLst>
          </p:cNvPr>
          <p:cNvSpPr/>
          <p:nvPr/>
        </p:nvSpPr>
        <p:spPr>
          <a:xfrm>
            <a:off x="9125942" y="2504120"/>
            <a:ext cx="570224" cy="423247"/>
          </a:xfrm>
          <a:prstGeom prst="rect">
            <a:avLst/>
          </a:prstGeom>
          <a:noFill/>
          <a:ln w="381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32181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8"/>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5"/>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2"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xit" presetSubtype="0" fill="hold" grpId="1" nodeType="withEffect">
                                  <p:stCondLst>
                                    <p:cond delay="0"/>
                                  </p:stCondLst>
                                  <p:childTnLst>
                                    <p:set>
                                      <p:cBhvr>
                                        <p:cTn id="38" dur="1" fill="hold">
                                          <p:stCondLst>
                                            <p:cond delay="0"/>
                                          </p:stCondLst>
                                        </p:cTn>
                                        <p:tgtEl>
                                          <p:spTgt spid="13"/>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16"/>
                                        </p:tgtEl>
                                        <p:attrNameLst>
                                          <p:attrName>style.visibility</p:attrName>
                                        </p:attrNameLst>
                                      </p:cBhvr>
                                      <p:to>
                                        <p:strVal val="hidden"/>
                                      </p:to>
                                    </p:set>
                                  </p:childTnLst>
                                </p:cTn>
                              </p:par>
                              <p:par>
                                <p:cTn id="41" presetID="1" presetClass="exit" presetSubtype="0" fill="hold" grpId="3" nodeType="withEffect">
                                  <p:stCondLst>
                                    <p:cond delay="0"/>
                                  </p:stCondLst>
                                  <p:childTnLst>
                                    <p:set>
                                      <p:cBhvr>
                                        <p:cTn id="42" dur="1" fill="hold">
                                          <p:stCondLst>
                                            <p:cond delay="0"/>
                                          </p:stCondLst>
                                        </p:cTn>
                                        <p:tgtEl>
                                          <p:spTgt spid="8"/>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par>
                                <p:cTn id="51" presetID="1" presetClass="exit" presetSubtype="0" fill="hold" grpId="1" nodeType="withEffect">
                                  <p:stCondLst>
                                    <p:cond delay="0"/>
                                  </p:stCondLst>
                                  <p:childTnLst>
                                    <p:set>
                                      <p:cBhvr>
                                        <p:cTn id="52" dur="1" fill="hold">
                                          <p:stCondLst>
                                            <p:cond delay="0"/>
                                          </p:stCondLst>
                                        </p:cTn>
                                        <p:tgtEl>
                                          <p:spTgt spid="21"/>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4"/>
                                        </p:tgtEl>
                                        <p:attrNameLst>
                                          <p:attrName>style.visibility</p:attrName>
                                        </p:attrNameLst>
                                      </p:cBhvr>
                                      <p:to>
                                        <p:strVal val="visible"/>
                                      </p:to>
                                    </p:set>
                                  </p:childTnLst>
                                </p:cTn>
                              </p:par>
                              <p:par>
                                <p:cTn id="61" presetID="1" presetClass="exit" presetSubtype="0" fill="hold" grpId="1" nodeType="withEffect">
                                  <p:stCondLst>
                                    <p:cond delay="0"/>
                                  </p:stCondLst>
                                  <p:childTnLst>
                                    <p:set>
                                      <p:cBhvr>
                                        <p:cTn id="62" dur="1" fill="hold">
                                          <p:stCondLst>
                                            <p:cond delay="0"/>
                                          </p:stCondLst>
                                        </p:cTn>
                                        <p:tgtEl>
                                          <p:spTgt spid="29"/>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5"/>
                                        </p:tgtEl>
                                        <p:attrNameLst>
                                          <p:attrName>style.visibility</p:attrName>
                                        </p:attrNameLst>
                                      </p:cBhvr>
                                      <p:to>
                                        <p:strVal val="visible"/>
                                      </p:to>
                                    </p:set>
                                  </p:childTnLst>
                                </p:cTn>
                              </p:par>
                              <p:par>
                                <p:cTn id="71" presetID="1" presetClass="exit" presetSubtype="0" fill="hold" grpId="1" nodeType="withEffect">
                                  <p:stCondLst>
                                    <p:cond delay="0"/>
                                  </p:stCondLst>
                                  <p:childTnLst>
                                    <p:set>
                                      <p:cBhvr>
                                        <p:cTn id="72" dur="1" fill="hold">
                                          <p:stCondLst>
                                            <p:cond delay="0"/>
                                          </p:stCondLst>
                                        </p:cTn>
                                        <p:tgtEl>
                                          <p:spTgt spid="30"/>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1"/>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26"/>
                                        </p:tgtEl>
                                        <p:attrNameLst>
                                          <p:attrName>style.visibility</p:attrName>
                                        </p:attrNameLst>
                                      </p:cBhvr>
                                      <p:to>
                                        <p:strVal val="visible"/>
                                      </p:to>
                                    </p:set>
                                  </p:childTnLst>
                                </p:cTn>
                              </p:par>
                              <p:par>
                                <p:cTn id="81" presetID="1" presetClass="exit" presetSubtype="0" fill="hold" grpId="1" nodeType="withEffect">
                                  <p:stCondLst>
                                    <p:cond delay="0"/>
                                  </p:stCondLst>
                                  <p:childTnLst>
                                    <p:set>
                                      <p:cBhvr>
                                        <p:cTn id="82" dur="1" fill="hold">
                                          <p:stCondLst>
                                            <p:cond delay="0"/>
                                          </p:stCondLst>
                                        </p:cTn>
                                        <p:tgtEl>
                                          <p:spTgt spid="31"/>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2"/>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7"/>
                                        </p:tgtEl>
                                        <p:attrNameLst>
                                          <p:attrName>style.visibility</p:attrName>
                                        </p:attrNameLst>
                                      </p:cBhvr>
                                      <p:to>
                                        <p:strVal val="visible"/>
                                      </p:to>
                                    </p:set>
                                  </p:childTnLst>
                                </p:cTn>
                              </p:par>
                              <p:par>
                                <p:cTn id="91" presetID="1" presetClass="exit" presetSubtype="0" fill="hold" grpId="1" nodeType="withEffect">
                                  <p:stCondLst>
                                    <p:cond delay="0"/>
                                  </p:stCondLst>
                                  <p:childTnLst>
                                    <p:set>
                                      <p:cBhvr>
                                        <p:cTn id="92" dur="1" fill="hold">
                                          <p:stCondLst>
                                            <p:cond delay="0"/>
                                          </p:stCondLst>
                                        </p:cTn>
                                        <p:tgtEl>
                                          <p:spTgt spid="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8" grpId="0" animBg="1"/>
      <p:bldP spid="8" grpId="1" animBg="1"/>
      <p:bldP spid="8" grpId="2" animBg="1"/>
      <p:bldP spid="8" grpId="3" animBg="1"/>
      <p:bldP spid="10" grpId="0"/>
      <p:bldP spid="13" grpId="0" animBg="1"/>
      <p:bldP spid="13" grpId="1" animBg="1"/>
      <p:bldP spid="16" grpId="0" animBg="1"/>
      <p:bldP spid="16" grpId="1" animBg="1"/>
      <p:bldP spid="17" grpId="0"/>
      <p:bldP spid="21" grpId="0" animBg="1"/>
      <p:bldP spid="21" grpId="1" animBg="1"/>
      <p:bldP spid="23" grpId="0"/>
      <p:bldP spid="24" grpId="0"/>
      <p:bldP spid="25" grpId="0"/>
      <p:bldP spid="26" grpId="0"/>
      <p:bldP spid="27" grpId="0"/>
      <p:bldP spid="29" grpId="0" animBg="1"/>
      <p:bldP spid="29" grpId="1" animBg="1"/>
      <p:bldP spid="30" grpId="0" animBg="1"/>
      <p:bldP spid="30" grpId="1" animBg="1"/>
      <p:bldP spid="31" grpId="0" animBg="1"/>
      <p:bldP spid="31" grpId="1" animBg="1"/>
      <p:bldP spid="32" grpId="0" animBg="1"/>
      <p:bldP spid="32" grpId="1"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D0D21-09E6-E2F3-C1F2-347F243BF7CF}"/>
            </a:ext>
          </a:extLst>
        </p:cNvPr>
        <p:cNvGrpSpPr/>
        <p:nvPr/>
      </p:nvGrpSpPr>
      <p:grpSpPr>
        <a:xfrm>
          <a:off x="0" y="0"/>
          <a:ext cx="0" cy="0"/>
          <a:chOff x="0" y="0"/>
          <a:chExt cx="0" cy="0"/>
        </a:xfrm>
      </p:grpSpPr>
      <p:sp>
        <p:nvSpPr>
          <p:cNvPr id="19" name="Content Placeholder 2">
            <a:extLst>
              <a:ext uri="{FF2B5EF4-FFF2-40B4-BE49-F238E27FC236}">
                <a16:creationId xmlns:a16="http://schemas.microsoft.com/office/drawing/2014/main" id="{E80C70AE-7BEE-7CD7-ABDD-56436EE9CC23}"/>
              </a:ext>
            </a:extLst>
          </p:cNvPr>
          <p:cNvSpPr txBox="1">
            <a:spLocks/>
          </p:cNvSpPr>
          <p:nvPr/>
        </p:nvSpPr>
        <p:spPr>
          <a:xfrm>
            <a:off x="131176" y="867840"/>
            <a:ext cx="11929645" cy="926308"/>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For following tree find the distance between two vertices, Eccentricity, Radius, Diameter, Center.</a:t>
            </a:r>
          </a:p>
        </p:txBody>
      </p:sp>
      <p:sp>
        <p:nvSpPr>
          <p:cNvPr id="9" name="Title 1">
            <a:extLst>
              <a:ext uri="{FF2B5EF4-FFF2-40B4-BE49-F238E27FC236}">
                <a16:creationId xmlns:a16="http://schemas.microsoft.com/office/drawing/2014/main" id="{F4CDC82A-E07F-AE64-D1DC-DF0F62DD351D}"/>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2 ⇝ Example 3 (Conti.)</a:t>
            </a:r>
            <a:endParaRPr lang="en-US" dirty="0"/>
          </a:p>
        </p:txBody>
      </p:sp>
      <p:sp>
        <p:nvSpPr>
          <p:cNvPr id="35" name="Content Placeholder 2">
            <a:extLst>
              <a:ext uri="{FF2B5EF4-FFF2-40B4-BE49-F238E27FC236}">
                <a16:creationId xmlns:a16="http://schemas.microsoft.com/office/drawing/2014/main" id="{7F6ED91B-D1A9-B9D3-F657-018E45C5FE30}"/>
              </a:ext>
            </a:extLst>
          </p:cNvPr>
          <p:cNvSpPr txBox="1">
            <a:spLocks/>
          </p:cNvSpPr>
          <p:nvPr/>
        </p:nvSpPr>
        <p:spPr>
          <a:xfrm>
            <a:off x="131176" y="1840299"/>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mc:AlternateContent xmlns:mc="http://schemas.openxmlformats.org/markup-compatibility/2006" xmlns:a14="http://schemas.microsoft.com/office/drawing/2010/main">
        <mc:Choice Requires="a14">
          <p:graphicFrame>
            <p:nvGraphicFramePr>
              <p:cNvPr id="48" name="Table 47">
                <a:extLst>
                  <a:ext uri="{FF2B5EF4-FFF2-40B4-BE49-F238E27FC236}">
                    <a16:creationId xmlns:a16="http://schemas.microsoft.com/office/drawing/2014/main" id="{C0941608-0457-C9EC-68BC-BED60F09FF3A}"/>
                  </a:ext>
                </a:extLst>
              </p:cNvPr>
              <p:cNvGraphicFramePr>
                <a:graphicFrameLocks noGrp="1"/>
              </p:cNvGraphicFramePr>
              <p:nvPr>
                <p:extLst>
                  <p:ext uri="{D42A27DB-BD31-4B8C-83A1-F6EECF244321}">
                    <p14:modId xmlns:p14="http://schemas.microsoft.com/office/powerpoint/2010/main" val="320356698"/>
                  </p:ext>
                </p:extLst>
              </p:nvPr>
            </p:nvGraphicFramePr>
            <p:xfrm>
              <a:off x="121445" y="2409670"/>
              <a:ext cx="9576000" cy="565714"/>
            </p:xfrm>
            <a:graphic>
              <a:graphicData uri="http://schemas.openxmlformats.org/drawingml/2006/table">
                <a:tbl>
                  <a:tblPr firstRow="1" bandRow="1">
                    <a:tableStyleId>{5C22544A-7EE6-4342-B048-85BDC9FD1C3A}</a:tableStyleId>
                  </a:tblPr>
                  <a:tblGrid>
                    <a:gridCol w="1368000">
                      <a:extLst>
                        <a:ext uri="{9D8B030D-6E8A-4147-A177-3AD203B41FA5}">
                          <a16:colId xmlns:a16="http://schemas.microsoft.com/office/drawing/2014/main" val="2573274369"/>
                        </a:ext>
                      </a:extLst>
                    </a:gridCol>
                    <a:gridCol w="1368000">
                      <a:extLst>
                        <a:ext uri="{9D8B030D-6E8A-4147-A177-3AD203B41FA5}">
                          <a16:colId xmlns:a16="http://schemas.microsoft.com/office/drawing/2014/main" val="4051045428"/>
                        </a:ext>
                      </a:extLst>
                    </a:gridCol>
                    <a:gridCol w="1368000">
                      <a:extLst>
                        <a:ext uri="{9D8B030D-6E8A-4147-A177-3AD203B41FA5}">
                          <a16:colId xmlns:a16="http://schemas.microsoft.com/office/drawing/2014/main" val="1541333607"/>
                        </a:ext>
                      </a:extLst>
                    </a:gridCol>
                    <a:gridCol w="1368000">
                      <a:extLst>
                        <a:ext uri="{9D8B030D-6E8A-4147-A177-3AD203B41FA5}">
                          <a16:colId xmlns:a16="http://schemas.microsoft.com/office/drawing/2014/main" val="535765769"/>
                        </a:ext>
                      </a:extLst>
                    </a:gridCol>
                    <a:gridCol w="1368000">
                      <a:extLst>
                        <a:ext uri="{9D8B030D-6E8A-4147-A177-3AD203B41FA5}">
                          <a16:colId xmlns:a16="http://schemas.microsoft.com/office/drawing/2014/main" val="3481627474"/>
                        </a:ext>
                      </a:extLst>
                    </a:gridCol>
                    <a:gridCol w="1368000">
                      <a:extLst>
                        <a:ext uri="{9D8B030D-6E8A-4147-A177-3AD203B41FA5}">
                          <a16:colId xmlns:a16="http://schemas.microsoft.com/office/drawing/2014/main" val="676072984"/>
                        </a:ext>
                      </a:extLst>
                    </a:gridCol>
                    <a:gridCol w="1368000">
                      <a:extLst>
                        <a:ext uri="{9D8B030D-6E8A-4147-A177-3AD203B41FA5}">
                          <a16:colId xmlns:a16="http://schemas.microsoft.com/office/drawing/2014/main" val="2065311432"/>
                        </a:ext>
                      </a:extLst>
                    </a:gridCol>
                  </a:tblGrid>
                  <a:tr h="565714">
                    <a:tc>
                      <a:txBody>
                        <a:bodyPr/>
                        <a:lstStyle/>
                        <a:p>
                          <a:pPr algn="l"/>
                          <a14:m>
                            <m:oMathPara xmlns:m="http://schemas.openxmlformats.org/officeDocument/2006/math">
                              <m:oMathParaPr>
                                <m:jc m:val="left"/>
                              </m:oMathParaPr>
                              <m:oMath xmlns:m="http://schemas.openxmlformats.org/officeDocument/2006/math">
                                <m:r>
                                  <a:rPr lang="en-IN" sz="2400" kern="1200" smtClean="0">
                                    <a:solidFill>
                                      <a:srgbClr val="002060"/>
                                    </a:solidFill>
                                    <a:latin typeface="Cambria Math" panose="02040503050406030204" pitchFamily="18" charset="0"/>
                                    <a:ea typeface="+mn-ea"/>
                                    <a:cs typeface="+mn-cs"/>
                                  </a:rPr>
                                  <m:t>𝐞</m:t>
                                </m:r>
                                <m:d>
                                  <m:dPr>
                                    <m:ctrlPr>
                                      <a:rPr lang="en-IN" sz="2400" i="1" kern="1200" smtClean="0">
                                        <a:solidFill>
                                          <a:srgbClr val="002060"/>
                                        </a:solidFill>
                                        <a:latin typeface="Cambria Math" panose="02040503050406030204" pitchFamily="18" charset="0"/>
                                        <a:ea typeface="+mn-ea"/>
                                        <a:cs typeface="+mn-cs"/>
                                      </a:rPr>
                                    </m:ctrlPr>
                                  </m:dPr>
                                  <m:e>
                                    <m:r>
                                      <a:rPr lang="en-IN" sz="2400" kern="1200" smtClean="0">
                                        <a:solidFill>
                                          <a:srgbClr val="002060"/>
                                        </a:solidFill>
                                        <a:latin typeface="Cambria Math" panose="02040503050406030204" pitchFamily="18" charset="0"/>
                                        <a:ea typeface="+mn-ea"/>
                                        <a:cs typeface="+mn-cs"/>
                                      </a:rPr>
                                      <m:t>𝐚</m:t>
                                    </m:r>
                                  </m:e>
                                </m:d>
                                <m:r>
                                  <a:rPr lang="en-IN" sz="2400" b="1" i="0" kern="1200" smtClean="0">
                                    <a:solidFill>
                                      <a:srgbClr val="002060"/>
                                    </a:solidFill>
                                    <a:latin typeface="Cambria Math" panose="02040503050406030204" pitchFamily="18" charset="0"/>
                                    <a:ea typeface="+mn-ea"/>
                                    <a:cs typeface="+mn-cs"/>
                                  </a:rPr>
                                  <m:t>=</m:t>
                                </m:r>
                                <m:r>
                                  <a:rPr lang="en-IN" sz="2400" b="1" i="0" kern="1200" smtClean="0">
                                    <a:solidFill>
                                      <a:srgbClr val="002060"/>
                                    </a:solidFill>
                                    <a:latin typeface="Cambria Math" panose="02040503050406030204" pitchFamily="18" charset="0"/>
                                    <a:ea typeface="+mn-ea"/>
                                    <a:cs typeface="+mn-cs"/>
                                  </a:rPr>
                                  <m:t>𝟒</m:t>
                                </m:r>
                              </m:oMath>
                            </m:oMathPara>
                          </a14:m>
                          <a:endParaRPr lang="en-IN" sz="2400" kern="1200" dirty="0">
                            <a:solidFill>
                              <a:srgbClr val="002060"/>
                            </a:solidFill>
                            <a:latin typeface="Cambria Math" panose="02040503050406030204" pitchFamily="18" charset="0"/>
                            <a:ea typeface="+mn-ea"/>
                            <a:cs typeface="+mn-cs"/>
                          </a:endParaRPr>
                        </a:p>
                      </a:txBody>
                      <a:tcPr anchor="ctr">
                        <a:solidFill>
                          <a:schemeClr val="accent3">
                            <a:lumMod val="40000"/>
                            <a:lumOff val="60000"/>
                          </a:schemeClr>
                        </a:solidFill>
                      </a:tcPr>
                    </a:tc>
                    <a:tc>
                      <a:txBody>
                        <a:bodyPr/>
                        <a:lstStyle/>
                        <a:p>
                          <a:pPr algn="l"/>
                          <a14:m>
                            <m:oMathPara xmlns:m="http://schemas.openxmlformats.org/officeDocument/2006/math">
                              <m:oMathParaPr>
                                <m:jc m:val="left"/>
                              </m:oMathParaPr>
                              <m:oMath xmlns:m="http://schemas.openxmlformats.org/officeDocument/2006/math">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𝐞</m:t>
                                </m:r>
                                <m:d>
                                  <m:dPr>
                                    <m:ctrlPr>
                                      <a:rPr kumimoji="0" lang="en-IN" sz="2400" b="1" i="1"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ctrlPr>
                                  </m:dPr>
                                  <m:e>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𝐛</m:t>
                                    </m:r>
                                  </m:e>
                                </m:d>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m:t>
                                </m:r>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𝟒</m:t>
                                </m:r>
                              </m:oMath>
                            </m:oMathPara>
                          </a14:m>
                          <a:endParaRPr lang="en-IN" dirty="0"/>
                        </a:p>
                      </a:txBody>
                      <a:tcPr anchor="ctr">
                        <a:solidFill>
                          <a:schemeClr val="accent3">
                            <a:lumMod val="40000"/>
                            <a:lumOff val="60000"/>
                          </a:schemeClr>
                        </a:solidFill>
                      </a:tcPr>
                    </a:tc>
                    <a:tc>
                      <a:txBody>
                        <a:bodyPr/>
                        <a:lstStyle/>
                        <a:p>
                          <a:pPr algn="l"/>
                          <a14:m>
                            <m:oMathPara xmlns:m="http://schemas.openxmlformats.org/officeDocument/2006/math">
                              <m:oMathParaPr>
                                <m:jc m:val="left"/>
                              </m:oMathParaPr>
                              <m:oMath xmlns:m="http://schemas.openxmlformats.org/officeDocument/2006/math">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𝐞</m:t>
                                </m:r>
                                <m:d>
                                  <m:dPr>
                                    <m:ctrlPr>
                                      <a:rPr kumimoji="0" lang="en-IN" sz="2400" b="1" i="1"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ctrlPr>
                                  </m:dPr>
                                  <m:e>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𝐜</m:t>
                                    </m:r>
                                  </m:e>
                                </m:d>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m:t>
                                </m:r>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𝟑</m:t>
                                </m:r>
                              </m:oMath>
                            </m:oMathPara>
                          </a14:m>
                          <a:endParaRPr lang="en-IN" dirty="0"/>
                        </a:p>
                      </a:txBody>
                      <a:tcPr anchor="ctr">
                        <a:solidFill>
                          <a:schemeClr val="accent3">
                            <a:lumMod val="40000"/>
                            <a:lumOff val="60000"/>
                          </a:schemeClr>
                        </a:solidFill>
                      </a:tcPr>
                    </a:tc>
                    <a:tc>
                      <a:txBody>
                        <a:bodyPr/>
                        <a:lstStyle/>
                        <a:p>
                          <a:pPr algn="l"/>
                          <a14:m>
                            <m:oMathPara xmlns:m="http://schemas.openxmlformats.org/officeDocument/2006/math">
                              <m:oMathParaPr>
                                <m:jc m:val="left"/>
                              </m:oMathParaPr>
                              <m:oMath xmlns:m="http://schemas.openxmlformats.org/officeDocument/2006/math">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𝐞</m:t>
                                </m:r>
                                <m:d>
                                  <m:dPr>
                                    <m:ctrlPr>
                                      <a:rPr kumimoji="0" lang="en-IN" sz="2400" b="1" i="1"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ctrlPr>
                                  </m:dPr>
                                  <m:e>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𝐝</m:t>
                                    </m:r>
                                  </m:e>
                                </m:d>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m:t>
                                </m:r>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𝟑</m:t>
                                </m:r>
                              </m:oMath>
                            </m:oMathPara>
                          </a14:m>
                          <a:endParaRPr lang="en-IN" dirty="0"/>
                        </a:p>
                      </a:txBody>
                      <a:tcPr anchor="ctr">
                        <a:solidFill>
                          <a:schemeClr val="accent3">
                            <a:lumMod val="40000"/>
                            <a:lumOff val="60000"/>
                          </a:schemeClr>
                        </a:solidFill>
                      </a:tcPr>
                    </a:tc>
                    <a:tc>
                      <a:txBody>
                        <a:bodyPr/>
                        <a:lstStyle/>
                        <a:p>
                          <a:pPr algn="l"/>
                          <a14:m>
                            <m:oMathPara xmlns:m="http://schemas.openxmlformats.org/officeDocument/2006/math">
                              <m:oMathParaPr>
                                <m:jc m:val="left"/>
                              </m:oMathParaPr>
                              <m:oMath xmlns:m="http://schemas.openxmlformats.org/officeDocument/2006/math">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𝐞</m:t>
                                </m:r>
                                <m:d>
                                  <m:dPr>
                                    <m:ctrlPr>
                                      <a:rPr kumimoji="0" lang="en-IN" sz="2400" b="1" i="1"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ctrlPr>
                                  </m:dPr>
                                  <m:e>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𝐞</m:t>
                                    </m:r>
                                  </m:e>
                                </m:d>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m:t>
                                </m:r>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𝟑</m:t>
                                </m:r>
                              </m:oMath>
                            </m:oMathPara>
                          </a14:m>
                          <a:endParaRPr lang="en-IN" dirty="0"/>
                        </a:p>
                      </a:txBody>
                      <a:tcPr anchor="ctr">
                        <a:solidFill>
                          <a:schemeClr val="accent3">
                            <a:lumMod val="40000"/>
                            <a:lumOff val="60000"/>
                          </a:schemeClr>
                        </a:solidFill>
                      </a:tcPr>
                    </a:tc>
                    <a:tc>
                      <a:txBody>
                        <a:bodyPr/>
                        <a:lstStyle/>
                        <a:p>
                          <a:pPr algn="l"/>
                          <a14:m>
                            <m:oMathPara xmlns:m="http://schemas.openxmlformats.org/officeDocument/2006/math">
                              <m:oMathParaPr>
                                <m:jc m:val="left"/>
                              </m:oMathParaPr>
                              <m:oMath xmlns:m="http://schemas.openxmlformats.org/officeDocument/2006/math">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𝐞</m:t>
                                </m:r>
                                <m:d>
                                  <m:dPr>
                                    <m:ctrlPr>
                                      <a:rPr kumimoji="0" lang="en-IN" sz="2400" b="1" i="1"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ctrlPr>
                                  </m:dPr>
                                  <m:e>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𝐟</m:t>
                                    </m:r>
                                  </m:e>
                                </m:d>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m:t>
                                </m:r>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𝟐</m:t>
                                </m:r>
                              </m:oMath>
                            </m:oMathPara>
                          </a14:m>
                          <a:endParaRPr lang="en-IN" dirty="0"/>
                        </a:p>
                      </a:txBody>
                      <a:tcPr anchor="ctr">
                        <a:solidFill>
                          <a:schemeClr val="accent3">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𝐞</m:t>
                                </m:r>
                                <m:d>
                                  <m:dPr>
                                    <m:ctrlPr>
                                      <a:rPr kumimoji="0" lang="en-IN" sz="2400" b="1" i="1"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ctrlPr>
                                  </m:dPr>
                                  <m:e>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𝐠</m:t>
                                    </m:r>
                                  </m:e>
                                </m:d>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m:t>
                                </m:r>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𝟑</m:t>
                                </m:r>
                              </m:oMath>
                            </m:oMathPara>
                          </a14:m>
                          <a:endParaRPr kumimoji="0" lang="en-IN" sz="2400" b="1" i="0" u="none" strike="noStrike" kern="1200" cap="none" spc="0" normalizeH="0" baseline="0" dirty="0">
                            <a:ln>
                              <a:noFill/>
                            </a:ln>
                            <a:solidFill>
                              <a:srgbClr val="002060"/>
                            </a:solidFill>
                            <a:effectLst/>
                            <a:uLnTx/>
                            <a:uFillTx/>
                            <a:latin typeface="Cambria Math" panose="02040503050406030204" pitchFamily="18" charset="0"/>
                            <a:ea typeface="+mn-ea"/>
                            <a:cs typeface="+mn-cs"/>
                          </a:endParaRPr>
                        </a:p>
                      </a:txBody>
                      <a:tcPr anchor="ctr">
                        <a:solidFill>
                          <a:schemeClr val="accent3">
                            <a:lumMod val="40000"/>
                            <a:lumOff val="60000"/>
                          </a:schemeClr>
                        </a:solidFill>
                      </a:tcPr>
                    </a:tc>
                    <a:extLst>
                      <a:ext uri="{0D108BD9-81ED-4DB2-BD59-A6C34878D82A}">
                        <a16:rowId xmlns:a16="http://schemas.microsoft.com/office/drawing/2014/main" val="4219683138"/>
                      </a:ext>
                    </a:extLst>
                  </a:tr>
                </a:tbl>
              </a:graphicData>
            </a:graphic>
          </p:graphicFrame>
        </mc:Choice>
        <mc:Fallback xmlns="">
          <p:graphicFrame>
            <p:nvGraphicFramePr>
              <p:cNvPr id="48" name="Table 47">
                <a:extLst>
                  <a:ext uri="{FF2B5EF4-FFF2-40B4-BE49-F238E27FC236}">
                    <a16:creationId xmlns:a16="http://schemas.microsoft.com/office/drawing/2014/main" id="{C0941608-0457-C9EC-68BC-BED60F09FF3A}"/>
                  </a:ext>
                </a:extLst>
              </p:cNvPr>
              <p:cNvGraphicFramePr>
                <a:graphicFrameLocks noGrp="1"/>
              </p:cNvGraphicFramePr>
              <p:nvPr>
                <p:extLst>
                  <p:ext uri="{D42A27DB-BD31-4B8C-83A1-F6EECF244321}">
                    <p14:modId xmlns:p14="http://schemas.microsoft.com/office/powerpoint/2010/main" val="320356698"/>
                  </p:ext>
                </p:extLst>
              </p:nvPr>
            </p:nvGraphicFramePr>
            <p:xfrm>
              <a:off x="121445" y="2409670"/>
              <a:ext cx="9576000" cy="565714"/>
            </p:xfrm>
            <a:graphic>
              <a:graphicData uri="http://schemas.openxmlformats.org/drawingml/2006/table">
                <a:tbl>
                  <a:tblPr firstRow="1" bandRow="1">
                    <a:tableStyleId>{5C22544A-7EE6-4342-B048-85BDC9FD1C3A}</a:tableStyleId>
                  </a:tblPr>
                  <a:tblGrid>
                    <a:gridCol w="1368000">
                      <a:extLst>
                        <a:ext uri="{9D8B030D-6E8A-4147-A177-3AD203B41FA5}">
                          <a16:colId xmlns:a16="http://schemas.microsoft.com/office/drawing/2014/main" val="2573274369"/>
                        </a:ext>
                      </a:extLst>
                    </a:gridCol>
                    <a:gridCol w="1368000">
                      <a:extLst>
                        <a:ext uri="{9D8B030D-6E8A-4147-A177-3AD203B41FA5}">
                          <a16:colId xmlns:a16="http://schemas.microsoft.com/office/drawing/2014/main" val="4051045428"/>
                        </a:ext>
                      </a:extLst>
                    </a:gridCol>
                    <a:gridCol w="1368000">
                      <a:extLst>
                        <a:ext uri="{9D8B030D-6E8A-4147-A177-3AD203B41FA5}">
                          <a16:colId xmlns:a16="http://schemas.microsoft.com/office/drawing/2014/main" val="1541333607"/>
                        </a:ext>
                      </a:extLst>
                    </a:gridCol>
                    <a:gridCol w="1368000">
                      <a:extLst>
                        <a:ext uri="{9D8B030D-6E8A-4147-A177-3AD203B41FA5}">
                          <a16:colId xmlns:a16="http://schemas.microsoft.com/office/drawing/2014/main" val="535765769"/>
                        </a:ext>
                      </a:extLst>
                    </a:gridCol>
                    <a:gridCol w="1368000">
                      <a:extLst>
                        <a:ext uri="{9D8B030D-6E8A-4147-A177-3AD203B41FA5}">
                          <a16:colId xmlns:a16="http://schemas.microsoft.com/office/drawing/2014/main" val="3481627474"/>
                        </a:ext>
                      </a:extLst>
                    </a:gridCol>
                    <a:gridCol w="1368000">
                      <a:extLst>
                        <a:ext uri="{9D8B030D-6E8A-4147-A177-3AD203B41FA5}">
                          <a16:colId xmlns:a16="http://schemas.microsoft.com/office/drawing/2014/main" val="676072984"/>
                        </a:ext>
                      </a:extLst>
                    </a:gridCol>
                    <a:gridCol w="1368000">
                      <a:extLst>
                        <a:ext uri="{9D8B030D-6E8A-4147-A177-3AD203B41FA5}">
                          <a16:colId xmlns:a16="http://schemas.microsoft.com/office/drawing/2014/main" val="2065311432"/>
                        </a:ext>
                      </a:extLst>
                    </a:gridCol>
                  </a:tblGrid>
                  <a:tr h="565714">
                    <a:tc>
                      <a:txBody>
                        <a:bodyPr/>
                        <a:lstStyle/>
                        <a:p>
                          <a:endParaRPr lang="en-US"/>
                        </a:p>
                      </a:txBody>
                      <a:tcPr anchor="ctr">
                        <a:blipFill>
                          <a:blip r:embed="rId2"/>
                          <a:stretch>
                            <a:fillRect l="-444" t="-1064" r="-600444" b="-4255"/>
                          </a:stretch>
                        </a:blipFill>
                      </a:tcPr>
                    </a:tc>
                    <a:tc>
                      <a:txBody>
                        <a:bodyPr/>
                        <a:lstStyle/>
                        <a:p>
                          <a:endParaRPr lang="en-US"/>
                        </a:p>
                      </a:txBody>
                      <a:tcPr anchor="ctr">
                        <a:blipFill>
                          <a:blip r:embed="rId2"/>
                          <a:stretch>
                            <a:fillRect l="-100893" t="-1064" r="-503125" b="-4255"/>
                          </a:stretch>
                        </a:blipFill>
                      </a:tcPr>
                    </a:tc>
                    <a:tc>
                      <a:txBody>
                        <a:bodyPr/>
                        <a:lstStyle/>
                        <a:p>
                          <a:endParaRPr lang="en-US"/>
                        </a:p>
                      </a:txBody>
                      <a:tcPr anchor="ctr">
                        <a:blipFill>
                          <a:blip r:embed="rId2"/>
                          <a:stretch>
                            <a:fillRect l="-200000" t="-1064" r="-400889" b="-4255"/>
                          </a:stretch>
                        </a:blipFill>
                      </a:tcPr>
                    </a:tc>
                    <a:tc>
                      <a:txBody>
                        <a:bodyPr/>
                        <a:lstStyle/>
                        <a:p>
                          <a:endParaRPr lang="en-US"/>
                        </a:p>
                      </a:txBody>
                      <a:tcPr anchor="ctr">
                        <a:blipFill>
                          <a:blip r:embed="rId2"/>
                          <a:stretch>
                            <a:fillRect l="-301339" t="-1064" r="-302679" b="-4255"/>
                          </a:stretch>
                        </a:blipFill>
                      </a:tcPr>
                    </a:tc>
                    <a:tc>
                      <a:txBody>
                        <a:bodyPr/>
                        <a:lstStyle/>
                        <a:p>
                          <a:endParaRPr lang="en-US"/>
                        </a:p>
                      </a:txBody>
                      <a:tcPr anchor="ctr">
                        <a:blipFill>
                          <a:blip r:embed="rId2"/>
                          <a:stretch>
                            <a:fillRect l="-399556" t="-1064" r="-201333" b="-4255"/>
                          </a:stretch>
                        </a:blipFill>
                      </a:tcPr>
                    </a:tc>
                    <a:tc>
                      <a:txBody>
                        <a:bodyPr/>
                        <a:lstStyle/>
                        <a:p>
                          <a:endParaRPr lang="en-US"/>
                        </a:p>
                      </a:txBody>
                      <a:tcPr anchor="ctr">
                        <a:blipFill>
                          <a:blip r:embed="rId2"/>
                          <a:stretch>
                            <a:fillRect l="-501786" t="-1064" r="-102232" b="-4255"/>
                          </a:stretch>
                        </a:blipFill>
                      </a:tcPr>
                    </a:tc>
                    <a:tc>
                      <a:txBody>
                        <a:bodyPr/>
                        <a:lstStyle/>
                        <a:p>
                          <a:endParaRPr lang="en-US"/>
                        </a:p>
                      </a:txBody>
                      <a:tcPr anchor="ctr">
                        <a:blipFill>
                          <a:blip r:embed="rId2"/>
                          <a:stretch>
                            <a:fillRect l="-599111" t="-1064" r="-1778" b="-4255"/>
                          </a:stretch>
                        </a:blipFill>
                      </a:tcPr>
                    </a:tc>
                    <a:extLst>
                      <a:ext uri="{0D108BD9-81ED-4DB2-BD59-A6C34878D82A}">
                        <a16:rowId xmlns:a16="http://schemas.microsoft.com/office/drawing/2014/main" val="4219683138"/>
                      </a:ext>
                    </a:extLst>
                  </a:tr>
                </a:tbl>
              </a:graphicData>
            </a:graphic>
          </p:graphicFrame>
        </mc:Fallback>
      </mc:AlternateContent>
      <p:sp>
        <p:nvSpPr>
          <p:cNvPr id="97" name="Rectangle 96">
            <a:extLst>
              <a:ext uri="{FF2B5EF4-FFF2-40B4-BE49-F238E27FC236}">
                <a16:creationId xmlns:a16="http://schemas.microsoft.com/office/drawing/2014/main" id="{621F0A4B-3A5E-B220-72D5-E8AF7D45402E}"/>
              </a:ext>
            </a:extLst>
          </p:cNvPr>
          <p:cNvSpPr/>
          <p:nvPr/>
        </p:nvSpPr>
        <p:spPr>
          <a:xfrm>
            <a:off x="6988437" y="2433639"/>
            <a:ext cx="1314188" cy="506412"/>
          </a:xfrm>
          <a:prstGeom prst="rect">
            <a:avLst/>
          </a:prstGeom>
          <a:noFill/>
          <a:ln w="381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104" name="Content Placeholder 54">
                <a:extLst>
                  <a:ext uri="{FF2B5EF4-FFF2-40B4-BE49-F238E27FC236}">
                    <a16:creationId xmlns:a16="http://schemas.microsoft.com/office/drawing/2014/main" id="{59463CCC-1A29-9F9B-77DD-0C1956C05C0D}"/>
                  </a:ext>
                </a:extLst>
              </p:cNvPr>
              <p:cNvSpPr txBox="1">
                <a:spLocks/>
              </p:cNvSpPr>
              <p:nvPr/>
            </p:nvSpPr>
            <p:spPr>
              <a:xfrm>
                <a:off x="121445" y="3882617"/>
                <a:ext cx="6355555" cy="73538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5113" lvl="1" indent="-265113">
                  <a:lnSpc>
                    <a:spcPct val="150000"/>
                  </a:lnSpc>
                  <a:spcBef>
                    <a:spcPts val="1000"/>
                  </a:spcBef>
                  <a:buClr>
                    <a:srgbClr val="B84742"/>
                  </a:buClr>
                  <a:buFont typeface="Wingdings 3" panose="05040102010807070707" pitchFamily="18" charset="2"/>
                  <a:buChar char=""/>
                </a:pPr>
                <a:r>
                  <a:rPr lang="en-US" dirty="0"/>
                  <a:t>Radius</a:t>
                </a:r>
                <a14:m>
                  <m:oMath xmlns:m="http://schemas.openxmlformats.org/officeDocument/2006/math">
                    <m:d>
                      <m:dPr>
                        <m:ctrlPr>
                          <a:rPr lang="en-US" i="1" dirty="0">
                            <a:latin typeface="Cambria Math" panose="02040503050406030204" pitchFamily="18" charset="0"/>
                          </a:rPr>
                        </m:ctrlPr>
                      </m:dPr>
                      <m:e>
                        <m:r>
                          <m:rPr>
                            <m:sty m:val="p"/>
                          </m:rPr>
                          <a:rPr lang="en-US" dirty="0">
                            <a:latin typeface="Cambria Math" panose="02040503050406030204" pitchFamily="18" charset="0"/>
                          </a:rPr>
                          <m:t>r</m:t>
                        </m:r>
                      </m:e>
                    </m:d>
                  </m:oMath>
                </a14:m>
                <a:r>
                  <a:rPr lang="en-US" dirty="0"/>
                  <a:t> of tree is eccentricity of center. </a:t>
                </a:r>
                <a:endParaRPr lang="en-US" b="1" dirty="0">
                  <a:solidFill>
                    <a:srgbClr val="FF0000"/>
                  </a:solidFill>
                </a:endParaRPr>
              </a:p>
            </p:txBody>
          </p:sp>
        </mc:Choice>
        <mc:Fallback xmlns="">
          <p:sp>
            <p:nvSpPr>
              <p:cNvPr id="104" name="Content Placeholder 54">
                <a:extLst>
                  <a:ext uri="{FF2B5EF4-FFF2-40B4-BE49-F238E27FC236}">
                    <a16:creationId xmlns:a16="http://schemas.microsoft.com/office/drawing/2014/main" id="{59463CCC-1A29-9F9B-77DD-0C1956C05C0D}"/>
                  </a:ext>
                </a:extLst>
              </p:cNvPr>
              <p:cNvSpPr txBox="1">
                <a:spLocks noRot="1" noChangeAspect="1" noMove="1" noResize="1" noEditPoints="1" noAdjustHandles="1" noChangeArrowheads="1" noChangeShapeType="1" noTextEdit="1"/>
              </p:cNvSpPr>
              <p:nvPr/>
            </p:nvSpPr>
            <p:spPr>
              <a:xfrm>
                <a:off x="121445" y="3882617"/>
                <a:ext cx="6355555" cy="735381"/>
              </a:xfrm>
              <a:prstGeom prst="rect">
                <a:avLst/>
              </a:prstGeom>
              <a:blipFill>
                <a:blip r:embed="rId3"/>
                <a:stretch>
                  <a:fillRect l="-1822" r="-959" b="-1322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5" name="Content Placeholder 54">
                <a:extLst>
                  <a:ext uri="{FF2B5EF4-FFF2-40B4-BE49-F238E27FC236}">
                    <a16:creationId xmlns:a16="http://schemas.microsoft.com/office/drawing/2014/main" id="{88E5F364-E743-2300-BB06-39D4B5B7F035}"/>
                  </a:ext>
                </a:extLst>
              </p:cNvPr>
              <p:cNvSpPr txBox="1">
                <a:spLocks/>
              </p:cNvSpPr>
              <p:nvPr/>
            </p:nvSpPr>
            <p:spPr>
              <a:xfrm>
                <a:off x="121445" y="4673854"/>
                <a:ext cx="7270758" cy="629287"/>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5113" lvl="1" indent="-265113">
                  <a:lnSpc>
                    <a:spcPct val="150000"/>
                  </a:lnSpc>
                  <a:spcBef>
                    <a:spcPts val="1000"/>
                  </a:spcBef>
                  <a:buClr>
                    <a:srgbClr val="B84742"/>
                  </a:buClr>
                  <a:buFont typeface="Wingdings 3" panose="05040102010807070707" pitchFamily="18" charset="2"/>
                  <a:buChar char=""/>
                </a:pPr>
                <a:r>
                  <a:rPr lang="en-US" dirty="0"/>
                  <a:t>Diameter</a:t>
                </a:r>
                <a14:m>
                  <m:oMath xmlns:m="http://schemas.openxmlformats.org/officeDocument/2006/math">
                    <m:d>
                      <m:dPr>
                        <m:ctrlPr>
                          <a:rPr lang="en-US" i="1" dirty="0">
                            <a:latin typeface="Cambria Math" panose="02040503050406030204" pitchFamily="18" charset="0"/>
                          </a:rPr>
                        </m:ctrlPr>
                      </m:dPr>
                      <m:e>
                        <m:r>
                          <m:rPr>
                            <m:sty m:val="p"/>
                          </m:rPr>
                          <a:rPr lang="en-US" dirty="0">
                            <a:latin typeface="Cambria Math" panose="02040503050406030204" pitchFamily="18" charset="0"/>
                          </a:rPr>
                          <m:t>D</m:t>
                        </m:r>
                      </m:e>
                    </m:d>
                  </m:oMath>
                </a14:m>
                <a:r>
                  <a:rPr lang="en-US" dirty="0"/>
                  <a:t> of tree is maximum of eccentricity.</a:t>
                </a:r>
                <a:endParaRPr lang="en-US" b="1" dirty="0"/>
              </a:p>
            </p:txBody>
          </p:sp>
        </mc:Choice>
        <mc:Fallback xmlns="">
          <p:sp>
            <p:nvSpPr>
              <p:cNvPr id="105" name="Content Placeholder 54">
                <a:extLst>
                  <a:ext uri="{FF2B5EF4-FFF2-40B4-BE49-F238E27FC236}">
                    <a16:creationId xmlns:a16="http://schemas.microsoft.com/office/drawing/2014/main" id="{88E5F364-E743-2300-BB06-39D4B5B7F035}"/>
                  </a:ext>
                </a:extLst>
              </p:cNvPr>
              <p:cNvSpPr txBox="1">
                <a:spLocks noRot="1" noChangeAspect="1" noMove="1" noResize="1" noEditPoints="1" noAdjustHandles="1" noChangeArrowheads="1" noChangeShapeType="1" noTextEdit="1"/>
              </p:cNvSpPr>
              <p:nvPr/>
            </p:nvSpPr>
            <p:spPr>
              <a:xfrm>
                <a:off x="121445" y="4673854"/>
                <a:ext cx="7270758" cy="629287"/>
              </a:xfrm>
              <a:prstGeom prst="rect">
                <a:avLst/>
              </a:prstGeom>
              <a:blipFill>
                <a:blip r:embed="rId4"/>
                <a:stretch>
                  <a:fillRect l="-1593" r="-587" b="-3301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6" name="Content Placeholder 54">
                <a:extLst>
                  <a:ext uri="{FF2B5EF4-FFF2-40B4-BE49-F238E27FC236}">
                    <a16:creationId xmlns:a16="http://schemas.microsoft.com/office/drawing/2014/main" id="{ECABC07D-AF38-7E47-D9AD-71178DDB595F}"/>
                  </a:ext>
                </a:extLst>
              </p:cNvPr>
              <p:cNvSpPr txBox="1">
                <a:spLocks/>
              </p:cNvSpPr>
              <p:nvPr/>
            </p:nvSpPr>
            <p:spPr>
              <a:xfrm>
                <a:off x="7894320" y="3249534"/>
                <a:ext cx="2434220" cy="735380"/>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50000"/>
                  </a:lnSpc>
                  <a:spcBef>
                    <a:spcPts val="1000"/>
                  </a:spcBef>
                  <a:buClr>
                    <a:srgbClr val="B84742"/>
                  </a:buClr>
                  <a:buNone/>
                </a:pPr>
                <a:r>
                  <a:rPr lang="en-US" dirty="0"/>
                  <a:t>So, </a:t>
                </a:r>
                <a14:m>
                  <m:oMath xmlns:m="http://schemas.openxmlformats.org/officeDocument/2006/math">
                    <m:r>
                      <a:rPr lang="en-US" b="1" smtClean="0">
                        <a:solidFill>
                          <a:srgbClr val="FF0000"/>
                        </a:solidFill>
                        <a:latin typeface="Cambria Math" panose="02040503050406030204" pitchFamily="18" charset="0"/>
                      </a:rPr>
                      <m:t>𝐟</m:t>
                    </m:r>
                  </m:oMath>
                </a14:m>
                <a:r>
                  <a:rPr lang="en-US" b="1" dirty="0"/>
                  <a:t> </a:t>
                </a:r>
                <a:r>
                  <a:rPr lang="en-US" dirty="0"/>
                  <a:t>is center</a:t>
                </a:r>
                <a:r>
                  <a:rPr lang="en-US" b="1" dirty="0"/>
                  <a:t>.</a:t>
                </a:r>
              </a:p>
            </p:txBody>
          </p:sp>
        </mc:Choice>
        <mc:Fallback xmlns="">
          <p:sp>
            <p:nvSpPr>
              <p:cNvPr id="106" name="Content Placeholder 54">
                <a:extLst>
                  <a:ext uri="{FF2B5EF4-FFF2-40B4-BE49-F238E27FC236}">
                    <a16:creationId xmlns:a16="http://schemas.microsoft.com/office/drawing/2014/main" xmlns="" xmlns:a14="http://schemas.microsoft.com/office/drawing/2010/main" id="{ECABC07D-AF38-7E47-D9AD-71178DDB595F}"/>
                  </a:ext>
                </a:extLst>
              </p:cNvPr>
              <p:cNvSpPr txBox="1">
                <a:spLocks noRot="1" noChangeAspect="1" noMove="1" noResize="1" noEditPoints="1" noAdjustHandles="1" noChangeArrowheads="1" noChangeShapeType="1" noTextEdit="1"/>
              </p:cNvSpPr>
              <p:nvPr/>
            </p:nvSpPr>
            <p:spPr>
              <a:xfrm>
                <a:off x="7894320" y="3249534"/>
                <a:ext cx="2434220" cy="735380"/>
              </a:xfrm>
              <a:prstGeom prst="rect">
                <a:avLst/>
              </a:prstGeom>
              <a:blipFill rotWithShape="0">
                <a:blip r:embed="rId5"/>
                <a:stretch>
                  <a:fillRect l="-5013" b="-132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7" name="Content Placeholder 54">
                <a:extLst>
                  <a:ext uri="{FF2B5EF4-FFF2-40B4-BE49-F238E27FC236}">
                    <a16:creationId xmlns:a16="http://schemas.microsoft.com/office/drawing/2014/main" id="{B6932145-DD12-C1F4-DF98-C8C302C4CB34}"/>
                  </a:ext>
                </a:extLst>
              </p:cNvPr>
              <p:cNvSpPr txBox="1">
                <a:spLocks/>
              </p:cNvSpPr>
              <p:nvPr/>
            </p:nvSpPr>
            <p:spPr>
              <a:xfrm>
                <a:off x="6305552" y="3882616"/>
                <a:ext cx="2806698" cy="73538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50000"/>
                  </a:lnSpc>
                  <a:spcBef>
                    <a:spcPts val="1000"/>
                  </a:spcBef>
                  <a:buClr>
                    <a:srgbClr val="B84742"/>
                  </a:buClr>
                  <a:buNone/>
                </a:pPr>
                <a:r>
                  <a:rPr lang="en-US" dirty="0"/>
                  <a:t>So, </a:t>
                </a:r>
                <a14:m>
                  <m:oMath xmlns:m="http://schemas.openxmlformats.org/officeDocument/2006/math">
                    <m:r>
                      <a:rPr lang="en-IN" b="1" i="0" smtClean="0">
                        <a:solidFill>
                          <a:srgbClr val="FF0000"/>
                        </a:solidFill>
                        <a:latin typeface="Cambria Math" panose="02040503050406030204" pitchFamily="18" charset="0"/>
                      </a:rPr>
                      <m:t>𝐞</m:t>
                    </m:r>
                    <m:d>
                      <m:dPr>
                        <m:ctrlPr>
                          <a:rPr lang="en-IN" b="1" i="1" smtClean="0">
                            <a:solidFill>
                              <a:srgbClr val="FF0000"/>
                            </a:solidFill>
                            <a:latin typeface="Cambria Math" panose="02040503050406030204" pitchFamily="18" charset="0"/>
                          </a:rPr>
                        </m:ctrlPr>
                      </m:dPr>
                      <m:e>
                        <m:r>
                          <a:rPr lang="en-IN" b="1" i="0" smtClean="0">
                            <a:solidFill>
                              <a:srgbClr val="FF0000"/>
                            </a:solidFill>
                            <a:latin typeface="Cambria Math" panose="02040503050406030204" pitchFamily="18" charset="0"/>
                          </a:rPr>
                          <m:t>𝐟</m:t>
                        </m:r>
                      </m:e>
                    </m:d>
                    <m:r>
                      <a:rPr lang="en-IN" b="1" i="0"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𝐫</m:t>
                    </m:r>
                    <m:r>
                      <a:rPr lang="en-US" b="1">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𝟐</m:t>
                    </m:r>
                  </m:oMath>
                </a14:m>
                <a:r>
                  <a:rPr lang="en-US" b="1" dirty="0">
                    <a:solidFill>
                      <a:srgbClr val="FF0000"/>
                    </a:solidFill>
                  </a:rPr>
                  <a:t>.</a:t>
                </a:r>
              </a:p>
            </p:txBody>
          </p:sp>
        </mc:Choice>
        <mc:Fallback xmlns="">
          <p:sp>
            <p:nvSpPr>
              <p:cNvPr id="107" name="Content Placeholder 54">
                <a:extLst>
                  <a:ext uri="{FF2B5EF4-FFF2-40B4-BE49-F238E27FC236}">
                    <a16:creationId xmlns:a16="http://schemas.microsoft.com/office/drawing/2014/main" id="{B6932145-DD12-C1F4-DF98-C8C302C4CB34}"/>
                  </a:ext>
                </a:extLst>
              </p:cNvPr>
              <p:cNvSpPr txBox="1">
                <a:spLocks noRot="1" noChangeAspect="1" noMove="1" noResize="1" noEditPoints="1" noAdjustHandles="1" noChangeArrowheads="1" noChangeShapeType="1" noTextEdit="1"/>
              </p:cNvSpPr>
              <p:nvPr/>
            </p:nvSpPr>
            <p:spPr>
              <a:xfrm>
                <a:off x="6305552" y="3882616"/>
                <a:ext cx="2806698" cy="735381"/>
              </a:xfrm>
              <a:prstGeom prst="rect">
                <a:avLst/>
              </a:prstGeom>
              <a:blipFill>
                <a:blip r:embed="rId6"/>
                <a:stretch>
                  <a:fillRect l="-4338" r="-2169" b="-1322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8" name="Content Placeholder 54">
                <a:extLst>
                  <a:ext uri="{FF2B5EF4-FFF2-40B4-BE49-F238E27FC236}">
                    <a16:creationId xmlns:a16="http://schemas.microsoft.com/office/drawing/2014/main" id="{9EB8A9D1-FA78-30C5-6CAC-781C038E15CE}"/>
                  </a:ext>
                </a:extLst>
              </p:cNvPr>
              <p:cNvSpPr txBox="1">
                <a:spLocks/>
              </p:cNvSpPr>
              <p:nvPr/>
            </p:nvSpPr>
            <p:spPr>
              <a:xfrm>
                <a:off x="7193759" y="4673853"/>
                <a:ext cx="2903142" cy="73538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50000"/>
                  </a:lnSpc>
                  <a:spcBef>
                    <a:spcPts val="1000"/>
                  </a:spcBef>
                  <a:buClr>
                    <a:srgbClr val="B84742"/>
                  </a:buClr>
                  <a:buNone/>
                </a:pPr>
                <a:r>
                  <a:rPr lang="en-US" dirty="0"/>
                  <a:t>So, </a:t>
                </a:r>
                <a14:m>
                  <m:oMath xmlns:m="http://schemas.openxmlformats.org/officeDocument/2006/math">
                    <m:r>
                      <a:rPr lang="en-IN" b="1" i="0" smtClean="0">
                        <a:solidFill>
                          <a:srgbClr val="FF0000"/>
                        </a:solidFill>
                        <a:latin typeface="Cambria Math" panose="02040503050406030204" pitchFamily="18" charset="0"/>
                      </a:rPr>
                      <m:t>𝐞</m:t>
                    </m:r>
                    <m:d>
                      <m:dPr>
                        <m:ctrlPr>
                          <a:rPr lang="en-IN" b="1" i="1" smtClean="0">
                            <a:solidFill>
                              <a:srgbClr val="FF0000"/>
                            </a:solidFill>
                            <a:latin typeface="Cambria Math" panose="02040503050406030204" pitchFamily="18" charset="0"/>
                          </a:rPr>
                        </m:ctrlPr>
                      </m:dPr>
                      <m:e>
                        <m:r>
                          <a:rPr lang="en-IN" b="1" i="0" smtClean="0">
                            <a:solidFill>
                              <a:srgbClr val="FF0000"/>
                            </a:solidFill>
                            <a:latin typeface="Cambria Math" panose="02040503050406030204" pitchFamily="18" charset="0"/>
                          </a:rPr>
                          <m:t>𝐚</m:t>
                        </m:r>
                      </m:e>
                    </m:d>
                    <m:r>
                      <a:rPr lang="en-IN" b="1" i="0" smtClean="0">
                        <a:solidFill>
                          <a:srgbClr val="FF0000"/>
                        </a:solidFill>
                        <a:latin typeface="Cambria Math" panose="02040503050406030204" pitchFamily="18" charset="0"/>
                      </a:rPr>
                      <m:t>=</m:t>
                    </m:r>
                    <m:r>
                      <a:rPr lang="en-IN" b="1" i="0" smtClean="0">
                        <a:solidFill>
                          <a:srgbClr val="FF0000"/>
                        </a:solidFill>
                        <a:latin typeface="Cambria Math" panose="02040503050406030204" pitchFamily="18" charset="0"/>
                      </a:rPr>
                      <m:t>𝐃</m:t>
                    </m:r>
                    <m:r>
                      <a:rPr lang="en-US" b="1">
                        <a:solidFill>
                          <a:srgbClr val="FF0000"/>
                        </a:solidFill>
                        <a:latin typeface="Cambria Math" panose="02040503050406030204" pitchFamily="18" charset="0"/>
                      </a:rPr>
                      <m:t>=</m:t>
                    </m:r>
                    <m:r>
                      <a:rPr lang="en-IN" b="1" i="1" smtClean="0">
                        <a:solidFill>
                          <a:srgbClr val="FF0000"/>
                        </a:solidFill>
                        <a:latin typeface="Cambria Math" panose="02040503050406030204" pitchFamily="18" charset="0"/>
                      </a:rPr>
                      <m:t>𝟒</m:t>
                    </m:r>
                  </m:oMath>
                </a14:m>
                <a:r>
                  <a:rPr lang="en-US" b="1" dirty="0">
                    <a:solidFill>
                      <a:srgbClr val="FF0000"/>
                    </a:solidFill>
                  </a:rPr>
                  <a:t>.</a:t>
                </a:r>
              </a:p>
            </p:txBody>
          </p:sp>
        </mc:Choice>
        <mc:Fallback xmlns="">
          <p:sp>
            <p:nvSpPr>
              <p:cNvPr id="108" name="Content Placeholder 54">
                <a:extLst>
                  <a:ext uri="{FF2B5EF4-FFF2-40B4-BE49-F238E27FC236}">
                    <a16:creationId xmlns:a16="http://schemas.microsoft.com/office/drawing/2014/main" id="{9EB8A9D1-FA78-30C5-6CAC-781C038E15CE}"/>
                  </a:ext>
                </a:extLst>
              </p:cNvPr>
              <p:cNvSpPr txBox="1">
                <a:spLocks noRot="1" noChangeAspect="1" noMove="1" noResize="1" noEditPoints="1" noAdjustHandles="1" noChangeArrowheads="1" noChangeShapeType="1" noTextEdit="1"/>
              </p:cNvSpPr>
              <p:nvPr/>
            </p:nvSpPr>
            <p:spPr>
              <a:xfrm>
                <a:off x="7193759" y="4673853"/>
                <a:ext cx="2903142" cy="735381"/>
              </a:xfrm>
              <a:prstGeom prst="rect">
                <a:avLst/>
              </a:prstGeom>
              <a:blipFill>
                <a:blip r:embed="rId7"/>
                <a:stretch>
                  <a:fillRect l="-4202" r="-3571" b="-14167"/>
                </a:stretch>
              </a:blipFill>
            </p:spPr>
            <p:txBody>
              <a:bodyPr/>
              <a:lstStyle/>
              <a:p>
                <a:r>
                  <a:rPr lang="en-IN">
                    <a:noFill/>
                  </a:rPr>
                  <a:t> </a:t>
                </a:r>
              </a:p>
            </p:txBody>
          </p:sp>
        </mc:Fallback>
      </mc:AlternateContent>
      <p:sp>
        <p:nvSpPr>
          <p:cNvPr id="109" name="Rectangle 108">
            <a:extLst>
              <a:ext uri="{FF2B5EF4-FFF2-40B4-BE49-F238E27FC236}">
                <a16:creationId xmlns:a16="http://schemas.microsoft.com/office/drawing/2014/main" id="{FB1A2DC5-3452-8E16-D43E-337674AF7025}"/>
              </a:ext>
            </a:extLst>
          </p:cNvPr>
          <p:cNvSpPr/>
          <p:nvPr/>
        </p:nvSpPr>
        <p:spPr>
          <a:xfrm>
            <a:off x="147587" y="2433639"/>
            <a:ext cx="1314188" cy="506412"/>
          </a:xfrm>
          <a:prstGeom prst="rect">
            <a:avLst/>
          </a:prstGeom>
          <a:noFill/>
          <a:ln w="381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Content Placeholder 54">
            <a:extLst>
              <a:ext uri="{FF2B5EF4-FFF2-40B4-BE49-F238E27FC236}">
                <a16:creationId xmlns:a16="http://schemas.microsoft.com/office/drawing/2014/main" id="{59463CCC-1A29-9F9B-77DD-0C1956C05C0D}"/>
              </a:ext>
            </a:extLst>
          </p:cNvPr>
          <p:cNvSpPr txBox="1">
            <a:spLocks/>
          </p:cNvSpPr>
          <p:nvPr/>
        </p:nvSpPr>
        <p:spPr>
          <a:xfrm>
            <a:off x="135416" y="3241421"/>
            <a:ext cx="7957024" cy="73538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Clr>
                <a:srgbClr val="B84742"/>
              </a:buClr>
            </a:pPr>
            <a:r>
              <a:rPr lang="en-US" dirty="0"/>
              <a:t>A vertex with </a:t>
            </a:r>
            <a:r>
              <a:rPr lang="en-US" b="1" dirty="0"/>
              <a:t>minimum eccentricity</a:t>
            </a:r>
            <a:r>
              <a:rPr lang="en-US" dirty="0"/>
              <a:t> is a center of G.</a:t>
            </a:r>
          </a:p>
        </p:txBody>
      </p:sp>
    </p:spTree>
    <p:extLst>
      <p:ext uri="{BB962C8B-B14F-4D97-AF65-F5344CB8AC3E}">
        <p14:creationId xmlns:p14="http://schemas.microsoft.com/office/powerpoint/2010/main" val="3975498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6">
                                            <p:txEl>
                                              <p:pRg st="0" end="0"/>
                                            </p:txEl>
                                          </p:spTgt>
                                        </p:tgtEl>
                                        <p:attrNameLst>
                                          <p:attrName>style.visibility</p:attrName>
                                        </p:attrNameLst>
                                      </p:cBhvr>
                                      <p:to>
                                        <p:strVal val="visible"/>
                                      </p:to>
                                    </p:set>
                                  </p:childTnLst>
                                </p:cTn>
                              </p:par>
                              <p:par>
                                <p:cTn id="15" presetID="1" presetClass="exit" presetSubtype="0" fill="hold" grpId="1" nodeType="withEffect">
                                  <p:stCondLst>
                                    <p:cond delay="0"/>
                                  </p:stCondLst>
                                  <p:childTnLst>
                                    <p:set>
                                      <p:cBhvr>
                                        <p:cTn id="16" dur="1" fill="hold">
                                          <p:stCondLst>
                                            <p:cond delay="0"/>
                                          </p:stCondLst>
                                        </p:cTn>
                                        <p:tgtEl>
                                          <p:spTgt spid="97"/>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4">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7">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5">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8">
                                            <p:txEl>
                                              <p:pRg st="0" end="0"/>
                                            </p:txEl>
                                          </p:spTgt>
                                        </p:tgtEl>
                                        <p:attrNameLst>
                                          <p:attrName>style.visibility</p:attrName>
                                        </p:attrNameLst>
                                      </p:cBhvr>
                                      <p:to>
                                        <p:strVal val="visible"/>
                                      </p:to>
                                    </p:set>
                                  </p:childTnLst>
                                </p:cTn>
                              </p:par>
                              <p:par>
                                <p:cTn id="37" presetID="1" presetClass="exit" presetSubtype="0" fill="hold" grpId="1" nodeType="withEffect">
                                  <p:stCondLst>
                                    <p:cond delay="0"/>
                                  </p:stCondLst>
                                  <p:childTnLst>
                                    <p:set>
                                      <p:cBhvr>
                                        <p:cTn id="38" dur="1" fill="hold">
                                          <p:stCondLst>
                                            <p:cond delay="0"/>
                                          </p:stCondLst>
                                        </p:cTn>
                                        <p:tgtEl>
                                          <p:spTgt spid="10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P spid="97" grpId="1" animBg="1"/>
      <p:bldP spid="104" grpId="0" build="p"/>
      <p:bldP spid="105" grpId="0" build="p"/>
      <p:bldP spid="106" grpId="0" build="p"/>
      <p:bldP spid="107" grpId="0" build="p"/>
      <p:bldP spid="108" grpId="0" build="p"/>
      <p:bldP spid="109" grpId="0" animBg="1"/>
      <p:bldP spid="109" grpId="1" animBg="1"/>
      <p:bldP spid="14"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9"/>
            <a:ext cx="11929645" cy="991999"/>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Give a counterexample to show that radius is not necessarily half of the diameter in a tree.</a:t>
            </a:r>
          </a:p>
        </p:txBody>
      </p:sp>
      <p:sp>
        <p:nvSpPr>
          <p:cNvPr id="16" name="Content Placeholder 2">
            <a:extLst>
              <a:ext uri="{FF2B5EF4-FFF2-40B4-BE49-F238E27FC236}">
                <a16:creationId xmlns:a16="http://schemas.microsoft.com/office/drawing/2014/main" id="{635C8299-099D-4E74-A7B7-29B2E1FD450E}"/>
              </a:ext>
            </a:extLst>
          </p:cNvPr>
          <p:cNvSpPr txBox="1">
            <a:spLocks/>
          </p:cNvSpPr>
          <p:nvPr/>
        </p:nvSpPr>
        <p:spPr>
          <a:xfrm>
            <a:off x="131176" y="1997075"/>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2 ⇝ Example 4</a:t>
            </a:r>
            <a:endParaRPr lang="en-US" dirty="0"/>
          </a:p>
        </p:txBody>
      </p:sp>
      <mc:AlternateContent xmlns:mc="http://schemas.openxmlformats.org/markup-compatibility/2006" xmlns:a14="http://schemas.microsoft.com/office/drawing/2010/main">
        <mc:Choice Requires="a14">
          <p:sp>
            <p:nvSpPr>
              <p:cNvPr id="50" name="Rectangle 49"/>
              <p:cNvSpPr/>
              <p:nvPr/>
            </p:nvSpPr>
            <p:spPr>
              <a:xfrm>
                <a:off x="131176" y="2657532"/>
                <a:ext cx="11929645" cy="1338828"/>
              </a:xfrm>
              <a:prstGeom prst="rect">
                <a:avLst/>
              </a:prstGeom>
            </p:spPr>
            <p:txBody>
              <a:bodyPr wrap="square">
                <a:spAutoFit/>
              </a:bodyPr>
              <a:lstStyle/>
              <a:p>
                <a:pPr marL="265113" lvl="1" indent="-265113" algn="just">
                  <a:spcBef>
                    <a:spcPts val="1000"/>
                  </a:spcBef>
                  <a:buClr>
                    <a:srgbClr val="B84742"/>
                  </a:buClr>
                  <a:buFont typeface="Wingdings 3" panose="05040102010807070707" pitchFamily="18" charset="2"/>
                  <a:buChar char=""/>
                </a:pPr>
                <a:r>
                  <a:rPr lang="en-US" sz="2800" dirty="0">
                    <a:solidFill>
                      <a:srgbClr val="002060"/>
                    </a:solidFill>
                  </a:rPr>
                  <a:t>Let’s consider a tree where</a:t>
                </a:r>
                <a14:m>
                  <m:oMath xmlns:m="http://schemas.openxmlformats.org/officeDocument/2006/math">
                    <m:r>
                      <a:rPr lang="en-US" sz="2800" i="1" dirty="0" smtClean="0">
                        <a:solidFill>
                          <a:srgbClr val="002060"/>
                        </a:solidFill>
                        <a:latin typeface="Cambria Math" panose="02040503050406030204" pitchFamily="18" charset="0"/>
                      </a:rPr>
                      <m:t> </m:t>
                    </m:r>
                  </m:oMath>
                </a14:m>
                <a:endParaRPr lang="en-IN" sz="2800" dirty="0">
                  <a:solidFill>
                    <a:srgbClr val="002060"/>
                  </a:solidFill>
                </a:endParaRPr>
              </a:p>
              <a:p>
                <a:pPr marL="0" lvl="1" algn="ctr">
                  <a:spcBef>
                    <a:spcPts val="1000"/>
                  </a:spcBef>
                  <a:buClr>
                    <a:srgbClr val="B84742"/>
                  </a:buClr>
                </a:pPr>
                <a14:m>
                  <m:oMathPara xmlns:m="http://schemas.openxmlformats.org/officeDocument/2006/math">
                    <m:oMathParaPr>
                      <m:jc m:val="centerGroup"/>
                    </m:oMathParaPr>
                    <m:oMath xmlns:m="http://schemas.openxmlformats.org/officeDocument/2006/math">
                      <m:r>
                        <a:rPr lang="en-US" sz="2800" b="1" i="1" dirty="0" smtClean="0">
                          <a:solidFill>
                            <a:srgbClr val="002060"/>
                          </a:solidFill>
                          <a:latin typeface="Cambria Math" panose="02040503050406030204" pitchFamily="18" charset="0"/>
                        </a:rPr>
                        <m:t>𝐫𝐚𝐝𝐢𝐮𝐬</m:t>
                      </m:r>
                      <m:r>
                        <a:rPr lang="en-US" sz="2800" b="1" i="0" dirty="0" smtClean="0">
                          <a:solidFill>
                            <a:srgbClr val="002060"/>
                          </a:solidFill>
                          <a:latin typeface="Cambria Math" panose="02040503050406030204" pitchFamily="18" charset="0"/>
                        </a:rPr>
                        <m:t> ≠</m:t>
                      </m:r>
                      <m:f>
                        <m:fPr>
                          <m:ctrlPr>
                            <a:rPr lang="en-US" sz="2800" b="1" i="1" dirty="0" smtClean="0">
                              <a:solidFill>
                                <a:srgbClr val="002060"/>
                              </a:solidFill>
                              <a:latin typeface="Cambria Math" panose="02040503050406030204" pitchFamily="18" charset="0"/>
                            </a:rPr>
                          </m:ctrlPr>
                        </m:fPr>
                        <m:num>
                          <m:r>
                            <a:rPr lang="en-US" sz="2800" b="1" i="0" dirty="0" smtClean="0">
                              <a:solidFill>
                                <a:srgbClr val="002060"/>
                              </a:solidFill>
                              <a:latin typeface="Cambria Math" panose="02040503050406030204" pitchFamily="18" charset="0"/>
                            </a:rPr>
                            <m:t>𝐝𝐢𝐚𝐦𝐞𝐭𝐞𝐫</m:t>
                          </m:r>
                        </m:num>
                        <m:den>
                          <m:r>
                            <a:rPr lang="en-US" sz="2800" b="1" i="0" dirty="0" smtClean="0">
                              <a:solidFill>
                                <a:srgbClr val="002060"/>
                              </a:solidFill>
                              <a:latin typeface="Cambria Math" panose="02040503050406030204" pitchFamily="18" charset="0"/>
                            </a:rPr>
                            <m:t>𝟐</m:t>
                          </m:r>
                        </m:den>
                      </m:f>
                    </m:oMath>
                  </m:oMathPara>
                </a14:m>
                <a:endParaRPr lang="en-US" sz="2800" dirty="0">
                  <a:solidFill>
                    <a:srgbClr val="002060"/>
                  </a:solidFill>
                </a:endParaRPr>
              </a:p>
            </p:txBody>
          </p:sp>
        </mc:Choice>
        <mc:Fallback xmlns="">
          <p:sp>
            <p:nvSpPr>
              <p:cNvPr id="50" name="Rectangle 49"/>
              <p:cNvSpPr>
                <a:spLocks noRot="1" noChangeAspect="1" noMove="1" noResize="1" noEditPoints="1" noAdjustHandles="1" noChangeArrowheads="1" noChangeShapeType="1" noTextEdit="1"/>
              </p:cNvSpPr>
              <p:nvPr/>
            </p:nvSpPr>
            <p:spPr>
              <a:xfrm>
                <a:off x="131176" y="2657532"/>
                <a:ext cx="11929645" cy="1338828"/>
              </a:xfrm>
              <a:prstGeom prst="rect">
                <a:avLst/>
              </a:prstGeom>
              <a:blipFill rotWithShape="0">
                <a:blip r:embed="rId2"/>
                <a:stretch>
                  <a:fillRect l="-971" t="-5000"/>
                </a:stretch>
              </a:blipFill>
            </p:spPr>
            <p:txBody>
              <a:bodyPr/>
              <a:lstStyle/>
              <a:p>
                <a:r>
                  <a:rPr lang="en-US">
                    <a:noFill/>
                  </a:rPr>
                  <a:t> </a:t>
                </a:r>
              </a:p>
            </p:txBody>
          </p:sp>
        </mc:Fallback>
      </mc:AlternateContent>
    </p:spTree>
    <p:extLst>
      <p:ext uri="{BB962C8B-B14F-4D97-AF65-F5344CB8AC3E}">
        <p14:creationId xmlns:p14="http://schemas.microsoft.com/office/powerpoint/2010/main" val="1647649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635C8299-099D-4E74-A7B7-29B2E1FD450E}"/>
              </a:ext>
            </a:extLst>
          </p:cNvPr>
          <p:cNvSpPr txBox="1">
            <a:spLocks/>
          </p:cNvSpPr>
          <p:nvPr/>
        </p:nvSpPr>
        <p:spPr>
          <a:xfrm>
            <a:off x="131176" y="876935"/>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2 ⇝ Example 4(Cont.)</a:t>
            </a:r>
            <a:endParaRPr lang="en-US" dirty="0"/>
          </a:p>
        </p:txBody>
      </p:sp>
      <p:pic>
        <p:nvPicPr>
          <p:cNvPr id="4" name="Picture 3"/>
          <p:cNvPicPr>
            <a:picLocks noChangeAspect="1"/>
          </p:cNvPicPr>
          <p:nvPr/>
        </p:nvPicPr>
        <p:blipFill>
          <a:blip r:embed="rId2"/>
          <a:stretch>
            <a:fillRect/>
          </a:stretch>
        </p:blipFill>
        <p:spPr>
          <a:xfrm>
            <a:off x="9163101" y="1749484"/>
            <a:ext cx="2560542" cy="4346825"/>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3114363117"/>
              </p:ext>
            </p:extLst>
          </p:nvPr>
        </p:nvGraphicFramePr>
        <p:xfrm>
          <a:off x="267204" y="1956542"/>
          <a:ext cx="9720000" cy="565714"/>
        </p:xfrm>
        <a:graphic>
          <a:graphicData uri="http://schemas.openxmlformats.org/drawingml/2006/table">
            <a:tbl>
              <a:tblPr firstRow="1" bandRow="1">
                <a:tableStyleId>{5C22544A-7EE6-4342-B048-85BDC9FD1C3A}</a:tableStyleId>
              </a:tblPr>
              <a:tblGrid>
                <a:gridCol w="1620000">
                  <a:extLst>
                    <a:ext uri="{9D8B030D-6E8A-4147-A177-3AD203B41FA5}">
                      <a16:colId xmlns:a16="http://schemas.microsoft.com/office/drawing/2014/main" val="2573274369"/>
                    </a:ext>
                  </a:extLst>
                </a:gridCol>
                <a:gridCol w="1620000">
                  <a:extLst>
                    <a:ext uri="{9D8B030D-6E8A-4147-A177-3AD203B41FA5}">
                      <a16:colId xmlns:a16="http://schemas.microsoft.com/office/drawing/2014/main" val="4051045428"/>
                    </a:ext>
                  </a:extLst>
                </a:gridCol>
                <a:gridCol w="1620000">
                  <a:extLst>
                    <a:ext uri="{9D8B030D-6E8A-4147-A177-3AD203B41FA5}">
                      <a16:colId xmlns:a16="http://schemas.microsoft.com/office/drawing/2014/main" val="1541333607"/>
                    </a:ext>
                  </a:extLst>
                </a:gridCol>
                <a:gridCol w="1620000">
                  <a:extLst>
                    <a:ext uri="{9D8B030D-6E8A-4147-A177-3AD203B41FA5}">
                      <a16:colId xmlns:a16="http://schemas.microsoft.com/office/drawing/2014/main" val="535765769"/>
                    </a:ext>
                  </a:extLst>
                </a:gridCol>
                <a:gridCol w="1620000">
                  <a:extLst>
                    <a:ext uri="{9D8B030D-6E8A-4147-A177-3AD203B41FA5}">
                      <a16:colId xmlns:a16="http://schemas.microsoft.com/office/drawing/2014/main" val="3481627474"/>
                    </a:ext>
                  </a:extLst>
                </a:gridCol>
                <a:gridCol w="1620000">
                  <a:extLst>
                    <a:ext uri="{9D8B030D-6E8A-4147-A177-3AD203B41FA5}">
                      <a16:colId xmlns:a16="http://schemas.microsoft.com/office/drawing/2014/main" val="676072984"/>
                    </a:ext>
                  </a:extLst>
                </a:gridCol>
              </a:tblGrid>
              <a:tr h="565714">
                <a:tc>
                  <a:txBody>
                    <a:bodyPr/>
                    <a:lstStyle/>
                    <a:p>
                      <a:endParaRPr lang="en-IN" sz="2400" dirty="0"/>
                    </a:p>
                  </a:txBody>
                  <a:tcPr anchor="ctr">
                    <a:solidFill>
                      <a:schemeClr val="accent1">
                        <a:lumMod val="20000"/>
                        <a:lumOff val="80000"/>
                      </a:schemeClr>
                    </a:solidFill>
                  </a:tcPr>
                </a:tc>
                <a:tc>
                  <a:txBody>
                    <a:bodyPr/>
                    <a:lstStyle/>
                    <a:p>
                      <a:endParaRPr lang="en-IN" dirty="0"/>
                    </a:p>
                  </a:txBody>
                  <a:tcPr>
                    <a:solidFill>
                      <a:schemeClr val="accent1">
                        <a:lumMod val="20000"/>
                        <a:lumOff val="80000"/>
                      </a:schemeClr>
                    </a:solidFill>
                  </a:tcPr>
                </a:tc>
                <a:tc>
                  <a:txBody>
                    <a:bodyPr/>
                    <a:lstStyle/>
                    <a:p>
                      <a:endParaRPr lang="en-IN" dirty="0"/>
                    </a:p>
                  </a:txBody>
                  <a:tcPr>
                    <a:solidFill>
                      <a:schemeClr val="accent1">
                        <a:lumMod val="20000"/>
                        <a:lumOff val="80000"/>
                      </a:schemeClr>
                    </a:solidFill>
                  </a:tcPr>
                </a:tc>
                <a:tc>
                  <a:txBody>
                    <a:bodyPr/>
                    <a:lstStyle/>
                    <a:p>
                      <a:endParaRPr lang="en-IN" dirty="0"/>
                    </a:p>
                  </a:txBody>
                  <a:tcPr>
                    <a:solidFill>
                      <a:schemeClr val="accent1">
                        <a:lumMod val="20000"/>
                        <a:lumOff val="80000"/>
                      </a:schemeClr>
                    </a:solidFill>
                  </a:tcPr>
                </a:tc>
                <a:tc>
                  <a:txBody>
                    <a:bodyPr/>
                    <a:lstStyle/>
                    <a:p>
                      <a:endParaRPr lang="en-IN" dirty="0"/>
                    </a:p>
                  </a:txBody>
                  <a:tcPr>
                    <a:solidFill>
                      <a:schemeClr val="accent1">
                        <a:lumMod val="20000"/>
                        <a:lumOff val="80000"/>
                      </a:schemeClr>
                    </a:solidFill>
                  </a:tcPr>
                </a:tc>
                <a:tc>
                  <a:txBody>
                    <a:bodyPr/>
                    <a:lstStyle/>
                    <a:p>
                      <a:endParaRPr lang="en-IN" dirty="0"/>
                    </a:p>
                  </a:txBody>
                  <a:tcPr>
                    <a:solidFill>
                      <a:schemeClr val="accent1">
                        <a:lumMod val="20000"/>
                        <a:lumOff val="80000"/>
                      </a:schemeClr>
                    </a:solidFill>
                  </a:tcPr>
                </a:tc>
                <a:extLst>
                  <a:ext uri="{0D108BD9-81ED-4DB2-BD59-A6C34878D82A}">
                    <a16:rowId xmlns:a16="http://schemas.microsoft.com/office/drawing/2014/main" val="4219683138"/>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724402549"/>
              </p:ext>
            </p:extLst>
          </p:nvPr>
        </p:nvGraphicFramePr>
        <p:xfrm>
          <a:off x="267203" y="2603297"/>
          <a:ext cx="8100000" cy="565714"/>
        </p:xfrm>
        <a:graphic>
          <a:graphicData uri="http://schemas.openxmlformats.org/drawingml/2006/table">
            <a:tbl>
              <a:tblPr firstRow="1" bandRow="1">
                <a:tableStyleId>{5C22544A-7EE6-4342-B048-85BDC9FD1C3A}</a:tableStyleId>
              </a:tblPr>
              <a:tblGrid>
                <a:gridCol w="1620000">
                  <a:extLst>
                    <a:ext uri="{9D8B030D-6E8A-4147-A177-3AD203B41FA5}">
                      <a16:colId xmlns:a16="http://schemas.microsoft.com/office/drawing/2014/main" val="197265483"/>
                    </a:ext>
                  </a:extLst>
                </a:gridCol>
                <a:gridCol w="1620000">
                  <a:extLst>
                    <a:ext uri="{9D8B030D-6E8A-4147-A177-3AD203B41FA5}">
                      <a16:colId xmlns:a16="http://schemas.microsoft.com/office/drawing/2014/main" val="2409799903"/>
                    </a:ext>
                  </a:extLst>
                </a:gridCol>
                <a:gridCol w="1620000">
                  <a:extLst>
                    <a:ext uri="{9D8B030D-6E8A-4147-A177-3AD203B41FA5}">
                      <a16:colId xmlns:a16="http://schemas.microsoft.com/office/drawing/2014/main" val="1726805427"/>
                    </a:ext>
                  </a:extLst>
                </a:gridCol>
                <a:gridCol w="1620000">
                  <a:extLst>
                    <a:ext uri="{9D8B030D-6E8A-4147-A177-3AD203B41FA5}">
                      <a16:colId xmlns:a16="http://schemas.microsoft.com/office/drawing/2014/main" val="2345026362"/>
                    </a:ext>
                  </a:extLst>
                </a:gridCol>
                <a:gridCol w="1620000">
                  <a:extLst>
                    <a:ext uri="{9D8B030D-6E8A-4147-A177-3AD203B41FA5}">
                      <a16:colId xmlns:a16="http://schemas.microsoft.com/office/drawing/2014/main" val="1541232864"/>
                    </a:ext>
                  </a:extLst>
                </a:gridCol>
              </a:tblGrid>
              <a:tr h="565714">
                <a:tc>
                  <a:txBody>
                    <a:bodyPr/>
                    <a:lstStyle/>
                    <a:p>
                      <a:endParaRPr lang="en-IN" dirty="0"/>
                    </a:p>
                  </a:txBody>
                  <a:tcPr>
                    <a:solidFill>
                      <a:schemeClr val="bg1">
                        <a:lumMod val="75000"/>
                      </a:schemeClr>
                    </a:solidFill>
                  </a:tcPr>
                </a:tc>
                <a:tc>
                  <a:txBody>
                    <a:bodyPr/>
                    <a:lstStyle/>
                    <a:p>
                      <a:endParaRPr lang="en-IN" dirty="0"/>
                    </a:p>
                  </a:txBody>
                  <a:tcPr>
                    <a:solidFill>
                      <a:schemeClr val="bg1">
                        <a:lumMod val="75000"/>
                      </a:schemeClr>
                    </a:solidFill>
                  </a:tcPr>
                </a:tc>
                <a:tc>
                  <a:txBody>
                    <a:bodyPr/>
                    <a:lstStyle/>
                    <a:p>
                      <a:endParaRPr lang="en-IN" dirty="0"/>
                    </a:p>
                  </a:txBody>
                  <a:tcPr>
                    <a:solidFill>
                      <a:schemeClr val="bg1">
                        <a:lumMod val="75000"/>
                      </a:schemeClr>
                    </a:solidFill>
                  </a:tcPr>
                </a:tc>
                <a:tc>
                  <a:txBody>
                    <a:bodyPr/>
                    <a:lstStyle/>
                    <a:p>
                      <a:endParaRPr lang="en-IN" dirty="0"/>
                    </a:p>
                  </a:txBody>
                  <a:tcPr>
                    <a:solidFill>
                      <a:schemeClr val="bg1">
                        <a:lumMod val="75000"/>
                      </a:schemeClr>
                    </a:solidFill>
                  </a:tcPr>
                </a:tc>
                <a:tc>
                  <a:txBody>
                    <a:bodyPr/>
                    <a:lstStyle/>
                    <a:p>
                      <a:endParaRPr lang="en-IN" dirty="0"/>
                    </a:p>
                  </a:txBody>
                  <a:tcPr>
                    <a:solidFill>
                      <a:schemeClr val="bg1">
                        <a:lumMod val="75000"/>
                      </a:schemeClr>
                    </a:solidFill>
                  </a:tcPr>
                </a:tc>
                <a:extLst>
                  <a:ext uri="{0D108BD9-81ED-4DB2-BD59-A6C34878D82A}">
                    <a16:rowId xmlns:a16="http://schemas.microsoft.com/office/drawing/2014/main" val="2403524588"/>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18742202"/>
              </p:ext>
            </p:extLst>
          </p:nvPr>
        </p:nvGraphicFramePr>
        <p:xfrm>
          <a:off x="267203" y="3247502"/>
          <a:ext cx="6480000" cy="565714"/>
        </p:xfrm>
        <a:graphic>
          <a:graphicData uri="http://schemas.openxmlformats.org/drawingml/2006/table">
            <a:tbl>
              <a:tblPr firstRow="1" bandRow="1">
                <a:tableStyleId>{5C22544A-7EE6-4342-B048-85BDC9FD1C3A}</a:tableStyleId>
              </a:tblPr>
              <a:tblGrid>
                <a:gridCol w="1620000">
                  <a:extLst>
                    <a:ext uri="{9D8B030D-6E8A-4147-A177-3AD203B41FA5}">
                      <a16:colId xmlns:a16="http://schemas.microsoft.com/office/drawing/2014/main" val="2784671440"/>
                    </a:ext>
                  </a:extLst>
                </a:gridCol>
                <a:gridCol w="1620000">
                  <a:extLst>
                    <a:ext uri="{9D8B030D-6E8A-4147-A177-3AD203B41FA5}">
                      <a16:colId xmlns:a16="http://schemas.microsoft.com/office/drawing/2014/main" val="272636576"/>
                    </a:ext>
                  </a:extLst>
                </a:gridCol>
                <a:gridCol w="1620000">
                  <a:extLst>
                    <a:ext uri="{9D8B030D-6E8A-4147-A177-3AD203B41FA5}">
                      <a16:colId xmlns:a16="http://schemas.microsoft.com/office/drawing/2014/main" val="1244138235"/>
                    </a:ext>
                  </a:extLst>
                </a:gridCol>
                <a:gridCol w="1620000">
                  <a:extLst>
                    <a:ext uri="{9D8B030D-6E8A-4147-A177-3AD203B41FA5}">
                      <a16:colId xmlns:a16="http://schemas.microsoft.com/office/drawing/2014/main" val="367059181"/>
                    </a:ext>
                  </a:extLst>
                </a:gridCol>
              </a:tblGrid>
              <a:tr h="565714">
                <a:tc>
                  <a:txBody>
                    <a:bodyPr/>
                    <a:lstStyle/>
                    <a:p>
                      <a:endParaRPr lang="en-IN" sz="2400" dirty="0"/>
                    </a:p>
                  </a:txBody>
                  <a:tcPr anchor="ctr">
                    <a:solidFill>
                      <a:schemeClr val="accent1">
                        <a:lumMod val="20000"/>
                        <a:lumOff val="80000"/>
                      </a:schemeClr>
                    </a:solidFill>
                  </a:tcPr>
                </a:tc>
                <a:tc>
                  <a:txBody>
                    <a:bodyPr/>
                    <a:lstStyle/>
                    <a:p>
                      <a:endParaRPr lang="en-IN" dirty="0"/>
                    </a:p>
                  </a:txBody>
                  <a:tcPr>
                    <a:solidFill>
                      <a:schemeClr val="accent1">
                        <a:lumMod val="20000"/>
                        <a:lumOff val="80000"/>
                      </a:schemeClr>
                    </a:solidFill>
                  </a:tcPr>
                </a:tc>
                <a:tc>
                  <a:txBody>
                    <a:bodyPr/>
                    <a:lstStyle/>
                    <a:p>
                      <a:endParaRPr lang="en-IN" dirty="0"/>
                    </a:p>
                  </a:txBody>
                  <a:tcPr>
                    <a:solidFill>
                      <a:schemeClr val="accent1">
                        <a:lumMod val="20000"/>
                        <a:lumOff val="80000"/>
                      </a:schemeClr>
                    </a:solidFill>
                  </a:tcPr>
                </a:tc>
                <a:tc>
                  <a:txBody>
                    <a:bodyPr/>
                    <a:lstStyle/>
                    <a:p>
                      <a:endParaRPr lang="en-IN" dirty="0"/>
                    </a:p>
                  </a:txBody>
                  <a:tcPr>
                    <a:solidFill>
                      <a:schemeClr val="accent1">
                        <a:lumMod val="20000"/>
                        <a:lumOff val="80000"/>
                      </a:schemeClr>
                    </a:solidFill>
                  </a:tcPr>
                </a:tc>
                <a:extLst>
                  <a:ext uri="{0D108BD9-81ED-4DB2-BD59-A6C34878D82A}">
                    <a16:rowId xmlns:a16="http://schemas.microsoft.com/office/drawing/2014/main" val="1599618106"/>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3040262579"/>
              </p:ext>
            </p:extLst>
          </p:nvPr>
        </p:nvGraphicFramePr>
        <p:xfrm>
          <a:off x="267203" y="3894362"/>
          <a:ext cx="4860000" cy="565714"/>
        </p:xfrm>
        <a:graphic>
          <a:graphicData uri="http://schemas.openxmlformats.org/drawingml/2006/table">
            <a:tbl>
              <a:tblPr firstRow="1" bandRow="1">
                <a:tableStyleId>{5C22544A-7EE6-4342-B048-85BDC9FD1C3A}</a:tableStyleId>
              </a:tblPr>
              <a:tblGrid>
                <a:gridCol w="1620000">
                  <a:extLst>
                    <a:ext uri="{9D8B030D-6E8A-4147-A177-3AD203B41FA5}">
                      <a16:colId xmlns:a16="http://schemas.microsoft.com/office/drawing/2014/main" val="197265483"/>
                    </a:ext>
                  </a:extLst>
                </a:gridCol>
                <a:gridCol w="1620000">
                  <a:extLst>
                    <a:ext uri="{9D8B030D-6E8A-4147-A177-3AD203B41FA5}">
                      <a16:colId xmlns:a16="http://schemas.microsoft.com/office/drawing/2014/main" val="2409799903"/>
                    </a:ext>
                  </a:extLst>
                </a:gridCol>
                <a:gridCol w="1620000">
                  <a:extLst>
                    <a:ext uri="{9D8B030D-6E8A-4147-A177-3AD203B41FA5}">
                      <a16:colId xmlns:a16="http://schemas.microsoft.com/office/drawing/2014/main" val="1726805427"/>
                    </a:ext>
                  </a:extLst>
                </a:gridCol>
              </a:tblGrid>
              <a:tr h="565714">
                <a:tc>
                  <a:txBody>
                    <a:bodyPr/>
                    <a:lstStyle/>
                    <a:p>
                      <a:endParaRPr lang="en-IN" dirty="0"/>
                    </a:p>
                  </a:txBody>
                  <a:tcPr>
                    <a:solidFill>
                      <a:schemeClr val="bg1">
                        <a:lumMod val="75000"/>
                      </a:schemeClr>
                    </a:solidFill>
                  </a:tcPr>
                </a:tc>
                <a:tc>
                  <a:txBody>
                    <a:bodyPr/>
                    <a:lstStyle/>
                    <a:p>
                      <a:endParaRPr lang="en-IN" dirty="0"/>
                    </a:p>
                  </a:txBody>
                  <a:tcPr>
                    <a:solidFill>
                      <a:schemeClr val="bg1">
                        <a:lumMod val="75000"/>
                      </a:schemeClr>
                    </a:solidFill>
                  </a:tcPr>
                </a:tc>
                <a:tc>
                  <a:txBody>
                    <a:bodyPr/>
                    <a:lstStyle/>
                    <a:p>
                      <a:endParaRPr lang="en-IN" dirty="0"/>
                    </a:p>
                  </a:txBody>
                  <a:tcPr>
                    <a:solidFill>
                      <a:schemeClr val="bg1">
                        <a:lumMod val="75000"/>
                      </a:schemeClr>
                    </a:solidFill>
                  </a:tcPr>
                </a:tc>
                <a:extLst>
                  <a:ext uri="{0D108BD9-81ED-4DB2-BD59-A6C34878D82A}">
                    <a16:rowId xmlns:a16="http://schemas.microsoft.com/office/drawing/2014/main" val="2403524588"/>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2263700387"/>
              </p:ext>
            </p:extLst>
          </p:nvPr>
        </p:nvGraphicFramePr>
        <p:xfrm>
          <a:off x="263698" y="4541222"/>
          <a:ext cx="3240000" cy="565714"/>
        </p:xfrm>
        <a:graphic>
          <a:graphicData uri="http://schemas.openxmlformats.org/drawingml/2006/table">
            <a:tbl>
              <a:tblPr firstRow="1" bandRow="1">
                <a:tableStyleId>{5C22544A-7EE6-4342-B048-85BDC9FD1C3A}</a:tableStyleId>
              </a:tblPr>
              <a:tblGrid>
                <a:gridCol w="1620000">
                  <a:extLst>
                    <a:ext uri="{9D8B030D-6E8A-4147-A177-3AD203B41FA5}">
                      <a16:colId xmlns:a16="http://schemas.microsoft.com/office/drawing/2014/main" val="2784671440"/>
                    </a:ext>
                  </a:extLst>
                </a:gridCol>
                <a:gridCol w="1620000">
                  <a:extLst>
                    <a:ext uri="{9D8B030D-6E8A-4147-A177-3AD203B41FA5}">
                      <a16:colId xmlns:a16="http://schemas.microsoft.com/office/drawing/2014/main" val="272636576"/>
                    </a:ext>
                  </a:extLst>
                </a:gridCol>
              </a:tblGrid>
              <a:tr h="565714">
                <a:tc>
                  <a:txBody>
                    <a:bodyPr/>
                    <a:lstStyle/>
                    <a:p>
                      <a:endParaRPr lang="en-IN" sz="2400" dirty="0"/>
                    </a:p>
                  </a:txBody>
                  <a:tcPr anchor="ctr">
                    <a:solidFill>
                      <a:schemeClr val="accent1">
                        <a:lumMod val="20000"/>
                        <a:lumOff val="80000"/>
                      </a:schemeClr>
                    </a:solidFill>
                  </a:tcPr>
                </a:tc>
                <a:tc>
                  <a:txBody>
                    <a:bodyPr/>
                    <a:lstStyle/>
                    <a:p>
                      <a:endParaRPr lang="en-IN" dirty="0"/>
                    </a:p>
                  </a:txBody>
                  <a:tcPr>
                    <a:solidFill>
                      <a:schemeClr val="accent1">
                        <a:lumMod val="20000"/>
                        <a:lumOff val="80000"/>
                      </a:schemeClr>
                    </a:solidFill>
                  </a:tcPr>
                </a:tc>
                <a:extLst>
                  <a:ext uri="{0D108BD9-81ED-4DB2-BD59-A6C34878D82A}">
                    <a16:rowId xmlns:a16="http://schemas.microsoft.com/office/drawing/2014/main" val="1599618106"/>
                  </a:ext>
                </a:extLst>
              </a:tr>
            </a:tbl>
          </a:graphicData>
        </a:graphic>
      </p:graphicFrame>
      <p:graphicFrame>
        <p:nvGraphicFramePr>
          <p:cNvPr id="13" name="Table 12"/>
          <p:cNvGraphicFramePr>
            <a:graphicFrameLocks noGrp="1"/>
          </p:cNvGraphicFramePr>
          <p:nvPr>
            <p:extLst>
              <p:ext uri="{D42A27DB-BD31-4B8C-83A1-F6EECF244321}">
                <p14:modId xmlns:p14="http://schemas.microsoft.com/office/powerpoint/2010/main" val="1850465993"/>
              </p:ext>
            </p:extLst>
          </p:nvPr>
        </p:nvGraphicFramePr>
        <p:xfrm>
          <a:off x="263698" y="5185427"/>
          <a:ext cx="1620000" cy="565714"/>
        </p:xfrm>
        <a:graphic>
          <a:graphicData uri="http://schemas.openxmlformats.org/drawingml/2006/table">
            <a:tbl>
              <a:tblPr firstRow="1" bandRow="1">
                <a:tableStyleId>{5C22544A-7EE6-4342-B048-85BDC9FD1C3A}</a:tableStyleId>
              </a:tblPr>
              <a:tblGrid>
                <a:gridCol w="1620000">
                  <a:extLst>
                    <a:ext uri="{9D8B030D-6E8A-4147-A177-3AD203B41FA5}">
                      <a16:colId xmlns:a16="http://schemas.microsoft.com/office/drawing/2014/main" val="197265483"/>
                    </a:ext>
                  </a:extLst>
                </a:gridCol>
              </a:tblGrid>
              <a:tr h="565714">
                <a:tc>
                  <a:txBody>
                    <a:bodyPr/>
                    <a:lstStyle/>
                    <a:p>
                      <a:endParaRPr lang="en-IN" dirty="0"/>
                    </a:p>
                  </a:txBody>
                  <a:tcPr>
                    <a:solidFill>
                      <a:schemeClr val="bg1">
                        <a:lumMod val="75000"/>
                      </a:schemeClr>
                    </a:solidFill>
                  </a:tcPr>
                </a:tc>
                <a:extLst>
                  <a:ext uri="{0D108BD9-81ED-4DB2-BD59-A6C34878D82A}">
                    <a16:rowId xmlns:a16="http://schemas.microsoft.com/office/drawing/2014/main" val="2403524588"/>
                  </a:ext>
                </a:extLst>
              </a:tr>
            </a:tbl>
          </a:graphicData>
        </a:graphic>
      </p:graphicFrame>
      <mc:AlternateContent xmlns:mc="http://schemas.openxmlformats.org/markup-compatibility/2006" xmlns:a14="http://schemas.microsoft.com/office/drawing/2010/main">
        <mc:Choice Requires="a14">
          <p:sp>
            <p:nvSpPr>
              <p:cNvPr id="14" name="TextBox 13"/>
              <p:cNvSpPr txBox="1"/>
              <p:nvPr/>
            </p:nvSpPr>
            <p:spPr>
              <a:xfrm>
                <a:off x="309677" y="2029769"/>
                <a:ext cx="936107"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a:solidFill>
                                <a:srgbClr val="002060"/>
                              </a:solidFill>
                              <a:latin typeface="Cambria Math" panose="02040503050406030204" pitchFamily="18" charset="0"/>
                            </a:rPr>
                            <m:t>a</m:t>
                          </m:r>
                          <m:r>
                            <a:rPr lang="en-US" sz="2400">
                              <a:solidFill>
                                <a:srgbClr val="002060"/>
                              </a:solidFill>
                              <a:latin typeface="Cambria Math" panose="02040503050406030204" pitchFamily="18" charset="0"/>
                            </a:rPr>
                            <m:t>,</m:t>
                          </m:r>
                          <m:r>
                            <m:rPr>
                              <m:sty m:val="p"/>
                            </m:rPr>
                            <a:rPr lang="en-US" sz="2400">
                              <a:solidFill>
                                <a:srgbClr val="002060"/>
                              </a:solidFill>
                              <a:latin typeface="Cambria Math" panose="02040503050406030204" pitchFamily="18" charset="0"/>
                            </a:rPr>
                            <m:t>b</m:t>
                          </m:r>
                        </m:e>
                      </m:d>
                    </m:oMath>
                  </m:oMathPara>
                </a14:m>
                <a:endParaRPr lang="en-IN" sz="2400" dirty="0">
                  <a:solidFill>
                    <a:srgbClr val="002060"/>
                  </a:solidFill>
                  <a:latin typeface="Cambria Math" panose="02040503050406030204" pitchFamily="18" charset="0"/>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309677" y="2029769"/>
                <a:ext cx="936107" cy="461665"/>
              </a:xfrm>
              <a:prstGeom prst="rect">
                <a:avLst/>
              </a:prstGeom>
              <a:blipFill rotWithShape="0">
                <a:blip r:embed="rId3"/>
                <a:stretch>
                  <a:fillRect l="-19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309677" y="2635596"/>
                <a:ext cx="936107"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b="0" i="0" smtClean="0">
                              <a:solidFill>
                                <a:srgbClr val="002060"/>
                              </a:solidFill>
                              <a:latin typeface="Cambria Math" panose="02040503050406030204" pitchFamily="18" charset="0"/>
                            </a:rPr>
                            <m:t>b</m:t>
                          </m:r>
                          <m:r>
                            <a:rPr lang="en-US" sz="240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c</m:t>
                          </m:r>
                        </m:e>
                      </m:d>
                    </m:oMath>
                  </m:oMathPara>
                </a14:m>
                <a:endParaRPr lang="en-IN" sz="2400" dirty="0"/>
              </a:p>
            </p:txBody>
          </p:sp>
        </mc:Choice>
        <mc:Fallback xmlns="">
          <p:sp>
            <p:nvSpPr>
              <p:cNvPr id="15" name="TextBox 14"/>
              <p:cNvSpPr txBox="1">
                <a:spLocks noRot="1" noChangeAspect="1" noMove="1" noResize="1" noEditPoints="1" noAdjustHandles="1" noChangeArrowheads="1" noChangeShapeType="1" noTextEdit="1"/>
              </p:cNvSpPr>
              <p:nvPr/>
            </p:nvSpPr>
            <p:spPr>
              <a:xfrm>
                <a:off x="309677" y="2635596"/>
                <a:ext cx="936107" cy="461665"/>
              </a:xfrm>
              <a:prstGeom prst="rect">
                <a:avLst/>
              </a:prstGeom>
              <a:blipFill rotWithShape="0">
                <a:blip r:embed="rId4"/>
                <a:stretch>
                  <a:fillRect l="-19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5126537" y="2635596"/>
                <a:ext cx="916563"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a:solidFill>
                                <a:srgbClr val="002060"/>
                              </a:solidFill>
                              <a:latin typeface="Cambria Math" panose="02040503050406030204" pitchFamily="18" charset="0"/>
                            </a:rPr>
                            <m:t>b</m:t>
                          </m:r>
                          <m:r>
                            <a:rPr lang="en-US" sz="2400" b="0" i="0" smtClean="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f</m:t>
                          </m:r>
                        </m:e>
                      </m:d>
                    </m:oMath>
                  </m:oMathPara>
                </a14:m>
                <a:endParaRPr lang="en-IN" sz="2400" dirty="0"/>
              </a:p>
            </p:txBody>
          </p:sp>
        </mc:Choice>
        <mc:Fallback xmlns="">
          <p:sp>
            <p:nvSpPr>
              <p:cNvPr id="17" name="TextBox 16"/>
              <p:cNvSpPr txBox="1">
                <a:spLocks noRot="1" noChangeAspect="1" noMove="1" noResize="1" noEditPoints="1" noAdjustHandles="1" noChangeArrowheads="1" noChangeShapeType="1" noTextEdit="1"/>
              </p:cNvSpPr>
              <p:nvPr/>
            </p:nvSpPr>
            <p:spPr>
              <a:xfrm>
                <a:off x="5126537" y="2635596"/>
                <a:ext cx="916563" cy="461665"/>
              </a:xfrm>
              <a:prstGeom prst="rect">
                <a:avLst/>
              </a:prstGeom>
              <a:blipFill rotWithShape="0">
                <a:blip r:embed="rId5"/>
                <a:stretch>
                  <a:fillRect l="-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6741561" y="2652158"/>
                <a:ext cx="893692"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a:solidFill>
                                <a:srgbClr val="002060"/>
                              </a:solidFill>
                              <a:latin typeface="Cambria Math" panose="02040503050406030204" pitchFamily="18" charset="0"/>
                            </a:rPr>
                            <m:t>b</m:t>
                          </m:r>
                          <m:r>
                            <a:rPr lang="en-US" sz="2400" b="0" i="0" smtClean="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g</m:t>
                          </m:r>
                        </m:e>
                      </m:d>
                    </m:oMath>
                  </m:oMathPara>
                </a14:m>
                <a:endParaRPr lang="en-IN" sz="2400" dirty="0"/>
              </a:p>
            </p:txBody>
          </p:sp>
        </mc:Choice>
        <mc:Fallback xmlns="">
          <p:sp>
            <p:nvSpPr>
              <p:cNvPr id="18" name="TextBox 17"/>
              <p:cNvSpPr txBox="1">
                <a:spLocks noRot="1" noChangeAspect="1" noMove="1" noResize="1" noEditPoints="1" noAdjustHandles="1" noChangeArrowheads="1" noChangeShapeType="1" noTextEdit="1"/>
              </p:cNvSpPr>
              <p:nvPr/>
            </p:nvSpPr>
            <p:spPr>
              <a:xfrm>
                <a:off x="6741561" y="2652158"/>
                <a:ext cx="893692" cy="461665"/>
              </a:xfrm>
              <a:prstGeom prst="rect">
                <a:avLst/>
              </a:prstGeom>
              <a:blipFill rotWithShape="0">
                <a:blip r:embed="rId6"/>
                <a:stretch>
                  <a:fillRect l="-2041" r="-3401" b="-11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1921765" y="2029299"/>
                <a:ext cx="913544"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a:solidFill>
                                <a:srgbClr val="002060"/>
                              </a:solidFill>
                              <a:latin typeface="Cambria Math" panose="02040503050406030204" pitchFamily="18" charset="0"/>
                            </a:rPr>
                            <m:t>a</m:t>
                          </m:r>
                          <m:r>
                            <a:rPr lang="en-US" sz="240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c</m:t>
                          </m:r>
                        </m:e>
                      </m:d>
                    </m:oMath>
                  </m:oMathPara>
                </a14:m>
                <a:endParaRPr lang="en-IN" sz="2400" dirty="0"/>
              </a:p>
            </p:txBody>
          </p:sp>
        </mc:Choice>
        <mc:Fallback xmlns="">
          <p:sp>
            <p:nvSpPr>
              <p:cNvPr id="19" name="TextBox 18"/>
              <p:cNvSpPr txBox="1">
                <a:spLocks noRot="1" noChangeAspect="1" noMove="1" noResize="1" noEditPoints="1" noAdjustHandles="1" noChangeArrowheads="1" noChangeShapeType="1" noTextEdit="1"/>
              </p:cNvSpPr>
              <p:nvPr/>
            </p:nvSpPr>
            <p:spPr>
              <a:xfrm>
                <a:off x="1921765" y="2029299"/>
                <a:ext cx="913544" cy="461665"/>
              </a:xfrm>
              <a:prstGeom prst="rect">
                <a:avLst/>
              </a:prstGeom>
              <a:blipFill rotWithShape="0">
                <a:blip r:embed="rId7"/>
                <a:stretch>
                  <a:fillRect l="-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3499300" y="2029299"/>
                <a:ext cx="966266"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a:solidFill>
                                <a:srgbClr val="002060"/>
                              </a:solidFill>
                              <a:latin typeface="Cambria Math" panose="02040503050406030204" pitchFamily="18" charset="0"/>
                            </a:rPr>
                            <m:t>a</m:t>
                          </m:r>
                          <m:r>
                            <a:rPr lang="en-US" sz="240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d</m:t>
                          </m:r>
                        </m:e>
                      </m:d>
                    </m:oMath>
                  </m:oMathPara>
                </a14:m>
                <a:endParaRPr lang="en-IN" sz="2400" dirty="0"/>
              </a:p>
            </p:txBody>
          </p:sp>
        </mc:Choice>
        <mc:Fallback xmlns="">
          <p:sp>
            <p:nvSpPr>
              <p:cNvPr id="20" name="TextBox 19"/>
              <p:cNvSpPr txBox="1">
                <a:spLocks noRot="1" noChangeAspect="1" noMove="1" noResize="1" noEditPoints="1" noAdjustHandles="1" noChangeArrowheads="1" noChangeShapeType="1" noTextEdit="1"/>
              </p:cNvSpPr>
              <p:nvPr/>
            </p:nvSpPr>
            <p:spPr>
              <a:xfrm>
                <a:off x="3499300" y="2029299"/>
                <a:ext cx="966266" cy="461665"/>
              </a:xfrm>
              <a:prstGeom prst="rect">
                <a:avLst/>
              </a:prstGeom>
              <a:blipFill rotWithShape="0">
                <a:blip r:embed="rId8"/>
                <a:stretch>
                  <a:fillRect l="-18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5076833" y="2029299"/>
                <a:ext cx="966267"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a:solidFill>
                                <a:srgbClr val="002060"/>
                              </a:solidFill>
                              <a:latin typeface="Cambria Math" panose="02040503050406030204" pitchFamily="18" charset="0"/>
                            </a:rPr>
                            <m:t>a</m:t>
                          </m:r>
                          <m:r>
                            <a:rPr lang="en-US" sz="240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e</m:t>
                          </m:r>
                        </m:e>
                      </m:d>
                    </m:oMath>
                  </m:oMathPara>
                </a14:m>
                <a:endParaRPr lang="en-IN" sz="2400" dirty="0"/>
              </a:p>
            </p:txBody>
          </p:sp>
        </mc:Choice>
        <mc:Fallback xmlns="">
          <p:sp>
            <p:nvSpPr>
              <p:cNvPr id="21" name="TextBox 20"/>
              <p:cNvSpPr txBox="1">
                <a:spLocks noRot="1" noChangeAspect="1" noMove="1" noResize="1" noEditPoints="1" noAdjustHandles="1" noChangeArrowheads="1" noChangeShapeType="1" noTextEdit="1"/>
              </p:cNvSpPr>
              <p:nvPr/>
            </p:nvSpPr>
            <p:spPr>
              <a:xfrm>
                <a:off x="5076833" y="2029299"/>
                <a:ext cx="966267" cy="461665"/>
              </a:xfrm>
              <a:prstGeom prst="rect">
                <a:avLst/>
              </a:prstGeom>
              <a:blipFill rotWithShape="0">
                <a:blip r:embed="rId9"/>
                <a:stretch>
                  <a:fillRect l="-189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6741560" y="2029299"/>
                <a:ext cx="893692"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a:solidFill>
                                <a:srgbClr val="002060"/>
                              </a:solidFill>
                              <a:latin typeface="Cambria Math" panose="02040503050406030204" pitchFamily="18" charset="0"/>
                            </a:rPr>
                            <m:t>a</m:t>
                          </m:r>
                          <m:r>
                            <a:rPr lang="en-US" sz="240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f</m:t>
                          </m:r>
                        </m:e>
                      </m:d>
                    </m:oMath>
                  </m:oMathPara>
                </a14:m>
                <a:endParaRPr lang="en-IN" sz="2400" dirty="0"/>
              </a:p>
            </p:txBody>
          </p:sp>
        </mc:Choice>
        <mc:Fallback xmlns="">
          <p:sp>
            <p:nvSpPr>
              <p:cNvPr id="22" name="TextBox 21"/>
              <p:cNvSpPr txBox="1">
                <a:spLocks noRot="1" noChangeAspect="1" noMove="1" noResize="1" noEditPoints="1" noAdjustHandles="1" noChangeArrowheads="1" noChangeShapeType="1" noTextEdit="1"/>
              </p:cNvSpPr>
              <p:nvPr/>
            </p:nvSpPr>
            <p:spPr>
              <a:xfrm>
                <a:off x="6741560" y="2029299"/>
                <a:ext cx="893692" cy="461665"/>
              </a:xfrm>
              <a:prstGeom prst="rect">
                <a:avLst/>
              </a:prstGeom>
              <a:blipFill rotWithShape="0">
                <a:blip r:embed="rId10"/>
                <a:stretch>
                  <a:fillRect l="-20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8319094" y="2016971"/>
                <a:ext cx="94175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a:solidFill>
                                <a:srgbClr val="002060"/>
                              </a:solidFill>
                              <a:latin typeface="Cambria Math" panose="02040503050406030204" pitchFamily="18" charset="0"/>
                            </a:rPr>
                            <m:t>a</m:t>
                          </m:r>
                          <m:r>
                            <a:rPr lang="en-US" sz="240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g</m:t>
                          </m:r>
                        </m:e>
                      </m:d>
                    </m:oMath>
                  </m:oMathPara>
                </a14:m>
                <a:endParaRPr lang="en-IN" sz="2400" dirty="0"/>
              </a:p>
            </p:txBody>
          </p:sp>
        </mc:Choice>
        <mc:Fallback xmlns="">
          <p:sp>
            <p:nvSpPr>
              <p:cNvPr id="23" name="TextBox 22"/>
              <p:cNvSpPr txBox="1">
                <a:spLocks noRot="1" noChangeAspect="1" noMove="1" noResize="1" noEditPoints="1" noAdjustHandles="1" noChangeArrowheads="1" noChangeShapeType="1" noTextEdit="1"/>
              </p:cNvSpPr>
              <p:nvPr/>
            </p:nvSpPr>
            <p:spPr>
              <a:xfrm>
                <a:off x="8319094" y="2016971"/>
                <a:ext cx="941758" cy="461665"/>
              </a:xfrm>
              <a:prstGeom prst="rect">
                <a:avLst/>
              </a:prstGeom>
              <a:blipFill rotWithShape="0">
                <a:blip r:embed="rId11"/>
                <a:stretch>
                  <a:fillRect l="-1948" b="-10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3533770" y="2635596"/>
                <a:ext cx="931796"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a:solidFill>
                                <a:srgbClr val="002060"/>
                              </a:solidFill>
                              <a:latin typeface="Cambria Math" panose="02040503050406030204" pitchFamily="18" charset="0"/>
                            </a:rPr>
                            <m:t>b</m:t>
                          </m:r>
                          <m:r>
                            <a:rPr lang="en-US" sz="2400" b="0" i="0" smtClean="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e</m:t>
                          </m:r>
                        </m:e>
                      </m:d>
                    </m:oMath>
                  </m:oMathPara>
                </a14:m>
                <a:endParaRPr lang="en-IN" sz="2400" dirty="0"/>
              </a:p>
            </p:txBody>
          </p:sp>
        </mc:Choice>
        <mc:Fallback xmlns="">
          <p:sp>
            <p:nvSpPr>
              <p:cNvPr id="24" name="TextBox 23"/>
              <p:cNvSpPr txBox="1">
                <a:spLocks noRot="1" noChangeAspect="1" noMove="1" noResize="1" noEditPoints="1" noAdjustHandles="1" noChangeArrowheads="1" noChangeShapeType="1" noTextEdit="1"/>
              </p:cNvSpPr>
              <p:nvPr/>
            </p:nvSpPr>
            <p:spPr>
              <a:xfrm>
                <a:off x="3533770" y="2635596"/>
                <a:ext cx="931796" cy="461665"/>
              </a:xfrm>
              <a:prstGeom prst="rect">
                <a:avLst/>
              </a:prstGeom>
              <a:blipFill rotWithShape="0">
                <a:blip r:embed="rId12"/>
                <a:stretch>
                  <a:fillRect l="-19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p:cNvSpPr txBox="1"/>
              <p:nvPr/>
            </p:nvSpPr>
            <p:spPr>
              <a:xfrm>
                <a:off x="1872396" y="2635596"/>
                <a:ext cx="962913"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a:solidFill>
                                <a:srgbClr val="002060"/>
                              </a:solidFill>
                              <a:latin typeface="Cambria Math" panose="02040503050406030204" pitchFamily="18" charset="0"/>
                            </a:rPr>
                            <m:t>b</m:t>
                          </m:r>
                          <m:r>
                            <a:rPr lang="en-US" sz="2400" b="0" i="0" smtClean="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d</m:t>
                          </m:r>
                        </m:e>
                      </m:d>
                    </m:oMath>
                  </m:oMathPara>
                </a14:m>
                <a:endParaRPr lang="en-IN" sz="2400" dirty="0"/>
              </a:p>
            </p:txBody>
          </p:sp>
        </mc:Choice>
        <mc:Fallback xmlns="">
          <p:sp>
            <p:nvSpPr>
              <p:cNvPr id="25" name="TextBox 24"/>
              <p:cNvSpPr txBox="1">
                <a:spLocks noRot="1" noChangeAspect="1" noMove="1" noResize="1" noEditPoints="1" noAdjustHandles="1" noChangeArrowheads="1" noChangeShapeType="1" noTextEdit="1"/>
              </p:cNvSpPr>
              <p:nvPr/>
            </p:nvSpPr>
            <p:spPr>
              <a:xfrm>
                <a:off x="1872396" y="2635596"/>
                <a:ext cx="962913" cy="461665"/>
              </a:xfrm>
              <a:prstGeom prst="rect">
                <a:avLst/>
              </a:prstGeom>
              <a:blipFill rotWithShape="0">
                <a:blip r:embed="rId13"/>
                <a:stretch>
                  <a:fillRect l="-189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309678" y="3271630"/>
                <a:ext cx="936106"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b="0" i="0" smtClean="0">
                              <a:solidFill>
                                <a:srgbClr val="002060"/>
                              </a:solidFill>
                              <a:latin typeface="Cambria Math" panose="02040503050406030204" pitchFamily="18" charset="0"/>
                            </a:rPr>
                            <m:t>c</m:t>
                          </m:r>
                          <m:r>
                            <a:rPr lang="en-US" sz="240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d</m:t>
                          </m:r>
                        </m:e>
                      </m:d>
                    </m:oMath>
                  </m:oMathPara>
                </a14:m>
                <a:endParaRPr lang="en-IN" sz="2400" dirty="0"/>
              </a:p>
            </p:txBody>
          </p:sp>
        </mc:Choice>
        <mc:Fallback xmlns="">
          <p:sp>
            <p:nvSpPr>
              <p:cNvPr id="26" name="TextBox 25"/>
              <p:cNvSpPr txBox="1">
                <a:spLocks noRot="1" noChangeAspect="1" noMove="1" noResize="1" noEditPoints="1" noAdjustHandles="1" noChangeArrowheads="1" noChangeShapeType="1" noTextEdit="1"/>
              </p:cNvSpPr>
              <p:nvPr/>
            </p:nvSpPr>
            <p:spPr>
              <a:xfrm>
                <a:off x="309678" y="3271630"/>
                <a:ext cx="936106" cy="461665"/>
              </a:xfrm>
              <a:prstGeom prst="rect">
                <a:avLst/>
              </a:prstGeom>
              <a:blipFill rotWithShape="0">
                <a:blip r:embed="rId14"/>
                <a:stretch>
                  <a:fillRect l="-19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3533770" y="3271630"/>
                <a:ext cx="931796"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b="0" i="0" smtClean="0">
                              <a:solidFill>
                                <a:srgbClr val="002060"/>
                              </a:solidFill>
                              <a:latin typeface="Cambria Math" panose="02040503050406030204" pitchFamily="18" charset="0"/>
                            </a:rPr>
                            <m:t>c</m:t>
                          </m:r>
                          <m:r>
                            <a:rPr lang="en-US" sz="2400" b="0" i="0" smtClean="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f</m:t>
                          </m:r>
                        </m:e>
                      </m:d>
                    </m:oMath>
                  </m:oMathPara>
                </a14:m>
                <a:endParaRPr lang="en-IN" sz="2400" dirty="0"/>
              </a:p>
            </p:txBody>
          </p:sp>
        </mc:Choice>
        <mc:Fallback xmlns="">
          <p:sp>
            <p:nvSpPr>
              <p:cNvPr id="27" name="TextBox 26"/>
              <p:cNvSpPr txBox="1">
                <a:spLocks noRot="1" noChangeAspect="1" noMove="1" noResize="1" noEditPoints="1" noAdjustHandles="1" noChangeArrowheads="1" noChangeShapeType="1" noTextEdit="1"/>
              </p:cNvSpPr>
              <p:nvPr/>
            </p:nvSpPr>
            <p:spPr>
              <a:xfrm>
                <a:off x="3533770" y="3271630"/>
                <a:ext cx="931796" cy="461665"/>
              </a:xfrm>
              <a:prstGeom prst="rect">
                <a:avLst/>
              </a:prstGeom>
              <a:blipFill rotWithShape="0">
                <a:blip r:embed="rId15"/>
                <a:stretch>
                  <a:fillRect l="-19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1872396" y="3271630"/>
                <a:ext cx="892971"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b="0" i="0" smtClean="0">
                              <a:solidFill>
                                <a:srgbClr val="002060"/>
                              </a:solidFill>
                              <a:latin typeface="Cambria Math" panose="02040503050406030204" pitchFamily="18" charset="0"/>
                            </a:rPr>
                            <m:t>c</m:t>
                          </m:r>
                          <m:r>
                            <a:rPr lang="en-US" sz="2400" b="0" i="0" smtClean="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e</m:t>
                          </m:r>
                        </m:e>
                      </m:d>
                    </m:oMath>
                  </m:oMathPara>
                </a14:m>
                <a:endParaRPr lang="en-IN" sz="2400" dirty="0"/>
              </a:p>
            </p:txBody>
          </p:sp>
        </mc:Choice>
        <mc:Fallback xmlns="">
          <p:sp>
            <p:nvSpPr>
              <p:cNvPr id="28" name="TextBox 27"/>
              <p:cNvSpPr txBox="1">
                <a:spLocks noRot="1" noChangeAspect="1" noMove="1" noResize="1" noEditPoints="1" noAdjustHandles="1" noChangeArrowheads="1" noChangeShapeType="1" noTextEdit="1"/>
              </p:cNvSpPr>
              <p:nvPr/>
            </p:nvSpPr>
            <p:spPr>
              <a:xfrm>
                <a:off x="1872396" y="3271630"/>
                <a:ext cx="892971" cy="461665"/>
              </a:xfrm>
              <a:prstGeom prst="rect">
                <a:avLst/>
              </a:prstGeom>
              <a:blipFill rotWithShape="0">
                <a:blip r:embed="rId16"/>
                <a:stretch>
                  <a:fillRect l="-20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5102935" y="3269409"/>
                <a:ext cx="940165"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b="0" i="0" smtClean="0">
                              <a:solidFill>
                                <a:srgbClr val="002060"/>
                              </a:solidFill>
                              <a:latin typeface="Cambria Math" panose="02040503050406030204" pitchFamily="18" charset="0"/>
                            </a:rPr>
                            <m:t>c</m:t>
                          </m:r>
                          <m:r>
                            <a:rPr lang="en-US" sz="2400" b="0" i="0" smtClean="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g</m:t>
                          </m:r>
                        </m:e>
                      </m:d>
                    </m:oMath>
                  </m:oMathPara>
                </a14:m>
                <a:endParaRPr lang="en-IN" sz="2400" dirty="0"/>
              </a:p>
            </p:txBody>
          </p:sp>
        </mc:Choice>
        <mc:Fallback xmlns="">
          <p:sp>
            <p:nvSpPr>
              <p:cNvPr id="29" name="TextBox 28"/>
              <p:cNvSpPr txBox="1">
                <a:spLocks noRot="1" noChangeAspect="1" noMove="1" noResize="1" noEditPoints="1" noAdjustHandles="1" noChangeArrowheads="1" noChangeShapeType="1" noTextEdit="1"/>
              </p:cNvSpPr>
              <p:nvPr/>
            </p:nvSpPr>
            <p:spPr>
              <a:xfrm>
                <a:off x="5102935" y="3269409"/>
                <a:ext cx="940165" cy="461665"/>
              </a:xfrm>
              <a:prstGeom prst="rect">
                <a:avLst/>
              </a:prstGeom>
              <a:blipFill rotWithShape="0">
                <a:blip r:embed="rId17"/>
                <a:stretch>
                  <a:fillRect l="-1948" b="-11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292748" y="3925387"/>
                <a:ext cx="953035"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b="0" i="0" smtClean="0">
                              <a:solidFill>
                                <a:srgbClr val="002060"/>
                              </a:solidFill>
                              <a:latin typeface="Cambria Math" panose="02040503050406030204" pitchFamily="18" charset="0"/>
                            </a:rPr>
                            <m:t>d</m:t>
                          </m:r>
                          <m:r>
                            <a:rPr lang="en-US" sz="240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e</m:t>
                          </m:r>
                        </m:e>
                      </m:d>
                    </m:oMath>
                  </m:oMathPara>
                </a14:m>
                <a:endParaRPr lang="en-IN" sz="2400" dirty="0"/>
              </a:p>
            </p:txBody>
          </p:sp>
        </mc:Choice>
        <mc:Fallback xmlns="">
          <p:sp>
            <p:nvSpPr>
              <p:cNvPr id="30" name="TextBox 29"/>
              <p:cNvSpPr txBox="1">
                <a:spLocks noRot="1" noChangeAspect="1" noMove="1" noResize="1" noEditPoints="1" noAdjustHandles="1" noChangeArrowheads="1" noChangeShapeType="1" noTextEdit="1"/>
              </p:cNvSpPr>
              <p:nvPr/>
            </p:nvSpPr>
            <p:spPr>
              <a:xfrm>
                <a:off x="292748" y="3925387"/>
                <a:ext cx="953035" cy="461665"/>
              </a:xfrm>
              <a:prstGeom prst="rect">
                <a:avLst/>
              </a:prstGeom>
              <a:blipFill rotWithShape="0">
                <a:blip r:embed="rId18"/>
                <a:stretch>
                  <a:fillRect l="-1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p:cNvSpPr txBox="1"/>
              <p:nvPr/>
            </p:nvSpPr>
            <p:spPr>
              <a:xfrm>
                <a:off x="1865377" y="3951787"/>
                <a:ext cx="909900"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b="0" i="0" smtClean="0">
                              <a:solidFill>
                                <a:srgbClr val="002060"/>
                              </a:solidFill>
                              <a:latin typeface="Cambria Math" panose="02040503050406030204" pitchFamily="18" charset="0"/>
                            </a:rPr>
                            <m:t>d</m:t>
                          </m:r>
                          <m:r>
                            <a:rPr lang="en-US" sz="2400" b="0" i="0" smtClean="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f</m:t>
                          </m:r>
                        </m:e>
                      </m:d>
                    </m:oMath>
                  </m:oMathPara>
                </a14:m>
                <a:endParaRPr lang="en-IN" sz="2400" dirty="0"/>
              </a:p>
            </p:txBody>
          </p:sp>
        </mc:Choice>
        <mc:Fallback xmlns="">
          <p:sp>
            <p:nvSpPr>
              <p:cNvPr id="31" name="TextBox 30"/>
              <p:cNvSpPr txBox="1">
                <a:spLocks noRot="1" noChangeAspect="1" noMove="1" noResize="1" noEditPoints="1" noAdjustHandles="1" noChangeArrowheads="1" noChangeShapeType="1" noTextEdit="1"/>
              </p:cNvSpPr>
              <p:nvPr/>
            </p:nvSpPr>
            <p:spPr>
              <a:xfrm>
                <a:off x="1865377" y="3951787"/>
                <a:ext cx="909900" cy="461665"/>
              </a:xfrm>
              <a:prstGeom prst="rect">
                <a:avLst/>
              </a:prstGeom>
              <a:blipFill rotWithShape="0">
                <a:blip r:embed="rId19"/>
                <a:stretch>
                  <a:fillRect l="-20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p:cNvSpPr txBox="1"/>
              <p:nvPr/>
            </p:nvSpPr>
            <p:spPr>
              <a:xfrm>
                <a:off x="3533770" y="3922897"/>
                <a:ext cx="931796"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b="0" i="0" smtClean="0">
                              <a:solidFill>
                                <a:srgbClr val="002060"/>
                              </a:solidFill>
                              <a:latin typeface="Cambria Math" panose="02040503050406030204" pitchFamily="18" charset="0"/>
                            </a:rPr>
                            <m:t>d</m:t>
                          </m:r>
                          <m:r>
                            <a:rPr lang="en-US" sz="2400" b="0" i="1" smtClean="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g</m:t>
                          </m:r>
                        </m:e>
                      </m:d>
                    </m:oMath>
                  </m:oMathPara>
                </a14:m>
                <a:endParaRPr lang="en-IN" sz="2400" dirty="0"/>
              </a:p>
            </p:txBody>
          </p:sp>
        </mc:Choice>
        <mc:Fallback xmlns="">
          <p:sp>
            <p:nvSpPr>
              <p:cNvPr id="32" name="TextBox 31"/>
              <p:cNvSpPr txBox="1">
                <a:spLocks noRot="1" noChangeAspect="1" noMove="1" noResize="1" noEditPoints="1" noAdjustHandles="1" noChangeArrowheads="1" noChangeShapeType="1" noTextEdit="1"/>
              </p:cNvSpPr>
              <p:nvPr/>
            </p:nvSpPr>
            <p:spPr>
              <a:xfrm>
                <a:off x="3533770" y="3922897"/>
                <a:ext cx="931796" cy="461665"/>
              </a:xfrm>
              <a:prstGeom prst="rect">
                <a:avLst/>
              </a:prstGeom>
              <a:blipFill rotWithShape="0">
                <a:blip r:embed="rId20"/>
                <a:stretch>
                  <a:fillRect l="-1961" b="-1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p:cNvSpPr txBox="1"/>
              <p:nvPr/>
            </p:nvSpPr>
            <p:spPr>
              <a:xfrm>
                <a:off x="1833760" y="4594339"/>
                <a:ext cx="93160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b="0" i="0" smtClean="0">
                              <a:solidFill>
                                <a:srgbClr val="002060"/>
                              </a:solidFill>
                              <a:latin typeface="Cambria Math" panose="02040503050406030204" pitchFamily="18" charset="0"/>
                            </a:rPr>
                            <m:t>e</m:t>
                          </m:r>
                          <m:r>
                            <a:rPr lang="en-US" sz="2400" b="0" i="0" smtClean="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g</m:t>
                          </m:r>
                        </m:e>
                      </m:d>
                    </m:oMath>
                  </m:oMathPara>
                </a14:m>
                <a:endParaRPr lang="en-IN" sz="2400" dirty="0"/>
              </a:p>
            </p:txBody>
          </p:sp>
        </mc:Choice>
        <mc:Fallback xmlns="">
          <p:sp>
            <p:nvSpPr>
              <p:cNvPr id="33" name="TextBox 32"/>
              <p:cNvSpPr txBox="1">
                <a:spLocks noRot="1" noChangeAspect="1" noMove="1" noResize="1" noEditPoints="1" noAdjustHandles="1" noChangeArrowheads="1" noChangeShapeType="1" noTextEdit="1"/>
              </p:cNvSpPr>
              <p:nvPr/>
            </p:nvSpPr>
            <p:spPr>
              <a:xfrm>
                <a:off x="1833760" y="4594339"/>
                <a:ext cx="931608" cy="461665"/>
              </a:xfrm>
              <a:prstGeom prst="rect">
                <a:avLst/>
              </a:prstGeom>
              <a:blipFill rotWithShape="0">
                <a:blip r:embed="rId21"/>
                <a:stretch>
                  <a:fillRect l="-1961" b="-1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p:cNvSpPr txBox="1"/>
              <p:nvPr/>
            </p:nvSpPr>
            <p:spPr>
              <a:xfrm>
                <a:off x="309678" y="4596829"/>
                <a:ext cx="936106"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b="0" i="0" smtClean="0">
                              <a:solidFill>
                                <a:srgbClr val="002060"/>
                              </a:solidFill>
                              <a:latin typeface="Cambria Math" panose="02040503050406030204" pitchFamily="18" charset="0"/>
                            </a:rPr>
                            <m:t>e</m:t>
                          </m:r>
                          <m:r>
                            <a:rPr lang="en-US" sz="240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f</m:t>
                          </m:r>
                        </m:e>
                      </m:d>
                    </m:oMath>
                  </m:oMathPara>
                </a14:m>
                <a:endParaRPr lang="en-IN" sz="2400" dirty="0"/>
              </a:p>
            </p:txBody>
          </p:sp>
        </mc:Choice>
        <mc:Fallback xmlns="">
          <p:sp>
            <p:nvSpPr>
              <p:cNvPr id="34" name="TextBox 33"/>
              <p:cNvSpPr txBox="1">
                <a:spLocks noRot="1" noChangeAspect="1" noMove="1" noResize="1" noEditPoints="1" noAdjustHandles="1" noChangeArrowheads="1" noChangeShapeType="1" noTextEdit="1"/>
              </p:cNvSpPr>
              <p:nvPr/>
            </p:nvSpPr>
            <p:spPr>
              <a:xfrm>
                <a:off x="309678" y="4596829"/>
                <a:ext cx="936106" cy="461665"/>
              </a:xfrm>
              <a:prstGeom prst="rect">
                <a:avLst/>
              </a:prstGeom>
              <a:blipFill rotWithShape="0">
                <a:blip r:embed="rId22"/>
                <a:stretch>
                  <a:fillRect l="-19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p:cNvSpPr txBox="1"/>
              <p:nvPr/>
            </p:nvSpPr>
            <p:spPr>
              <a:xfrm>
                <a:off x="309678" y="5232584"/>
                <a:ext cx="936106"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US" sz="2400" smtClean="0">
                          <a:solidFill>
                            <a:srgbClr val="002060"/>
                          </a:solidFill>
                          <a:latin typeface="Cambria Math" panose="02040503050406030204" pitchFamily="18" charset="0"/>
                        </a:rPr>
                        <m:t>d</m:t>
                      </m:r>
                      <m:d>
                        <m:dPr>
                          <m:ctrlPr>
                            <a:rPr lang="en-US" sz="2400" i="1">
                              <a:solidFill>
                                <a:srgbClr val="002060"/>
                              </a:solidFill>
                              <a:latin typeface="Cambria Math" panose="02040503050406030204" pitchFamily="18" charset="0"/>
                            </a:rPr>
                          </m:ctrlPr>
                        </m:dPr>
                        <m:e>
                          <m:r>
                            <m:rPr>
                              <m:sty m:val="p"/>
                            </m:rPr>
                            <a:rPr lang="en-US" sz="2400" b="0" i="0" smtClean="0">
                              <a:solidFill>
                                <a:srgbClr val="002060"/>
                              </a:solidFill>
                              <a:latin typeface="Cambria Math" panose="02040503050406030204" pitchFamily="18" charset="0"/>
                            </a:rPr>
                            <m:t>f</m:t>
                          </m:r>
                          <m:r>
                            <a:rPr lang="en-US" sz="2400">
                              <a:solidFill>
                                <a:srgbClr val="002060"/>
                              </a:solidFill>
                              <a:latin typeface="Cambria Math" panose="02040503050406030204" pitchFamily="18" charset="0"/>
                            </a:rPr>
                            <m:t>,</m:t>
                          </m:r>
                          <m:r>
                            <m:rPr>
                              <m:sty m:val="p"/>
                            </m:rPr>
                            <a:rPr lang="en-US" sz="2400" b="0" i="0" smtClean="0">
                              <a:solidFill>
                                <a:srgbClr val="002060"/>
                              </a:solidFill>
                              <a:latin typeface="Cambria Math" panose="02040503050406030204" pitchFamily="18" charset="0"/>
                            </a:rPr>
                            <m:t>g</m:t>
                          </m:r>
                        </m:e>
                      </m:d>
                    </m:oMath>
                  </m:oMathPara>
                </a14:m>
                <a:endParaRPr lang="en-IN" sz="2400" dirty="0"/>
              </a:p>
            </p:txBody>
          </p:sp>
        </mc:Choice>
        <mc:Fallback xmlns="">
          <p:sp>
            <p:nvSpPr>
              <p:cNvPr id="35" name="TextBox 34"/>
              <p:cNvSpPr txBox="1">
                <a:spLocks noRot="1" noChangeAspect="1" noMove="1" noResize="1" noEditPoints="1" noAdjustHandles="1" noChangeArrowheads="1" noChangeShapeType="1" noTextEdit="1"/>
              </p:cNvSpPr>
              <p:nvPr/>
            </p:nvSpPr>
            <p:spPr>
              <a:xfrm>
                <a:off x="309678" y="5232584"/>
                <a:ext cx="936106" cy="461665"/>
              </a:xfrm>
              <a:prstGeom prst="rect">
                <a:avLst/>
              </a:prstGeom>
              <a:blipFill rotWithShape="0">
                <a:blip r:embed="rId23"/>
                <a:stretch>
                  <a:fillRect l="-1961" b="-11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1212712" y="2029299"/>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=1</m:t>
                      </m:r>
                    </m:oMath>
                  </m:oMathPara>
                </a14:m>
                <a:endParaRPr lang="en-IN" sz="2400" dirty="0">
                  <a:solidFill>
                    <a:srgbClr val="002060"/>
                  </a:solidFill>
                  <a:latin typeface="Cambria Math" panose="02040503050406030204" pitchFamily="18" charset="0"/>
                </a:endParaRPr>
              </a:p>
            </p:txBody>
          </p:sp>
        </mc:Choice>
        <mc:Fallback xmlns="">
          <p:sp>
            <p:nvSpPr>
              <p:cNvPr id="36" name="TextBox 35"/>
              <p:cNvSpPr txBox="1">
                <a:spLocks noRot="1" noChangeAspect="1" noMove="1" noResize="1" noEditPoints="1" noAdjustHandles="1" noChangeArrowheads="1" noChangeShapeType="1" noTextEdit="1"/>
              </p:cNvSpPr>
              <p:nvPr/>
            </p:nvSpPr>
            <p:spPr>
              <a:xfrm>
                <a:off x="1212712" y="2029299"/>
                <a:ext cx="621048" cy="461665"/>
              </a:xfrm>
              <a:prstGeom prst="rect">
                <a:avLst/>
              </a:prstGeom>
              <a:blipFill rotWithShape="0">
                <a:blip r:embed="rId24"/>
                <a:stretch>
                  <a:fillRect r="-88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2768025" y="2031866"/>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=2</m:t>
                      </m:r>
                    </m:oMath>
                  </m:oMathPara>
                </a14:m>
                <a:endParaRPr lang="en-IN" sz="2400" dirty="0">
                  <a:solidFill>
                    <a:srgbClr val="002060"/>
                  </a:solidFill>
                  <a:latin typeface="Cambria Math" panose="02040503050406030204" pitchFamily="18" charset="0"/>
                </a:endParaRPr>
              </a:p>
            </p:txBody>
          </p:sp>
        </mc:Choice>
        <mc:Fallback xmlns="">
          <p:sp>
            <p:nvSpPr>
              <p:cNvPr id="37" name="TextBox 36"/>
              <p:cNvSpPr txBox="1">
                <a:spLocks noRot="1" noChangeAspect="1" noMove="1" noResize="1" noEditPoints="1" noAdjustHandles="1" noChangeArrowheads="1" noChangeShapeType="1" noTextEdit="1"/>
              </p:cNvSpPr>
              <p:nvPr/>
            </p:nvSpPr>
            <p:spPr>
              <a:xfrm>
                <a:off x="2768025" y="2031866"/>
                <a:ext cx="621048" cy="461665"/>
              </a:xfrm>
              <a:prstGeom prst="rect">
                <a:avLst/>
              </a:prstGeom>
              <a:blipFill rotWithShape="0">
                <a:blip r:embed="rId25"/>
                <a:stretch>
                  <a:fillRect r="-98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p:cNvSpPr txBox="1"/>
              <p:nvPr/>
            </p:nvSpPr>
            <p:spPr>
              <a:xfrm>
                <a:off x="4367759" y="2029299"/>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=3</m:t>
                      </m:r>
                    </m:oMath>
                  </m:oMathPara>
                </a14:m>
                <a:endParaRPr lang="en-IN" sz="2400" dirty="0">
                  <a:solidFill>
                    <a:srgbClr val="002060"/>
                  </a:solidFill>
                  <a:latin typeface="Cambria Math" panose="02040503050406030204" pitchFamily="18" charset="0"/>
                </a:endParaRPr>
              </a:p>
            </p:txBody>
          </p:sp>
        </mc:Choice>
        <mc:Fallback xmlns="">
          <p:sp>
            <p:nvSpPr>
              <p:cNvPr id="38" name="TextBox 37"/>
              <p:cNvSpPr txBox="1">
                <a:spLocks noRot="1" noChangeAspect="1" noMove="1" noResize="1" noEditPoints="1" noAdjustHandles="1" noChangeArrowheads="1" noChangeShapeType="1" noTextEdit="1"/>
              </p:cNvSpPr>
              <p:nvPr/>
            </p:nvSpPr>
            <p:spPr>
              <a:xfrm>
                <a:off x="4367759" y="2029299"/>
                <a:ext cx="621048" cy="461665"/>
              </a:xfrm>
              <a:prstGeom prst="rect">
                <a:avLst/>
              </a:prstGeom>
              <a:blipFill rotWithShape="0">
                <a:blip r:embed="rId26"/>
                <a:stretch>
                  <a:fillRect r="-98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p:cNvSpPr txBox="1"/>
              <p:nvPr/>
            </p:nvSpPr>
            <p:spPr>
              <a:xfrm>
                <a:off x="5958265" y="2030042"/>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=3</m:t>
                      </m:r>
                    </m:oMath>
                  </m:oMathPara>
                </a14:m>
                <a:endParaRPr lang="en-IN" sz="2400" dirty="0">
                  <a:solidFill>
                    <a:srgbClr val="002060"/>
                  </a:solidFill>
                  <a:latin typeface="Cambria Math" panose="02040503050406030204" pitchFamily="18" charset="0"/>
                </a:endParaRPr>
              </a:p>
            </p:txBody>
          </p:sp>
        </mc:Choice>
        <mc:Fallback xmlns="">
          <p:sp>
            <p:nvSpPr>
              <p:cNvPr id="39" name="TextBox 38"/>
              <p:cNvSpPr txBox="1">
                <a:spLocks noRot="1" noChangeAspect="1" noMove="1" noResize="1" noEditPoints="1" noAdjustHandles="1" noChangeArrowheads="1" noChangeShapeType="1" noTextEdit="1"/>
              </p:cNvSpPr>
              <p:nvPr/>
            </p:nvSpPr>
            <p:spPr>
              <a:xfrm>
                <a:off x="5958265" y="2030042"/>
                <a:ext cx="621048" cy="461665"/>
              </a:xfrm>
              <a:prstGeom prst="rect">
                <a:avLst/>
              </a:prstGeom>
              <a:blipFill rotWithShape="0">
                <a:blip r:embed="rId27"/>
                <a:stretch>
                  <a:fillRect r="-98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7582767" y="2029299"/>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=4</m:t>
                      </m:r>
                    </m:oMath>
                  </m:oMathPara>
                </a14:m>
                <a:endParaRPr lang="en-IN" sz="2400" dirty="0">
                  <a:solidFill>
                    <a:srgbClr val="002060"/>
                  </a:solidFill>
                  <a:latin typeface="Cambria Math" panose="02040503050406030204" pitchFamily="18" charset="0"/>
                </a:endParaRPr>
              </a:p>
            </p:txBody>
          </p:sp>
        </mc:Choice>
        <mc:Fallback xmlns="">
          <p:sp>
            <p:nvSpPr>
              <p:cNvPr id="40" name="TextBox 39"/>
              <p:cNvSpPr txBox="1">
                <a:spLocks noRot="1" noChangeAspect="1" noMove="1" noResize="1" noEditPoints="1" noAdjustHandles="1" noChangeArrowheads="1" noChangeShapeType="1" noTextEdit="1"/>
              </p:cNvSpPr>
              <p:nvPr/>
            </p:nvSpPr>
            <p:spPr>
              <a:xfrm>
                <a:off x="7582767" y="2029299"/>
                <a:ext cx="621048" cy="461665"/>
              </a:xfrm>
              <a:prstGeom prst="rect">
                <a:avLst/>
              </a:prstGeom>
              <a:blipFill rotWithShape="0">
                <a:blip r:embed="rId28"/>
                <a:stretch>
                  <a:fillRect r="-88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p:cNvSpPr txBox="1"/>
              <p:nvPr/>
            </p:nvSpPr>
            <p:spPr>
              <a:xfrm>
                <a:off x="9211870" y="2029299"/>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=5</m:t>
                      </m:r>
                    </m:oMath>
                  </m:oMathPara>
                </a14:m>
                <a:endParaRPr lang="en-IN" sz="2400" dirty="0">
                  <a:solidFill>
                    <a:srgbClr val="002060"/>
                  </a:solidFill>
                  <a:latin typeface="Cambria Math" panose="02040503050406030204" pitchFamily="18" charset="0"/>
                </a:endParaRPr>
              </a:p>
            </p:txBody>
          </p:sp>
        </mc:Choice>
        <mc:Fallback xmlns="">
          <p:sp>
            <p:nvSpPr>
              <p:cNvPr id="41" name="TextBox 40"/>
              <p:cNvSpPr txBox="1">
                <a:spLocks noRot="1" noChangeAspect="1" noMove="1" noResize="1" noEditPoints="1" noAdjustHandles="1" noChangeArrowheads="1" noChangeShapeType="1" noTextEdit="1"/>
              </p:cNvSpPr>
              <p:nvPr/>
            </p:nvSpPr>
            <p:spPr>
              <a:xfrm>
                <a:off x="9211870" y="2029299"/>
                <a:ext cx="621048" cy="461665"/>
              </a:xfrm>
              <a:prstGeom prst="rect">
                <a:avLst/>
              </a:prstGeom>
              <a:blipFill rotWithShape="0">
                <a:blip r:embed="rId29"/>
                <a:stretch>
                  <a:fillRect r="-107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p:cNvSpPr txBox="1"/>
              <p:nvPr/>
            </p:nvSpPr>
            <p:spPr>
              <a:xfrm>
                <a:off x="1212712" y="2664299"/>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=1</m:t>
                      </m:r>
                    </m:oMath>
                  </m:oMathPara>
                </a14:m>
                <a:endParaRPr lang="en-IN" sz="2400" dirty="0">
                  <a:solidFill>
                    <a:srgbClr val="002060"/>
                  </a:solidFill>
                  <a:latin typeface="Cambria Math" panose="02040503050406030204" pitchFamily="18" charset="0"/>
                </a:endParaRPr>
              </a:p>
            </p:txBody>
          </p:sp>
        </mc:Choice>
        <mc:Fallback xmlns="">
          <p:sp>
            <p:nvSpPr>
              <p:cNvPr id="42" name="TextBox 41"/>
              <p:cNvSpPr txBox="1">
                <a:spLocks noRot="1" noChangeAspect="1" noMove="1" noResize="1" noEditPoints="1" noAdjustHandles="1" noChangeArrowheads="1" noChangeShapeType="1" noTextEdit="1"/>
              </p:cNvSpPr>
              <p:nvPr/>
            </p:nvSpPr>
            <p:spPr>
              <a:xfrm>
                <a:off x="1212712" y="2664299"/>
                <a:ext cx="621048" cy="461665"/>
              </a:xfrm>
              <a:prstGeom prst="rect">
                <a:avLst/>
              </a:prstGeom>
              <a:blipFill rotWithShape="0">
                <a:blip r:embed="rId30"/>
                <a:stretch>
                  <a:fillRect r="-88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p:cNvSpPr txBox="1"/>
              <p:nvPr/>
            </p:nvSpPr>
            <p:spPr>
              <a:xfrm>
                <a:off x="2768025" y="2666866"/>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=2</m:t>
                      </m:r>
                    </m:oMath>
                  </m:oMathPara>
                </a14:m>
                <a:endParaRPr lang="en-IN" sz="2400" dirty="0">
                  <a:solidFill>
                    <a:srgbClr val="002060"/>
                  </a:solidFill>
                  <a:latin typeface="Cambria Math" panose="02040503050406030204" pitchFamily="18" charset="0"/>
                </a:endParaRPr>
              </a:p>
            </p:txBody>
          </p:sp>
        </mc:Choice>
        <mc:Fallback xmlns="">
          <p:sp>
            <p:nvSpPr>
              <p:cNvPr id="43" name="TextBox 42"/>
              <p:cNvSpPr txBox="1">
                <a:spLocks noRot="1" noChangeAspect="1" noMove="1" noResize="1" noEditPoints="1" noAdjustHandles="1" noChangeArrowheads="1" noChangeShapeType="1" noTextEdit="1"/>
              </p:cNvSpPr>
              <p:nvPr/>
            </p:nvSpPr>
            <p:spPr>
              <a:xfrm>
                <a:off x="2768025" y="2666866"/>
                <a:ext cx="621048" cy="461665"/>
              </a:xfrm>
              <a:prstGeom prst="rect">
                <a:avLst/>
              </a:prstGeom>
              <a:blipFill rotWithShape="0">
                <a:blip r:embed="rId31"/>
                <a:stretch>
                  <a:fillRect r="-98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p:cNvSpPr txBox="1"/>
              <p:nvPr/>
            </p:nvSpPr>
            <p:spPr>
              <a:xfrm>
                <a:off x="4367759" y="2664299"/>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=2</m:t>
                      </m:r>
                    </m:oMath>
                  </m:oMathPara>
                </a14:m>
                <a:endParaRPr lang="en-IN" sz="2400" dirty="0">
                  <a:solidFill>
                    <a:srgbClr val="002060"/>
                  </a:solidFill>
                  <a:latin typeface="Cambria Math" panose="02040503050406030204" pitchFamily="18" charset="0"/>
                </a:endParaRPr>
              </a:p>
            </p:txBody>
          </p:sp>
        </mc:Choice>
        <mc:Fallback xmlns="">
          <p:sp>
            <p:nvSpPr>
              <p:cNvPr id="44" name="TextBox 43"/>
              <p:cNvSpPr txBox="1">
                <a:spLocks noRot="1" noChangeAspect="1" noMove="1" noResize="1" noEditPoints="1" noAdjustHandles="1" noChangeArrowheads="1" noChangeShapeType="1" noTextEdit="1"/>
              </p:cNvSpPr>
              <p:nvPr/>
            </p:nvSpPr>
            <p:spPr>
              <a:xfrm>
                <a:off x="4367759" y="2664299"/>
                <a:ext cx="621048" cy="461665"/>
              </a:xfrm>
              <a:prstGeom prst="rect">
                <a:avLst/>
              </a:prstGeom>
              <a:blipFill rotWithShape="0">
                <a:blip r:embed="rId32"/>
                <a:stretch>
                  <a:fillRect r="-98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p:cNvSpPr txBox="1"/>
              <p:nvPr/>
            </p:nvSpPr>
            <p:spPr>
              <a:xfrm>
                <a:off x="5958265" y="2665042"/>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=3</m:t>
                      </m:r>
                    </m:oMath>
                  </m:oMathPara>
                </a14:m>
                <a:endParaRPr lang="en-IN" sz="2400" dirty="0">
                  <a:solidFill>
                    <a:srgbClr val="002060"/>
                  </a:solidFill>
                  <a:latin typeface="Cambria Math" panose="02040503050406030204" pitchFamily="18" charset="0"/>
                </a:endParaRPr>
              </a:p>
            </p:txBody>
          </p:sp>
        </mc:Choice>
        <mc:Fallback xmlns="">
          <p:sp>
            <p:nvSpPr>
              <p:cNvPr id="45" name="TextBox 44"/>
              <p:cNvSpPr txBox="1">
                <a:spLocks noRot="1" noChangeAspect="1" noMove="1" noResize="1" noEditPoints="1" noAdjustHandles="1" noChangeArrowheads="1" noChangeShapeType="1" noTextEdit="1"/>
              </p:cNvSpPr>
              <p:nvPr/>
            </p:nvSpPr>
            <p:spPr>
              <a:xfrm>
                <a:off x="5958265" y="2665042"/>
                <a:ext cx="621048" cy="461665"/>
              </a:xfrm>
              <a:prstGeom prst="rect">
                <a:avLst/>
              </a:prstGeom>
              <a:blipFill rotWithShape="0">
                <a:blip r:embed="rId33"/>
                <a:stretch>
                  <a:fillRect r="-98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p:cNvSpPr txBox="1"/>
              <p:nvPr/>
            </p:nvSpPr>
            <p:spPr>
              <a:xfrm>
                <a:off x="7582767" y="2664299"/>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=4</m:t>
                      </m:r>
                    </m:oMath>
                  </m:oMathPara>
                </a14:m>
                <a:endParaRPr lang="en-IN" sz="2400" dirty="0">
                  <a:solidFill>
                    <a:srgbClr val="002060"/>
                  </a:solidFill>
                  <a:latin typeface="Cambria Math" panose="02040503050406030204" pitchFamily="18" charset="0"/>
                </a:endParaRPr>
              </a:p>
            </p:txBody>
          </p:sp>
        </mc:Choice>
        <mc:Fallback xmlns="">
          <p:sp>
            <p:nvSpPr>
              <p:cNvPr id="46" name="TextBox 45"/>
              <p:cNvSpPr txBox="1">
                <a:spLocks noRot="1" noChangeAspect="1" noMove="1" noResize="1" noEditPoints="1" noAdjustHandles="1" noChangeArrowheads="1" noChangeShapeType="1" noTextEdit="1"/>
              </p:cNvSpPr>
              <p:nvPr/>
            </p:nvSpPr>
            <p:spPr>
              <a:xfrm>
                <a:off x="7582767" y="2664299"/>
                <a:ext cx="621048" cy="461665"/>
              </a:xfrm>
              <a:prstGeom prst="rect">
                <a:avLst/>
              </a:prstGeom>
              <a:blipFill rotWithShape="0">
                <a:blip r:embed="rId34"/>
                <a:stretch>
                  <a:fillRect r="-88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p:cNvSpPr txBox="1"/>
              <p:nvPr/>
            </p:nvSpPr>
            <p:spPr>
              <a:xfrm>
                <a:off x="1212712" y="3295802"/>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=1</m:t>
                      </m:r>
                    </m:oMath>
                  </m:oMathPara>
                </a14:m>
                <a:endParaRPr lang="en-IN" sz="2400" dirty="0">
                  <a:solidFill>
                    <a:srgbClr val="002060"/>
                  </a:solidFill>
                  <a:latin typeface="Cambria Math" panose="02040503050406030204" pitchFamily="18" charset="0"/>
                </a:endParaRPr>
              </a:p>
            </p:txBody>
          </p:sp>
        </mc:Choice>
        <mc:Fallback xmlns="">
          <p:sp>
            <p:nvSpPr>
              <p:cNvPr id="47" name="TextBox 46"/>
              <p:cNvSpPr txBox="1">
                <a:spLocks noRot="1" noChangeAspect="1" noMove="1" noResize="1" noEditPoints="1" noAdjustHandles="1" noChangeArrowheads="1" noChangeShapeType="1" noTextEdit="1"/>
              </p:cNvSpPr>
              <p:nvPr/>
            </p:nvSpPr>
            <p:spPr>
              <a:xfrm>
                <a:off x="1212712" y="3295802"/>
                <a:ext cx="621048" cy="461665"/>
              </a:xfrm>
              <a:prstGeom prst="rect">
                <a:avLst/>
              </a:prstGeom>
              <a:blipFill rotWithShape="0">
                <a:blip r:embed="rId35"/>
                <a:stretch>
                  <a:fillRect r="-88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p:cNvSpPr txBox="1"/>
              <p:nvPr/>
            </p:nvSpPr>
            <p:spPr>
              <a:xfrm>
                <a:off x="2768025" y="3298369"/>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=1</m:t>
                      </m:r>
                    </m:oMath>
                  </m:oMathPara>
                </a14:m>
                <a:endParaRPr lang="en-IN" sz="2400" dirty="0">
                  <a:solidFill>
                    <a:srgbClr val="002060"/>
                  </a:solidFill>
                  <a:latin typeface="Cambria Math" panose="02040503050406030204" pitchFamily="18" charset="0"/>
                </a:endParaRPr>
              </a:p>
            </p:txBody>
          </p:sp>
        </mc:Choice>
        <mc:Fallback xmlns="">
          <p:sp>
            <p:nvSpPr>
              <p:cNvPr id="48" name="TextBox 47"/>
              <p:cNvSpPr txBox="1">
                <a:spLocks noRot="1" noChangeAspect="1" noMove="1" noResize="1" noEditPoints="1" noAdjustHandles="1" noChangeArrowheads="1" noChangeShapeType="1" noTextEdit="1"/>
              </p:cNvSpPr>
              <p:nvPr/>
            </p:nvSpPr>
            <p:spPr>
              <a:xfrm>
                <a:off x="2768025" y="3298369"/>
                <a:ext cx="621048" cy="461665"/>
              </a:xfrm>
              <a:prstGeom prst="rect">
                <a:avLst/>
              </a:prstGeom>
              <a:blipFill rotWithShape="0">
                <a:blip r:embed="rId36"/>
                <a:stretch>
                  <a:fillRect r="-98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p:cNvSpPr txBox="1"/>
              <p:nvPr/>
            </p:nvSpPr>
            <p:spPr>
              <a:xfrm>
                <a:off x="4367759" y="3295802"/>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=2</m:t>
                      </m:r>
                    </m:oMath>
                  </m:oMathPara>
                </a14:m>
                <a:endParaRPr lang="en-IN" sz="2400" dirty="0">
                  <a:solidFill>
                    <a:srgbClr val="002060"/>
                  </a:solidFill>
                  <a:latin typeface="Cambria Math" panose="02040503050406030204" pitchFamily="18" charset="0"/>
                </a:endParaRPr>
              </a:p>
            </p:txBody>
          </p:sp>
        </mc:Choice>
        <mc:Fallback xmlns="">
          <p:sp>
            <p:nvSpPr>
              <p:cNvPr id="49" name="TextBox 48"/>
              <p:cNvSpPr txBox="1">
                <a:spLocks noRot="1" noChangeAspect="1" noMove="1" noResize="1" noEditPoints="1" noAdjustHandles="1" noChangeArrowheads="1" noChangeShapeType="1" noTextEdit="1"/>
              </p:cNvSpPr>
              <p:nvPr/>
            </p:nvSpPr>
            <p:spPr>
              <a:xfrm>
                <a:off x="4367759" y="3295802"/>
                <a:ext cx="621048" cy="461665"/>
              </a:xfrm>
              <a:prstGeom prst="rect">
                <a:avLst/>
              </a:prstGeom>
              <a:blipFill rotWithShape="0">
                <a:blip r:embed="rId37"/>
                <a:stretch>
                  <a:fillRect r="-98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p:cNvSpPr txBox="1"/>
              <p:nvPr/>
            </p:nvSpPr>
            <p:spPr>
              <a:xfrm>
                <a:off x="5958265" y="3296545"/>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=3</m:t>
                      </m:r>
                    </m:oMath>
                  </m:oMathPara>
                </a14:m>
                <a:endParaRPr lang="en-IN" sz="2400" dirty="0">
                  <a:solidFill>
                    <a:srgbClr val="002060"/>
                  </a:solidFill>
                  <a:latin typeface="Cambria Math" panose="02040503050406030204" pitchFamily="18" charset="0"/>
                </a:endParaRPr>
              </a:p>
            </p:txBody>
          </p:sp>
        </mc:Choice>
        <mc:Fallback xmlns="">
          <p:sp>
            <p:nvSpPr>
              <p:cNvPr id="50" name="TextBox 49"/>
              <p:cNvSpPr txBox="1">
                <a:spLocks noRot="1" noChangeAspect="1" noMove="1" noResize="1" noEditPoints="1" noAdjustHandles="1" noChangeArrowheads="1" noChangeShapeType="1" noTextEdit="1"/>
              </p:cNvSpPr>
              <p:nvPr/>
            </p:nvSpPr>
            <p:spPr>
              <a:xfrm>
                <a:off x="5958265" y="3296545"/>
                <a:ext cx="621048" cy="461665"/>
              </a:xfrm>
              <a:prstGeom prst="rect">
                <a:avLst/>
              </a:prstGeom>
              <a:blipFill rotWithShape="0">
                <a:blip r:embed="rId38"/>
                <a:stretch>
                  <a:fillRect r="-98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p:cNvSpPr txBox="1"/>
              <p:nvPr/>
            </p:nvSpPr>
            <p:spPr>
              <a:xfrm>
                <a:off x="1219340" y="3951787"/>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=2</m:t>
                      </m:r>
                    </m:oMath>
                  </m:oMathPara>
                </a14:m>
                <a:endParaRPr lang="en-IN" sz="2400" dirty="0">
                  <a:solidFill>
                    <a:srgbClr val="002060"/>
                  </a:solidFill>
                  <a:latin typeface="Cambria Math" panose="02040503050406030204" pitchFamily="18" charset="0"/>
                </a:endParaRPr>
              </a:p>
            </p:txBody>
          </p:sp>
        </mc:Choice>
        <mc:Fallback xmlns="">
          <p:sp>
            <p:nvSpPr>
              <p:cNvPr id="51" name="TextBox 50"/>
              <p:cNvSpPr txBox="1">
                <a:spLocks noRot="1" noChangeAspect="1" noMove="1" noResize="1" noEditPoints="1" noAdjustHandles="1" noChangeArrowheads="1" noChangeShapeType="1" noTextEdit="1"/>
              </p:cNvSpPr>
              <p:nvPr/>
            </p:nvSpPr>
            <p:spPr>
              <a:xfrm>
                <a:off x="1219340" y="3951787"/>
                <a:ext cx="621048" cy="461665"/>
              </a:xfrm>
              <a:prstGeom prst="rect">
                <a:avLst/>
              </a:prstGeom>
              <a:blipFill rotWithShape="0">
                <a:blip r:embed="rId39"/>
                <a:stretch>
                  <a:fillRect r="-98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p:cNvSpPr txBox="1"/>
              <p:nvPr/>
            </p:nvSpPr>
            <p:spPr>
              <a:xfrm>
                <a:off x="2774653" y="3954354"/>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=3</m:t>
                      </m:r>
                    </m:oMath>
                  </m:oMathPara>
                </a14:m>
                <a:endParaRPr lang="en-IN" sz="2400" dirty="0">
                  <a:solidFill>
                    <a:srgbClr val="002060"/>
                  </a:solidFill>
                  <a:latin typeface="Cambria Math" panose="02040503050406030204" pitchFamily="18" charset="0"/>
                </a:endParaRPr>
              </a:p>
            </p:txBody>
          </p:sp>
        </mc:Choice>
        <mc:Fallback xmlns="">
          <p:sp>
            <p:nvSpPr>
              <p:cNvPr id="52" name="TextBox 51"/>
              <p:cNvSpPr txBox="1">
                <a:spLocks noRot="1" noChangeAspect="1" noMove="1" noResize="1" noEditPoints="1" noAdjustHandles="1" noChangeArrowheads="1" noChangeShapeType="1" noTextEdit="1"/>
              </p:cNvSpPr>
              <p:nvPr/>
            </p:nvSpPr>
            <p:spPr>
              <a:xfrm>
                <a:off x="2774653" y="3954354"/>
                <a:ext cx="621048" cy="461665"/>
              </a:xfrm>
              <a:prstGeom prst="rect">
                <a:avLst/>
              </a:prstGeom>
              <a:blipFill rotWithShape="0">
                <a:blip r:embed="rId40"/>
                <a:stretch>
                  <a:fillRect r="-98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p:cNvSpPr txBox="1"/>
              <p:nvPr/>
            </p:nvSpPr>
            <p:spPr>
              <a:xfrm>
                <a:off x="4374387" y="3951787"/>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=4</m:t>
                      </m:r>
                    </m:oMath>
                  </m:oMathPara>
                </a14:m>
                <a:endParaRPr lang="en-IN" sz="2400" dirty="0">
                  <a:solidFill>
                    <a:srgbClr val="002060"/>
                  </a:solidFill>
                  <a:latin typeface="Cambria Math" panose="02040503050406030204" pitchFamily="18" charset="0"/>
                </a:endParaRPr>
              </a:p>
            </p:txBody>
          </p:sp>
        </mc:Choice>
        <mc:Fallback xmlns="">
          <p:sp>
            <p:nvSpPr>
              <p:cNvPr id="53" name="TextBox 52"/>
              <p:cNvSpPr txBox="1">
                <a:spLocks noRot="1" noChangeAspect="1" noMove="1" noResize="1" noEditPoints="1" noAdjustHandles="1" noChangeArrowheads="1" noChangeShapeType="1" noTextEdit="1"/>
              </p:cNvSpPr>
              <p:nvPr/>
            </p:nvSpPr>
            <p:spPr>
              <a:xfrm>
                <a:off x="4374387" y="3951787"/>
                <a:ext cx="621048" cy="461665"/>
              </a:xfrm>
              <a:prstGeom prst="rect">
                <a:avLst/>
              </a:prstGeom>
              <a:blipFill rotWithShape="0">
                <a:blip r:embed="rId41"/>
                <a:stretch>
                  <a:fillRect r="-990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p:cNvSpPr txBox="1"/>
              <p:nvPr/>
            </p:nvSpPr>
            <p:spPr>
              <a:xfrm>
                <a:off x="1221736" y="4634480"/>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=1</m:t>
                      </m:r>
                    </m:oMath>
                  </m:oMathPara>
                </a14:m>
                <a:endParaRPr lang="en-IN" sz="2400" dirty="0">
                  <a:solidFill>
                    <a:srgbClr val="002060"/>
                  </a:solidFill>
                  <a:latin typeface="Cambria Math" panose="02040503050406030204" pitchFamily="18" charset="0"/>
                </a:endParaRPr>
              </a:p>
            </p:txBody>
          </p:sp>
        </mc:Choice>
        <mc:Fallback xmlns="">
          <p:sp>
            <p:nvSpPr>
              <p:cNvPr id="54" name="TextBox 53"/>
              <p:cNvSpPr txBox="1">
                <a:spLocks noRot="1" noChangeAspect="1" noMove="1" noResize="1" noEditPoints="1" noAdjustHandles="1" noChangeArrowheads="1" noChangeShapeType="1" noTextEdit="1"/>
              </p:cNvSpPr>
              <p:nvPr/>
            </p:nvSpPr>
            <p:spPr>
              <a:xfrm>
                <a:off x="1221736" y="4634480"/>
                <a:ext cx="621048" cy="461665"/>
              </a:xfrm>
              <a:prstGeom prst="rect">
                <a:avLst/>
              </a:prstGeom>
              <a:blipFill rotWithShape="0">
                <a:blip r:embed="rId42"/>
                <a:stretch>
                  <a:fillRect r="-98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p:cNvSpPr txBox="1"/>
              <p:nvPr/>
            </p:nvSpPr>
            <p:spPr>
              <a:xfrm>
                <a:off x="2777049" y="4637047"/>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=2</m:t>
                      </m:r>
                    </m:oMath>
                  </m:oMathPara>
                </a14:m>
                <a:endParaRPr lang="en-IN" sz="2400" dirty="0">
                  <a:solidFill>
                    <a:srgbClr val="002060"/>
                  </a:solidFill>
                  <a:latin typeface="Cambria Math" panose="02040503050406030204" pitchFamily="18" charset="0"/>
                </a:endParaRPr>
              </a:p>
            </p:txBody>
          </p:sp>
        </mc:Choice>
        <mc:Fallback xmlns="">
          <p:sp>
            <p:nvSpPr>
              <p:cNvPr id="55" name="TextBox 54"/>
              <p:cNvSpPr txBox="1">
                <a:spLocks noRot="1" noChangeAspect="1" noMove="1" noResize="1" noEditPoints="1" noAdjustHandles="1" noChangeArrowheads="1" noChangeShapeType="1" noTextEdit="1"/>
              </p:cNvSpPr>
              <p:nvPr/>
            </p:nvSpPr>
            <p:spPr>
              <a:xfrm>
                <a:off x="2777049" y="4637047"/>
                <a:ext cx="621048" cy="461665"/>
              </a:xfrm>
              <a:prstGeom prst="rect">
                <a:avLst/>
              </a:prstGeom>
              <a:blipFill rotWithShape="0">
                <a:blip r:embed="rId43"/>
                <a:stretch>
                  <a:fillRect r="-990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p:cNvSpPr txBox="1"/>
              <p:nvPr/>
            </p:nvSpPr>
            <p:spPr>
              <a:xfrm>
                <a:off x="1212712" y="5276987"/>
                <a:ext cx="621048"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=1</m:t>
                      </m:r>
                    </m:oMath>
                  </m:oMathPara>
                </a14:m>
                <a:endParaRPr lang="en-IN" sz="2400" dirty="0">
                  <a:solidFill>
                    <a:srgbClr val="002060"/>
                  </a:solidFill>
                  <a:latin typeface="Cambria Math" panose="02040503050406030204" pitchFamily="18" charset="0"/>
                </a:endParaRPr>
              </a:p>
            </p:txBody>
          </p:sp>
        </mc:Choice>
        <mc:Fallback xmlns="">
          <p:sp>
            <p:nvSpPr>
              <p:cNvPr id="56" name="TextBox 55"/>
              <p:cNvSpPr txBox="1">
                <a:spLocks noRot="1" noChangeAspect="1" noMove="1" noResize="1" noEditPoints="1" noAdjustHandles="1" noChangeArrowheads="1" noChangeShapeType="1" noTextEdit="1"/>
              </p:cNvSpPr>
              <p:nvPr/>
            </p:nvSpPr>
            <p:spPr>
              <a:xfrm>
                <a:off x="1212712" y="5276987"/>
                <a:ext cx="621048" cy="461665"/>
              </a:xfrm>
              <a:prstGeom prst="rect">
                <a:avLst/>
              </a:prstGeom>
              <a:blipFill rotWithShape="0">
                <a:blip r:embed="rId35"/>
                <a:stretch>
                  <a:fillRect r="-8824"/>
                </a:stretch>
              </a:blipFill>
            </p:spPr>
            <p:txBody>
              <a:bodyPr/>
              <a:lstStyle/>
              <a:p>
                <a:r>
                  <a:rPr lang="en-US">
                    <a:noFill/>
                  </a:rPr>
                  <a:t> </a:t>
                </a:r>
              </a:p>
            </p:txBody>
          </p:sp>
        </mc:Fallback>
      </mc:AlternateContent>
      <p:sp>
        <p:nvSpPr>
          <p:cNvPr id="2" name="TextBox 1"/>
          <p:cNvSpPr txBox="1"/>
          <p:nvPr/>
        </p:nvSpPr>
        <p:spPr>
          <a:xfrm>
            <a:off x="61451" y="1384880"/>
            <a:ext cx="2238113" cy="523220"/>
          </a:xfrm>
          <a:prstGeom prst="rect">
            <a:avLst/>
          </a:prstGeom>
          <a:noFill/>
        </p:spPr>
        <p:txBody>
          <a:bodyPr wrap="none" rtlCol="0">
            <a:spAutoFit/>
          </a:bodyPr>
          <a:lstStyle/>
          <a:p>
            <a:r>
              <a:rPr lang="en-US" sz="2800" dirty="0">
                <a:solidFill>
                  <a:srgbClr val="002060"/>
                </a:solidFill>
              </a:rPr>
              <a:t>Here, we have </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709B848F-3B7F-960C-258A-5B663509F7FE}"/>
                  </a:ext>
                </a:extLst>
              </p:cNvPr>
              <p:cNvGraphicFramePr>
                <a:graphicFrameLocks noGrp="1"/>
              </p:cNvGraphicFramePr>
              <p:nvPr>
                <p:extLst>
                  <p:ext uri="{D42A27DB-BD31-4B8C-83A1-F6EECF244321}">
                    <p14:modId xmlns:p14="http://schemas.microsoft.com/office/powerpoint/2010/main" val="1073728992"/>
                  </p:ext>
                </p:extLst>
              </p:nvPr>
            </p:nvGraphicFramePr>
            <p:xfrm>
              <a:off x="263698" y="5851103"/>
              <a:ext cx="9539999" cy="565714"/>
            </p:xfrm>
            <a:graphic>
              <a:graphicData uri="http://schemas.openxmlformats.org/drawingml/2006/table">
                <a:tbl>
                  <a:tblPr firstRow="1" bandRow="1">
                    <a:tableStyleId>{5C22544A-7EE6-4342-B048-85BDC9FD1C3A}</a:tableStyleId>
                  </a:tblPr>
                  <a:tblGrid>
                    <a:gridCol w="1362857">
                      <a:extLst>
                        <a:ext uri="{9D8B030D-6E8A-4147-A177-3AD203B41FA5}">
                          <a16:colId xmlns:a16="http://schemas.microsoft.com/office/drawing/2014/main" val="2573274369"/>
                        </a:ext>
                      </a:extLst>
                    </a:gridCol>
                    <a:gridCol w="1362857">
                      <a:extLst>
                        <a:ext uri="{9D8B030D-6E8A-4147-A177-3AD203B41FA5}">
                          <a16:colId xmlns:a16="http://schemas.microsoft.com/office/drawing/2014/main" val="4051045428"/>
                        </a:ext>
                      </a:extLst>
                    </a:gridCol>
                    <a:gridCol w="1362857">
                      <a:extLst>
                        <a:ext uri="{9D8B030D-6E8A-4147-A177-3AD203B41FA5}">
                          <a16:colId xmlns:a16="http://schemas.microsoft.com/office/drawing/2014/main" val="1541333607"/>
                        </a:ext>
                      </a:extLst>
                    </a:gridCol>
                    <a:gridCol w="1362857">
                      <a:extLst>
                        <a:ext uri="{9D8B030D-6E8A-4147-A177-3AD203B41FA5}">
                          <a16:colId xmlns:a16="http://schemas.microsoft.com/office/drawing/2014/main" val="535765769"/>
                        </a:ext>
                      </a:extLst>
                    </a:gridCol>
                    <a:gridCol w="1362857">
                      <a:extLst>
                        <a:ext uri="{9D8B030D-6E8A-4147-A177-3AD203B41FA5}">
                          <a16:colId xmlns:a16="http://schemas.microsoft.com/office/drawing/2014/main" val="3481627474"/>
                        </a:ext>
                      </a:extLst>
                    </a:gridCol>
                    <a:gridCol w="1362857">
                      <a:extLst>
                        <a:ext uri="{9D8B030D-6E8A-4147-A177-3AD203B41FA5}">
                          <a16:colId xmlns:a16="http://schemas.microsoft.com/office/drawing/2014/main" val="676072984"/>
                        </a:ext>
                      </a:extLst>
                    </a:gridCol>
                    <a:gridCol w="1362857">
                      <a:extLst>
                        <a:ext uri="{9D8B030D-6E8A-4147-A177-3AD203B41FA5}">
                          <a16:colId xmlns:a16="http://schemas.microsoft.com/office/drawing/2014/main" val="2065311432"/>
                        </a:ext>
                      </a:extLst>
                    </a:gridCol>
                  </a:tblGrid>
                  <a:tr h="565714">
                    <a:tc>
                      <a:txBody>
                        <a:bodyPr/>
                        <a:lstStyle/>
                        <a:p>
                          <a:pPr algn="l"/>
                          <a14:m>
                            <m:oMathPara xmlns:m="http://schemas.openxmlformats.org/officeDocument/2006/math">
                              <m:oMathParaPr>
                                <m:jc m:val="left"/>
                              </m:oMathParaPr>
                              <m:oMath xmlns:m="http://schemas.openxmlformats.org/officeDocument/2006/math">
                                <m:r>
                                  <a:rPr lang="en-IN" sz="2400" kern="1200" smtClean="0">
                                    <a:solidFill>
                                      <a:srgbClr val="002060"/>
                                    </a:solidFill>
                                    <a:latin typeface="Cambria Math" panose="02040503050406030204" pitchFamily="18" charset="0"/>
                                    <a:ea typeface="+mn-ea"/>
                                    <a:cs typeface="+mn-cs"/>
                                  </a:rPr>
                                  <m:t>𝐞</m:t>
                                </m:r>
                                <m:d>
                                  <m:dPr>
                                    <m:ctrlPr>
                                      <a:rPr lang="en-IN" sz="2400" i="1" kern="1200" smtClean="0">
                                        <a:solidFill>
                                          <a:srgbClr val="002060"/>
                                        </a:solidFill>
                                        <a:latin typeface="Cambria Math" panose="02040503050406030204" pitchFamily="18" charset="0"/>
                                        <a:ea typeface="+mn-ea"/>
                                        <a:cs typeface="+mn-cs"/>
                                      </a:rPr>
                                    </m:ctrlPr>
                                  </m:dPr>
                                  <m:e>
                                    <m:r>
                                      <a:rPr lang="en-IN" sz="2400" kern="1200" smtClean="0">
                                        <a:solidFill>
                                          <a:srgbClr val="002060"/>
                                        </a:solidFill>
                                        <a:latin typeface="Cambria Math" panose="02040503050406030204" pitchFamily="18" charset="0"/>
                                        <a:ea typeface="+mn-ea"/>
                                        <a:cs typeface="+mn-cs"/>
                                      </a:rPr>
                                      <m:t>𝐚</m:t>
                                    </m:r>
                                  </m:e>
                                </m:d>
                                <m:r>
                                  <a:rPr lang="en-IN" sz="2400" b="1" i="0" kern="1200" smtClean="0">
                                    <a:solidFill>
                                      <a:srgbClr val="002060"/>
                                    </a:solidFill>
                                    <a:latin typeface="Cambria Math" panose="02040503050406030204" pitchFamily="18" charset="0"/>
                                    <a:ea typeface="+mn-ea"/>
                                    <a:cs typeface="+mn-cs"/>
                                  </a:rPr>
                                  <m:t>=</m:t>
                                </m:r>
                              </m:oMath>
                            </m:oMathPara>
                          </a14:m>
                          <a:endParaRPr lang="en-IN" sz="2400" kern="1200" dirty="0">
                            <a:solidFill>
                              <a:srgbClr val="002060"/>
                            </a:solidFill>
                            <a:latin typeface="Cambria Math" panose="02040503050406030204" pitchFamily="18" charset="0"/>
                            <a:ea typeface="+mn-ea"/>
                            <a:cs typeface="+mn-cs"/>
                          </a:endParaRPr>
                        </a:p>
                      </a:txBody>
                      <a:tcPr anchor="ctr">
                        <a:solidFill>
                          <a:schemeClr val="accent3">
                            <a:lumMod val="40000"/>
                            <a:lumOff val="60000"/>
                          </a:schemeClr>
                        </a:solidFill>
                      </a:tcPr>
                    </a:tc>
                    <a:tc>
                      <a:txBody>
                        <a:bodyPr/>
                        <a:lstStyle/>
                        <a:p>
                          <a:pPr algn="l"/>
                          <a14:m>
                            <m:oMathPara xmlns:m="http://schemas.openxmlformats.org/officeDocument/2006/math">
                              <m:oMathParaPr>
                                <m:jc m:val="left"/>
                              </m:oMathParaPr>
                              <m:oMath xmlns:m="http://schemas.openxmlformats.org/officeDocument/2006/math">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𝐞</m:t>
                                </m:r>
                                <m:d>
                                  <m:dPr>
                                    <m:ctrlPr>
                                      <a:rPr kumimoji="0" lang="en-IN" sz="2400" b="1" i="1"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ctrlPr>
                                  </m:dPr>
                                  <m:e>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𝐛</m:t>
                                    </m:r>
                                  </m:e>
                                </m:d>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m:t>
                                </m:r>
                              </m:oMath>
                            </m:oMathPara>
                          </a14:m>
                          <a:endParaRPr lang="en-IN" dirty="0"/>
                        </a:p>
                      </a:txBody>
                      <a:tcPr anchor="ctr">
                        <a:solidFill>
                          <a:schemeClr val="accent3">
                            <a:lumMod val="40000"/>
                            <a:lumOff val="60000"/>
                          </a:schemeClr>
                        </a:solidFill>
                      </a:tcPr>
                    </a:tc>
                    <a:tc>
                      <a:txBody>
                        <a:bodyPr/>
                        <a:lstStyle/>
                        <a:p>
                          <a:pPr algn="l"/>
                          <a14:m>
                            <m:oMathPara xmlns:m="http://schemas.openxmlformats.org/officeDocument/2006/math">
                              <m:oMathParaPr>
                                <m:jc m:val="left"/>
                              </m:oMathParaPr>
                              <m:oMath xmlns:m="http://schemas.openxmlformats.org/officeDocument/2006/math">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𝐞</m:t>
                                </m:r>
                                <m:d>
                                  <m:dPr>
                                    <m:ctrlPr>
                                      <a:rPr kumimoji="0" lang="en-IN" sz="2400" b="1" i="1"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ctrlPr>
                                  </m:dPr>
                                  <m:e>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𝐜</m:t>
                                    </m:r>
                                  </m:e>
                                </m:d>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m:t>
                                </m:r>
                              </m:oMath>
                            </m:oMathPara>
                          </a14:m>
                          <a:endParaRPr lang="en-IN" dirty="0"/>
                        </a:p>
                      </a:txBody>
                      <a:tcPr anchor="ctr">
                        <a:solidFill>
                          <a:schemeClr val="accent3">
                            <a:lumMod val="40000"/>
                            <a:lumOff val="60000"/>
                          </a:schemeClr>
                        </a:solidFill>
                      </a:tcPr>
                    </a:tc>
                    <a:tc>
                      <a:txBody>
                        <a:bodyPr/>
                        <a:lstStyle/>
                        <a:p>
                          <a:pPr algn="l"/>
                          <a14:m>
                            <m:oMathPara xmlns:m="http://schemas.openxmlformats.org/officeDocument/2006/math">
                              <m:oMathParaPr>
                                <m:jc m:val="left"/>
                              </m:oMathParaPr>
                              <m:oMath xmlns:m="http://schemas.openxmlformats.org/officeDocument/2006/math">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𝐞</m:t>
                                </m:r>
                                <m:d>
                                  <m:dPr>
                                    <m:ctrlPr>
                                      <a:rPr kumimoji="0" lang="en-IN" sz="2400" b="1" i="1"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ctrlPr>
                                  </m:dPr>
                                  <m:e>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𝐝</m:t>
                                    </m:r>
                                  </m:e>
                                </m:d>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m:t>
                                </m:r>
                              </m:oMath>
                            </m:oMathPara>
                          </a14:m>
                          <a:endParaRPr lang="en-IN" dirty="0"/>
                        </a:p>
                      </a:txBody>
                      <a:tcPr anchor="ctr">
                        <a:solidFill>
                          <a:schemeClr val="accent3">
                            <a:lumMod val="40000"/>
                            <a:lumOff val="60000"/>
                          </a:schemeClr>
                        </a:solidFill>
                      </a:tcPr>
                    </a:tc>
                    <a:tc>
                      <a:txBody>
                        <a:bodyPr/>
                        <a:lstStyle/>
                        <a:p>
                          <a:pPr algn="l"/>
                          <a14:m>
                            <m:oMathPara xmlns:m="http://schemas.openxmlformats.org/officeDocument/2006/math">
                              <m:oMathParaPr>
                                <m:jc m:val="left"/>
                              </m:oMathParaPr>
                              <m:oMath xmlns:m="http://schemas.openxmlformats.org/officeDocument/2006/math">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𝐞</m:t>
                                </m:r>
                                <m:d>
                                  <m:dPr>
                                    <m:ctrlPr>
                                      <a:rPr kumimoji="0" lang="en-IN" sz="2400" b="1" i="1"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ctrlPr>
                                  </m:dPr>
                                  <m:e>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𝐞</m:t>
                                    </m:r>
                                  </m:e>
                                </m:d>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m:t>
                                </m:r>
                              </m:oMath>
                            </m:oMathPara>
                          </a14:m>
                          <a:endParaRPr lang="en-IN" dirty="0"/>
                        </a:p>
                      </a:txBody>
                      <a:tcPr anchor="ctr">
                        <a:solidFill>
                          <a:schemeClr val="accent3">
                            <a:lumMod val="40000"/>
                            <a:lumOff val="60000"/>
                          </a:schemeClr>
                        </a:solidFill>
                      </a:tcPr>
                    </a:tc>
                    <a:tc>
                      <a:txBody>
                        <a:bodyPr/>
                        <a:lstStyle/>
                        <a:p>
                          <a:pPr algn="l"/>
                          <a14:m>
                            <m:oMathPara xmlns:m="http://schemas.openxmlformats.org/officeDocument/2006/math">
                              <m:oMathParaPr>
                                <m:jc m:val="left"/>
                              </m:oMathParaPr>
                              <m:oMath xmlns:m="http://schemas.openxmlformats.org/officeDocument/2006/math">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𝐞</m:t>
                                </m:r>
                                <m:d>
                                  <m:dPr>
                                    <m:ctrlPr>
                                      <a:rPr kumimoji="0" lang="en-IN" sz="2400" b="1" i="1"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ctrlPr>
                                  </m:dPr>
                                  <m:e>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𝐟</m:t>
                                    </m:r>
                                  </m:e>
                                </m:d>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m:t>
                                </m:r>
                              </m:oMath>
                            </m:oMathPara>
                          </a14:m>
                          <a:endParaRPr lang="en-IN" dirty="0"/>
                        </a:p>
                      </a:txBody>
                      <a:tcPr anchor="ctr">
                        <a:solidFill>
                          <a:schemeClr val="accent3">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𝐞</m:t>
                                </m:r>
                                <m:d>
                                  <m:dPr>
                                    <m:ctrlPr>
                                      <a:rPr kumimoji="0" lang="en-IN" sz="2400" b="1" i="1"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ctrlPr>
                                  </m:dPr>
                                  <m:e>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𝐠</m:t>
                                    </m:r>
                                  </m:e>
                                </m:d>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m:t>
                                </m:r>
                              </m:oMath>
                            </m:oMathPara>
                          </a14:m>
                          <a:endParaRPr kumimoji="0" lang="en-IN" sz="2400" b="1" i="0" u="none" strike="noStrike" kern="1200" cap="none" spc="0" normalizeH="0" baseline="0" dirty="0">
                            <a:ln>
                              <a:noFill/>
                            </a:ln>
                            <a:solidFill>
                              <a:srgbClr val="002060"/>
                            </a:solidFill>
                            <a:effectLst/>
                            <a:uLnTx/>
                            <a:uFillTx/>
                            <a:latin typeface="Cambria Math" panose="02040503050406030204" pitchFamily="18" charset="0"/>
                            <a:ea typeface="+mn-ea"/>
                            <a:cs typeface="+mn-cs"/>
                          </a:endParaRPr>
                        </a:p>
                      </a:txBody>
                      <a:tcPr anchor="ctr">
                        <a:solidFill>
                          <a:schemeClr val="accent3">
                            <a:lumMod val="40000"/>
                            <a:lumOff val="60000"/>
                          </a:schemeClr>
                        </a:solidFill>
                      </a:tcPr>
                    </a:tc>
                    <a:extLst>
                      <a:ext uri="{0D108BD9-81ED-4DB2-BD59-A6C34878D82A}">
                        <a16:rowId xmlns:a16="http://schemas.microsoft.com/office/drawing/2014/main" val="4219683138"/>
                      </a:ext>
                    </a:extLst>
                  </a:tr>
                </a:tbl>
              </a:graphicData>
            </a:graphic>
          </p:graphicFrame>
        </mc:Choice>
        <mc:Fallback xmlns="">
          <p:graphicFrame>
            <p:nvGraphicFramePr>
              <p:cNvPr id="3" name="Table 2">
                <a:extLst>
                  <a:ext uri="{FF2B5EF4-FFF2-40B4-BE49-F238E27FC236}">
                    <a16:creationId xmlns:a16="http://schemas.microsoft.com/office/drawing/2014/main" id="{709B848F-3B7F-960C-258A-5B663509F7FE}"/>
                  </a:ext>
                </a:extLst>
              </p:cNvPr>
              <p:cNvGraphicFramePr>
                <a:graphicFrameLocks noGrp="1"/>
              </p:cNvGraphicFramePr>
              <p:nvPr>
                <p:extLst>
                  <p:ext uri="{D42A27DB-BD31-4B8C-83A1-F6EECF244321}">
                    <p14:modId xmlns:p14="http://schemas.microsoft.com/office/powerpoint/2010/main" val="1073728992"/>
                  </p:ext>
                </p:extLst>
              </p:nvPr>
            </p:nvGraphicFramePr>
            <p:xfrm>
              <a:off x="263698" y="5851103"/>
              <a:ext cx="9539999" cy="565714"/>
            </p:xfrm>
            <a:graphic>
              <a:graphicData uri="http://schemas.openxmlformats.org/drawingml/2006/table">
                <a:tbl>
                  <a:tblPr firstRow="1" bandRow="1">
                    <a:tableStyleId>{5C22544A-7EE6-4342-B048-85BDC9FD1C3A}</a:tableStyleId>
                  </a:tblPr>
                  <a:tblGrid>
                    <a:gridCol w="1362857">
                      <a:extLst>
                        <a:ext uri="{9D8B030D-6E8A-4147-A177-3AD203B41FA5}">
                          <a16:colId xmlns:a16="http://schemas.microsoft.com/office/drawing/2014/main" val="2573274369"/>
                        </a:ext>
                      </a:extLst>
                    </a:gridCol>
                    <a:gridCol w="1362857">
                      <a:extLst>
                        <a:ext uri="{9D8B030D-6E8A-4147-A177-3AD203B41FA5}">
                          <a16:colId xmlns:a16="http://schemas.microsoft.com/office/drawing/2014/main" val="4051045428"/>
                        </a:ext>
                      </a:extLst>
                    </a:gridCol>
                    <a:gridCol w="1362857">
                      <a:extLst>
                        <a:ext uri="{9D8B030D-6E8A-4147-A177-3AD203B41FA5}">
                          <a16:colId xmlns:a16="http://schemas.microsoft.com/office/drawing/2014/main" val="1541333607"/>
                        </a:ext>
                      </a:extLst>
                    </a:gridCol>
                    <a:gridCol w="1362857">
                      <a:extLst>
                        <a:ext uri="{9D8B030D-6E8A-4147-A177-3AD203B41FA5}">
                          <a16:colId xmlns:a16="http://schemas.microsoft.com/office/drawing/2014/main" val="535765769"/>
                        </a:ext>
                      </a:extLst>
                    </a:gridCol>
                    <a:gridCol w="1362857">
                      <a:extLst>
                        <a:ext uri="{9D8B030D-6E8A-4147-A177-3AD203B41FA5}">
                          <a16:colId xmlns:a16="http://schemas.microsoft.com/office/drawing/2014/main" val="3481627474"/>
                        </a:ext>
                      </a:extLst>
                    </a:gridCol>
                    <a:gridCol w="1362857">
                      <a:extLst>
                        <a:ext uri="{9D8B030D-6E8A-4147-A177-3AD203B41FA5}">
                          <a16:colId xmlns:a16="http://schemas.microsoft.com/office/drawing/2014/main" val="676072984"/>
                        </a:ext>
                      </a:extLst>
                    </a:gridCol>
                    <a:gridCol w="1362857">
                      <a:extLst>
                        <a:ext uri="{9D8B030D-6E8A-4147-A177-3AD203B41FA5}">
                          <a16:colId xmlns:a16="http://schemas.microsoft.com/office/drawing/2014/main" val="2065311432"/>
                        </a:ext>
                      </a:extLst>
                    </a:gridCol>
                  </a:tblGrid>
                  <a:tr h="565714">
                    <a:tc>
                      <a:txBody>
                        <a:bodyPr/>
                        <a:lstStyle/>
                        <a:p>
                          <a:endParaRPr lang="en-US"/>
                        </a:p>
                      </a:txBody>
                      <a:tcPr anchor="ctr">
                        <a:blipFill>
                          <a:blip r:embed="rId44"/>
                          <a:stretch>
                            <a:fillRect l="-446" t="-1064" r="-600893" b="-4255"/>
                          </a:stretch>
                        </a:blipFill>
                      </a:tcPr>
                    </a:tc>
                    <a:tc>
                      <a:txBody>
                        <a:bodyPr/>
                        <a:lstStyle/>
                        <a:p>
                          <a:endParaRPr lang="en-US"/>
                        </a:p>
                      </a:txBody>
                      <a:tcPr anchor="ctr">
                        <a:blipFill>
                          <a:blip r:embed="rId44"/>
                          <a:stretch>
                            <a:fillRect l="-100897" t="-1064" r="-503587" b="-4255"/>
                          </a:stretch>
                        </a:blipFill>
                      </a:tcPr>
                    </a:tc>
                    <a:tc>
                      <a:txBody>
                        <a:bodyPr/>
                        <a:lstStyle/>
                        <a:p>
                          <a:endParaRPr lang="en-US"/>
                        </a:p>
                      </a:txBody>
                      <a:tcPr anchor="ctr">
                        <a:blipFill>
                          <a:blip r:embed="rId44"/>
                          <a:stretch>
                            <a:fillRect l="-200000" t="-1064" r="-401339" b="-4255"/>
                          </a:stretch>
                        </a:blipFill>
                      </a:tcPr>
                    </a:tc>
                    <a:tc>
                      <a:txBody>
                        <a:bodyPr/>
                        <a:lstStyle/>
                        <a:p>
                          <a:endParaRPr lang="en-US"/>
                        </a:p>
                      </a:txBody>
                      <a:tcPr anchor="ctr">
                        <a:blipFill>
                          <a:blip r:embed="rId44"/>
                          <a:stretch>
                            <a:fillRect l="-300000" t="-1064" r="-301339" b="-4255"/>
                          </a:stretch>
                        </a:blipFill>
                      </a:tcPr>
                    </a:tc>
                    <a:tc>
                      <a:txBody>
                        <a:bodyPr/>
                        <a:lstStyle/>
                        <a:p>
                          <a:endParaRPr lang="en-US"/>
                        </a:p>
                      </a:txBody>
                      <a:tcPr anchor="ctr">
                        <a:blipFill>
                          <a:blip r:embed="rId44"/>
                          <a:stretch>
                            <a:fillRect l="-400000" t="-1064" r="-201339" b="-4255"/>
                          </a:stretch>
                        </a:blipFill>
                      </a:tcPr>
                    </a:tc>
                    <a:tc>
                      <a:txBody>
                        <a:bodyPr/>
                        <a:lstStyle/>
                        <a:p>
                          <a:endParaRPr lang="en-US"/>
                        </a:p>
                      </a:txBody>
                      <a:tcPr anchor="ctr">
                        <a:blipFill>
                          <a:blip r:embed="rId44"/>
                          <a:stretch>
                            <a:fillRect l="-502242" t="-1064" r="-102242" b="-4255"/>
                          </a:stretch>
                        </a:blipFill>
                      </a:tcPr>
                    </a:tc>
                    <a:tc>
                      <a:txBody>
                        <a:bodyPr/>
                        <a:lstStyle/>
                        <a:p>
                          <a:endParaRPr lang="en-US"/>
                        </a:p>
                      </a:txBody>
                      <a:tcPr anchor="ctr">
                        <a:blipFill>
                          <a:blip r:embed="rId44"/>
                          <a:stretch>
                            <a:fillRect l="-599554" t="-1064" r="-1786" b="-4255"/>
                          </a:stretch>
                        </a:blipFill>
                      </a:tcPr>
                    </a:tc>
                    <a:extLst>
                      <a:ext uri="{0D108BD9-81ED-4DB2-BD59-A6C34878D82A}">
                        <a16:rowId xmlns:a16="http://schemas.microsoft.com/office/drawing/2014/main" val="4219683138"/>
                      </a:ext>
                    </a:extLst>
                  </a:tr>
                </a:tbl>
              </a:graphicData>
            </a:graphic>
          </p:graphicFrame>
        </mc:Fallback>
      </mc:AlternateContent>
      <p:sp>
        <p:nvSpPr>
          <p:cNvPr id="5" name="Rectangle 4">
            <a:extLst>
              <a:ext uri="{FF2B5EF4-FFF2-40B4-BE49-F238E27FC236}">
                <a16:creationId xmlns:a16="http://schemas.microsoft.com/office/drawing/2014/main" id="{C54B935D-4CFC-E9D7-1956-7BF12F430D78}"/>
              </a:ext>
            </a:extLst>
          </p:cNvPr>
          <p:cNvSpPr/>
          <p:nvPr/>
        </p:nvSpPr>
        <p:spPr>
          <a:xfrm>
            <a:off x="8374461" y="1974849"/>
            <a:ext cx="1572614" cy="503787"/>
          </a:xfrm>
          <a:prstGeom prst="rect">
            <a:avLst/>
          </a:prstGeom>
          <a:noFill/>
          <a:ln w="381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15C5FCF-F20A-1F23-ACE0-83FC48C86681}"/>
                  </a:ext>
                </a:extLst>
              </p:cNvPr>
              <p:cNvSpPr txBox="1"/>
              <p:nvPr/>
            </p:nvSpPr>
            <p:spPr>
              <a:xfrm>
                <a:off x="1212712" y="5902023"/>
                <a:ext cx="361402" cy="46439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5</m:t>
                      </m:r>
                    </m:oMath>
                  </m:oMathPara>
                </a14:m>
                <a:endParaRPr lang="en-IN" sz="2400" dirty="0">
                  <a:solidFill>
                    <a:srgbClr val="002060"/>
                  </a:solidFill>
                  <a:latin typeface="Cambria Math" panose="02040503050406030204" pitchFamily="18" charset="0"/>
                </a:endParaRPr>
              </a:p>
            </p:txBody>
          </p:sp>
        </mc:Choice>
        <mc:Fallback xmlns="">
          <p:sp>
            <p:nvSpPr>
              <p:cNvPr id="8" name="TextBox 7">
                <a:extLst>
                  <a:ext uri="{FF2B5EF4-FFF2-40B4-BE49-F238E27FC236}">
                    <a16:creationId xmlns:a16="http://schemas.microsoft.com/office/drawing/2014/main" id="{615C5FCF-F20A-1F23-ACE0-83FC48C86681}"/>
                  </a:ext>
                </a:extLst>
              </p:cNvPr>
              <p:cNvSpPr txBox="1">
                <a:spLocks noRot="1" noChangeAspect="1" noMove="1" noResize="1" noEditPoints="1" noAdjustHandles="1" noChangeArrowheads="1" noChangeShapeType="1" noTextEdit="1"/>
              </p:cNvSpPr>
              <p:nvPr/>
            </p:nvSpPr>
            <p:spPr>
              <a:xfrm>
                <a:off x="1212712" y="5902023"/>
                <a:ext cx="361402" cy="464394"/>
              </a:xfrm>
              <a:prstGeom prst="rect">
                <a:avLst/>
              </a:prstGeom>
              <a:blipFill>
                <a:blip r:embed="rId45"/>
                <a:stretch>
                  <a:fillRect l="-6780" r="-3390"/>
                </a:stretch>
              </a:blipFill>
            </p:spPr>
            <p:txBody>
              <a:bodyPr/>
              <a:lstStyle/>
              <a:p>
                <a:r>
                  <a:rPr lang="en-IN">
                    <a:noFill/>
                  </a:rPr>
                  <a:t> </a:t>
                </a:r>
              </a:p>
            </p:txBody>
          </p:sp>
        </mc:Fallback>
      </mc:AlternateContent>
      <p:sp>
        <p:nvSpPr>
          <p:cNvPr id="57" name="Rectangle 56">
            <a:extLst>
              <a:ext uri="{FF2B5EF4-FFF2-40B4-BE49-F238E27FC236}">
                <a16:creationId xmlns:a16="http://schemas.microsoft.com/office/drawing/2014/main" id="{C54B935D-4CFC-E9D7-1956-7BF12F430D78}"/>
              </a:ext>
            </a:extLst>
          </p:cNvPr>
          <p:cNvSpPr/>
          <p:nvPr/>
        </p:nvSpPr>
        <p:spPr>
          <a:xfrm>
            <a:off x="6749180" y="2608408"/>
            <a:ext cx="1572614" cy="503787"/>
          </a:xfrm>
          <a:prstGeom prst="rect">
            <a:avLst/>
          </a:prstGeom>
          <a:noFill/>
          <a:ln w="381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58" name="TextBox 57"/>
              <p:cNvSpPr txBox="1"/>
              <p:nvPr/>
            </p:nvSpPr>
            <p:spPr>
              <a:xfrm>
                <a:off x="2570955" y="5904752"/>
                <a:ext cx="264354"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4</m:t>
                      </m:r>
                    </m:oMath>
                  </m:oMathPara>
                </a14:m>
                <a:endParaRPr lang="en-IN" sz="2400" dirty="0">
                  <a:solidFill>
                    <a:srgbClr val="002060"/>
                  </a:solidFill>
                  <a:latin typeface="Cambria Math" panose="02040503050406030204" pitchFamily="18" charset="0"/>
                </a:endParaRPr>
              </a:p>
            </p:txBody>
          </p:sp>
        </mc:Choice>
        <mc:Fallback xmlns="">
          <p:sp>
            <p:nvSpPr>
              <p:cNvPr id="58" name="TextBox 57"/>
              <p:cNvSpPr txBox="1">
                <a:spLocks noRot="1" noChangeAspect="1" noMove="1" noResize="1" noEditPoints="1" noAdjustHandles="1" noChangeArrowheads="1" noChangeShapeType="1" noTextEdit="1"/>
              </p:cNvSpPr>
              <p:nvPr/>
            </p:nvSpPr>
            <p:spPr>
              <a:xfrm>
                <a:off x="2570955" y="5904752"/>
                <a:ext cx="264354" cy="461665"/>
              </a:xfrm>
              <a:prstGeom prst="rect">
                <a:avLst/>
              </a:prstGeom>
              <a:blipFill rotWithShape="0">
                <a:blip r:embed="rId46"/>
                <a:stretch>
                  <a:fillRect l="-6977" r="-39535"/>
                </a:stretch>
              </a:blipFill>
            </p:spPr>
            <p:txBody>
              <a:bodyPr/>
              <a:lstStyle/>
              <a:p>
                <a:r>
                  <a:rPr lang="en-US">
                    <a:noFill/>
                  </a:rPr>
                  <a:t> </a:t>
                </a:r>
              </a:p>
            </p:txBody>
          </p:sp>
        </mc:Fallback>
      </mc:AlternateContent>
      <p:sp>
        <p:nvSpPr>
          <p:cNvPr id="59" name="Rectangle 58">
            <a:extLst>
              <a:ext uri="{FF2B5EF4-FFF2-40B4-BE49-F238E27FC236}">
                <a16:creationId xmlns:a16="http://schemas.microsoft.com/office/drawing/2014/main" id="{C54B935D-4CFC-E9D7-1956-7BF12F430D78}"/>
              </a:ext>
            </a:extLst>
          </p:cNvPr>
          <p:cNvSpPr/>
          <p:nvPr/>
        </p:nvSpPr>
        <p:spPr>
          <a:xfrm>
            <a:off x="5107855" y="3241150"/>
            <a:ext cx="1572614" cy="503787"/>
          </a:xfrm>
          <a:prstGeom prst="rect">
            <a:avLst/>
          </a:prstGeom>
          <a:noFill/>
          <a:ln w="381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60" name="TextBox 59"/>
              <p:cNvSpPr txBox="1"/>
              <p:nvPr/>
            </p:nvSpPr>
            <p:spPr>
              <a:xfrm>
                <a:off x="3892340" y="5902023"/>
                <a:ext cx="265562"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3</m:t>
                      </m:r>
                    </m:oMath>
                  </m:oMathPara>
                </a14:m>
                <a:endParaRPr lang="en-IN" sz="2400" dirty="0">
                  <a:solidFill>
                    <a:srgbClr val="002060"/>
                  </a:solidFill>
                  <a:latin typeface="Cambria Math" panose="02040503050406030204" pitchFamily="18" charset="0"/>
                </a:endParaRPr>
              </a:p>
            </p:txBody>
          </p:sp>
        </mc:Choice>
        <mc:Fallback xmlns="">
          <p:sp>
            <p:nvSpPr>
              <p:cNvPr id="60" name="TextBox 59"/>
              <p:cNvSpPr txBox="1">
                <a:spLocks noRot="1" noChangeAspect="1" noMove="1" noResize="1" noEditPoints="1" noAdjustHandles="1" noChangeArrowheads="1" noChangeShapeType="1" noTextEdit="1"/>
              </p:cNvSpPr>
              <p:nvPr/>
            </p:nvSpPr>
            <p:spPr>
              <a:xfrm>
                <a:off x="3892340" y="5902023"/>
                <a:ext cx="265562" cy="461665"/>
              </a:xfrm>
              <a:prstGeom prst="rect">
                <a:avLst/>
              </a:prstGeom>
              <a:blipFill rotWithShape="0">
                <a:blip r:embed="rId47"/>
                <a:stretch>
                  <a:fillRect l="-6977" r="-39535"/>
                </a:stretch>
              </a:blipFill>
            </p:spPr>
            <p:txBody>
              <a:bodyPr/>
              <a:lstStyle/>
              <a:p>
                <a:r>
                  <a:rPr lang="en-US">
                    <a:noFill/>
                  </a:rPr>
                  <a:t> </a:t>
                </a:r>
              </a:p>
            </p:txBody>
          </p:sp>
        </mc:Fallback>
      </mc:AlternateContent>
      <p:sp>
        <p:nvSpPr>
          <p:cNvPr id="61" name="Rectangle 60">
            <a:extLst>
              <a:ext uri="{FF2B5EF4-FFF2-40B4-BE49-F238E27FC236}">
                <a16:creationId xmlns:a16="http://schemas.microsoft.com/office/drawing/2014/main" id="{C54B935D-4CFC-E9D7-1956-7BF12F430D78}"/>
              </a:ext>
            </a:extLst>
          </p:cNvPr>
          <p:cNvSpPr/>
          <p:nvPr/>
        </p:nvSpPr>
        <p:spPr>
          <a:xfrm>
            <a:off x="3516819" y="3913843"/>
            <a:ext cx="1572614" cy="503787"/>
          </a:xfrm>
          <a:prstGeom prst="rect">
            <a:avLst/>
          </a:prstGeom>
          <a:noFill/>
          <a:ln w="381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62" name="TextBox 61"/>
              <p:cNvSpPr txBox="1"/>
              <p:nvPr/>
            </p:nvSpPr>
            <p:spPr>
              <a:xfrm>
                <a:off x="5302017" y="5902022"/>
                <a:ext cx="264354"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4</m:t>
                      </m:r>
                    </m:oMath>
                  </m:oMathPara>
                </a14:m>
                <a:endParaRPr lang="en-IN" sz="2400" dirty="0">
                  <a:solidFill>
                    <a:srgbClr val="002060"/>
                  </a:solidFill>
                  <a:latin typeface="Cambria Math" panose="02040503050406030204" pitchFamily="18" charset="0"/>
                </a:endParaRPr>
              </a:p>
            </p:txBody>
          </p:sp>
        </mc:Choice>
        <mc:Fallback xmlns="">
          <p:sp>
            <p:nvSpPr>
              <p:cNvPr id="62" name="TextBox 61"/>
              <p:cNvSpPr txBox="1">
                <a:spLocks noRot="1" noChangeAspect="1" noMove="1" noResize="1" noEditPoints="1" noAdjustHandles="1" noChangeArrowheads="1" noChangeShapeType="1" noTextEdit="1"/>
              </p:cNvSpPr>
              <p:nvPr/>
            </p:nvSpPr>
            <p:spPr>
              <a:xfrm>
                <a:off x="5302017" y="5902022"/>
                <a:ext cx="264354" cy="461665"/>
              </a:xfrm>
              <a:prstGeom prst="rect">
                <a:avLst/>
              </a:prstGeom>
              <a:blipFill rotWithShape="0">
                <a:blip r:embed="rId48"/>
                <a:stretch>
                  <a:fillRect l="-6977" r="-39535"/>
                </a:stretch>
              </a:blipFill>
            </p:spPr>
            <p:txBody>
              <a:bodyPr/>
              <a:lstStyle/>
              <a:p>
                <a:r>
                  <a:rPr lang="en-US">
                    <a:noFill/>
                  </a:rPr>
                  <a:t> </a:t>
                </a:r>
              </a:p>
            </p:txBody>
          </p:sp>
        </mc:Fallback>
      </mc:AlternateContent>
      <p:sp>
        <p:nvSpPr>
          <p:cNvPr id="63" name="Rectangle 62">
            <a:extLst>
              <a:ext uri="{FF2B5EF4-FFF2-40B4-BE49-F238E27FC236}">
                <a16:creationId xmlns:a16="http://schemas.microsoft.com/office/drawing/2014/main" id="{C54B935D-4CFC-E9D7-1956-7BF12F430D78}"/>
              </a:ext>
            </a:extLst>
          </p:cNvPr>
          <p:cNvSpPr/>
          <p:nvPr/>
        </p:nvSpPr>
        <p:spPr>
          <a:xfrm>
            <a:off x="5121121" y="2008237"/>
            <a:ext cx="1572614" cy="503787"/>
          </a:xfrm>
          <a:prstGeom prst="rect">
            <a:avLst/>
          </a:prstGeom>
          <a:noFill/>
          <a:ln w="381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64" name="TextBox 63"/>
              <p:cNvSpPr txBox="1"/>
              <p:nvPr/>
            </p:nvSpPr>
            <p:spPr>
              <a:xfrm>
                <a:off x="6637807" y="5902022"/>
                <a:ext cx="265562"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3</m:t>
                      </m:r>
                    </m:oMath>
                  </m:oMathPara>
                </a14:m>
                <a:endParaRPr lang="en-IN" sz="2400" dirty="0">
                  <a:solidFill>
                    <a:srgbClr val="002060"/>
                  </a:solidFill>
                  <a:latin typeface="Cambria Math" panose="02040503050406030204" pitchFamily="18" charset="0"/>
                </a:endParaRPr>
              </a:p>
            </p:txBody>
          </p:sp>
        </mc:Choice>
        <mc:Fallback xmlns="">
          <p:sp>
            <p:nvSpPr>
              <p:cNvPr id="64" name="TextBox 63"/>
              <p:cNvSpPr txBox="1">
                <a:spLocks noRot="1" noChangeAspect="1" noMove="1" noResize="1" noEditPoints="1" noAdjustHandles="1" noChangeArrowheads="1" noChangeShapeType="1" noTextEdit="1"/>
              </p:cNvSpPr>
              <p:nvPr/>
            </p:nvSpPr>
            <p:spPr>
              <a:xfrm>
                <a:off x="6637807" y="5902022"/>
                <a:ext cx="265562" cy="461665"/>
              </a:xfrm>
              <a:prstGeom prst="rect">
                <a:avLst/>
              </a:prstGeom>
              <a:blipFill rotWithShape="0">
                <a:blip r:embed="rId49"/>
                <a:stretch>
                  <a:fillRect l="-6977" r="-39535"/>
                </a:stretch>
              </a:blipFill>
            </p:spPr>
            <p:txBody>
              <a:bodyPr/>
              <a:lstStyle/>
              <a:p>
                <a:r>
                  <a:rPr lang="en-US">
                    <a:noFill/>
                  </a:rPr>
                  <a:t> </a:t>
                </a:r>
              </a:p>
            </p:txBody>
          </p:sp>
        </mc:Fallback>
      </mc:AlternateContent>
      <p:sp>
        <p:nvSpPr>
          <p:cNvPr id="65" name="Rectangle 64">
            <a:extLst>
              <a:ext uri="{FF2B5EF4-FFF2-40B4-BE49-F238E27FC236}">
                <a16:creationId xmlns:a16="http://schemas.microsoft.com/office/drawing/2014/main" id="{C54B935D-4CFC-E9D7-1956-7BF12F430D78}"/>
              </a:ext>
            </a:extLst>
          </p:cNvPr>
          <p:cNvSpPr/>
          <p:nvPr/>
        </p:nvSpPr>
        <p:spPr>
          <a:xfrm>
            <a:off x="6744732" y="1991210"/>
            <a:ext cx="1572614" cy="503787"/>
          </a:xfrm>
          <a:prstGeom prst="rect">
            <a:avLst/>
          </a:prstGeom>
          <a:noFill/>
          <a:ln w="381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66" name="TextBox 65"/>
              <p:cNvSpPr txBox="1"/>
              <p:nvPr/>
            </p:nvSpPr>
            <p:spPr>
              <a:xfrm>
                <a:off x="7977447" y="5902022"/>
                <a:ext cx="264354"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4</m:t>
                      </m:r>
                    </m:oMath>
                  </m:oMathPara>
                </a14:m>
                <a:endParaRPr lang="en-IN" sz="2400" dirty="0">
                  <a:solidFill>
                    <a:srgbClr val="002060"/>
                  </a:solidFill>
                  <a:latin typeface="Cambria Math" panose="02040503050406030204" pitchFamily="18" charset="0"/>
                </a:endParaRPr>
              </a:p>
            </p:txBody>
          </p:sp>
        </mc:Choice>
        <mc:Fallback xmlns="">
          <p:sp>
            <p:nvSpPr>
              <p:cNvPr id="66" name="TextBox 65"/>
              <p:cNvSpPr txBox="1">
                <a:spLocks noRot="1" noChangeAspect="1" noMove="1" noResize="1" noEditPoints="1" noAdjustHandles="1" noChangeArrowheads="1" noChangeShapeType="1" noTextEdit="1"/>
              </p:cNvSpPr>
              <p:nvPr/>
            </p:nvSpPr>
            <p:spPr>
              <a:xfrm>
                <a:off x="7977447" y="5902022"/>
                <a:ext cx="264354" cy="461665"/>
              </a:xfrm>
              <a:prstGeom prst="rect">
                <a:avLst/>
              </a:prstGeom>
              <a:blipFill rotWithShape="0">
                <a:blip r:embed="rId50"/>
                <a:stretch>
                  <a:fillRect l="-6977" r="-39535"/>
                </a:stretch>
              </a:blipFill>
            </p:spPr>
            <p:txBody>
              <a:bodyPr/>
              <a:lstStyle/>
              <a:p>
                <a:r>
                  <a:rPr lang="en-US">
                    <a:noFill/>
                  </a:rPr>
                  <a:t> </a:t>
                </a:r>
              </a:p>
            </p:txBody>
          </p:sp>
        </mc:Fallback>
      </mc:AlternateContent>
      <p:sp>
        <p:nvSpPr>
          <p:cNvPr id="67" name="Rectangle 66">
            <a:extLst>
              <a:ext uri="{FF2B5EF4-FFF2-40B4-BE49-F238E27FC236}">
                <a16:creationId xmlns:a16="http://schemas.microsoft.com/office/drawing/2014/main" id="{C54B935D-4CFC-E9D7-1956-7BF12F430D78}"/>
              </a:ext>
            </a:extLst>
          </p:cNvPr>
          <p:cNvSpPr/>
          <p:nvPr/>
        </p:nvSpPr>
        <p:spPr>
          <a:xfrm>
            <a:off x="8380780" y="1968845"/>
            <a:ext cx="1572614" cy="503787"/>
          </a:xfrm>
          <a:prstGeom prst="rect">
            <a:avLst/>
          </a:prstGeom>
          <a:noFill/>
          <a:ln w="381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615C5FCF-F20A-1F23-ACE0-83FC48C86681}"/>
                  </a:ext>
                </a:extLst>
              </p:cNvPr>
              <p:cNvSpPr txBox="1"/>
              <p:nvPr/>
            </p:nvSpPr>
            <p:spPr>
              <a:xfrm>
                <a:off x="9363333" y="5897575"/>
                <a:ext cx="361402" cy="46439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5</m:t>
                      </m:r>
                    </m:oMath>
                  </m:oMathPara>
                </a14:m>
                <a:endParaRPr lang="en-IN" sz="2400" dirty="0">
                  <a:solidFill>
                    <a:srgbClr val="002060"/>
                  </a:solidFill>
                  <a:latin typeface="Cambria Math" panose="02040503050406030204" pitchFamily="18" charset="0"/>
                </a:endParaRPr>
              </a:p>
            </p:txBody>
          </p:sp>
        </mc:Choice>
        <mc:Fallback xmlns="">
          <p:sp>
            <p:nvSpPr>
              <p:cNvPr id="68" name="TextBox 67">
                <a:extLst>
                  <a:ext uri="{FF2B5EF4-FFF2-40B4-BE49-F238E27FC236}">
                    <a16:creationId xmlns:a16="http://schemas.microsoft.com/office/drawing/2014/main" xmlns:a14="http://schemas.microsoft.com/office/drawing/2010/main" xmlns="" id="{615C5FCF-F20A-1F23-ACE0-83FC48C86681}"/>
                  </a:ext>
                </a:extLst>
              </p:cNvPr>
              <p:cNvSpPr txBox="1">
                <a:spLocks noRot="1" noChangeAspect="1" noMove="1" noResize="1" noEditPoints="1" noAdjustHandles="1" noChangeArrowheads="1" noChangeShapeType="1" noTextEdit="1"/>
              </p:cNvSpPr>
              <p:nvPr/>
            </p:nvSpPr>
            <p:spPr>
              <a:xfrm>
                <a:off x="9363333" y="5897575"/>
                <a:ext cx="361402" cy="464394"/>
              </a:xfrm>
              <a:prstGeom prst="rect">
                <a:avLst/>
              </a:prstGeom>
              <a:blipFill rotWithShape="0">
                <a:blip r:embed="rId51"/>
                <a:stretch>
                  <a:fillRect l="-6780" r="-3390"/>
                </a:stretch>
              </a:blipFill>
            </p:spPr>
            <p:txBody>
              <a:bodyPr/>
              <a:lstStyle/>
              <a:p>
                <a:r>
                  <a:rPr lang="en-US">
                    <a:noFill/>
                  </a:rPr>
                  <a:t> </a:t>
                </a:r>
              </a:p>
            </p:txBody>
          </p:sp>
        </mc:Fallback>
      </mc:AlternateContent>
    </p:spTree>
    <p:extLst>
      <p:ext uri="{BB962C8B-B14F-4D97-AF65-F5344CB8AC3E}">
        <p14:creationId xmlns:p14="http://schemas.microsoft.com/office/powerpoint/2010/main" val="1502747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0"/>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1"/>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5"/>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6"/>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7"/>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8"/>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49"/>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50"/>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51"/>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52"/>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53"/>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54"/>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55"/>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56"/>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3"/>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5"/>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8"/>
                                        </p:tgtEl>
                                        <p:attrNameLst>
                                          <p:attrName>style.visibility</p:attrName>
                                        </p:attrNameLst>
                                      </p:cBhvr>
                                      <p:to>
                                        <p:strVal val="visible"/>
                                      </p:to>
                                    </p:set>
                                  </p:childTnLst>
                                </p:cTn>
                              </p:par>
                              <p:par>
                                <p:cTn id="113" presetID="1" presetClass="exit" presetSubtype="0" fill="hold" grpId="1" nodeType="withEffect">
                                  <p:stCondLst>
                                    <p:cond delay="0"/>
                                  </p:stCondLst>
                                  <p:childTnLst>
                                    <p:set>
                                      <p:cBhvr>
                                        <p:cTn id="114" dur="1" fill="hold">
                                          <p:stCondLst>
                                            <p:cond delay="0"/>
                                          </p:stCondLst>
                                        </p:cTn>
                                        <p:tgtEl>
                                          <p:spTgt spid="5"/>
                                        </p:tgtEl>
                                        <p:attrNameLst>
                                          <p:attrName>style.visibility</p:attrName>
                                        </p:attrNameLst>
                                      </p:cBhvr>
                                      <p:to>
                                        <p:strVal val="hidden"/>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57"/>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58"/>
                                        </p:tgtEl>
                                        <p:attrNameLst>
                                          <p:attrName>style.visibility</p:attrName>
                                        </p:attrNameLst>
                                      </p:cBhvr>
                                      <p:to>
                                        <p:strVal val="visible"/>
                                      </p:to>
                                    </p:set>
                                  </p:childTnLst>
                                </p:cTn>
                              </p:par>
                              <p:par>
                                <p:cTn id="123" presetID="1" presetClass="exit" presetSubtype="0" fill="hold" grpId="1" nodeType="withEffect">
                                  <p:stCondLst>
                                    <p:cond delay="0"/>
                                  </p:stCondLst>
                                  <p:childTnLst>
                                    <p:set>
                                      <p:cBhvr>
                                        <p:cTn id="124" dur="1" fill="hold">
                                          <p:stCondLst>
                                            <p:cond delay="0"/>
                                          </p:stCondLst>
                                        </p:cTn>
                                        <p:tgtEl>
                                          <p:spTgt spid="57"/>
                                        </p:tgtEl>
                                        <p:attrNameLst>
                                          <p:attrName>style.visibility</p:attrName>
                                        </p:attrNameLst>
                                      </p:cBhvr>
                                      <p:to>
                                        <p:strVal val="hidden"/>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59"/>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60"/>
                                        </p:tgtEl>
                                        <p:attrNameLst>
                                          <p:attrName>style.visibility</p:attrName>
                                        </p:attrNameLst>
                                      </p:cBhvr>
                                      <p:to>
                                        <p:strVal val="visible"/>
                                      </p:to>
                                    </p:set>
                                  </p:childTnLst>
                                </p:cTn>
                              </p:par>
                              <p:par>
                                <p:cTn id="133" presetID="1" presetClass="exit" presetSubtype="0" fill="hold" grpId="1" nodeType="withEffect">
                                  <p:stCondLst>
                                    <p:cond delay="0"/>
                                  </p:stCondLst>
                                  <p:childTnLst>
                                    <p:set>
                                      <p:cBhvr>
                                        <p:cTn id="134" dur="1" fill="hold">
                                          <p:stCondLst>
                                            <p:cond delay="0"/>
                                          </p:stCondLst>
                                        </p:cTn>
                                        <p:tgtEl>
                                          <p:spTgt spid="59"/>
                                        </p:tgtEl>
                                        <p:attrNameLst>
                                          <p:attrName>style.visibility</p:attrName>
                                        </p:attrNameLst>
                                      </p:cBhvr>
                                      <p:to>
                                        <p:strVal val="hidden"/>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61"/>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62"/>
                                        </p:tgtEl>
                                        <p:attrNameLst>
                                          <p:attrName>style.visibility</p:attrName>
                                        </p:attrNameLst>
                                      </p:cBhvr>
                                      <p:to>
                                        <p:strVal val="visible"/>
                                      </p:to>
                                    </p:set>
                                  </p:childTnLst>
                                </p:cTn>
                              </p:par>
                              <p:par>
                                <p:cTn id="143" presetID="1" presetClass="exit" presetSubtype="0" fill="hold" grpId="1" nodeType="withEffect">
                                  <p:stCondLst>
                                    <p:cond delay="0"/>
                                  </p:stCondLst>
                                  <p:childTnLst>
                                    <p:set>
                                      <p:cBhvr>
                                        <p:cTn id="144" dur="1" fill="hold">
                                          <p:stCondLst>
                                            <p:cond delay="0"/>
                                          </p:stCondLst>
                                        </p:cTn>
                                        <p:tgtEl>
                                          <p:spTgt spid="61"/>
                                        </p:tgtEl>
                                        <p:attrNameLst>
                                          <p:attrName>style.visibility</p:attrName>
                                        </p:attrNameLst>
                                      </p:cBhvr>
                                      <p:to>
                                        <p:strVal val="hidden"/>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63"/>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64"/>
                                        </p:tgtEl>
                                        <p:attrNameLst>
                                          <p:attrName>style.visibility</p:attrName>
                                        </p:attrNameLst>
                                      </p:cBhvr>
                                      <p:to>
                                        <p:strVal val="visible"/>
                                      </p:to>
                                    </p:set>
                                  </p:childTnLst>
                                </p:cTn>
                              </p:par>
                              <p:par>
                                <p:cTn id="153" presetID="1" presetClass="exit" presetSubtype="0" fill="hold" grpId="1" nodeType="withEffect">
                                  <p:stCondLst>
                                    <p:cond delay="0"/>
                                  </p:stCondLst>
                                  <p:childTnLst>
                                    <p:set>
                                      <p:cBhvr>
                                        <p:cTn id="154" dur="1" fill="hold">
                                          <p:stCondLst>
                                            <p:cond delay="0"/>
                                          </p:stCondLst>
                                        </p:cTn>
                                        <p:tgtEl>
                                          <p:spTgt spid="63"/>
                                        </p:tgtEl>
                                        <p:attrNameLst>
                                          <p:attrName>style.visibility</p:attrName>
                                        </p:attrNameLst>
                                      </p:cBhvr>
                                      <p:to>
                                        <p:strVal val="hidden"/>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65"/>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66"/>
                                        </p:tgtEl>
                                        <p:attrNameLst>
                                          <p:attrName>style.visibility</p:attrName>
                                        </p:attrNameLst>
                                      </p:cBhvr>
                                      <p:to>
                                        <p:strVal val="visible"/>
                                      </p:to>
                                    </p:set>
                                  </p:childTnLst>
                                </p:cTn>
                              </p:par>
                              <p:par>
                                <p:cTn id="163" presetID="1" presetClass="exit" presetSubtype="0" fill="hold" grpId="1" nodeType="withEffect">
                                  <p:stCondLst>
                                    <p:cond delay="0"/>
                                  </p:stCondLst>
                                  <p:childTnLst>
                                    <p:set>
                                      <p:cBhvr>
                                        <p:cTn id="164" dur="1" fill="hold">
                                          <p:stCondLst>
                                            <p:cond delay="0"/>
                                          </p:stCondLst>
                                        </p:cTn>
                                        <p:tgtEl>
                                          <p:spTgt spid="65"/>
                                        </p:tgtEl>
                                        <p:attrNameLst>
                                          <p:attrName>style.visibility</p:attrName>
                                        </p:attrNameLst>
                                      </p:cBhvr>
                                      <p:to>
                                        <p:strVal val="hidden"/>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grpId="0" nodeType="clickEffect">
                                  <p:stCondLst>
                                    <p:cond delay="0"/>
                                  </p:stCondLst>
                                  <p:childTnLst>
                                    <p:set>
                                      <p:cBhvr>
                                        <p:cTn id="168" dur="1" fill="hold">
                                          <p:stCondLst>
                                            <p:cond delay="0"/>
                                          </p:stCondLst>
                                        </p:cTn>
                                        <p:tgtEl>
                                          <p:spTgt spid="67"/>
                                        </p:tgtEl>
                                        <p:attrNameLst>
                                          <p:attrName>style.visibility</p:attrName>
                                        </p:attrNameLst>
                                      </p:cBhvr>
                                      <p:to>
                                        <p:strVal val="visible"/>
                                      </p:to>
                                    </p:se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grpId="0" nodeType="clickEffect">
                                  <p:stCondLst>
                                    <p:cond delay="0"/>
                                  </p:stCondLst>
                                  <p:childTnLst>
                                    <p:set>
                                      <p:cBhvr>
                                        <p:cTn id="172" dur="1" fill="hold">
                                          <p:stCondLst>
                                            <p:cond delay="0"/>
                                          </p:stCondLst>
                                        </p:cTn>
                                        <p:tgtEl>
                                          <p:spTgt spid="68"/>
                                        </p:tgtEl>
                                        <p:attrNameLst>
                                          <p:attrName>style.visibility</p:attrName>
                                        </p:attrNameLst>
                                      </p:cBhvr>
                                      <p:to>
                                        <p:strVal val="visible"/>
                                      </p:to>
                                    </p:set>
                                  </p:childTnLst>
                                </p:cTn>
                              </p:par>
                              <p:par>
                                <p:cTn id="173" presetID="1" presetClass="exit" presetSubtype="0" fill="hold" grpId="1" nodeType="withEffect">
                                  <p:stCondLst>
                                    <p:cond delay="0"/>
                                  </p:stCondLst>
                                  <p:childTnLst>
                                    <p:set>
                                      <p:cBhvr>
                                        <p:cTn id="174" dur="1" fill="hold">
                                          <p:stCondLst>
                                            <p:cond delay="0"/>
                                          </p:stCondLst>
                                        </p:cTn>
                                        <p:tgtEl>
                                          <p:spTgt spid="6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p:bldP spid="43" grpId="0"/>
      <p:bldP spid="44" grpId="0"/>
      <p:bldP spid="45" grpId="0"/>
      <p:bldP spid="46" grpId="0"/>
      <p:bldP spid="47" grpId="0"/>
      <p:bldP spid="48" grpId="0"/>
      <p:bldP spid="49" grpId="0"/>
      <p:bldP spid="50" grpId="0"/>
      <p:bldP spid="51" grpId="0"/>
      <p:bldP spid="52" grpId="0"/>
      <p:bldP spid="53" grpId="0"/>
      <p:bldP spid="54" grpId="0"/>
      <p:bldP spid="55" grpId="0"/>
      <p:bldP spid="56" grpId="0"/>
      <p:bldP spid="5" grpId="0" animBg="1"/>
      <p:bldP spid="5" grpId="1" animBg="1"/>
      <p:bldP spid="8" grpId="0"/>
      <p:bldP spid="57" grpId="0" animBg="1"/>
      <p:bldP spid="57" grpId="1" animBg="1"/>
      <p:bldP spid="58" grpId="0"/>
      <p:bldP spid="59" grpId="0" animBg="1"/>
      <p:bldP spid="59" grpId="1" animBg="1"/>
      <p:bldP spid="60" grpId="0"/>
      <p:bldP spid="61" grpId="0" animBg="1"/>
      <p:bldP spid="61" grpId="1" animBg="1"/>
      <p:bldP spid="62" grpId="0"/>
      <p:bldP spid="63" grpId="0" animBg="1"/>
      <p:bldP spid="63" grpId="1" animBg="1"/>
      <p:bldP spid="64" grpId="0"/>
      <p:bldP spid="65" grpId="0" animBg="1"/>
      <p:bldP spid="65" grpId="1" animBg="1"/>
      <p:bldP spid="66" grpId="0"/>
      <p:bldP spid="67" grpId="0" animBg="1"/>
      <p:bldP spid="67" grpId="1" animBg="1"/>
      <p:bldP spid="68"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D0D21-09E6-E2F3-C1F2-347F243BF7CF}"/>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F4CDC82A-E07F-AE64-D1DC-DF0F62DD351D}"/>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2 ⇝ Example 3</a:t>
            </a:r>
            <a:endParaRPr lang="en-US" dirty="0"/>
          </a:p>
        </p:txBody>
      </p:sp>
      <p:sp>
        <p:nvSpPr>
          <p:cNvPr id="35" name="Content Placeholder 2">
            <a:extLst>
              <a:ext uri="{FF2B5EF4-FFF2-40B4-BE49-F238E27FC236}">
                <a16:creationId xmlns:a16="http://schemas.microsoft.com/office/drawing/2014/main" id="{7F6ED91B-D1A9-B9D3-F657-018E45C5FE30}"/>
              </a:ext>
            </a:extLst>
          </p:cNvPr>
          <p:cNvSpPr txBox="1">
            <a:spLocks/>
          </p:cNvSpPr>
          <p:nvPr/>
        </p:nvSpPr>
        <p:spPr>
          <a:xfrm>
            <a:off x="159311" y="827425"/>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mc:AlternateContent xmlns:mc="http://schemas.openxmlformats.org/markup-compatibility/2006" xmlns:a14="http://schemas.microsoft.com/office/drawing/2010/main">
        <mc:Choice Requires="a14">
          <p:sp>
            <p:nvSpPr>
              <p:cNvPr id="104" name="Content Placeholder 54">
                <a:extLst>
                  <a:ext uri="{FF2B5EF4-FFF2-40B4-BE49-F238E27FC236}">
                    <a16:creationId xmlns:a16="http://schemas.microsoft.com/office/drawing/2014/main" id="{59463CCC-1A29-9F9B-77DD-0C1956C05C0D}"/>
                  </a:ext>
                </a:extLst>
              </p:cNvPr>
              <p:cNvSpPr txBox="1">
                <a:spLocks/>
              </p:cNvSpPr>
              <p:nvPr/>
            </p:nvSpPr>
            <p:spPr>
              <a:xfrm>
                <a:off x="149580" y="2869743"/>
                <a:ext cx="6355555" cy="73538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5113" lvl="1" indent="-265113">
                  <a:lnSpc>
                    <a:spcPct val="150000"/>
                  </a:lnSpc>
                  <a:spcBef>
                    <a:spcPts val="1000"/>
                  </a:spcBef>
                  <a:buClr>
                    <a:srgbClr val="B84742"/>
                  </a:buClr>
                  <a:buFont typeface="Wingdings 3" panose="05040102010807070707" pitchFamily="18" charset="2"/>
                  <a:buChar char=""/>
                </a:pPr>
                <a:r>
                  <a:rPr lang="en-US" dirty="0"/>
                  <a:t>Radius</a:t>
                </a:r>
                <a14:m>
                  <m:oMath xmlns:m="http://schemas.openxmlformats.org/officeDocument/2006/math">
                    <m:d>
                      <m:dPr>
                        <m:ctrlPr>
                          <a:rPr lang="en-US" i="1" dirty="0">
                            <a:latin typeface="Cambria Math" panose="02040503050406030204" pitchFamily="18" charset="0"/>
                          </a:rPr>
                        </m:ctrlPr>
                      </m:dPr>
                      <m:e>
                        <m:r>
                          <m:rPr>
                            <m:sty m:val="p"/>
                          </m:rPr>
                          <a:rPr lang="en-US" dirty="0">
                            <a:latin typeface="Cambria Math" panose="02040503050406030204" pitchFamily="18" charset="0"/>
                          </a:rPr>
                          <m:t>r</m:t>
                        </m:r>
                      </m:e>
                    </m:d>
                  </m:oMath>
                </a14:m>
                <a:r>
                  <a:rPr lang="en-US" dirty="0"/>
                  <a:t> of tree is eccentricity of center. </a:t>
                </a:r>
                <a:endParaRPr lang="en-US" b="1" dirty="0">
                  <a:solidFill>
                    <a:srgbClr val="FF0000"/>
                  </a:solidFill>
                </a:endParaRPr>
              </a:p>
            </p:txBody>
          </p:sp>
        </mc:Choice>
        <mc:Fallback xmlns="">
          <p:sp>
            <p:nvSpPr>
              <p:cNvPr id="104" name="Content Placeholder 54">
                <a:extLst>
                  <a:ext uri="{FF2B5EF4-FFF2-40B4-BE49-F238E27FC236}">
                    <a16:creationId xmlns="" xmlns:a16="http://schemas.microsoft.com/office/drawing/2014/main" xmlns:a14="http://schemas.microsoft.com/office/drawing/2010/main" id="{59463CCC-1A29-9F9B-77DD-0C1956C05C0D}"/>
                  </a:ext>
                </a:extLst>
              </p:cNvPr>
              <p:cNvSpPr txBox="1">
                <a:spLocks noRot="1" noChangeAspect="1" noMove="1" noResize="1" noEditPoints="1" noAdjustHandles="1" noChangeArrowheads="1" noChangeShapeType="1" noTextEdit="1"/>
              </p:cNvSpPr>
              <p:nvPr/>
            </p:nvSpPr>
            <p:spPr>
              <a:xfrm>
                <a:off x="149580" y="2869743"/>
                <a:ext cx="6355555" cy="735381"/>
              </a:xfrm>
              <a:prstGeom prst="rect">
                <a:avLst/>
              </a:prstGeom>
              <a:blipFill rotWithShape="0">
                <a:blip r:embed="rId2"/>
                <a:stretch>
                  <a:fillRect l="-1823" r="-1056" b="-141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5" name="Content Placeholder 54">
                <a:extLst>
                  <a:ext uri="{FF2B5EF4-FFF2-40B4-BE49-F238E27FC236}">
                    <a16:creationId xmlns:a16="http://schemas.microsoft.com/office/drawing/2014/main" id="{88E5F364-E743-2300-BB06-39D4B5B7F035}"/>
                  </a:ext>
                </a:extLst>
              </p:cNvPr>
              <p:cNvSpPr txBox="1">
                <a:spLocks/>
              </p:cNvSpPr>
              <p:nvPr/>
            </p:nvSpPr>
            <p:spPr>
              <a:xfrm>
                <a:off x="149580" y="3660980"/>
                <a:ext cx="7270758" cy="629287"/>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5113" lvl="1" indent="-265113">
                  <a:lnSpc>
                    <a:spcPct val="150000"/>
                  </a:lnSpc>
                  <a:spcBef>
                    <a:spcPts val="1000"/>
                  </a:spcBef>
                  <a:buClr>
                    <a:srgbClr val="B84742"/>
                  </a:buClr>
                  <a:buFont typeface="Wingdings 3" panose="05040102010807070707" pitchFamily="18" charset="2"/>
                  <a:buChar char=""/>
                </a:pPr>
                <a:r>
                  <a:rPr lang="en-US" dirty="0"/>
                  <a:t>Diameter</a:t>
                </a:r>
                <a14:m>
                  <m:oMath xmlns:m="http://schemas.openxmlformats.org/officeDocument/2006/math">
                    <m:d>
                      <m:dPr>
                        <m:ctrlPr>
                          <a:rPr lang="en-US" i="1" dirty="0">
                            <a:latin typeface="Cambria Math" panose="02040503050406030204" pitchFamily="18" charset="0"/>
                          </a:rPr>
                        </m:ctrlPr>
                      </m:dPr>
                      <m:e>
                        <m:r>
                          <m:rPr>
                            <m:sty m:val="p"/>
                          </m:rPr>
                          <a:rPr lang="en-US" dirty="0">
                            <a:latin typeface="Cambria Math" panose="02040503050406030204" pitchFamily="18" charset="0"/>
                          </a:rPr>
                          <m:t>D</m:t>
                        </m:r>
                      </m:e>
                    </m:d>
                  </m:oMath>
                </a14:m>
                <a:r>
                  <a:rPr lang="en-US" dirty="0"/>
                  <a:t> of tree is maximum of eccentricity.</a:t>
                </a:r>
                <a:endParaRPr lang="en-US" b="1" dirty="0"/>
              </a:p>
            </p:txBody>
          </p:sp>
        </mc:Choice>
        <mc:Fallback xmlns="">
          <p:sp>
            <p:nvSpPr>
              <p:cNvPr id="105" name="Content Placeholder 54">
                <a:extLst>
                  <a:ext uri="{FF2B5EF4-FFF2-40B4-BE49-F238E27FC236}">
                    <a16:creationId xmlns="" xmlns:a16="http://schemas.microsoft.com/office/drawing/2014/main" xmlns:a14="http://schemas.microsoft.com/office/drawing/2010/main" id="{88E5F364-E743-2300-BB06-39D4B5B7F035}"/>
                  </a:ext>
                </a:extLst>
              </p:cNvPr>
              <p:cNvSpPr txBox="1">
                <a:spLocks noRot="1" noChangeAspect="1" noMove="1" noResize="1" noEditPoints="1" noAdjustHandles="1" noChangeArrowheads="1" noChangeShapeType="1" noTextEdit="1"/>
              </p:cNvSpPr>
              <p:nvPr/>
            </p:nvSpPr>
            <p:spPr>
              <a:xfrm>
                <a:off x="149580" y="3660980"/>
                <a:ext cx="7270758" cy="629287"/>
              </a:xfrm>
              <a:prstGeom prst="rect">
                <a:avLst/>
              </a:prstGeom>
              <a:blipFill rotWithShape="0">
                <a:blip r:embed="rId3"/>
                <a:stretch>
                  <a:fillRect l="-1594" r="-671" b="-33010"/>
                </a:stretch>
              </a:blipFill>
            </p:spPr>
            <p:txBody>
              <a:bodyPr/>
              <a:lstStyle/>
              <a:p>
                <a:r>
                  <a:rPr lang="en-US">
                    <a:noFill/>
                  </a:rPr>
                  <a:t> </a:t>
                </a:r>
              </a:p>
            </p:txBody>
          </p:sp>
        </mc:Fallback>
      </mc:AlternateContent>
      <p:sp>
        <p:nvSpPr>
          <p:cNvPr id="106" name="Content Placeholder 54">
            <a:extLst>
              <a:ext uri="{FF2B5EF4-FFF2-40B4-BE49-F238E27FC236}">
                <a16:creationId xmlns:a16="http://schemas.microsoft.com/office/drawing/2014/main" id="{ECABC07D-AF38-7E47-D9AD-71178DDB595F}"/>
              </a:ext>
            </a:extLst>
          </p:cNvPr>
          <p:cNvSpPr txBox="1">
            <a:spLocks/>
          </p:cNvSpPr>
          <p:nvPr/>
        </p:nvSpPr>
        <p:spPr>
          <a:xfrm>
            <a:off x="7594371" y="2134363"/>
            <a:ext cx="4103249" cy="735380"/>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50000"/>
              </a:lnSpc>
              <a:spcBef>
                <a:spcPts val="1000"/>
              </a:spcBef>
              <a:buClr>
                <a:srgbClr val="B84742"/>
              </a:buClr>
              <a:buNone/>
            </a:pPr>
            <a:r>
              <a:rPr lang="en-US" dirty="0"/>
              <a:t>So, </a:t>
            </a:r>
            <a:r>
              <a:rPr lang="en-US" b="1" dirty="0">
                <a:solidFill>
                  <a:srgbClr val="FF0000"/>
                </a:solidFill>
              </a:rPr>
              <a:t>c</a:t>
            </a:r>
            <a:r>
              <a:rPr lang="en-US" dirty="0"/>
              <a:t> and </a:t>
            </a:r>
            <a:r>
              <a:rPr lang="en-US" b="1" dirty="0">
                <a:solidFill>
                  <a:srgbClr val="FF0000"/>
                </a:solidFill>
              </a:rPr>
              <a:t>e</a:t>
            </a:r>
            <a:r>
              <a:rPr lang="en-US" dirty="0"/>
              <a:t> are center</a:t>
            </a:r>
            <a:r>
              <a:rPr lang="en-US" b="1" dirty="0"/>
              <a:t>.</a:t>
            </a:r>
          </a:p>
        </p:txBody>
      </p:sp>
      <mc:AlternateContent xmlns:mc="http://schemas.openxmlformats.org/markup-compatibility/2006" xmlns:a14="http://schemas.microsoft.com/office/drawing/2010/main">
        <mc:Choice Requires="a14">
          <p:sp>
            <p:nvSpPr>
              <p:cNvPr id="107" name="Content Placeholder 54">
                <a:extLst>
                  <a:ext uri="{FF2B5EF4-FFF2-40B4-BE49-F238E27FC236}">
                    <a16:creationId xmlns:a16="http://schemas.microsoft.com/office/drawing/2014/main" id="{B6932145-DD12-C1F4-DF98-C8C302C4CB34}"/>
                  </a:ext>
                </a:extLst>
              </p:cNvPr>
              <p:cNvSpPr txBox="1">
                <a:spLocks/>
              </p:cNvSpPr>
              <p:nvPr/>
            </p:nvSpPr>
            <p:spPr>
              <a:xfrm>
                <a:off x="6333686" y="2869742"/>
                <a:ext cx="4318905" cy="73538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50000"/>
                  </a:lnSpc>
                  <a:spcBef>
                    <a:spcPts val="1000"/>
                  </a:spcBef>
                  <a:buClr>
                    <a:srgbClr val="B84742"/>
                  </a:buClr>
                  <a:buNone/>
                </a:pPr>
                <a:r>
                  <a:rPr lang="en-US" dirty="0"/>
                  <a:t>So, </a:t>
                </a:r>
                <a14:m>
                  <m:oMath xmlns:m="http://schemas.openxmlformats.org/officeDocument/2006/math">
                    <m:r>
                      <a:rPr lang="en-IN" b="1" i="0" smtClean="0">
                        <a:solidFill>
                          <a:srgbClr val="FF0000"/>
                        </a:solidFill>
                        <a:latin typeface="Cambria Math" panose="02040503050406030204" pitchFamily="18" charset="0"/>
                      </a:rPr>
                      <m:t>𝐞</m:t>
                    </m:r>
                    <m:d>
                      <m:dPr>
                        <m:ctrlPr>
                          <a:rPr lang="en-IN" b="1" i="1" smtClean="0">
                            <a:solidFill>
                              <a:srgbClr val="FF0000"/>
                            </a:solidFill>
                            <a:latin typeface="Cambria Math" panose="02040503050406030204" pitchFamily="18" charset="0"/>
                          </a:rPr>
                        </m:ctrlPr>
                      </m:dPr>
                      <m:e>
                        <m:r>
                          <a:rPr lang="en-US" b="1" i="0" smtClean="0">
                            <a:solidFill>
                              <a:srgbClr val="FF0000"/>
                            </a:solidFill>
                            <a:latin typeface="Cambria Math" panose="02040503050406030204" pitchFamily="18" charset="0"/>
                          </a:rPr>
                          <m:t>𝐜</m:t>
                        </m:r>
                      </m:e>
                    </m:d>
                    <m:r>
                      <a:rPr lang="en-US" b="1" i="1" smtClean="0">
                        <a:solidFill>
                          <a:srgbClr val="FF0000"/>
                        </a:solidFill>
                        <a:latin typeface="Cambria Math" panose="02040503050406030204" pitchFamily="18" charset="0"/>
                      </a:rPr>
                      <m:t>=</m:t>
                    </m:r>
                    <m:r>
                      <a:rPr lang="en-US" b="1" i="0" smtClean="0">
                        <a:solidFill>
                          <a:srgbClr val="FF0000"/>
                        </a:solidFill>
                        <a:latin typeface="Cambria Math" panose="02040503050406030204" pitchFamily="18" charset="0"/>
                      </a:rPr>
                      <m:t>𝐞</m:t>
                    </m:r>
                    <m:d>
                      <m:dPr>
                        <m:ctrlPr>
                          <a:rPr lang="en-US" b="1" i="1" smtClean="0">
                            <a:solidFill>
                              <a:srgbClr val="FF0000"/>
                            </a:solidFill>
                            <a:latin typeface="Cambria Math" panose="02040503050406030204" pitchFamily="18" charset="0"/>
                          </a:rPr>
                        </m:ctrlPr>
                      </m:dPr>
                      <m:e>
                        <m:r>
                          <a:rPr lang="en-US" b="1" i="0" smtClean="0">
                            <a:solidFill>
                              <a:srgbClr val="FF0000"/>
                            </a:solidFill>
                            <a:latin typeface="Cambria Math" panose="02040503050406030204" pitchFamily="18" charset="0"/>
                          </a:rPr>
                          <m:t>𝐞</m:t>
                        </m:r>
                      </m:e>
                    </m:d>
                    <m:r>
                      <a:rPr lang="en-IN" b="1" i="0"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𝐫</m:t>
                    </m:r>
                    <m:r>
                      <a:rPr lang="en-US" b="1">
                        <a:solidFill>
                          <a:srgbClr val="FF0000"/>
                        </a:solidFill>
                        <a:latin typeface="Cambria Math" panose="02040503050406030204" pitchFamily="18" charset="0"/>
                      </a:rPr>
                      <m:t>=</m:t>
                    </m:r>
                    <m:r>
                      <a:rPr lang="en-US" b="1" i="0" smtClean="0">
                        <a:solidFill>
                          <a:srgbClr val="FF0000"/>
                        </a:solidFill>
                        <a:latin typeface="Cambria Math" panose="02040503050406030204" pitchFamily="18" charset="0"/>
                      </a:rPr>
                      <m:t>𝟑</m:t>
                    </m:r>
                  </m:oMath>
                </a14:m>
                <a:r>
                  <a:rPr lang="en-US" b="1" dirty="0">
                    <a:solidFill>
                      <a:srgbClr val="FF0000"/>
                    </a:solidFill>
                  </a:rPr>
                  <a:t>.</a:t>
                </a:r>
              </a:p>
            </p:txBody>
          </p:sp>
        </mc:Choice>
        <mc:Fallback xmlns="">
          <p:sp>
            <p:nvSpPr>
              <p:cNvPr id="107" name="Content Placeholder 54">
                <a:extLst>
                  <a:ext uri="{FF2B5EF4-FFF2-40B4-BE49-F238E27FC236}">
                    <a16:creationId xmlns="" xmlns:a16="http://schemas.microsoft.com/office/drawing/2014/main" xmlns:a14="http://schemas.microsoft.com/office/drawing/2010/main" id="{B6932145-DD12-C1F4-DF98-C8C302C4CB34}"/>
                  </a:ext>
                </a:extLst>
              </p:cNvPr>
              <p:cNvSpPr txBox="1">
                <a:spLocks noRot="1" noChangeAspect="1" noMove="1" noResize="1" noEditPoints="1" noAdjustHandles="1" noChangeArrowheads="1" noChangeShapeType="1" noTextEdit="1"/>
              </p:cNvSpPr>
              <p:nvPr/>
            </p:nvSpPr>
            <p:spPr>
              <a:xfrm>
                <a:off x="6333686" y="2869742"/>
                <a:ext cx="4318905" cy="735381"/>
              </a:xfrm>
              <a:prstGeom prst="rect">
                <a:avLst/>
              </a:prstGeom>
              <a:blipFill rotWithShape="0">
                <a:blip r:embed="rId4"/>
                <a:stretch>
                  <a:fillRect l="-2966" b="-141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8" name="Content Placeholder 54">
                <a:extLst>
                  <a:ext uri="{FF2B5EF4-FFF2-40B4-BE49-F238E27FC236}">
                    <a16:creationId xmlns:a16="http://schemas.microsoft.com/office/drawing/2014/main" id="{9EB8A9D1-FA78-30C5-6CAC-781C038E15CE}"/>
                  </a:ext>
                </a:extLst>
              </p:cNvPr>
              <p:cNvSpPr txBox="1">
                <a:spLocks/>
              </p:cNvSpPr>
              <p:nvPr/>
            </p:nvSpPr>
            <p:spPr>
              <a:xfrm>
                <a:off x="7221893" y="3660979"/>
                <a:ext cx="4098355" cy="735381"/>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50000"/>
                  </a:lnSpc>
                  <a:spcBef>
                    <a:spcPts val="1000"/>
                  </a:spcBef>
                  <a:buClr>
                    <a:srgbClr val="B84742"/>
                  </a:buClr>
                  <a:buNone/>
                </a:pPr>
                <a:r>
                  <a:rPr lang="en-US" dirty="0"/>
                  <a:t>So, </a:t>
                </a:r>
                <a14:m>
                  <m:oMath xmlns:m="http://schemas.openxmlformats.org/officeDocument/2006/math">
                    <m:r>
                      <a:rPr lang="en-IN" b="1" i="0" smtClean="0">
                        <a:solidFill>
                          <a:srgbClr val="FF0000"/>
                        </a:solidFill>
                        <a:latin typeface="Cambria Math" panose="02040503050406030204" pitchFamily="18" charset="0"/>
                      </a:rPr>
                      <m:t>𝐞</m:t>
                    </m:r>
                    <m:d>
                      <m:dPr>
                        <m:ctrlPr>
                          <a:rPr lang="en-IN" b="1" i="1" smtClean="0">
                            <a:solidFill>
                              <a:srgbClr val="FF0000"/>
                            </a:solidFill>
                            <a:latin typeface="Cambria Math" panose="02040503050406030204" pitchFamily="18" charset="0"/>
                          </a:rPr>
                        </m:ctrlPr>
                      </m:dPr>
                      <m:e>
                        <m:r>
                          <a:rPr lang="en-US" b="1" i="0" smtClean="0">
                            <a:solidFill>
                              <a:srgbClr val="FF0000"/>
                            </a:solidFill>
                            <a:latin typeface="Cambria Math" panose="02040503050406030204" pitchFamily="18" charset="0"/>
                          </a:rPr>
                          <m:t>𝐚</m:t>
                        </m:r>
                      </m:e>
                    </m:d>
                    <m:r>
                      <a:rPr lang="en-US" b="1" i="1" smtClean="0">
                        <a:solidFill>
                          <a:srgbClr val="FF0000"/>
                        </a:solidFill>
                        <a:latin typeface="Cambria Math" panose="02040503050406030204" pitchFamily="18" charset="0"/>
                      </a:rPr>
                      <m:t>=</m:t>
                    </m:r>
                    <m:r>
                      <a:rPr lang="en-US" b="1" i="0" smtClean="0">
                        <a:solidFill>
                          <a:srgbClr val="FF0000"/>
                        </a:solidFill>
                        <a:latin typeface="Cambria Math" panose="02040503050406030204" pitchFamily="18" charset="0"/>
                      </a:rPr>
                      <m:t>𝐞</m:t>
                    </m:r>
                    <m:d>
                      <m:dPr>
                        <m:ctrlPr>
                          <a:rPr lang="en-US" b="1" i="1" smtClean="0">
                            <a:solidFill>
                              <a:srgbClr val="FF0000"/>
                            </a:solidFill>
                            <a:latin typeface="Cambria Math" panose="02040503050406030204" pitchFamily="18" charset="0"/>
                          </a:rPr>
                        </m:ctrlPr>
                      </m:dPr>
                      <m:e>
                        <m:r>
                          <a:rPr lang="en-US" b="1" i="0" smtClean="0">
                            <a:solidFill>
                              <a:srgbClr val="FF0000"/>
                            </a:solidFill>
                            <a:latin typeface="Cambria Math" panose="02040503050406030204" pitchFamily="18" charset="0"/>
                          </a:rPr>
                          <m:t>𝐠</m:t>
                        </m:r>
                      </m:e>
                    </m:d>
                    <m:r>
                      <a:rPr lang="en-IN" b="1" i="0" smtClean="0">
                        <a:solidFill>
                          <a:srgbClr val="FF0000"/>
                        </a:solidFill>
                        <a:latin typeface="Cambria Math" panose="02040503050406030204" pitchFamily="18" charset="0"/>
                      </a:rPr>
                      <m:t>=</m:t>
                    </m:r>
                    <m:r>
                      <a:rPr lang="en-IN" b="1" i="0" smtClean="0">
                        <a:solidFill>
                          <a:srgbClr val="FF0000"/>
                        </a:solidFill>
                        <a:latin typeface="Cambria Math" panose="02040503050406030204" pitchFamily="18" charset="0"/>
                      </a:rPr>
                      <m:t>𝐃</m:t>
                    </m:r>
                    <m:r>
                      <a:rPr lang="en-US" b="1">
                        <a:solidFill>
                          <a:srgbClr val="FF0000"/>
                        </a:solidFill>
                        <a:latin typeface="Cambria Math" panose="02040503050406030204" pitchFamily="18" charset="0"/>
                      </a:rPr>
                      <m:t>=</m:t>
                    </m:r>
                    <m:r>
                      <a:rPr lang="en-US" b="1" i="0" smtClean="0">
                        <a:solidFill>
                          <a:srgbClr val="FF0000"/>
                        </a:solidFill>
                        <a:latin typeface="Cambria Math" panose="02040503050406030204" pitchFamily="18" charset="0"/>
                      </a:rPr>
                      <m:t>𝟓</m:t>
                    </m:r>
                  </m:oMath>
                </a14:m>
                <a:r>
                  <a:rPr lang="en-US" b="1" dirty="0">
                    <a:solidFill>
                      <a:srgbClr val="FF0000"/>
                    </a:solidFill>
                  </a:rPr>
                  <a:t>.</a:t>
                </a:r>
              </a:p>
            </p:txBody>
          </p:sp>
        </mc:Choice>
        <mc:Fallback xmlns="">
          <p:sp>
            <p:nvSpPr>
              <p:cNvPr id="108" name="Content Placeholder 54">
                <a:extLst>
                  <a:ext uri="{FF2B5EF4-FFF2-40B4-BE49-F238E27FC236}">
                    <a16:creationId xmlns="" xmlns:a16="http://schemas.microsoft.com/office/drawing/2014/main" xmlns:a14="http://schemas.microsoft.com/office/drawing/2010/main" id="{9EB8A9D1-FA78-30C5-6CAC-781C038E15CE}"/>
                  </a:ext>
                </a:extLst>
              </p:cNvPr>
              <p:cNvSpPr txBox="1">
                <a:spLocks noRot="1" noChangeAspect="1" noMove="1" noResize="1" noEditPoints="1" noAdjustHandles="1" noChangeArrowheads="1" noChangeShapeType="1" noTextEdit="1"/>
              </p:cNvSpPr>
              <p:nvPr/>
            </p:nvSpPr>
            <p:spPr>
              <a:xfrm>
                <a:off x="7221893" y="3660979"/>
                <a:ext cx="4098355" cy="735381"/>
              </a:xfrm>
              <a:prstGeom prst="rect">
                <a:avLst/>
              </a:prstGeom>
              <a:blipFill rotWithShape="0">
                <a:blip r:embed="rId5"/>
                <a:stretch>
                  <a:fillRect l="-3125" r="-1042" b="-141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709B848F-3B7F-960C-258A-5B663509F7FE}"/>
                  </a:ext>
                </a:extLst>
              </p:cNvPr>
              <p:cNvGraphicFramePr>
                <a:graphicFrameLocks noGrp="1"/>
              </p:cNvGraphicFramePr>
              <p:nvPr>
                <p:extLst>
                  <p:ext uri="{D42A27DB-BD31-4B8C-83A1-F6EECF244321}">
                    <p14:modId xmlns:p14="http://schemas.microsoft.com/office/powerpoint/2010/main" val="3662443263"/>
                  </p:ext>
                </p:extLst>
              </p:nvPr>
            </p:nvGraphicFramePr>
            <p:xfrm>
              <a:off x="201515" y="1456400"/>
              <a:ext cx="9539999" cy="565714"/>
            </p:xfrm>
            <a:graphic>
              <a:graphicData uri="http://schemas.openxmlformats.org/drawingml/2006/table">
                <a:tbl>
                  <a:tblPr firstRow="1" bandRow="1">
                    <a:tableStyleId>{5C22544A-7EE6-4342-B048-85BDC9FD1C3A}</a:tableStyleId>
                  </a:tblPr>
                  <a:tblGrid>
                    <a:gridCol w="1362857">
                      <a:extLst>
                        <a:ext uri="{9D8B030D-6E8A-4147-A177-3AD203B41FA5}">
                          <a16:colId xmlns:a16="http://schemas.microsoft.com/office/drawing/2014/main" val="2573274369"/>
                        </a:ext>
                      </a:extLst>
                    </a:gridCol>
                    <a:gridCol w="1362857">
                      <a:extLst>
                        <a:ext uri="{9D8B030D-6E8A-4147-A177-3AD203B41FA5}">
                          <a16:colId xmlns:a16="http://schemas.microsoft.com/office/drawing/2014/main" val="4051045428"/>
                        </a:ext>
                      </a:extLst>
                    </a:gridCol>
                    <a:gridCol w="1362857">
                      <a:extLst>
                        <a:ext uri="{9D8B030D-6E8A-4147-A177-3AD203B41FA5}">
                          <a16:colId xmlns:a16="http://schemas.microsoft.com/office/drawing/2014/main" val="1541333607"/>
                        </a:ext>
                      </a:extLst>
                    </a:gridCol>
                    <a:gridCol w="1362857">
                      <a:extLst>
                        <a:ext uri="{9D8B030D-6E8A-4147-A177-3AD203B41FA5}">
                          <a16:colId xmlns:a16="http://schemas.microsoft.com/office/drawing/2014/main" val="535765769"/>
                        </a:ext>
                      </a:extLst>
                    </a:gridCol>
                    <a:gridCol w="1362857">
                      <a:extLst>
                        <a:ext uri="{9D8B030D-6E8A-4147-A177-3AD203B41FA5}">
                          <a16:colId xmlns:a16="http://schemas.microsoft.com/office/drawing/2014/main" val="3481627474"/>
                        </a:ext>
                      </a:extLst>
                    </a:gridCol>
                    <a:gridCol w="1362857">
                      <a:extLst>
                        <a:ext uri="{9D8B030D-6E8A-4147-A177-3AD203B41FA5}">
                          <a16:colId xmlns:a16="http://schemas.microsoft.com/office/drawing/2014/main" val="676072984"/>
                        </a:ext>
                      </a:extLst>
                    </a:gridCol>
                    <a:gridCol w="1362857">
                      <a:extLst>
                        <a:ext uri="{9D8B030D-6E8A-4147-A177-3AD203B41FA5}">
                          <a16:colId xmlns:a16="http://schemas.microsoft.com/office/drawing/2014/main" val="2065311432"/>
                        </a:ext>
                      </a:extLst>
                    </a:gridCol>
                  </a:tblGrid>
                  <a:tr h="565714">
                    <a:tc>
                      <a:txBody>
                        <a:bodyPr/>
                        <a:lstStyle/>
                        <a:p>
                          <a:pPr algn="l"/>
                          <a14:m>
                            <m:oMathPara xmlns:m="http://schemas.openxmlformats.org/officeDocument/2006/math">
                              <m:oMathParaPr>
                                <m:jc m:val="left"/>
                              </m:oMathParaPr>
                              <m:oMath xmlns:m="http://schemas.openxmlformats.org/officeDocument/2006/math">
                                <m:r>
                                  <a:rPr lang="en-IN" sz="2400" kern="1200" smtClean="0">
                                    <a:solidFill>
                                      <a:srgbClr val="002060"/>
                                    </a:solidFill>
                                    <a:latin typeface="Cambria Math" panose="02040503050406030204" pitchFamily="18" charset="0"/>
                                    <a:ea typeface="+mn-ea"/>
                                    <a:cs typeface="+mn-cs"/>
                                  </a:rPr>
                                  <m:t>𝐞</m:t>
                                </m:r>
                                <m:d>
                                  <m:dPr>
                                    <m:ctrlPr>
                                      <a:rPr lang="en-IN" sz="2400" i="1" kern="1200" smtClean="0">
                                        <a:solidFill>
                                          <a:srgbClr val="002060"/>
                                        </a:solidFill>
                                        <a:latin typeface="Cambria Math" panose="02040503050406030204" pitchFamily="18" charset="0"/>
                                        <a:ea typeface="+mn-ea"/>
                                        <a:cs typeface="+mn-cs"/>
                                      </a:rPr>
                                    </m:ctrlPr>
                                  </m:dPr>
                                  <m:e>
                                    <m:r>
                                      <a:rPr lang="en-IN" sz="2400" kern="1200" smtClean="0">
                                        <a:solidFill>
                                          <a:srgbClr val="002060"/>
                                        </a:solidFill>
                                        <a:latin typeface="Cambria Math" panose="02040503050406030204" pitchFamily="18" charset="0"/>
                                        <a:ea typeface="+mn-ea"/>
                                        <a:cs typeface="+mn-cs"/>
                                      </a:rPr>
                                      <m:t>𝐚</m:t>
                                    </m:r>
                                  </m:e>
                                </m:d>
                                <m:r>
                                  <a:rPr lang="en-IN" sz="2400" b="1" i="0" kern="1200" smtClean="0">
                                    <a:solidFill>
                                      <a:srgbClr val="002060"/>
                                    </a:solidFill>
                                    <a:latin typeface="Cambria Math" panose="02040503050406030204" pitchFamily="18" charset="0"/>
                                    <a:ea typeface="+mn-ea"/>
                                    <a:cs typeface="+mn-cs"/>
                                  </a:rPr>
                                  <m:t>=</m:t>
                                </m:r>
                              </m:oMath>
                            </m:oMathPara>
                          </a14:m>
                          <a:endParaRPr lang="en-IN" sz="2400" kern="1200" dirty="0">
                            <a:solidFill>
                              <a:srgbClr val="002060"/>
                            </a:solidFill>
                            <a:latin typeface="Cambria Math" panose="02040503050406030204" pitchFamily="18" charset="0"/>
                            <a:ea typeface="+mn-ea"/>
                            <a:cs typeface="+mn-cs"/>
                          </a:endParaRPr>
                        </a:p>
                      </a:txBody>
                      <a:tcPr anchor="ctr">
                        <a:solidFill>
                          <a:schemeClr val="accent3">
                            <a:lumMod val="40000"/>
                            <a:lumOff val="60000"/>
                          </a:schemeClr>
                        </a:solidFill>
                      </a:tcPr>
                    </a:tc>
                    <a:tc>
                      <a:txBody>
                        <a:bodyPr/>
                        <a:lstStyle/>
                        <a:p>
                          <a:pPr algn="l"/>
                          <a14:m>
                            <m:oMathPara xmlns:m="http://schemas.openxmlformats.org/officeDocument/2006/math">
                              <m:oMathParaPr>
                                <m:jc m:val="left"/>
                              </m:oMathParaPr>
                              <m:oMath xmlns:m="http://schemas.openxmlformats.org/officeDocument/2006/math">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𝐞</m:t>
                                </m:r>
                                <m:d>
                                  <m:dPr>
                                    <m:ctrlPr>
                                      <a:rPr kumimoji="0" lang="en-IN" sz="2400" b="1" i="1"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ctrlPr>
                                  </m:dPr>
                                  <m:e>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𝐛</m:t>
                                    </m:r>
                                  </m:e>
                                </m:d>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m:t>
                                </m:r>
                              </m:oMath>
                            </m:oMathPara>
                          </a14:m>
                          <a:endParaRPr lang="en-IN" dirty="0"/>
                        </a:p>
                      </a:txBody>
                      <a:tcPr anchor="ctr">
                        <a:solidFill>
                          <a:schemeClr val="accent3">
                            <a:lumMod val="40000"/>
                            <a:lumOff val="60000"/>
                          </a:schemeClr>
                        </a:solidFill>
                      </a:tcPr>
                    </a:tc>
                    <a:tc>
                      <a:txBody>
                        <a:bodyPr/>
                        <a:lstStyle/>
                        <a:p>
                          <a:pPr algn="l"/>
                          <a14:m>
                            <m:oMathPara xmlns:m="http://schemas.openxmlformats.org/officeDocument/2006/math">
                              <m:oMathParaPr>
                                <m:jc m:val="left"/>
                              </m:oMathParaPr>
                              <m:oMath xmlns:m="http://schemas.openxmlformats.org/officeDocument/2006/math">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𝐞</m:t>
                                </m:r>
                                <m:d>
                                  <m:dPr>
                                    <m:ctrlPr>
                                      <a:rPr kumimoji="0" lang="en-IN" sz="2400" b="1" i="1"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ctrlPr>
                                  </m:dPr>
                                  <m:e>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𝐜</m:t>
                                    </m:r>
                                  </m:e>
                                </m:d>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m:t>
                                </m:r>
                              </m:oMath>
                            </m:oMathPara>
                          </a14:m>
                          <a:endParaRPr lang="en-IN" dirty="0"/>
                        </a:p>
                      </a:txBody>
                      <a:tcPr anchor="ctr">
                        <a:solidFill>
                          <a:schemeClr val="accent3">
                            <a:lumMod val="40000"/>
                            <a:lumOff val="60000"/>
                          </a:schemeClr>
                        </a:solidFill>
                      </a:tcPr>
                    </a:tc>
                    <a:tc>
                      <a:txBody>
                        <a:bodyPr/>
                        <a:lstStyle/>
                        <a:p>
                          <a:pPr algn="l"/>
                          <a14:m>
                            <m:oMathPara xmlns:m="http://schemas.openxmlformats.org/officeDocument/2006/math">
                              <m:oMathParaPr>
                                <m:jc m:val="left"/>
                              </m:oMathParaPr>
                              <m:oMath xmlns:m="http://schemas.openxmlformats.org/officeDocument/2006/math">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𝐞</m:t>
                                </m:r>
                                <m:d>
                                  <m:dPr>
                                    <m:ctrlPr>
                                      <a:rPr kumimoji="0" lang="en-IN" sz="2400" b="1" i="1"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ctrlPr>
                                  </m:dPr>
                                  <m:e>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𝐝</m:t>
                                    </m:r>
                                  </m:e>
                                </m:d>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m:t>
                                </m:r>
                              </m:oMath>
                            </m:oMathPara>
                          </a14:m>
                          <a:endParaRPr lang="en-IN" dirty="0"/>
                        </a:p>
                      </a:txBody>
                      <a:tcPr anchor="ctr">
                        <a:solidFill>
                          <a:schemeClr val="accent3">
                            <a:lumMod val="40000"/>
                            <a:lumOff val="60000"/>
                          </a:schemeClr>
                        </a:solidFill>
                      </a:tcPr>
                    </a:tc>
                    <a:tc>
                      <a:txBody>
                        <a:bodyPr/>
                        <a:lstStyle/>
                        <a:p>
                          <a:pPr algn="l"/>
                          <a14:m>
                            <m:oMathPara xmlns:m="http://schemas.openxmlformats.org/officeDocument/2006/math">
                              <m:oMathParaPr>
                                <m:jc m:val="left"/>
                              </m:oMathParaPr>
                              <m:oMath xmlns:m="http://schemas.openxmlformats.org/officeDocument/2006/math">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𝐞</m:t>
                                </m:r>
                                <m:d>
                                  <m:dPr>
                                    <m:ctrlPr>
                                      <a:rPr kumimoji="0" lang="en-IN" sz="2400" b="1" i="1"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ctrlPr>
                                  </m:dPr>
                                  <m:e>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𝐞</m:t>
                                    </m:r>
                                  </m:e>
                                </m:d>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m:t>
                                </m:r>
                              </m:oMath>
                            </m:oMathPara>
                          </a14:m>
                          <a:endParaRPr lang="en-IN" dirty="0"/>
                        </a:p>
                      </a:txBody>
                      <a:tcPr anchor="ctr">
                        <a:solidFill>
                          <a:schemeClr val="accent3">
                            <a:lumMod val="40000"/>
                            <a:lumOff val="60000"/>
                          </a:schemeClr>
                        </a:solidFill>
                      </a:tcPr>
                    </a:tc>
                    <a:tc>
                      <a:txBody>
                        <a:bodyPr/>
                        <a:lstStyle/>
                        <a:p>
                          <a:pPr algn="l"/>
                          <a14:m>
                            <m:oMathPara xmlns:m="http://schemas.openxmlformats.org/officeDocument/2006/math">
                              <m:oMathParaPr>
                                <m:jc m:val="left"/>
                              </m:oMathParaPr>
                              <m:oMath xmlns:m="http://schemas.openxmlformats.org/officeDocument/2006/math">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𝐞</m:t>
                                </m:r>
                                <m:d>
                                  <m:dPr>
                                    <m:ctrlPr>
                                      <a:rPr kumimoji="0" lang="en-IN" sz="2400" b="1" i="1"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ctrlPr>
                                  </m:dPr>
                                  <m:e>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𝐟</m:t>
                                    </m:r>
                                  </m:e>
                                </m:d>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m:t>
                                </m:r>
                              </m:oMath>
                            </m:oMathPara>
                          </a14:m>
                          <a:endParaRPr lang="en-IN" dirty="0"/>
                        </a:p>
                      </a:txBody>
                      <a:tcPr anchor="ctr">
                        <a:solidFill>
                          <a:schemeClr val="accent3">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𝐞</m:t>
                                </m:r>
                                <m:d>
                                  <m:dPr>
                                    <m:ctrlPr>
                                      <a:rPr kumimoji="0" lang="en-IN" sz="2400" b="1" i="1"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ctrlPr>
                                  </m:dPr>
                                  <m:e>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𝐠</m:t>
                                    </m:r>
                                  </m:e>
                                </m:d>
                                <m:r>
                                  <a:rPr kumimoji="0" lang="en-IN" sz="2400" b="1" i="0"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m:t>
                                </m:r>
                              </m:oMath>
                            </m:oMathPara>
                          </a14:m>
                          <a:endParaRPr kumimoji="0" lang="en-IN" sz="2400" b="1" i="0" u="none" strike="noStrike" kern="1200" cap="none" spc="0" normalizeH="0" baseline="0" dirty="0">
                            <a:ln>
                              <a:noFill/>
                            </a:ln>
                            <a:solidFill>
                              <a:srgbClr val="002060"/>
                            </a:solidFill>
                            <a:effectLst/>
                            <a:uLnTx/>
                            <a:uFillTx/>
                            <a:latin typeface="Cambria Math" panose="02040503050406030204" pitchFamily="18" charset="0"/>
                            <a:ea typeface="+mn-ea"/>
                            <a:cs typeface="+mn-cs"/>
                          </a:endParaRPr>
                        </a:p>
                      </a:txBody>
                      <a:tcPr anchor="ctr">
                        <a:solidFill>
                          <a:schemeClr val="accent3">
                            <a:lumMod val="40000"/>
                            <a:lumOff val="60000"/>
                          </a:schemeClr>
                        </a:solidFill>
                      </a:tcPr>
                    </a:tc>
                    <a:extLst>
                      <a:ext uri="{0D108BD9-81ED-4DB2-BD59-A6C34878D82A}">
                        <a16:rowId xmlns:a16="http://schemas.microsoft.com/office/drawing/2014/main" val="4219683138"/>
                      </a:ext>
                    </a:extLst>
                  </a:tr>
                </a:tbl>
              </a:graphicData>
            </a:graphic>
          </p:graphicFrame>
        </mc:Choice>
        <mc:Fallback xmlns="">
          <p:graphicFrame>
            <p:nvGraphicFramePr>
              <p:cNvPr id="14" name="Table 13">
                <a:extLst>
                  <a:ext uri="{FF2B5EF4-FFF2-40B4-BE49-F238E27FC236}">
                    <a16:creationId xmlns="" xmlns:a16="http://schemas.microsoft.com/office/drawing/2014/main" xmlns:a14="http://schemas.microsoft.com/office/drawing/2010/main" id="{709B848F-3B7F-960C-258A-5B663509F7FE}"/>
                  </a:ext>
                </a:extLst>
              </p:cNvPr>
              <p:cNvGraphicFramePr>
                <a:graphicFrameLocks noGrp="1"/>
              </p:cNvGraphicFramePr>
              <p:nvPr>
                <p:extLst>
                  <p:ext uri="{D42A27DB-BD31-4B8C-83A1-F6EECF244321}">
                    <p14:modId xmlns:p14="http://schemas.microsoft.com/office/powerpoint/2010/main" val="3662443263"/>
                  </p:ext>
                </p:extLst>
              </p:nvPr>
            </p:nvGraphicFramePr>
            <p:xfrm>
              <a:off x="201515" y="1456400"/>
              <a:ext cx="9539999" cy="565714"/>
            </p:xfrm>
            <a:graphic>
              <a:graphicData uri="http://schemas.openxmlformats.org/drawingml/2006/table">
                <a:tbl>
                  <a:tblPr firstRow="1" bandRow="1">
                    <a:tableStyleId>{5C22544A-7EE6-4342-B048-85BDC9FD1C3A}</a:tableStyleId>
                  </a:tblPr>
                  <a:tblGrid>
                    <a:gridCol w="1362857">
                      <a:extLst>
                        <a:ext uri="{9D8B030D-6E8A-4147-A177-3AD203B41FA5}">
                          <a16:colId xmlns="" xmlns:a16="http://schemas.microsoft.com/office/drawing/2014/main" xmlns:a14="http://schemas.microsoft.com/office/drawing/2010/main" val="2573274369"/>
                        </a:ext>
                      </a:extLst>
                    </a:gridCol>
                    <a:gridCol w="1362857">
                      <a:extLst>
                        <a:ext uri="{9D8B030D-6E8A-4147-A177-3AD203B41FA5}">
                          <a16:colId xmlns="" xmlns:a16="http://schemas.microsoft.com/office/drawing/2014/main" xmlns:a14="http://schemas.microsoft.com/office/drawing/2010/main" val="4051045428"/>
                        </a:ext>
                      </a:extLst>
                    </a:gridCol>
                    <a:gridCol w="1362857">
                      <a:extLst>
                        <a:ext uri="{9D8B030D-6E8A-4147-A177-3AD203B41FA5}">
                          <a16:colId xmlns="" xmlns:a16="http://schemas.microsoft.com/office/drawing/2014/main" xmlns:a14="http://schemas.microsoft.com/office/drawing/2010/main" val="1541333607"/>
                        </a:ext>
                      </a:extLst>
                    </a:gridCol>
                    <a:gridCol w="1362857">
                      <a:extLst>
                        <a:ext uri="{9D8B030D-6E8A-4147-A177-3AD203B41FA5}">
                          <a16:colId xmlns="" xmlns:a16="http://schemas.microsoft.com/office/drawing/2014/main" xmlns:a14="http://schemas.microsoft.com/office/drawing/2010/main" val="535765769"/>
                        </a:ext>
                      </a:extLst>
                    </a:gridCol>
                    <a:gridCol w="1362857">
                      <a:extLst>
                        <a:ext uri="{9D8B030D-6E8A-4147-A177-3AD203B41FA5}">
                          <a16:colId xmlns="" xmlns:a16="http://schemas.microsoft.com/office/drawing/2014/main" xmlns:a14="http://schemas.microsoft.com/office/drawing/2010/main" val="3481627474"/>
                        </a:ext>
                      </a:extLst>
                    </a:gridCol>
                    <a:gridCol w="1362857">
                      <a:extLst>
                        <a:ext uri="{9D8B030D-6E8A-4147-A177-3AD203B41FA5}">
                          <a16:colId xmlns="" xmlns:a16="http://schemas.microsoft.com/office/drawing/2014/main" xmlns:a14="http://schemas.microsoft.com/office/drawing/2010/main" val="676072984"/>
                        </a:ext>
                      </a:extLst>
                    </a:gridCol>
                    <a:gridCol w="1362857">
                      <a:extLst>
                        <a:ext uri="{9D8B030D-6E8A-4147-A177-3AD203B41FA5}">
                          <a16:colId xmlns="" xmlns:a16="http://schemas.microsoft.com/office/drawing/2014/main" xmlns:a14="http://schemas.microsoft.com/office/drawing/2010/main" val="2065311432"/>
                        </a:ext>
                      </a:extLst>
                    </a:gridCol>
                  </a:tblGrid>
                  <a:tr h="565714">
                    <a:tc>
                      <a:txBody>
                        <a:bodyPr/>
                        <a:lstStyle/>
                        <a:p>
                          <a:endParaRPr lang="en-US"/>
                        </a:p>
                      </a:txBody>
                      <a:tcPr anchor="ctr">
                        <a:blipFill rotWithShape="0">
                          <a:blip r:embed="rId6"/>
                          <a:stretch>
                            <a:fillRect l="-446" t="-1064" r="-600893" b="-4255"/>
                          </a:stretch>
                        </a:blipFill>
                      </a:tcPr>
                    </a:tc>
                    <a:tc>
                      <a:txBody>
                        <a:bodyPr/>
                        <a:lstStyle/>
                        <a:p>
                          <a:endParaRPr lang="en-US"/>
                        </a:p>
                      </a:txBody>
                      <a:tcPr anchor="ctr">
                        <a:blipFill rotWithShape="0">
                          <a:blip r:embed="rId6"/>
                          <a:stretch>
                            <a:fillRect l="-100897" t="-1064" r="-503587" b="-4255"/>
                          </a:stretch>
                        </a:blipFill>
                      </a:tcPr>
                    </a:tc>
                    <a:tc>
                      <a:txBody>
                        <a:bodyPr/>
                        <a:lstStyle/>
                        <a:p>
                          <a:endParaRPr lang="en-US"/>
                        </a:p>
                      </a:txBody>
                      <a:tcPr anchor="ctr">
                        <a:blipFill rotWithShape="0">
                          <a:blip r:embed="rId6"/>
                          <a:stretch>
                            <a:fillRect l="-200000" t="-1064" r="-401339" b="-4255"/>
                          </a:stretch>
                        </a:blipFill>
                      </a:tcPr>
                    </a:tc>
                    <a:tc>
                      <a:txBody>
                        <a:bodyPr/>
                        <a:lstStyle/>
                        <a:p>
                          <a:endParaRPr lang="en-US"/>
                        </a:p>
                      </a:txBody>
                      <a:tcPr anchor="ctr">
                        <a:blipFill rotWithShape="0">
                          <a:blip r:embed="rId6"/>
                          <a:stretch>
                            <a:fillRect l="-300000" t="-1064" r="-301339" b="-4255"/>
                          </a:stretch>
                        </a:blipFill>
                      </a:tcPr>
                    </a:tc>
                    <a:tc>
                      <a:txBody>
                        <a:bodyPr/>
                        <a:lstStyle/>
                        <a:p>
                          <a:endParaRPr lang="en-US"/>
                        </a:p>
                      </a:txBody>
                      <a:tcPr anchor="ctr">
                        <a:blipFill rotWithShape="0">
                          <a:blip r:embed="rId6"/>
                          <a:stretch>
                            <a:fillRect l="-400000" t="-1064" r="-201339" b="-4255"/>
                          </a:stretch>
                        </a:blipFill>
                      </a:tcPr>
                    </a:tc>
                    <a:tc>
                      <a:txBody>
                        <a:bodyPr/>
                        <a:lstStyle/>
                        <a:p>
                          <a:endParaRPr lang="en-US"/>
                        </a:p>
                      </a:txBody>
                      <a:tcPr anchor="ctr">
                        <a:blipFill rotWithShape="0">
                          <a:blip r:embed="rId6"/>
                          <a:stretch>
                            <a:fillRect l="-502242" t="-1064" r="-102242" b="-4255"/>
                          </a:stretch>
                        </a:blipFill>
                      </a:tcPr>
                    </a:tc>
                    <a:tc>
                      <a:txBody>
                        <a:bodyPr/>
                        <a:lstStyle/>
                        <a:p>
                          <a:endParaRPr lang="en-US"/>
                        </a:p>
                      </a:txBody>
                      <a:tcPr anchor="ctr">
                        <a:blipFill rotWithShape="0">
                          <a:blip r:embed="rId6"/>
                          <a:stretch>
                            <a:fillRect l="-599554" t="-1064" r="-1786" b="-4255"/>
                          </a:stretch>
                        </a:blipFill>
                      </a:tcPr>
                    </a:tc>
                    <a:extLst>
                      <a:ext uri="{0D108BD9-81ED-4DB2-BD59-A6C34878D82A}">
                        <a16:rowId xmlns="" xmlns:a16="http://schemas.microsoft.com/office/drawing/2014/main" xmlns:a14="http://schemas.microsoft.com/office/drawing/2010/main" val="4219683138"/>
                      </a:ext>
                    </a:extLst>
                  </a:tr>
                </a:tbl>
              </a:graphicData>
            </a:graphic>
          </p:graphicFrame>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15C5FCF-F20A-1F23-ACE0-83FC48C86681}"/>
                  </a:ext>
                </a:extLst>
              </p:cNvPr>
              <p:cNvSpPr txBox="1"/>
              <p:nvPr/>
            </p:nvSpPr>
            <p:spPr>
              <a:xfrm>
                <a:off x="1150529" y="1507320"/>
                <a:ext cx="361402" cy="46439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5</m:t>
                      </m:r>
                    </m:oMath>
                  </m:oMathPara>
                </a14:m>
                <a:endParaRPr lang="en-IN" sz="2400" dirty="0">
                  <a:solidFill>
                    <a:srgbClr val="002060"/>
                  </a:solidFill>
                  <a:latin typeface="Cambria Math" panose="02040503050406030204" pitchFamily="18" charset="0"/>
                </a:endParaRPr>
              </a:p>
            </p:txBody>
          </p:sp>
        </mc:Choice>
        <mc:Fallback xmlns="">
          <p:sp>
            <p:nvSpPr>
              <p:cNvPr id="15" name="TextBox 14">
                <a:extLst>
                  <a:ext uri="{FF2B5EF4-FFF2-40B4-BE49-F238E27FC236}">
                    <a16:creationId xmlns="" xmlns:a16="http://schemas.microsoft.com/office/drawing/2014/main" xmlns:a14="http://schemas.microsoft.com/office/drawing/2010/main" id="{615C5FCF-F20A-1F23-ACE0-83FC48C86681}"/>
                  </a:ext>
                </a:extLst>
              </p:cNvPr>
              <p:cNvSpPr txBox="1">
                <a:spLocks noRot="1" noChangeAspect="1" noMove="1" noResize="1" noEditPoints="1" noAdjustHandles="1" noChangeArrowheads="1" noChangeShapeType="1" noTextEdit="1"/>
              </p:cNvSpPr>
              <p:nvPr/>
            </p:nvSpPr>
            <p:spPr>
              <a:xfrm>
                <a:off x="1150529" y="1507320"/>
                <a:ext cx="361402" cy="464394"/>
              </a:xfrm>
              <a:prstGeom prst="rect">
                <a:avLst/>
              </a:prstGeom>
              <a:blipFill rotWithShape="0">
                <a:blip r:embed="rId7"/>
                <a:stretch>
                  <a:fillRect l="-6780" r="-33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2508772" y="1510049"/>
                <a:ext cx="264354"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4</m:t>
                      </m:r>
                    </m:oMath>
                  </m:oMathPara>
                </a14:m>
                <a:endParaRPr lang="en-IN" sz="2400" dirty="0">
                  <a:solidFill>
                    <a:srgbClr val="002060"/>
                  </a:solidFill>
                  <a:latin typeface="Cambria Math" panose="02040503050406030204" pitchFamily="18" charset="0"/>
                </a:endParaRPr>
              </a:p>
            </p:txBody>
          </p:sp>
        </mc:Choice>
        <mc:Fallback xmlns="">
          <p:sp>
            <p:nvSpPr>
              <p:cNvPr id="16" name="TextBox 15"/>
              <p:cNvSpPr txBox="1">
                <a:spLocks noRot="1" noChangeAspect="1" noMove="1" noResize="1" noEditPoints="1" noAdjustHandles="1" noChangeArrowheads="1" noChangeShapeType="1" noTextEdit="1"/>
              </p:cNvSpPr>
              <p:nvPr/>
            </p:nvSpPr>
            <p:spPr>
              <a:xfrm>
                <a:off x="2508772" y="1510049"/>
                <a:ext cx="264354" cy="461665"/>
              </a:xfrm>
              <a:prstGeom prst="rect">
                <a:avLst/>
              </a:prstGeom>
              <a:blipFill rotWithShape="0">
                <a:blip r:embed="rId8"/>
                <a:stretch>
                  <a:fillRect l="-6977" r="-395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3830157" y="1507320"/>
                <a:ext cx="265562"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3</m:t>
                      </m:r>
                    </m:oMath>
                  </m:oMathPara>
                </a14:m>
                <a:endParaRPr lang="en-IN" sz="2400" dirty="0">
                  <a:solidFill>
                    <a:srgbClr val="002060"/>
                  </a:solidFill>
                  <a:latin typeface="Cambria Math" panose="02040503050406030204" pitchFamily="18" charset="0"/>
                </a:endParaRPr>
              </a:p>
            </p:txBody>
          </p:sp>
        </mc:Choice>
        <mc:Fallback xmlns="">
          <p:sp>
            <p:nvSpPr>
              <p:cNvPr id="17" name="TextBox 16"/>
              <p:cNvSpPr txBox="1">
                <a:spLocks noRot="1" noChangeAspect="1" noMove="1" noResize="1" noEditPoints="1" noAdjustHandles="1" noChangeArrowheads="1" noChangeShapeType="1" noTextEdit="1"/>
              </p:cNvSpPr>
              <p:nvPr/>
            </p:nvSpPr>
            <p:spPr>
              <a:xfrm>
                <a:off x="3830157" y="1507320"/>
                <a:ext cx="265562" cy="461665"/>
              </a:xfrm>
              <a:prstGeom prst="rect">
                <a:avLst/>
              </a:prstGeom>
              <a:blipFill rotWithShape="0">
                <a:blip r:embed="rId9"/>
                <a:stretch>
                  <a:fillRect l="-4545" r="-38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5239834" y="1507319"/>
                <a:ext cx="264354"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4</m:t>
                      </m:r>
                    </m:oMath>
                  </m:oMathPara>
                </a14:m>
                <a:endParaRPr lang="en-IN" sz="2400" dirty="0">
                  <a:solidFill>
                    <a:srgbClr val="002060"/>
                  </a:solidFill>
                  <a:latin typeface="Cambria Math" panose="02040503050406030204" pitchFamily="18" charset="0"/>
                </a:endParaRPr>
              </a:p>
            </p:txBody>
          </p:sp>
        </mc:Choice>
        <mc:Fallback xmlns="">
          <p:sp>
            <p:nvSpPr>
              <p:cNvPr id="18" name="TextBox 17"/>
              <p:cNvSpPr txBox="1">
                <a:spLocks noRot="1" noChangeAspect="1" noMove="1" noResize="1" noEditPoints="1" noAdjustHandles="1" noChangeArrowheads="1" noChangeShapeType="1" noTextEdit="1"/>
              </p:cNvSpPr>
              <p:nvPr/>
            </p:nvSpPr>
            <p:spPr>
              <a:xfrm>
                <a:off x="5239834" y="1507319"/>
                <a:ext cx="264354" cy="461665"/>
              </a:xfrm>
              <a:prstGeom prst="rect">
                <a:avLst/>
              </a:prstGeom>
              <a:blipFill rotWithShape="0">
                <a:blip r:embed="rId10"/>
                <a:stretch>
                  <a:fillRect l="-6977" r="-395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6575624" y="1507319"/>
                <a:ext cx="265562"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3</m:t>
                      </m:r>
                    </m:oMath>
                  </m:oMathPara>
                </a14:m>
                <a:endParaRPr lang="en-IN" sz="2400" dirty="0">
                  <a:solidFill>
                    <a:srgbClr val="002060"/>
                  </a:solidFill>
                  <a:latin typeface="Cambria Math" panose="02040503050406030204" pitchFamily="18" charset="0"/>
                </a:endParaRPr>
              </a:p>
            </p:txBody>
          </p:sp>
        </mc:Choice>
        <mc:Fallback xmlns="">
          <p:sp>
            <p:nvSpPr>
              <p:cNvPr id="20" name="TextBox 19"/>
              <p:cNvSpPr txBox="1">
                <a:spLocks noRot="1" noChangeAspect="1" noMove="1" noResize="1" noEditPoints="1" noAdjustHandles="1" noChangeArrowheads="1" noChangeShapeType="1" noTextEdit="1"/>
              </p:cNvSpPr>
              <p:nvPr/>
            </p:nvSpPr>
            <p:spPr>
              <a:xfrm>
                <a:off x="6575624" y="1507319"/>
                <a:ext cx="265562" cy="461665"/>
              </a:xfrm>
              <a:prstGeom prst="rect">
                <a:avLst/>
              </a:prstGeom>
              <a:blipFill rotWithShape="0">
                <a:blip r:embed="rId11"/>
                <a:stretch>
                  <a:fillRect l="-6977" r="-395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7915264" y="1507319"/>
                <a:ext cx="264354" cy="46166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4</m:t>
                      </m:r>
                    </m:oMath>
                  </m:oMathPara>
                </a14:m>
                <a:endParaRPr lang="en-IN" sz="2400" dirty="0">
                  <a:solidFill>
                    <a:srgbClr val="002060"/>
                  </a:solidFill>
                  <a:latin typeface="Cambria Math" panose="02040503050406030204" pitchFamily="18" charset="0"/>
                </a:endParaRPr>
              </a:p>
            </p:txBody>
          </p:sp>
        </mc:Choice>
        <mc:Fallback xmlns="">
          <p:sp>
            <p:nvSpPr>
              <p:cNvPr id="21" name="TextBox 20"/>
              <p:cNvSpPr txBox="1">
                <a:spLocks noRot="1" noChangeAspect="1" noMove="1" noResize="1" noEditPoints="1" noAdjustHandles="1" noChangeArrowheads="1" noChangeShapeType="1" noTextEdit="1"/>
              </p:cNvSpPr>
              <p:nvPr/>
            </p:nvSpPr>
            <p:spPr>
              <a:xfrm>
                <a:off x="7915264" y="1507319"/>
                <a:ext cx="264354" cy="461665"/>
              </a:xfrm>
              <a:prstGeom prst="rect">
                <a:avLst/>
              </a:prstGeom>
              <a:blipFill rotWithShape="0">
                <a:blip r:embed="rId12"/>
                <a:stretch>
                  <a:fillRect l="-4545" r="-38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15C5FCF-F20A-1F23-ACE0-83FC48C86681}"/>
                  </a:ext>
                </a:extLst>
              </p:cNvPr>
              <p:cNvSpPr txBox="1"/>
              <p:nvPr/>
            </p:nvSpPr>
            <p:spPr>
              <a:xfrm>
                <a:off x="9301150" y="1502872"/>
                <a:ext cx="361402" cy="46439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400" b="0" i="0" smtClean="0">
                          <a:solidFill>
                            <a:srgbClr val="002060"/>
                          </a:solidFill>
                          <a:latin typeface="Cambria Math" panose="02040503050406030204" pitchFamily="18" charset="0"/>
                        </a:rPr>
                        <m:t>5</m:t>
                      </m:r>
                    </m:oMath>
                  </m:oMathPara>
                </a14:m>
                <a:endParaRPr lang="en-IN" sz="2400" dirty="0">
                  <a:solidFill>
                    <a:srgbClr val="002060"/>
                  </a:solidFill>
                  <a:latin typeface="Cambria Math" panose="02040503050406030204" pitchFamily="18" charset="0"/>
                </a:endParaRPr>
              </a:p>
            </p:txBody>
          </p:sp>
        </mc:Choice>
        <mc:Fallback xmlns="">
          <p:sp>
            <p:nvSpPr>
              <p:cNvPr id="22" name="TextBox 21">
                <a:extLst>
                  <a:ext uri="{FF2B5EF4-FFF2-40B4-BE49-F238E27FC236}">
                    <a16:creationId xmlns="" xmlns:a16="http://schemas.microsoft.com/office/drawing/2014/main" xmlns:a14="http://schemas.microsoft.com/office/drawing/2010/main" id="{615C5FCF-F20A-1F23-ACE0-83FC48C86681}"/>
                  </a:ext>
                </a:extLst>
              </p:cNvPr>
              <p:cNvSpPr txBox="1">
                <a:spLocks noRot="1" noChangeAspect="1" noMove="1" noResize="1" noEditPoints="1" noAdjustHandles="1" noChangeArrowheads="1" noChangeShapeType="1" noTextEdit="1"/>
              </p:cNvSpPr>
              <p:nvPr/>
            </p:nvSpPr>
            <p:spPr>
              <a:xfrm>
                <a:off x="9301150" y="1502872"/>
                <a:ext cx="361402" cy="464394"/>
              </a:xfrm>
              <a:prstGeom prst="rect">
                <a:avLst/>
              </a:prstGeom>
              <a:blipFill rotWithShape="0">
                <a:blip r:embed="rId13"/>
                <a:stretch>
                  <a:fillRect l="-6780" r="-3390"/>
                </a:stretch>
              </a:blipFill>
            </p:spPr>
            <p:txBody>
              <a:bodyPr/>
              <a:lstStyle/>
              <a:p>
                <a:r>
                  <a:rPr lang="en-US">
                    <a:noFill/>
                  </a:rPr>
                  <a:t> </a:t>
                </a:r>
              </a:p>
            </p:txBody>
          </p:sp>
        </mc:Fallback>
      </mc:AlternateContent>
      <p:sp>
        <p:nvSpPr>
          <p:cNvPr id="23" name="Rectangle 22">
            <a:extLst>
              <a:ext uri="{FF2B5EF4-FFF2-40B4-BE49-F238E27FC236}">
                <a16:creationId xmlns:a16="http://schemas.microsoft.com/office/drawing/2014/main" id="{C54B935D-4CFC-E9D7-1956-7BF12F430D78}"/>
              </a:ext>
            </a:extLst>
          </p:cNvPr>
          <p:cNvSpPr/>
          <p:nvPr/>
        </p:nvSpPr>
        <p:spPr>
          <a:xfrm>
            <a:off x="2933491" y="1483175"/>
            <a:ext cx="1232265" cy="503787"/>
          </a:xfrm>
          <a:prstGeom prst="rect">
            <a:avLst/>
          </a:prstGeom>
          <a:noFill/>
          <a:ln w="381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23">
            <a:extLst>
              <a:ext uri="{FF2B5EF4-FFF2-40B4-BE49-F238E27FC236}">
                <a16:creationId xmlns:a16="http://schemas.microsoft.com/office/drawing/2014/main" id="{C54B935D-4CFC-E9D7-1956-7BF12F430D78}"/>
              </a:ext>
            </a:extLst>
          </p:cNvPr>
          <p:cNvSpPr/>
          <p:nvPr/>
        </p:nvSpPr>
        <p:spPr>
          <a:xfrm>
            <a:off x="5627638" y="1463479"/>
            <a:ext cx="1336987" cy="503787"/>
          </a:xfrm>
          <a:prstGeom prst="rect">
            <a:avLst/>
          </a:prstGeom>
          <a:noFill/>
          <a:ln w="381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C54B935D-4CFC-E9D7-1956-7BF12F430D78}"/>
              </a:ext>
            </a:extLst>
          </p:cNvPr>
          <p:cNvSpPr/>
          <p:nvPr/>
        </p:nvSpPr>
        <p:spPr>
          <a:xfrm>
            <a:off x="8365726" y="1510049"/>
            <a:ext cx="1336987" cy="503787"/>
          </a:xfrm>
          <a:prstGeom prst="rect">
            <a:avLst/>
          </a:prstGeom>
          <a:noFill/>
          <a:ln w="381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C54B935D-4CFC-E9D7-1956-7BF12F430D78}"/>
              </a:ext>
            </a:extLst>
          </p:cNvPr>
          <p:cNvSpPr/>
          <p:nvPr/>
        </p:nvSpPr>
        <p:spPr>
          <a:xfrm>
            <a:off x="174944" y="1483175"/>
            <a:ext cx="1336987" cy="503787"/>
          </a:xfrm>
          <a:prstGeom prst="rect">
            <a:avLst/>
          </a:prstGeom>
          <a:noFill/>
          <a:ln w="38100">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sp>
            <p:nvSpPr>
              <p:cNvPr id="27" name="Content Placeholder 54">
                <a:extLst>
                  <a:ext uri="{FF2B5EF4-FFF2-40B4-BE49-F238E27FC236}">
                    <a16:creationId xmlns:a16="http://schemas.microsoft.com/office/drawing/2014/main" id="{88E5F364-E743-2300-BB06-39D4B5B7F035}"/>
                  </a:ext>
                </a:extLst>
              </p:cNvPr>
              <p:cNvSpPr txBox="1">
                <a:spLocks/>
              </p:cNvSpPr>
              <p:nvPr/>
            </p:nvSpPr>
            <p:spPr>
              <a:xfrm>
                <a:off x="4986970" y="4629112"/>
                <a:ext cx="2218059" cy="1375448"/>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50000"/>
                  </a:lnSpc>
                  <a:spcBef>
                    <a:spcPts val="1000"/>
                  </a:spcBef>
                  <a:buClr>
                    <a:srgbClr val="B84742"/>
                  </a:buClr>
                  <a:buNone/>
                </a:pPr>
                <a:r>
                  <a:rPr lang="en-US" b="1" dirty="0"/>
                  <a:t>Hence , </a:t>
                </a:r>
                <a14:m>
                  <m:oMath xmlns:m="http://schemas.openxmlformats.org/officeDocument/2006/math">
                    <m:r>
                      <a:rPr lang="en-US" b="1" i="0" dirty="0" smtClean="0">
                        <a:latin typeface="Cambria Math" panose="02040503050406030204" pitchFamily="18" charset="0"/>
                      </a:rPr>
                      <m:t>𝐫</m:t>
                    </m:r>
                    <m:r>
                      <a:rPr lang="en-US" b="1" i="0" dirty="0" smtClean="0">
                        <a:latin typeface="Cambria Math" panose="02040503050406030204" pitchFamily="18" charset="0"/>
                      </a:rPr>
                      <m:t>≠</m:t>
                    </m:r>
                    <m:f>
                      <m:fPr>
                        <m:ctrlPr>
                          <a:rPr lang="en-US" b="1" i="1" dirty="0" smtClean="0">
                            <a:latin typeface="Cambria Math" panose="02040503050406030204" pitchFamily="18" charset="0"/>
                          </a:rPr>
                        </m:ctrlPr>
                      </m:fPr>
                      <m:num>
                        <m:r>
                          <a:rPr lang="en-US" b="1" i="0" dirty="0" err="1" smtClean="0">
                            <a:latin typeface="Cambria Math" panose="02040503050406030204" pitchFamily="18" charset="0"/>
                          </a:rPr>
                          <m:t>𝐃</m:t>
                        </m:r>
                      </m:num>
                      <m:den>
                        <m:r>
                          <a:rPr lang="en-US" b="1" i="0" dirty="0" smtClean="0">
                            <a:latin typeface="Cambria Math" panose="02040503050406030204" pitchFamily="18" charset="0"/>
                          </a:rPr>
                          <m:t>𝟐</m:t>
                        </m:r>
                      </m:den>
                    </m:f>
                  </m:oMath>
                </a14:m>
                <a:endParaRPr lang="en-US" b="1" dirty="0"/>
              </a:p>
            </p:txBody>
          </p:sp>
        </mc:Choice>
        <mc:Fallback xmlns="">
          <p:sp>
            <p:nvSpPr>
              <p:cNvPr id="27" name="Content Placeholder 54">
                <a:extLst>
                  <a:ext uri="{FF2B5EF4-FFF2-40B4-BE49-F238E27FC236}">
                    <a16:creationId xmlns:a16="http://schemas.microsoft.com/office/drawing/2014/main" xmlns="" xmlns:a14="http://schemas.microsoft.com/office/drawing/2010/main" id="{88E5F364-E743-2300-BB06-39D4B5B7F035}"/>
                  </a:ext>
                </a:extLst>
              </p:cNvPr>
              <p:cNvSpPr txBox="1">
                <a:spLocks noRot="1" noChangeAspect="1" noMove="1" noResize="1" noEditPoints="1" noAdjustHandles="1" noChangeArrowheads="1" noChangeShapeType="1" noTextEdit="1"/>
              </p:cNvSpPr>
              <p:nvPr/>
            </p:nvSpPr>
            <p:spPr>
              <a:xfrm>
                <a:off x="4986970" y="4629112"/>
                <a:ext cx="2218059" cy="1375448"/>
              </a:xfrm>
              <a:prstGeom prst="rect">
                <a:avLst/>
              </a:prstGeom>
              <a:blipFill rotWithShape="0">
                <a:blip r:embed="rId14"/>
                <a:stretch>
                  <a:fillRect l="-54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Rectangle 1"/>
              <p:cNvSpPr/>
              <p:nvPr/>
            </p:nvSpPr>
            <p:spPr>
              <a:xfrm>
                <a:off x="3327357" y="5663457"/>
                <a:ext cx="5708550" cy="825739"/>
              </a:xfrm>
              <a:prstGeom prst="rect">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wrap="none">
                <a:spAutoFit/>
              </a:bodyPr>
              <a:lstStyle/>
              <a:p>
                <a:r>
                  <a:rPr lang="en-US" sz="3200" dirty="0">
                    <a:solidFill>
                      <a:srgbClr val="002060"/>
                    </a:solidFill>
                  </a:rPr>
                  <a:t>FYI:</a:t>
                </a:r>
                <a14:m>
                  <m:oMath xmlns:m="http://schemas.openxmlformats.org/officeDocument/2006/math">
                    <m:r>
                      <a:rPr lang="en-US" sz="3200" i="1" dirty="0" smtClean="0">
                        <a:solidFill>
                          <a:srgbClr val="002060"/>
                        </a:solidFill>
                        <a:latin typeface="Cambria Math" panose="02040503050406030204" pitchFamily="18" charset="0"/>
                      </a:rPr>
                      <m:t> </m:t>
                    </m:r>
                    <m:r>
                      <m:rPr>
                        <m:sty m:val="p"/>
                      </m:rPr>
                      <a:rPr lang="en-US" sz="3200" i="0" dirty="0" smtClean="0">
                        <a:solidFill>
                          <a:srgbClr val="002060"/>
                        </a:solidFill>
                        <a:latin typeface="Cambria Math" panose="02040503050406030204" pitchFamily="18" charset="0"/>
                      </a:rPr>
                      <m:t>r</m:t>
                    </m:r>
                    <m:r>
                      <a:rPr lang="en-US" sz="3200" i="0" dirty="0">
                        <a:solidFill>
                          <a:srgbClr val="002060"/>
                        </a:solidFill>
                        <a:latin typeface="Cambria Math" panose="02040503050406030204" pitchFamily="18" charset="0"/>
                      </a:rPr>
                      <m:t>=</m:t>
                    </m:r>
                    <m:d>
                      <m:dPr>
                        <m:begChr m:val="⌈"/>
                        <m:endChr m:val="⌉"/>
                        <m:ctrlPr>
                          <a:rPr lang="en-US" sz="3200" i="1" dirty="0" smtClean="0">
                            <a:solidFill>
                              <a:srgbClr val="002060"/>
                            </a:solidFill>
                            <a:latin typeface="Cambria Math" panose="02040503050406030204" pitchFamily="18" charset="0"/>
                          </a:rPr>
                        </m:ctrlPr>
                      </m:dPr>
                      <m:e>
                        <m:f>
                          <m:fPr>
                            <m:ctrlPr>
                              <a:rPr lang="en-US" sz="3200" i="1" dirty="0" smtClean="0">
                                <a:solidFill>
                                  <a:srgbClr val="002060"/>
                                </a:solidFill>
                                <a:latin typeface="Cambria Math" panose="02040503050406030204" pitchFamily="18" charset="0"/>
                              </a:rPr>
                            </m:ctrlPr>
                          </m:fPr>
                          <m:num>
                            <m:r>
                              <m:rPr>
                                <m:sty m:val="p"/>
                              </m:rPr>
                              <a:rPr lang="en-US" sz="3200" b="0" i="0" dirty="0" smtClean="0">
                                <a:solidFill>
                                  <a:srgbClr val="002060"/>
                                </a:solidFill>
                                <a:latin typeface="Cambria Math" panose="02040503050406030204" pitchFamily="18" charset="0"/>
                              </a:rPr>
                              <m:t>D</m:t>
                            </m:r>
                          </m:num>
                          <m:den>
                            <m:r>
                              <a:rPr lang="en-US" sz="3200" i="0" dirty="0" smtClean="0">
                                <a:solidFill>
                                  <a:srgbClr val="002060"/>
                                </a:solidFill>
                                <a:latin typeface="Cambria Math" panose="02040503050406030204" pitchFamily="18" charset="0"/>
                              </a:rPr>
                              <m:t>2</m:t>
                            </m:r>
                          </m:den>
                        </m:f>
                      </m:e>
                    </m:d>
                    <m:r>
                      <a:rPr lang="en-US" sz="3200" b="0" i="1" dirty="0" smtClean="0">
                        <a:solidFill>
                          <a:srgbClr val="002060"/>
                        </a:solidFill>
                        <a:latin typeface="Cambria Math" panose="02040503050406030204" pitchFamily="18" charset="0"/>
                      </a:rPr>
                      <m:t>,</m:t>
                    </m:r>
                  </m:oMath>
                </a14:m>
                <a:r>
                  <a:rPr lang="en-US" sz="3200" dirty="0">
                    <a:solidFill>
                      <a:srgbClr val="002060"/>
                    </a:solidFill>
                  </a:rPr>
                  <a:t> where</a:t>
                </a:r>
                <a14:m>
                  <m:oMath xmlns:m="http://schemas.openxmlformats.org/officeDocument/2006/math">
                    <m:r>
                      <a:rPr lang="en-US" sz="3200" i="0" dirty="0" smtClean="0">
                        <a:solidFill>
                          <a:srgbClr val="002060"/>
                        </a:solidFill>
                        <a:latin typeface="Cambria Math" panose="02040503050406030204" pitchFamily="18" charset="0"/>
                      </a:rPr>
                      <m:t> </m:t>
                    </m:r>
                    <m:r>
                      <m:rPr>
                        <m:sty m:val="p"/>
                      </m:rPr>
                      <a:rPr lang="en-US" sz="3200" b="0" i="0" dirty="0" smtClean="0">
                        <a:solidFill>
                          <a:srgbClr val="002060"/>
                        </a:solidFill>
                        <a:latin typeface="Cambria Math" panose="02040503050406030204" pitchFamily="18" charset="0"/>
                      </a:rPr>
                      <m:t>D</m:t>
                    </m:r>
                  </m:oMath>
                </a14:m>
                <a:r>
                  <a:rPr lang="en-US" sz="3200" dirty="0">
                    <a:solidFill>
                      <a:srgbClr val="002060"/>
                    </a:solidFill>
                  </a:rPr>
                  <a:t> is diameter.</a:t>
                </a:r>
              </a:p>
            </p:txBody>
          </p:sp>
        </mc:Choice>
        <mc:Fallback xmlns="">
          <p:sp>
            <p:nvSpPr>
              <p:cNvPr id="2" name="Rectangle 1"/>
              <p:cNvSpPr>
                <a:spLocks noRot="1" noChangeAspect="1" noMove="1" noResize="1" noEditPoints="1" noAdjustHandles="1" noChangeArrowheads="1" noChangeShapeType="1" noTextEdit="1"/>
              </p:cNvSpPr>
              <p:nvPr/>
            </p:nvSpPr>
            <p:spPr>
              <a:xfrm>
                <a:off x="3327357" y="5663457"/>
                <a:ext cx="5708550" cy="825739"/>
              </a:xfrm>
              <a:prstGeom prst="rect">
                <a:avLst/>
              </a:prstGeom>
              <a:blipFill rotWithShape="0">
                <a:blip r:embed="rId15"/>
                <a:stretch>
                  <a:fillRect l="-2665" r="-1493" b="-8696"/>
                </a:stretch>
              </a:blipFill>
            </p:spPr>
            <p:txBody>
              <a:bodyPr/>
              <a:lstStyle/>
              <a:p>
                <a:r>
                  <a:rPr lang="en-US">
                    <a:noFill/>
                  </a:rPr>
                  <a:t> </a:t>
                </a:r>
              </a:p>
            </p:txBody>
          </p:sp>
        </mc:Fallback>
      </mc:AlternateContent>
    </p:spTree>
    <p:extLst>
      <p:ext uri="{BB962C8B-B14F-4D97-AF65-F5344CB8AC3E}">
        <p14:creationId xmlns:p14="http://schemas.microsoft.com/office/powerpoint/2010/main" val="144106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6">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7">
                                            <p:txEl>
                                              <p:pRg st="0" end="0"/>
                                            </p:txEl>
                                          </p:spTgt>
                                        </p:tgtEl>
                                        <p:attrNameLst>
                                          <p:attrName>style.visibility</p:attrName>
                                        </p:attrNameLst>
                                      </p:cBhvr>
                                      <p:to>
                                        <p:strVal val="visible"/>
                                      </p:to>
                                    </p:set>
                                  </p:childTnLst>
                                </p:cTn>
                              </p:par>
                              <p:par>
                                <p:cTn id="23" presetID="1" presetClass="exit" presetSubtype="0" fill="hold" grpId="1" nodeType="withEffect">
                                  <p:stCondLst>
                                    <p:cond delay="0"/>
                                  </p:stCondLst>
                                  <p:childTnLst>
                                    <p:set>
                                      <p:cBhvr>
                                        <p:cTn id="24" dur="1" fill="hold">
                                          <p:stCondLst>
                                            <p:cond delay="0"/>
                                          </p:stCondLst>
                                        </p:cTn>
                                        <p:tgtEl>
                                          <p:spTgt spid="23"/>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24"/>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5">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8">
                                            <p:txEl>
                                              <p:pRg st="0" end="0"/>
                                            </p:txEl>
                                          </p:spTgt>
                                        </p:tgtEl>
                                        <p:attrNameLst>
                                          <p:attrName>style.visibility</p:attrName>
                                        </p:attrNameLst>
                                      </p:cBhvr>
                                      <p:to>
                                        <p:strVal val="visible"/>
                                      </p:to>
                                    </p:set>
                                  </p:childTnLst>
                                </p:cTn>
                              </p:par>
                              <p:par>
                                <p:cTn id="43" presetID="1" presetClass="exit" presetSubtype="0" fill="hold" grpId="1" nodeType="withEffect">
                                  <p:stCondLst>
                                    <p:cond delay="0"/>
                                  </p:stCondLst>
                                  <p:childTnLst>
                                    <p:set>
                                      <p:cBhvr>
                                        <p:cTn id="44" dur="1" fill="hold">
                                          <p:stCondLst>
                                            <p:cond delay="0"/>
                                          </p:stCondLst>
                                        </p:cTn>
                                        <p:tgtEl>
                                          <p:spTgt spid="26"/>
                                        </p:tgtEl>
                                        <p:attrNameLst>
                                          <p:attrName>style.visibility</p:attrName>
                                        </p:attrNameLst>
                                      </p:cBhvr>
                                      <p:to>
                                        <p:strVal val="hidden"/>
                                      </p:to>
                                    </p:set>
                                  </p:childTnLst>
                                </p:cTn>
                              </p:par>
                              <p:par>
                                <p:cTn id="45" presetID="1" presetClass="exit" presetSubtype="0" fill="hold" grpId="1" nodeType="withEffect">
                                  <p:stCondLst>
                                    <p:cond delay="0"/>
                                  </p:stCondLst>
                                  <p:childTnLst>
                                    <p:set>
                                      <p:cBhvr>
                                        <p:cTn id="46" dur="1" fill="hold">
                                          <p:stCondLst>
                                            <p:cond delay="0"/>
                                          </p:stCondLst>
                                        </p:cTn>
                                        <p:tgtEl>
                                          <p:spTgt spid="25"/>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build="p"/>
      <p:bldP spid="105" grpId="0" build="p"/>
      <p:bldP spid="106" grpId="0" build="p"/>
      <p:bldP spid="107" grpId="0" build="p"/>
      <p:bldP spid="108" grpId="0" build="p"/>
      <p:bldP spid="23" grpId="0" animBg="1"/>
      <p:bldP spid="23" grpId="1" animBg="1"/>
      <p:bldP spid="24" grpId="0" animBg="1"/>
      <p:bldP spid="24" grpId="1" animBg="1"/>
      <p:bldP spid="25" grpId="0" animBg="1"/>
      <p:bldP spid="25" grpId="1" animBg="1"/>
      <p:bldP spid="26" grpId="0" animBg="1"/>
      <p:bldP spid="26" grpId="1" animBg="1"/>
      <p:bldP spid="27"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D0D21-09E6-E2F3-C1F2-347F243BF7CF}"/>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F4CDC82A-E07F-AE64-D1DC-DF0F62DD351D}"/>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US" dirty="0"/>
              <a:t>?</a:t>
            </a:r>
          </a:p>
        </p:txBody>
      </p:sp>
      <p:sp>
        <p:nvSpPr>
          <p:cNvPr id="3" name="Content Placeholder 2"/>
          <p:cNvSpPr>
            <a:spLocks noGrp="1"/>
          </p:cNvSpPr>
          <p:nvPr>
            <p:ph idx="1"/>
          </p:nvPr>
        </p:nvSpPr>
        <p:spPr/>
        <p:txBody>
          <a:bodyPr/>
          <a:lstStyle/>
          <a:p>
            <a:r>
              <a:rPr lang="en-US" dirty="0"/>
              <a:t>A tree has 100 vertices. Which of the following is impossible?</a:t>
            </a:r>
          </a:p>
          <a:p>
            <a:pPr marL="0" indent="0">
              <a:buNone/>
            </a:pPr>
            <a:r>
              <a:rPr lang="en-US" dirty="0"/>
              <a:t>	A. 2 leaves, B. 25 leaves, C. 99 leaves, D. 1 leaf</a:t>
            </a:r>
          </a:p>
          <a:p>
            <a:r>
              <a:rPr lang="en-US" dirty="0"/>
              <a:t>You are given a tree with 1 million vertices. Finding the center by calculating all pairwise distances is too expensive. How can you find the center efficiently?</a:t>
            </a:r>
          </a:p>
          <a:p>
            <a:pPr marL="0" indent="0">
              <a:buNone/>
            </a:pPr>
            <a:r>
              <a:rPr lang="en-US" dirty="0"/>
              <a:t>	A. Always 1, B. Always 2, C. Either 1 or 2, D. Cannot be determined</a:t>
            </a:r>
          </a:p>
          <a:p>
            <a:r>
              <a:rPr lang="en-US" dirty="0"/>
              <a:t>A tree has diameter 11. How many centers can it have?</a:t>
            </a:r>
          </a:p>
          <a:p>
            <a:pPr marL="457200" lvl="1" indent="0">
              <a:buNone/>
            </a:pPr>
            <a:r>
              <a:rPr lang="en-US" dirty="0"/>
              <a:t>	A. 0, B. 1, C. 2, D. 11</a:t>
            </a:r>
          </a:p>
          <a:p>
            <a:r>
              <a:rPr lang="en-US" dirty="0"/>
              <a:t>A tree has 100 vertices and exactly 99 vertices of odd degree. Is this possible?</a:t>
            </a:r>
          </a:p>
          <a:p>
            <a:r>
              <a:rPr lang="en-US" dirty="0"/>
              <a:t>A tree T has exactly 20 vertices. Can T have: exactly 19 leaves? exactly 18 leaves? Justify your answer.</a:t>
            </a:r>
          </a:p>
          <a:p>
            <a:r>
              <a:rPr lang="en-US" dirty="0"/>
              <a:t>A tree has 100 vertices. Every vertex has degree either 1 or 3. How many leaves does the tree have?</a:t>
            </a:r>
          </a:p>
          <a:p>
            <a:endParaRPr lang="en-US" dirty="0"/>
          </a:p>
        </p:txBody>
      </p:sp>
    </p:spTree>
    <p:extLst>
      <p:ext uri="{BB962C8B-B14F-4D97-AF65-F5344CB8AC3E}">
        <p14:creationId xmlns:p14="http://schemas.microsoft.com/office/powerpoint/2010/main" val="34893321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D0D21-09E6-E2F3-C1F2-347F243BF7CF}"/>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F4CDC82A-E07F-AE64-D1DC-DF0F62DD351D}"/>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US" dirty="0"/>
              <a:t>?</a:t>
            </a:r>
          </a:p>
        </p:txBody>
      </p:sp>
      <p:sp>
        <p:nvSpPr>
          <p:cNvPr id="3" name="Content Placeholder 2"/>
          <p:cNvSpPr>
            <a:spLocks noGrp="1"/>
          </p:cNvSpPr>
          <p:nvPr>
            <p:ph idx="1"/>
          </p:nvPr>
        </p:nvSpPr>
        <p:spPr/>
        <p:txBody>
          <a:bodyPr/>
          <a:lstStyle/>
          <a:p>
            <a:r>
              <a:rPr lang="en-US" sz="2400" dirty="0"/>
              <a:t>A tree has exactly three leaves. Which statement is always true?</a:t>
            </a:r>
          </a:p>
          <a:p>
            <a:pPr marL="544512" lvl="1" indent="0" algn="l">
              <a:buNone/>
            </a:pPr>
            <a:r>
              <a:rPr lang="en-US" sz="2400" dirty="0"/>
              <a:t>A) Diameter passes through all three leaves</a:t>
            </a:r>
            <a:br>
              <a:rPr lang="en-US" sz="2400" dirty="0"/>
            </a:br>
            <a:r>
              <a:rPr lang="en-US" sz="2400" dirty="0"/>
              <a:t>B) One leaf is not an endpoint of any diameter</a:t>
            </a:r>
            <a:br>
              <a:rPr lang="en-US" sz="2400" dirty="0"/>
            </a:br>
            <a:r>
              <a:rPr lang="en-US" sz="2400" dirty="0"/>
              <a:t>C) Tree has two centers</a:t>
            </a:r>
            <a:br>
              <a:rPr lang="en-US" sz="2400" dirty="0"/>
            </a:br>
            <a:r>
              <a:rPr lang="en-US" sz="2400" dirty="0"/>
              <a:t>D) Radius equals diameter</a:t>
            </a:r>
          </a:p>
          <a:p>
            <a:r>
              <a:rPr lang="en-US" sz="2400" dirty="0"/>
              <a:t>Let T be a tree with diameter D and radius R. Which statement is always true?</a:t>
            </a:r>
          </a:p>
          <a:p>
            <a:pPr marL="544512" lvl="1" indent="0" algn="l">
              <a:buNone/>
            </a:pPr>
            <a:r>
              <a:rPr lang="en-US" sz="2400" dirty="0"/>
              <a:t>A) D = 2R</a:t>
            </a:r>
            <a:br>
              <a:rPr lang="en-US" sz="2400" dirty="0"/>
            </a:br>
            <a:r>
              <a:rPr lang="en-US" sz="2400" dirty="0"/>
              <a:t>B) D = 2R−1</a:t>
            </a:r>
            <a:br>
              <a:rPr lang="en-US" sz="2400" dirty="0"/>
            </a:br>
            <a:r>
              <a:rPr lang="en-US" sz="2400" dirty="0"/>
              <a:t>C) D ∈ {2R−1, 2R}</a:t>
            </a:r>
            <a:br>
              <a:rPr lang="en-US" sz="2400" dirty="0"/>
            </a:br>
            <a:r>
              <a:rPr lang="en-US" sz="2400" dirty="0"/>
              <a:t>D) D ≤ R</a:t>
            </a:r>
          </a:p>
          <a:p>
            <a:r>
              <a:rPr lang="en-US" sz="2400" dirty="0"/>
              <a:t>Let T be a tree. Remove all leaves simultaneously and repeat until one or two vertices remain. The number of rounds required equals _____________.</a:t>
            </a:r>
          </a:p>
          <a:p>
            <a:r>
              <a:rPr lang="en-US" sz="2400" dirty="0"/>
              <a:t>A tree T has 100 vertices. After one round of leaf pruning, 60 vertices remain. After the second round, 20 remain. After the third round, only 2 adjacent vertices remain. What is the diameter of T?</a:t>
            </a:r>
          </a:p>
          <a:p>
            <a:endParaRPr lang="en-US" sz="2400" dirty="0"/>
          </a:p>
        </p:txBody>
      </p:sp>
    </p:spTree>
    <p:extLst>
      <p:ext uri="{BB962C8B-B14F-4D97-AF65-F5344CB8AC3E}">
        <p14:creationId xmlns:p14="http://schemas.microsoft.com/office/powerpoint/2010/main" val="9644951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uFill>
                  <a:solidFill>
                    <a:schemeClr val="bg1"/>
                  </a:solidFill>
                </a:uFill>
              </a:rPr>
              <a:t>Method – 3</a:t>
            </a:r>
            <a:br>
              <a:rPr lang="en-US" dirty="0">
                <a:hlinkClick r:id="rId2" action="ppaction://hlinksldjump">
                  <a:extLst>
                    <a:ext uri="{A12FA001-AC4F-418D-AE19-62706E023703}">
                      <ahyp:hlinkClr xmlns:ahyp="http://schemas.microsoft.com/office/drawing/2018/hyperlinkcolor" val="tx"/>
                    </a:ext>
                  </a:extLst>
                </a:hlinkClick>
              </a:rPr>
            </a:br>
            <a:r>
              <a:rPr lang="en-US" dirty="0"/>
              <a:t>Introduction to Spanning Trees and Properties</a:t>
            </a:r>
          </a:p>
        </p:txBody>
      </p:sp>
    </p:spTree>
    <p:extLst>
      <p:ext uri="{BB962C8B-B14F-4D97-AF65-F5344CB8AC3E}">
        <p14:creationId xmlns:p14="http://schemas.microsoft.com/office/powerpoint/2010/main" val="107196416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US" dirty="0"/>
              <a:t>Spanning Trees </a:t>
            </a:r>
          </a:p>
        </p:txBody>
      </p:sp>
      <p:sp>
        <p:nvSpPr>
          <p:cNvPr id="5" name="Rectangle 4"/>
          <p:cNvSpPr/>
          <p:nvPr/>
        </p:nvSpPr>
        <p:spPr>
          <a:xfrm>
            <a:off x="16409" y="729966"/>
            <a:ext cx="11935185" cy="4698722"/>
          </a:xfrm>
          <a:prstGeom prst="rect">
            <a:avLst/>
          </a:prstGeom>
        </p:spPr>
        <p:txBody>
          <a:bodyPr wrap="square">
            <a:spAutoFit/>
          </a:bodyPr>
          <a:lstStyle/>
          <a:p>
            <a:pPr marL="265113" indent="-265113" algn="just">
              <a:lnSpc>
                <a:spcPct val="150000"/>
              </a:lnSpc>
              <a:spcBef>
                <a:spcPts val="1000"/>
              </a:spcBef>
              <a:buClr>
                <a:srgbClr val="B84742"/>
              </a:buClr>
              <a:buFont typeface="Wingdings 3" panose="05040102010807070707" pitchFamily="18" charset="2"/>
              <a:buChar char=""/>
            </a:pPr>
            <a:r>
              <a:rPr lang="en-US" sz="2800" dirty="0">
                <a:solidFill>
                  <a:srgbClr val="002060"/>
                </a:solidFill>
              </a:rPr>
              <a:t>We have learned about trees and their properties as separate graphs .</a:t>
            </a:r>
          </a:p>
          <a:p>
            <a:pPr marL="265113" indent="-265113" algn="just">
              <a:lnSpc>
                <a:spcPct val="150000"/>
              </a:lnSpc>
              <a:spcBef>
                <a:spcPts val="1000"/>
              </a:spcBef>
              <a:buClr>
                <a:srgbClr val="B84742"/>
              </a:buClr>
              <a:buFont typeface="Wingdings 3" panose="05040102010807070707" pitchFamily="18" charset="2"/>
              <a:buChar char=""/>
            </a:pPr>
            <a:r>
              <a:rPr lang="en-US" sz="2800" dirty="0">
                <a:solidFill>
                  <a:srgbClr val="002060"/>
                </a:solidFill>
              </a:rPr>
              <a:t>Now, we will look at trees that are part of a bigger graph (as subgraphs).</a:t>
            </a:r>
          </a:p>
          <a:p>
            <a:pPr marL="265113" indent="-265113" algn="just">
              <a:lnSpc>
                <a:spcPct val="150000"/>
              </a:lnSpc>
              <a:spcBef>
                <a:spcPts val="1000"/>
              </a:spcBef>
              <a:buClr>
                <a:srgbClr val="B84742"/>
              </a:buClr>
              <a:buFont typeface="Wingdings 3" panose="05040102010807070707" pitchFamily="18" charset="2"/>
              <a:buChar char=""/>
            </a:pPr>
            <a:r>
              <a:rPr lang="en-US" sz="2800" dirty="0">
                <a:solidFill>
                  <a:srgbClr val="002060"/>
                </a:solidFill>
              </a:rPr>
              <a:t>A graph can have many subgraphs, and some of them will be trees.</a:t>
            </a:r>
          </a:p>
          <a:p>
            <a:pPr marL="265113" indent="-265113" algn="just">
              <a:lnSpc>
                <a:spcPct val="150000"/>
              </a:lnSpc>
              <a:spcBef>
                <a:spcPts val="1000"/>
              </a:spcBef>
              <a:buClr>
                <a:srgbClr val="B84742"/>
              </a:buClr>
              <a:buFont typeface="Wingdings 3" panose="05040102010807070707" pitchFamily="18" charset="2"/>
              <a:buChar char=""/>
            </a:pPr>
            <a:r>
              <a:rPr lang="en-US" sz="2800" dirty="0">
                <a:solidFill>
                  <a:srgbClr val="002060"/>
                </a:solidFill>
              </a:rPr>
              <a:t>Among these trees, we are mainly interested in special ones called spanning trees.</a:t>
            </a:r>
          </a:p>
          <a:p>
            <a:pPr marL="265113" indent="-265113" algn="just">
              <a:spcBef>
                <a:spcPts val="1000"/>
              </a:spcBef>
              <a:buClr>
                <a:srgbClr val="B84742"/>
              </a:buClr>
              <a:buFont typeface="Wingdings 3" panose="05040102010807070707" pitchFamily="18" charset="2"/>
              <a:buChar char=""/>
            </a:pPr>
            <a:r>
              <a:rPr lang="en-IN" sz="2800" b="1" dirty="0">
                <a:solidFill>
                  <a:srgbClr val="002060"/>
                </a:solidFill>
              </a:rPr>
              <a:t>Definition:</a:t>
            </a:r>
            <a:r>
              <a:rPr lang="en-IN" sz="2800" b="1" dirty="0"/>
              <a:t> </a:t>
            </a:r>
            <a:r>
              <a:rPr lang="en-US" sz="2800" dirty="0">
                <a:solidFill>
                  <a:srgbClr val="002060"/>
                </a:solidFill>
              </a:rPr>
              <a:t>A tree T is said to be a </a:t>
            </a:r>
            <a:r>
              <a:rPr lang="en-US" sz="2800" dirty="0">
                <a:solidFill>
                  <a:srgbClr val="C00000"/>
                </a:solidFill>
              </a:rPr>
              <a:t>spanning tree </a:t>
            </a:r>
            <a:r>
              <a:rPr lang="en-US" sz="2800" dirty="0">
                <a:solidFill>
                  <a:srgbClr val="002060"/>
                </a:solidFill>
              </a:rPr>
              <a:t>of a connected graph G if </a:t>
            </a:r>
            <a:r>
              <a:rPr lang="en-US" sz="2800" b="1" dirty="0">
                <a:solidFill>
                  <a:srgbClr val="002060"/>
                </a:solidFill>
              </a:rPr>
              <a:t>T is a 		subgraphs of G </a:t>
            </a:r>
            <a:r>
              <a:rPr lang="en-US" sz="2800" dirty="0">
                <a:solidFill>
                  <a:srgbClr val="002060"/>
                </a:solidFill>
              </a:rPr>
              <a:t>and </a:t>
            </a:r>
            <a:r>
              <a:rPr lang="en-US" sz="2800" b="1" dirty="0">
                <a:solidFill>
                  <a:srgbClr val="002060"/>
                </a:solidFill>
              </a:rPr>
              <a:t>T contains all vertices of G</a:t>
            </a:r>
            <a:r>
              <a:rPr lang="en-US" sz="2800" dirty="0">
                <a:solidFill>
                  <a:srgbClr val="002060"/>
                </a:solidFill>
              </a:rPr>
              <a:t>.</a:t>
            </a:r>
            <a:endParaRPr lang="en-IN" sz="2800" dirty="0"/>
          </a:p>
        </p:txBody>
      </p:sp>
    </p:spTree>
    <p:extLst>
      <p:ext uri="{BB962C8B-B14F-4D97-AF65-F5344CB8AC3E}">
        <p14:creationId xmlns:p14="http://schemas.microsoft.com/office/powerpoint/2010/main" val="962876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US" dirty="0"/>
              <a:t>Spanning Trees </a:t>
            </a:r>
          </a:p>
        </p:txBody>
      </p:sp>
      <p:pic>
        <p:nvPicPr>
          <p:cNvPr id="2" name="Picture 1"/>
          <p:cNvPicPr>
            <a:picLocks noChangeAspect="1"/>
          </p:cNvPicPr>
          <p:nvPr/>
        </p:nvPicPr>
        <p:blipFill>
          <a:blip r:embed="rId2"/>
          <a:stretch>
            <a:fillRect/>
          </a:stretch>
        </p:blipFill>
        <p:spPr>
          <a:xfrm>
            <a:off x="7111872" y="2197932"/>
            <a:ext cx="2760955" cy="2935791"/>
          </a:xfrm>
          <a:prstGeom prst="rect">
            <a:avLst/>
          </a:prstGeom>
        </p:spPr>
      </p:pic>
      <p:sp>
        <p:nvSpPr>
          <p:cNvPr id="206" name="Rectangle 205"/>
          <p:cNvSpPr/>
          <p:nvPr/>
        </p:nvSpPr>
        <p:spPr>
          <a:xfrm>
            <a:off x="7549582" y="5588664"/>
            <a:ext cx="2323245" cy="523220"/>
          </a:xfrm>
          <a:prstGeom prst="rect">
            <a:avLst/>
          </a:prstGeom>
          <a:ln>
            <a:solidFill>
              <a:srgbClr val="FF0000"/>
            </a:solidFill>
          </a:ln>
        </p:spPr>
        <p:txBody>
          <a:bodyPr wrap="square">
            <a:spAutoFit/>
          </a:bodyPr>
          <a:lstStyle/>
          <a:p>
            <a:pPr algn="just">
              <a:spcBef>
                <a:spcPts val="1000"/>
              </a:spcBef>
              <a:buClr>
                <a:srgbClr val="B84742"/>
              </a:buClr>
            </a:pPr>
            <a:r>
              <a:rPr lang="en-US" sz="2800" dirty="0">
                <a:solidFill>
                  <a:srgbClr val="002060"/>
                </a:solidFill>
              </a:rPr>
              <a:t>Spanning tree</a:t>
            </a:r>
          </a:p>
        </p:txBody>
      </p:sp>
      <p:pic>
        <p:nvPicPr>
          <p:cNvPr id="230" name="Picture 229"/>
          <p:cNvPicPr>
            <a:picLocks noChangeAspect="1"/>
          </p:cNvPicPr>
          <p:nvPr/>
        </p:nvPicPr>
        <p:blipFill>
          <a:blip r:embed="rId3"/>
          <a:stretch>
            <a:fillRect/>
          </a:stretch>
        </p:blipFill>
        <p:spPr>
          <a:xfrm>
            <a:off x="1350972" y="2212000"/>
            <a:ext cx="3108486" cy="3085629"/>
          </a:xfrm>
          <a:prstGeom prst="rect">
            <a:avLst/>
          </a:prstGeom>
        </p:spPr>
      </p:pic>
      <p:pic>
        <p:nvPicPr>
          <p:cNvPr id="231" name="Picture 230"/>
          <p:cNvPicPr>
            <a:picLocks noChangeAspect="1"/>
          </p:cNvPicPr>
          <p:nvPr/>
        </p:nvPicPr>
        <p:blipFill>
          <a:blip r:embed="rId4"/>
          <a:stretch>
            <a:fillRect/>
          </a:stretch>
        </p:blipFill>
        <p:spPr>
          <a:xfrm>
            <a:off x="2811211" y="5582356"/>
            <a:ext cx="638175" cy="742950"/>
          </a:xfrm>
          <a:prstGeom prst="rect">
            <a:avLst/>
          </a:prstGeom>
          <a:ln>
            <a:solidFill>
              <a:srgbClr val="FF0000"/>
            </a:solidFill>
          </a:ln>
        </p:spPr>
      </p:pic>
      <mc:AlternateContent xmlns:mc="http://schemas.openxmlformats.org/markup-compatibility/2006" xmlns:a14="http://schemas.microsoft.com/office/drawing/2010/main">
        <mc:Choice Requires="a14">
          <p:sp>
            <p:nvSpPr>
              <p:cNvPr id="7" name="Content Placeholder 6"/>
              <p:cNvSpPr>
                <a:spLocks noGrp="1"/>
              </p:cNvSpPr>
              <p:nvPr>
                <p:ph idx="1"/>
              </p:nvPr>
            </p:nvSpPr>
            <p:spPr>
              <a:xfrm>
                <a:off x="131180" y="863444"/>
                <a:ext cx="11929641" cy="1091965"/>
              </a:xfrm>
            </p:spPr>
            <p:txBody>
              <a:bodyPr/>
              <a:lstStyle/>
              <a:p>
                <a:r>
                  <a:rPr lang="en-IN" dirty="0"/>
                  <a:t>Definition</a:t>
                </a:r>
                <a:r>
                  <a:rPr lang="en-IN" b="1" dirty="0"/>
                  <a:t>: </a:t>
                </a:r>
                <a:r>
                  <a:rPr lang="en-US" dirty="0"/>
                  <a:t>A tree</a:t>
                </a:r>
                <a14:m>
                  <m:oMath xmlns:m="http://schemas.openxmlformats.org/officeDocument/2006/math">
                    <m:r>
                      <a:rPr lang="en-US" dirty="0">
                        <a:latin typeface="Cambria Math" panose="02040503050406030204" pitchFamily="18" charset="0"/>
                      </a:rPr>
                      <m:t> </m:t>
                    </m:r>
                    <m:r>
                      <m:rPr>
                        <m:sty m:val="p"/>
                      </m:rPr>
                      <a:rPr lang="en-US" dirty="0">
                        <a:latin typeface="Cambria Math" panose="02040503050406030204" pitchFamily="18" charset="0"/>
                      </a:rPr>
                      <m:t>T</m:t>
                    </m:r>
                  </m:oMath>
                </a14:m>
                <a:r>
                  <a:rPr lang="en-US" dirty="0"/>
                  <a:t> is said to be a </a:t>
                </a:r>
                <a:r>
                  <a:rPr lang="en-US" dirty="0">
                    <a:solidFill>
                      <a:srgbClr val="C00000"/>
                    </a:solidFill>
                  </a:rPr>
                  <a:t>spanning tree </a:t>
                </a:r>
                <a:r>
                  <a:rPr lang="en-US" dirty="0"/>
                  <a:t>of a connected graph</a:t>
                </a:r>
                <a14:m>
                  <m:oMath xmlns:m="http://schemas.openxmlformats.org/officeDocument/2006/math">
                    <m:r>
                      <a:rPr lang="en-US" dirty="0">
                        <a:latin typeface="Cambria Math" panose="02040503050406030204" pitchFamily="18" charset="0"/>
                      </a:rPr>
                      <m:t> </m:t>
                    </m:r>
                    <m:r>
                      <m:rPr>
                        <m:sty m:val="p"/>
                      </m:rPr>
                      <a:rPr lang="en-US" dirty="0">
                        <a:latin typeface="Cambria Math" panose="02040503050406030204" pitchFamily="18" charset="0"/>
                      </a:rPr>
                      <m:t>G</m:t>
                    </m:r>
                  </m:oMath>
                </a14:m>
                <a:r>
                  <a:rPr lang="en-US" dirty="0"/>
                  <a:t> if</a:t>
                </a:r>
                <a14:m>
                  <m:oMath xmlns:m="http://schemas.openxmlformats.org/officeDocument/2006/math">
                    <m:r>
                      <a:rPr lang="en-US" dirty="0">
                        <a:latin typeface="Cambria Math" panose="02040503050406030204" pitchFamily="18" charset="0"/>
                      </a:rPr>
                      <m:t> </m:t>
                    </m:r>
                    <m:r>
                      <a:rPr lang="en-US" b="1" dirty="0">
                        <a:latin typeface="Cambria Math" panose="02040503050406030204" pitchFamily="18" charset="0"/>
                      </a:rPr>
                      <m:t>𝐓</m:t>
                    </m:r>
                  </m:oMath>
                </a14:m>
                <a:r>
                  <a:rPr lang="en-US" b="1" dirty="0"/>
                  <a:t> is a subgraphs of</a:t>
                </a:r>
                <a14:m>
                  <m:oMath xmlns:m="http://schemas.openxmlformats.org/officeDocument/2006/math">
                    <m:r>
                      <a:rPr lang="en-US" b="1" dirty="0">
                        <a:latin typeface="Cambria Math" panose="02040503050406030204" pitchFamily="18" charset="0"/>
                      </a:rPr>
                      <m:t> </m:t>
                    </m:r>
                    <m:r>
                      <a:rPr lang="en-US" b="1" dirty="0">
                        <a:latin typeface="Cambria Math" panose="02040503050406030204" pitchFamily="18" charset="0"/>
                      </a:rPr>
                      <m:t>𝐆</m:t>
                    </m:r>
                  </m:oMath>
                </a14:m>
                <a:r>
                  <a:rPr lang="en-US" b="1" dirty="0"/>
                  <a:t> </a:t>
                </a:r>
                <a:r>
                  <a:rPr lang="en-US" dirty="0"/>
                  <a:t>and</a:t>
                </a:r>
                <a14:m>
                  <m:oMath xmlns:m="http://schemas.openxmlformats.org/officeDocument/2006/math">
                    <m:r>
                      <a:rPr lang="en-US" dirty="0">
                        <a:latin typeface="Cambria Math" panose="02040503050406030204" pitchFamily="18" charset="0"/>
                      </a:rPr>
                      <m:t> </m:t>
                    </m:r>
                    <m:r>
                      <a:rPr lang="en-US" b="1" dirty="0">
                        <a:latin typeface="Cambria Math" panose="02040503050406030204" pitchFamily="18" charset="0"/>
                      </a:rPr>
                      <m:t>𝐓</m:t>
                    </m:r>
                  </m:oMath>
                </a14:m>
                <a:r>
                  <a:rPr lang="en-US" b="1" dirty="0"/>
                  <a:t> contains all vertices of</a:t>
                </a:r>
                <a14:m>
                  <m:oMath xmlns:m="http://schemas.openxmlformats.org/officeDocument/2006/math">
                    <m:r>
                      <a:rPr lang="en-US" b="1" dirty="0">
                        <a:latin typeface="Cambria Math" panose="02040503050406030204" pitchFamily="18" charset="0"/>
                      </a:rPr>
                      <m:t> </m:t>
                    </m:r>
                    <m:r>
                      <a:rPr lang="en-US" b="1">
                        <a:latin typeface="Cambria Math" panose="02040503050406030204" pitchFamily="18" charset="0"/>
                      </a:rPr>
                      <m:t>𝐆</m:t>
                    </m:r>
                  </m:oMath>
                </a14:m>
                <a:r>
                  <a:rPr lang="en-US" dirty="0"/>
                  <a:t>.</a:t>
                </a:r>
              </a:p>
              <a:p>
                <a:endParaRPr lang="en-US" dirty="0"/>
              </a:p>
            </p:txBody>
          </p:sp>
        </mc:Choice>
        <mc:Fallback xmlns="">
          <p:sp>
            <p:nvSpPr>
              <p:cNvPr id="7" name="Content Placeholder 6"/>
              <p:cNvSpPr>
                <a:spLocks noGrp="1" noRot="1" noChangeAspect="1" noMove="1" noResize="1" noEditPoints="1" noAdjustHandles="1" noChangeArrowheads="1" noChangeShapeType="1" noTextEdit="1"/>
              </p:cNvSpPr>
              <p:nvPr>
                <p:ph idx="1"/>
              </p:nvPr>
            </p:nvSpPr>
            <p:spPr>
              <a:xfrm>
                <a:off x="131180" y="863444"/>
                <a:ext cx="11929641" cy="1091965"/>
              </a:xfrm>
              <a:blipFill rotWithShape="0">
                <a:blip r:embed="rId5"/>
                <a:stretch>
                  <a:fillRect l="-971" t="-10056" r="-1074"/>
                </a:stretch>
              </a:blipFill>
            </p:spPr>
            <p:txBody>
              <a:bodyPr/>
              <a:lstStyle/>
              <a:p>
                <a:r>
                  <a:rPr lang="en-US">
                    <a:noFill/>
                  </a:rPr>
                  <a:t> </a:t>
                </a:r>
              </a:p>
            </p:txBody>
          </p:sp>
        </mc:Fallback>
      </mc:AlternateContent>
    </p:spTree>
    <p:extLst>
      <p:ext uri="{BB962C8B-B14F-4D97-AF65-F5344CB8AC3E}">
        <p14:creationId xmlns:p14="http://schemas.microsoft.com/office/powerpoint/2010/main" val="346276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Spanning tree</a:t>
            </a:r>
          </a:p>
        </p:txBody>
      </p:sp>
      <p:sp>
        <p:nvSpPr>
          <p:cNvPr id="8" name="Content Placeholder 7"/>
          <p:cNvSpPr>
            <a:spLocks noGrp="1"/>
          </p:cNvSpPr>
          <p:nvPr>
            <p:ph idx="1"/>
          </p:nvPr>
        </p:nvSpPr>
        <p:spPr>
          <a:xfrm>
            <a:off x="131180" y="863445"/>
            <a:ext cx="11727885" cy="5185664"/>
          </a:xfrm>
        </p:spPr>
        <p:txBody>
          <a:bodyPr/>
          <a:lstStyle/>
          <a:p>
            <a:pPr marL="0" indent="0">
              <a:buNone/>
            </a:pPr>
            <a:r>
              <a:rPr lang="en-US" dirty="0"/>
              <a:t>Remarks:</a:t>
            </a:r>
          </a:p>
          <a:p>
            <a:pPr>
              <a:lnSpc>
                <a:spcPct val="150000"/>
              </a:lnSpc>
            </a:pPr>
            <a:r>
              <a:rPr lang="en-US" dirty="0"/>
              <a:t>Spanning trees are the largest trees among all trees in G.</a:t>
            </a:r>
          </a:p>
          <a:p>
            <a:pPr>
              <a:lnSpc>
                <a:spcPct val="150000"/>
              </a:lnSpc>
            </a:pPr>
            <a:r>
              <a:rPr lang="en-US" dirty="0"/>
              <a:t>Spanning tree is defined only for a connected graph. </a:t>
            </a:r>
          </a:p>
          <a:p>
            <a:pPr>
              <a:lnSpc>
                <a:spcPct val="150000"/>
              </a:lnSpc>
            </a:pPr>
            <a:r>
              <a:rPr lang="en-US" dirty="0"/>
              <a:t>A connected graph G can have at least one spanning tree.</a:t>
            </a:r>
          </a:p>
          <a:p>
            <a:pPr>
              <a:lnSpc>
                <a:spcPct val="150000"/>
              </a:lnSpc>
            </a:pPr>
            <a:r>
              <a:rPr lang="en-US" dirty="0"/>
              <a:t>All possible spanning trees of graph G, have the same number of edges and vertices.</a:t>
            </a:r>
          </a:p>
          <a:p>
            <a:endParaRPr lang="en-US" dirty="0"/>
          </a:p>
        </p:txBody>
      </p:sp>
    </p:spTree>
    <p:extLst>
      <p:ext uri="{BB962C8B-B14F-4D97-AF65-F5344CB8AC3E}">
        <p14:creationId xmlns:p14="http://schemas.microsoft.com/office/powerpoint/2010/main" val="3766563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US" dirty="0"/>
              <a:t>Method: Cycle Removal (Edge Deletion Method)</a:t>
            </a:r>
          </a:p>
        </p:txBody>
      </p:sp>
      <p:sp>
        <p:nvSpPr>
          <p:cNvPr id="5" name="Rectangle 4"/>
          <p:cNvSpPr/>
          <p:nvPr/>
        </p:nvSpPr>
        <p:spPr>
          <a:xfrm>
            <a:off x="16409" y="729966"/>
            <a:ext cx="11935185" cy="523220"/>
          </a:xfrm>
          <a:prstGeom prst="rect">
            <a:avLst/>
          </a:prstGeom>
        </p:spPr>
        <p:txBody>
          <a:bodyPr wrap="square">
            <a:spAutoFit/>
          </a:bodyPr>
          <a:lstStyle/>
          <a:p>
            <a:pPr marL="265113" indent="-265113" algn="just">
              <a:spcBef>
                <a:spcPts val="1000"/>
              </a:spcBef>
              <a:buClr>
                <a:srgbClr val="B84742"/>
              </a:buClr>
              <a:buFont typeface="Wingdings 3" panose="05040102010807070707" pitchFamily="18" charset="2"/>
              <a:buChar char=""/>
            </a:pPr>
            <a:endParaRPr lang="en-US" sz="2800" dirty="0">
              <a:solidFill>
                <a:srgbClr val="002060"/>
              </a:solidFill>
            </a:endParaRPr>
          </a:p>
        </p:txBody>
      </p:sp>
      <p:sp>
        <p:nvSpPr>
          <p:cNvPr id="13" name="Rectangle 12"/>
          <p:cNvSpPr/>
          <p:nvPr/>
        </p:nvSpPr>
        <p:spPr>
          <a:xfrm>
            <a:off x="128407" y="729966"/>
            <a:ext cx="11935185" cy="4955203"/>
          </a:xfrm>
          <a:prstGeom prst="rect">
            <a:avLst/>
          </a:prstGeom>
        </p:spPr>
        <p:txBody>
          <a:bodyPr wrap="square">
            <a:spAutoFit/>
          </a:bodyPr>
          <a:lstStyle/>
          <a:p>
            <a:pPr algn="just">
              <a:spcBef>
                <a:spcPts val="1000"/>
              </a:spcBef>
              <a:buClr>
                <a:srgbClr val="B84742"/>
              </a:buClr>
            </a:pPr>
            <a:r>
              <a:rPr lang="en-US" sz="2800" b="1" dirty="0">
                <a:solidFill>
                  <a:srgbClr val="002060"/>
                </a:solidFill>
              </a:rPr>
              <a:t>Steps :</a:t>
            </a:r>
          </a:p>
          <a:p>
            <a:pPr marL="265113" indent="-265113" algn="just">
              <a:spcBef>
                <a:spcPts val="1000"/>
              </a:spcBef>
              <a:buClr>
                <a:srgbClr val="B84742"/>
              </a:buClr>
              <a:buFont typeface="Wingdings 3" panose="05040102010807070707" pitchFamily="18" charset="2"/>
              <a:buChar char=""/>
            </a:pPr>
            <a:r>
              <a:rPr lang="en-US" sz="2800" b="1" dirty="0">
                <a:solidFill>
                  <a:srgbClr val="002060"/>
                </a:solidFill>
              </a:rPr>
              <a:t>Check for circuits (loops)</a:t>
            </a:r>
          </a:p>
          <a:p>
            <a:pPr marL="514350" indent="-514350" algn="just">
              <a:lnSpc>
                <a:spcPct val="150000"/>
              </a:lnSpc>
              <a:spcBef>
                <a:spcPts val="1000"/>
              </a:spcBef>
              <a:buClr>
                <a:srgbClr val="B84742"/>
              </a:buClr>
              <a:buFont typeface="+mj-lt"/>
              <a:buAutoNum type="arabicPeriod"/>
            </a:pPr>
            <a:r>
              <a:rPr lang="en-US" sz="2800" dirty="0">
                <a:solidFill>
                  <a:srgbClr val="002060"/>
                </a:solidFill>
              </a:rPr>
              <a:t>If the graph G has </a:t>
            </a:r>
            <a:r>
              <a:rPr lang="en-US" sz="2800" dirty="0">
                <a:solidFill>
                  <a:srgbClr val="FF0000"/>
                </a:solidFill>
              </a:rPr>
              <a:t>no circuits</a:t>
            </a:r>
            <a:r>
              <a:rPr lang="en-US" sz="2800" dirty="0">
                <a:solidFill>
                  <a:srgbClr val="002060"/>
                </a:solidFill>
              </a:rPr>
              <a:t>, it is already a spanning tree.</a:t>
            </a:r>
          </a:p>
          <a:p>
            <a:pPr marL="514350" indent="-514350" algn="just">
              <a:lnSpc>
                <a:spcPct val="150000"/>
              </a:lnSpc>
              <a:spcBef>
                <a:spcPts val="1000"/>
              </a:spcBef>
              <a:buClr>
                <a:srgbClr val="B84742"/>
              </a:buClr>
              <a:buFont typeface="+mj-lt"/>
              <a:buAutoNum type="arabicPeriod"/>
            </a:pPr>
            <a:r>
              <a:rPr lang="en-US" sz="2800" b="1" dirty="0">
                <a:solidFill>
                  <a:srgbClr val="002060"/>
                </a:solidFill>
              </a:rPr>
              <a:t>If the graph G contains </a:t>
            </a:r>
            <a:r>
              <a:rPr lang="en-US" sz="2800" b="1" dirty="0">
                <a:solidFill>
                  <a:srgbClr val="FF0000"/>
                </a:solidFill>
              </a:rPr>
              <a:t>circuit</a:t>
            </a:r>
            <a:r>
              <a:rPr lang="en-US" sz="2800" b="1" dirty="0">
                <a:solidFill>
                  <a:srgbClr val="002060"/>
                </a:solidFill>
              </a:rPr>
              <a:t>, select any one edge from circuit and remove it.</a:t>
            </a:r>
          </a:p>
          <a:p>
            <a:pPr marL="514350" indent="-514350" algn="just">
              <a:lnSpc>
                <a:spcPct val="150000"/>
              </a:lnSpc>
              <a:spcBef>
                <a:spcPts val="1000"/>
              </a:spcBef>
              <a:buClr>
                <a:srgbClr val="B84742"/>
              </a:buClr>
              <a:buFont typeface="+mj-lt"/>
              <a:buAutoNum type="arabicPeriod"/>
            </a:pPr>
            <a:r>
              <a:rPr lang="en-US" sz="2800" dirty="0">
                <a:solidFill>
                  <a:srgbClr val="002060"/>
                </a:solidFill>
              </a:rPr>
              <a:t>Repeat the process</a:t>
            </a:r>
          </a:p>
          <a:p>
            <a:pPr marL="514350" indent="-514350" algn="just">
              <a:lnSpc>
                <a:spcPct val="150000"/>
              </a:lnSpc>
              <a:spcBef>
                <a:spcPts val="1000"/>
              </a:spcBef>
              <a:buClr>
                <a:srgbClr val="B84742"/>
              </a:buClr>
              <a:buFont typeface="+mj-lt"/>
              <a:buAutoNum type="arabicPeriod"/>
            </a:pPr>
            <a:r>
              <a:rPr lang="en-US" sz="2800" dirty="0">
                <a:solidFill>
                  <a:srgbClr val="002060"/>
                </a:solidFill>
              </a:rPr>
              <a:t>Stop when no circuits remain</a:t>
            </a:r>
          </a:p>
          <a:p>
            <a:pPr marL="514350" indent="-514350" algn="just">
              <a:lnSpc>
                <a:spcPct val="150000"/>
              </a:lnSpc>
              <a:spcBef>
                <a:spcPts val="1000"/>
              </a:spcBef>
              <a:buClr>
                <a:srgbClr val="B84742"/>
              </a:buClr>
              <a:buFont typeface="+mj-lt"/>
              <a:buAutoNum type="arabicPeriod"/>
            </a:pPr>
            <a:r>
              <a:rPr lang="en-US" sz="2800" dirty="0">
                <a:solidFill>
                  <a:srgbClr val="002060"/>
                </a:solidFill>
              </a:rPr>
              <a:t>The resulting graph is connected and acyclic.</a:t>
            </a:r>
          </a:p>
        </p:txBody>
      </p:sp>
    </p:spTree>
    <p:extLst>
      <p:ext uri="{BB962C8B-B14F-4D97-AF65-F5344CB8AC3E}">
        <p14:creationId xmlns:p14="http://schemas.microsoft.com/office/powerpoint/2010/main" val="3598998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6205DD86-315C-53B6-CEEF-A9919650168E}"/>
              </a:ext>
            </a:extLst>
          </p:cNvPr>
          <p:cNvCxnSpPr>
            <a:cxnSpLocks/>
            <a:stCxn id="11" idx="3"/>
            <a:endCxn id="15" idx="7"/>
          </p:cNvCxnSpPr>
          <p:nvPr/>
        </p:nvCxnSpPr>
        <p:spPr>
          <a:xfrm flipH="1" flipV="1">
            <a:off x="2359531" y="1311658"/>
            <a:ext cx="361290" cy="49367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4" name="Straight Connector 23">
            <a:extLst>
              <a:ext uri="{FF2B5EF4-FFF2-40B4-BE49-F238E27FC236}">
                <a16:creationId xmlns:a16="http://schemas.microsoft.com/office/drawing/2014/main" id="{6205DD86-315C-53B6-CEEF-A9919650168E}"/>
              </a:ext>
            </a:extLst>
          </p:cNvPr>
          <p:cNvCxnSpPr>
            <a:cxnSpLocks/>
            <a:stCxn id="8" idx="0"/>
            <a:endCxn id="11" idx="4"/>
          </p:cNvCxnSpPr>
          <p:nvPr/>
        </p:nvCxnSpPr>
        <p:spPr>
          <a:xfrm flipV="1">
            <a:off x="2024276" y="1856246"/>
            <a:ext cx="675457" cy="14400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7" name="Freeform: Shape 34">
            <a:extLst>
              <a:ext uri="{FF2B5EF4-FFF2-40B4-BE49-F238E27FC236}">
                <a16:creationId xmlns:a16="http://schemas.microsoft.com/office/drawing/2014/main" id="{5A43D9D2-4CAA-3544-4E99-2BE62F8BF717}"/>
              </a:ext>
            </a:extLst>
          </p:cNvPr>
          <p:cNvSpPr/>
          <p:nvPr/>
        </p:nvSpPr>
        <p:spPr>
          <a:xfrm rot="15608222" flipV="1">
            <a:off x="2462826" y="2315309"/>
            <a:ext cx="1302703" cy="393948"/>
          </a:xfrm>
          <a:custGeom>
            <a:avLst/>
            <a:gdLst>
              <a:gd name="connsiteX0" fmla="*/ 0 w 2961249"/>
              <a:gd name="connsiteY0" fmla="*/ 436103 h 436103"/>
              <a:gd name="connsiteX1" fmla="*/ 942535 w 2961249"/>
              <a:gd name="connsiteY1" fmla="*/ 63310 h 436103"/>
              <a:gd name="connsiteX2" fmla="*/ 1892104 w 2961249"/>
              <a:gd name="connsiteY2" fmla="*/ 35174 h 436103"/>
              <a:gd name="connsiteX3" fmla="*/ 2961249 w 2961249"/>
              <a:gd name="connsiteY3" fmla="*/ 422036 h 436103"/>
              <a:gd name="connsiteX4" fmla="*/ 2961249 w 2961249"/>
              <a:gd name="connsiteY4" fmla="*/ 422036 h 436103"/>
              <a:gd name="connsiteX5" fmla="*/ 2961249 w 2961249"/>
              <a:gd name="connsiteY5" fmla="*/ 422036 h 436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61249" h="436103">
                <a:moveTo>
                  <a:pt x="0" y="436103"/>
                </a:moveTo>
                <a:cubicBezTo>
                  <a:pt x="313592" y="283117"/>
                  <a:pt x="627184" y="130131"/>
                  <a:pt x="942535" y="63310"/>
                </a:cubicBezTo>
                <a:cubicBezTo>
                  <a:pt x="1257886" y="-3512"/>
                  <a:pt x="1555652" y="-24614"/>
                  <a:pt x="1892104" y="35174"/>
                </a:cubicBezTo>
                <a:cubicBezTo>
                  <a:pt x="2228556" y="94962"/>
                  <a:pt x="2961249" y="422036"/>
                  <a:pt x="2961249" y="422036"/>
                </a:cubicBezTo>
                <a:lnTo>
                  <a:pt x="2961249" y="422036"/>
                </a:lnTo>
                <a:lnTo>
                  <a:pt x="2961249" y="422036"/>
                </a:lnTo>
              </a:path>
            </a:pathLst>
          </a:cu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Freeform: Shape 34">
            <a:extLst>
              <a:ext uri="{FF2B5EF4-FFF2-40B4-BE49-F238E27FC236}">
                <a16:creationId xmlns:a16="http://schemas.microsoft.com/office/drawing/2014/main" id="{5A43D9D2-4CAA-3544-4E99-2BE62F8BF717}"/>
              </a:ext>
            </a:extLst>
          </p:cNvPr>
          <p:cNvSpPr/>
          <p:nvPr/>
        </p:nvSpPr>
        <p:spPr>
          <a:xfrm rot="21008222" flipV="1">
            <a:off x="1055646" y="3420515"/>
            <a:ext cx="1906824" cy="306139"/>
          </a:xfrm>
          <a:custGeom>
            <a:avLst/>
            <a:gdLst>
              <a:gd name="connsiteX0" fmla="*/ 0 w 2961249"/>
              <a:gd name="connsiteY0" fmla="*/ 436103 h 436103"/>
              <a:gd name="connsiteX1" fmla="*/ 942535 w 2961249"/>
              <a:gd name="connsiteY1" fmla="*/ 63310 h 436103"/>
              <a:gd name="connsiteX2" fmla="*/ 1892104 w 2961249"/>
              <a:gd name="connsiteY2" fmla="*/ 35174 h 436103"/>
              <a:gd name="connsiteX3" fmla="*/ 2961249 w 2961249"/>
              <a:gd name="connsiteY3" fmla="*/ 422036 h 436103"/>
              <a:gd name="connsiteX4" fmla="*/ 2961249 w 2961249"/>
              <a:gd name="connsiteY4" fmla="*/ 422036 h 436103"/>
              <a:gd name="connsiteX5" fmla="*/ 2961249 w 2961249"/>
              <a:gd name="connsiteY5" fmla="*/ 422036 h 436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61249" h="436103">
                <a:moveTo>
                  <a:pt x="0" y="436103"/>
                </a:moveTo>
                <a:cubicBezTo>
                  <a:pt x="313592" y="283117"/>
                  <a:pt x="627184" y="130131"/>
                  <a:pt x="942535" y="63310"/>
                </a:cubicBezTo>
                <a:cubicBezTo>
                  <a:pt x="1257886" y="-3512"/>
                  <a:pt x="1555652" y="-24614"/>
                  <a:pt x="1892104" y="35174"/>
                </a:cubicBezTo>
                <a:cubicBezTo>
                  <a:pt x="2228556" y="94962"/>
                  <a:pt x="2961249" y="422036"/>
                  <a:pt x="2961249" y="422036"/>
                </a:cubicBezTo>
                <a:lnTo>
                  <a:pt x="2961249" y="422036"/>
                </a:lnTo>
                <a:lnTo>
                  <a:pt x="2961249" y="422036"/>
                </a:lnTo>
              </a:path>
            </a:pathLst>
          </a:cu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5" name="Straight Connector 24">
            <a:extLst>
              <a:ext uri="{FF2B5EF4-FFF2-40B4-BE49-F238E27FC236}">
                <a16:creationId xmlns:a16="http://schemas.microsoft.com/office/drawing/2014/main" id="{6205DD86-315C-53B6-CEEF-A9919650168E}"/>
              </a:ext>
            </a:extLst>
          </p:cNvPr>
          <p:cNvCxnSpPr>
            <a:cxnSpLocks/>
            <a:stCxn id="18" idx="7"/>
            <a:endCxn id="14" idx="4"/>
          </p:cNvCxnSpPr>
          <p:nvPr/>
        </p:nvCxnSpPr>
        <p:spPr>
          <a:xfrm>
            <a:off x="2054100" y="2833536"/>
            <a:ext cx="855386" cy="40233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a:extLst>
              <a:ext uri="{FF2B5EF4-FFF2-40B4-BE49-F238E27FC236}">
                <a16:creationId xmlns:a16="http://schemas.microsoft.com/office/drawing/2014/main" id="{6205DD86-315C-53B6-CEEF-A9919650168E}"/>
              </a:ext>
            </a:extLst>
          </p:cNvPr>
          <p:cNvCxnSpPr>
            <a:cxnSpLocks/>
            <a:stCxn id="18" idx="4"/>
            <a:endCxn id="6" idx="7"/>
          </p:cNvCxnSpPr>
          <p:nvPr/>
        </p:nvCxnSpPr>
        <p:spPr>
          <a:xfrm flipH="1" flipV="1">
            <a:off x="878429" y="2391794"/>
            <a:ext cx="1052759" cy="39083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1" name="Straight Connector 20">
            <a:extLst>
              <a:ext uri="{FF2B5EF4-FFF2-40B4-BE49-F238E27FC236}">
                <a16:creationId xmlns:a16="http://schemas.microsoft.com/office/drawing/2014/main" id="{6205DD86-315C-53B6-CEEF-A9919650168E}"/>
              </a:ext>
            </a:extLst>
          </p:cNvPr>
          <p:cNvCxnSpPr>
            <a:cxnSpLocks/>
            <a:stCxn id="19" idx="2"/>
            <a:endCxn id="6" idx="6"/>
          </p:cNvCxnSpPr>
          <p:nvPr/>
        </p:nvCxnSpPr>
        <p:spPr>
          <a:xfrm flipH="1" flipV="1">
            <a:off x="827517" y="2412882"/>
            <a:ext cx="144000" cy="108012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0" name="Straight Connector 19">
            <a:extLst>
              <a:ext uri="{FF2B5EF4-FFF2-40B4-BE49-F238E27FC236}">
                <a16:creationId xmlns:a16="http://schemas.microsoft.com/office/drawing/2014/main" id="{6205DD86-315C-53B6-CEEF-A9919650168E}"/>
              </a:ext>
            </a:extLst>
          </p:cNvPr>
          <p:cNvCxnSpPr>
            <a:cxnSpLocks/>
            <a:stCxn id="19" idx="1"/>
            <a:endCxn id="18" idx="5"/>
          </p:cNvCxnSpPr>
          <p:nvPr/>
        </p:nvCxnSpPr>
        <p:spPr>
          <a:xfrm flipV="1">
            <a:off x="1022429" y="2833536"/>
            <a:ext cx="929847" cy="68055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 name="Oval 5">
            <a:extLst>
              <a:ext uri="{FF2B5EF4-FFF2-40B4-BE49-F238E27FC236}">
                <a16:creationId xmlns:a16="http://schemas.microsoft.com/office/drawing/2014/main" id="{BDD11F87-DA81-9510-C1CB-0AF4093562CB}"/>
              </a:ext>
            </a:extLst>
          </p:cNvPr>
          <p:cNvSpPr/>
          <p:nvPr/>
        </p:nvSpPr>
        <p:spPr>
          <a:xfrm rot="5400000">
            <a:off x="755517" y="226888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 name="Straight Connector 6">
            <a:extLst>
              <a:ext uri="{FF2B5EF4-FFF2-40B4-BE49-F238E27FC236}">
                <a16:creationId xmlns:a16="http://schemas.microsoft.com/office/drawing/2014/main" id="{6205DD86-315C-53B6-CEEF-A9919650168E}"/>
              </a:ext>
            </a:extLst>
          </p:cNvPr>
          <p:cNvCxnSpPr>
            <a:cxnSpLocks/>
            <a:stCxn id="8" idx="5"/>
            <a:endCxn id="6" idx="0"/>
          </p:cNvCxnSpPr>
          <p:nvPr/>
        </p:nvCxnSpPr>
        <p:spPr>
          <a:xfrm flipH="1">
            <a:off x="899517" y="2051158"/>
            <a:ext cx="1001847" cy="28972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8" name="Oval 7">
            <a:extLst>
              <a:ext uri="{FF2B5EF4-FFF2-40B4-BE49-F238E27FC236}">
                <a16:creationId xmlns:a16="http://schemas.microsoft.com/office/drawing/2014/main" id="{BDD11F87-DA81-9510-C1CB-0AF4093562CB}"/>
              </a:ext>
            </a:extLst>
          </p:cNvPr>
          <p:cNvSpPr/>
          <p:nvPr/>
        </p:nvSpPr>
        <p:spPr>
          <a:xfrm rot="5400000">
            <a:off x="1880276" y="192824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0" name="Straight Connector 9">
            <a:extLst>
              <a:ext uri="{FF2B5EF4-FFF2-40B4-BE49-F238E27FC236}">
                <a16:creationId xmlns:a16="http://schemas.microsoft.com/office/drawing/2014/main" id="{6205DD86-315C-53B6-CEEF-A9919650168E}"/>
              </a:ext>
            </a:extLst>
          </p:cNvPr>
          <p:cNvCxnSpPr>
            <a:cxnSpLocks/>
            <a:stCxn id="15" idx="5"/>
            <a:endCxn id="8" idx="1"/>
          </p:cNvCxnSpPr>
          <p:nvPr/>
        </p:nvCxnSpPr>
        <p:spPr>
          <a:xfrm flipH="1">
            <a:off x="2003188" y="1311658"/>
            <a:ext cx="254519" cy="63767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1" name="Oval 10">
            <a:extLst>
              <a:ext uri="{FF2B5EF4-FFF2-40B4-BE49-F238E27FC236}">
                <a16:creationId xmlns:a16="http://schemas.microsoft.com/office/drawing/2014/main" id="{BDD11F87-DA81-9510-C1CB-0AF4093562CB}"/>
              </a:ext>
            </a:extLst>
          </p:cNvPr>
          <p:cNvSpPr/>
          <p:nvPr/>
        </p:nvSpPr>
        <p:spPr>
          <a:xfrm rot="5400000">
            <a:off x="2699733" y="178424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2" name="Straight Connector 11">
            <a:extLst>
              <a:ext uri="{FF2B5EF4-FFF2-40B4-BE49-F238E27FC236}">
                <a16:creationId xmlns:a16="http://schemas.microsoft.com/office/drawing/2014/main" id="{6205DD86-315C-53B6-CEEF-A9919650168E}"/>
              </a:ext>
            </a:extLst>
          </p:cNvPr>
          <p:cNvCxnSpPr>
            <a:cxnSpLocks/>
            <a:stCxn id="14" idx="2"/>
            <a:endCxn id="11" idx="6"/>
          </p:cNvCxnSpPr>
          <p:nvPr/>
        </p:nvCxnSpPr>
        <p:spPr>
          <a:xfrm flipH="1" flipV="1">
            <a:off x="2771733" y="1928246"/>
            <a:ext cx="209753" cy="123562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4" name="Oval 13">
            <a:extLst>
              <a:ext uri="{FF2B5EF4-FFF2-40B4-BE49-F238E27FC236}">
                <a16:creationId xmlns:a16="http://schemas.microsoft.com/office/drawing/2014/main" id="{BDD11F87-DA81-9510-C1CB-0AF4093562CB}"/>
              </a:ext>
            </a:extLst>
          </p:cNvPr>
          <p:cNvSpPr/>
          <p:nvPr/>
        </p:nvSpPr>
        <p:spPr>
          <a:xfrm rot="5400000">
            <a:off x="2909486" y="316387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5" name="Oval 14">
            <a:extLst>
              <a:ext uri="{FF2B5EF4-FFF2-40B4-BE49-F238E27FC236}">
                <a16:creationId xmlns:a16="http://schemas.microsoft.com/office/drawing/2014/main" id="{BDD11F87-DA81-9510-C1CB-0AF4093562CB}"/>
              </a:ext>
            </a:extLst>
          </p:cNvPr>
          <p:cNvSpPr/>
          <p:nvPr/>
        </p:nvSpPr>
        <p:spPr>
          <a:xfrm rot="5400000">
            <a:off x="2236619" y="118874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8" name="Oval 17">
            <a:extLst>
              <a:ext uri="{FF2B5EF4-FFF2-40B4-BE49-F238E27FC236}">
                <a16:creationId xmlns:a16="http://schemas.microsoft.com/office/drawing/2014/main" id="{BDD11F87-DA81-9510-C1CB-0AF4093562CB}"/>
              </a:ext>
            </a:extLst>
          </p:cNvPr>
          <p:cNvSpPr/>
          <p:nvPr/>
        </p:nvSpPr>
        <p:spPr>
          <a:xfrm rot="5400000">
            <a:off x="1931188" y="271062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9" name="Oval 18">
            <a:extLst>
              <a:ext uri="{FF2B5EF4-FFF2-40B4-BE49-F238E27FC236}">
                <a16:creationId xmlns:a16="http://schemas.microsoft.com/office/drawing/2014/main" id="{BDD11F87-DA81-9510-C1CB-0AF4093562CB}"/>
              </a:ext>
            </a:extLst>
          </p:cNvPr>
          <p:cNvSpPr/>
          <p:nvPr/>
        </p:nvSpPr>
        <p:spPr>
          <a:xfrm rot="5400000">
            <a:off x="899517" y="349300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2" name="Straight Connector 21">
            <a:extLst>
              <a:ext uri="{FF2B5EF4-FFF2-40B4-BE49-F238E27FC236}">
                <a16:creationId xmlns:a16="http://schemas.microsoft.com/office/drawing/2014/main" id="{6205DD86-315C-53B6-CEEF-A9919650168E}"/>
              </a:ext>
            </a:extLst>
          </p:cNvPr>
          <p:cNvCxnSpPr>
            <a:cxnSpLocks/>
            <a:stCxn id="18" idx="2"/>
            <a:endCxn id="8" idx="6"/>
          </p:cNvCxnSpPr>
          <p:nvPr/>
        </p:nvCxnSpPr>
        <p:spPr>
          <a:xfrm flipH="1" flipV="1">
            <a:off x="1952276" y="2072246"/>
            <a:ext cx="50912" cy="63837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3" name="Straight Connector 22">
            <a:extLst>
              <a:ext uri="{FF2B5EF4-FFF2-40B4-BE49-F238E27FC236}">
                <a16:creationId xmlns:a16="http://schemas.microsoft.com/office/drawing/2014/main" id="{6205DD86-315C-53B6-CEEF-A9919650168E}"/>
              </a:ext>
            </a:extLst>
          </p:cNvPr>
          <p:cNvCxnSpPr>
            <a:cxnSpLocks/>
            <a:stCxn id="14" idx="3"/>
            <a:endCxn id="8" idx="7"/>
          </p:cNvCxnSpPr>
          <p:nvPr/>
        </p:nvCxnSpPr>
        <p:spPr>
          <a:xfrm flipH="1" flipV="1">
            <a:off x="2003188" y="2051158"/>
            <a:ext cx="927386" cy="113380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US" sz="3600" dirty="0">
                <a:solidFill>
                  <a:schemeClr val="tx1"/>
                </a:solidFill>
              </a:rPr>
              <a:t>Find a spanning tree of a connected graph G. </a:t>
            </a:r>
            <a:endParaRPr lang="en-US" dirty="0">
              <a:solidFill>
                <a:schemeClr val="tx1"/>
              </a:solidFill>
            </a:endParaRPr>
          </a:p>
        </p:txBody>
      </p:sp>
      <p:sp>
        <p:nvSpPr>
          <p:cNvPr id="94" name="Rectangle 93"/>
          <p:cNvSpPr/>
          <p:nvPr/>
        </p:nvSpPr>
        <p:spPr>
          <a:xfrm>
            <a:off x="7497567" y="1226524"/>
            <a:ext cx="3631002" cy="1938992"/>
          </a:xfrm>
          <a:prstGeom prst="rect">
            <a:avLst/>
          </a:prstGeom>
        </p:spPr>
        <p:txBody>
          <a:bodyPr wrap="square">
            <a:spAutoFit/>
          </a:bodyPr>
          <a:lstStyle/>
          <a:p>
            <a:pPr algn="ctr"/>
            <a:r>
              <a:rPr lang="en-US" sz="2400" dirty="0">
                <a:solidFill>
                  <a:srgbClr val="002060"/>
                </a:solidFill>
              </a:rPr>
              <a:t>Given graph is connected, contain cycles so apply </a:t>
            </a:r>
            <a:r>
              <a:rPr lang="en-US" sz="2400" b="1" dirty="0">
                <a:solidFill>
                  <a:srgbClr val="002060"/>
                </a:solidFill>
              </a:rPr>
              <a:t>Cycle Removal method</a:t>
            </a:r>
            <a:r>
              <a:rPr lang="en-US" sz="2400" dirty="0">
                <a:solidFill>
                  <a:srgbClr val="002060"/>
                </a:solidFill>
              </a:rPr>
              <a:t> for finding spanning tree of a connected graph  </a:t>
            </a:r>
          </a:p>
        </p:txBody>
      </p:sp>
      <p:sp>
        <p:nvSpPr>
          <p:cNvPr id="2" name="Rectangle 1"/>
          <p:cNvSpPr/>
          <p:nvPr/>
        </p:nvSpPr>
        <p:spPr>
          <a:xfrm>
            <a:off x="3410105" y="3824288"/>
            <a:ext cx="7718464"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lnSpc>
                <a:spcPct val="150000"/>
              </a:lnSpc>
              <a:spcBef>
                <a:spcPts val="1000"/>
              </a:spcBef>
              <a:buClr>
                <a:srgbClr val="B84742"/>
              </a:buClr>
            </a:pPr>
            <a:r>
              <a:rPr lang="en-US" sz="2400" b="1" dirty="0">
                <a:solidFill>
                  <a:srgbClr val="002060"/>
                </a:solidFill>
              </a:rPr>
              <a:t>If the graph G contains </a:t>
            </a:r>
            <a:r>
              <a:rPr lang="en-US" sz="2400" b="1" dirty="0">
                <a:solidFill>
                  <a:srgbClr val="FF0000"/>
                </a:solidFill>
              </a:rPr>
              <a:t>circuit</a:t>
            </a:r>
            <a:r>
              <a:rPr lang="en-US" sz="2400" b="1" dirty="0">
                <a:solidFill>
                  <a:srgbClr val="002060"/>
                </a:solidFill>
              </a:rPr>
              <a:t>, select any one edge from circuit and remove it.</a:t>
            </a:r>
          </a:p>
        </p:txBody>
      </p:sp>
      <p:sp>
        <p:nvSpPr>
          <p:cNvPr id="69" name="TextBox 68"/>
          <p:cNvSpPr txBox="1"/>
          <p:nvPr/>
        </p:nvSpPr>
        <p:spPr>
          <a:xfrm>
            <a:off x="1168002" y="2796680"/>
            <a:ext cx="298480" cy="369332"/>
          </a:xfrm>
          <a:prstGeom prst="rect">
            <a:avLst/>
          </a:prstGeom>
          <a:noFill/>
        </p:spPr>
        <p:txBody>
          <a:bodyPr wrap="none" rtlCol="0">
            <a:spAutoFit/>
          </a:bodyPr>
          <a:lstStyle/>
          <a:p>
            <a:r>
              <a:rPr lang="en-US" dirty="0"/>
              <a:t>1</a:t>
            </a:r>
          </a:p>
        </p:txBody>
      </p:sp>
      <p:sp>
        <p:nvSpPr>
          <p:cNvPr id="74" name="TextBox 73"/>
          <p:cNvSpPr txBox="1"/>
          <p:nvPr/>
        </p:nvSpPr>
        <p:spPr>
          <a:xfrm>
            <a:off x="1481559" y="2232812"/>
            <a:ext cx="298480" cy="369332"/>
          </a:xfrm>
          <a:prstGeom prst="rect">
            <a:avLst/>
          </a:prstGeom>
          <a:noFill/>
        </p:spPr>
        <p:txBody>
          <a:bodyPr wrap="none" rtlCol="0">
            <a:spAutoFit/>
          </a:bodyPr>
          <a:lstStyle/>
          <a:p>
            <a:r>
              <a:rPr lang="en-US" dirty="0"/>
              <a:t>2</a:t>
            </a:r>
          </a:p>
        </p:txBody>
      </p:sp>
      <p:sp>
        <p:nvSpPr>
          <p:cNvPr id="82" name="TextBox 81"/>
          <p:cNvSpPr txBox="1"/>
          <p:nvPr/>
        </p:nvSpPr>
        <p:spPr>
          <a:xfrm>
            <a:off x="2177344" y="1493578"/>
            <a:ext cx="298480" cy="369332"/>
          </a:xfrm>
          <a:prstGeom prst="rect">
            <a:avLst/>
          </a:prstGeom>
          <a:noFill/>
        </p:spPr>
        <p:txBody>
          <a:bodyPr wrap="none" rtlCol="0">
            <a:spAutoFit/>
          </a:bodyPr>
          <a:lstStyle/>
          <a:p>
            <a:r>
              <a:rPr lang="en-US" dirty="0"/>
              <a:t>3</a:t>
            </a:r>
          </a:p>
        </p:txBody>
      </p:sp>
    </p:spTree>
    <p:extLst>
      <p:ext uri="{BB962C8B-B14F-4D97-AF65-F5344CB8AC3E}">
        <p14:creationId xmlns:p14="http://schemas.microsoft.com/office/powerpoint/2010/main" val="3563424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20"/>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2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69"/>
                                        </p:tgtEl>
                                        <p:attrNameLst>
                                          <p:attrName>style.visibility</p:attrName>
                                        </p:attrNameLst>
                                      </p:cBhvr>
                                      <p:to>
                                        <p:strVal val="hidden"/>
                                      </p:to>
                                    </p:set>
                                  </p:childTnLst>
                                </p:cTn>
                              </p:par>
                              <p:par>
                                <p:cTn id="27" presetID="1" presetClass="entr" presetSubtype="0" fill="hold" grpId="0" nodeType="withEffect">
                                  <p:stCondLst>
                                    <p:cond delay="0"/>
                                  </p:stCondLst>
                                  <p:childTnLst>
                                    <p:set>
                                      <p:cBhvr>
                                        <p:cTn id="28" dur="1" fill="hold">
                                          <p:stCondLst>
                                            <p:cond delay="0"/>
                                          </p:stCondLst>
                                        </p:cTn>
                                        <p:tgtEl>
                                          <p:spTgt spid="7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nodeType="clickEffect">
                                  <p:stCondLst>
                                    <p:cond delay="0"/>
                                  </p:stCondLst>
                                  <p:childTnLst>
                                    <p:set>
                                      <p:cBhvr>
                                        <p:cTn id="32" dur="1" fill="hold">
                                          <p:stCondLst>
                                            <p:cond delay="0"/>
                                          </p:stCondLst>
                                        </p:cTn>
                                        <p:tgtEl>
                                          <p:spTgt spid="22"/>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nodeType="clickEffect">
                                  <p:stCondLst>
                                    <p:cond delay="0"/>
                                  </p:stCondLst>
                                  <p:childTnLst>
                                    <p:set>
                                      <p:cBhvr>
                                        <p:cTn id="36" dur="1" fill="hold">
                                          <p:stCondLst>
                                            <p:cond delay="0"/>
                                          </p:stCondLst>
                                        </p:cTn>
                                        <p:tgtEl>
                                          <p:spTgt spid="23"/>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12"/>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1" nodeType="clickEffect">
                                  <p:stCondLst>
                                    <p:cond delay="0"/>
                                  </p:stCondLst>
                                  <p:childTnLst>
                                    <p:set>
                                      <p:cBhvr>
                                        <p:cTn id="44" dur="1" fill="hold">
                                          <p:stCondLst>
                                            <p:cond delay="0"/>
                                          </p:stCondLst>
                                        </p:cTn>
                                        <p:tgtEl>
                                          <p:spTgt spid="27"/>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grpId="1" nodeType="clickEffect">
                                  <p:stCondLst>
                                    <p:cond delay="0"/>
                                  </p:stCondLst>
                                  <p:childTnLst>
                                    <p:set>
                                      <p:cBhvr>
                                        <p:cTn id="48" dur="1" fill="hold">
                                          <p:stCondLst>
                                            <p:cond delay="0"/>
                                          </p:stCondLst>
                                        </p:cTn>
                                        <p:tgtEl>
                                          <p:spTgt spid="74"/>
                                        </p:tgtEl>
                                        <p:attrNameLst>
                                          <p:attrName>style.visibility</p:attrName>
                                        </p:attrNameLst>
                                      </p:cBhvr>
                                      <p:to>
                                        <p:strVal val="hidden"/>
                                      </p:to>
                                    </p:set>
                                  </p:childTnLst>
                                </p:cTn>
                              </p:par>
                              <p:par>
                                <p:cTn id="49" presetID="1" presetClass="entr" presetSubtype="0" fill="hold" grpId="0" nodeType="withEffect">
                                  <p:stCondLst>
                                    <p:cond delay="0"/>
                                  </p:stCondLst>
                                  <p:childTnLst>
                                    <p:set>
                                      <p:cBhvr>
                                        <p:cTn id="50" dur="1" fill="hold">
                                          <p:stCondLst>
                                            <p:cond delay="0"/>
                                          </p:stCondLst>
                                        </p:cTn>
                                        <p:tgtEl>
                                          <p:spTgt spid="8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nodeType="clickEffect">
                                  <p:stCondLst>
                                    <p:cond delay="0"/>
                                  </p:stCondLst>
                                  <p:childTnLst>
                                    <p:set>
                                      <p:cBhvr>
                                        <p:cTn id="54" dur="1" fill="hold">
                                          <p:stCondLst>
                                            <p:cond delay="0"/>
                                          </p:stCondLst>
                                        </p:cTn>
                                        <p:tgtEl>
                                          <p:spTgt spid="16"/>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1" nodeType="clickEffect">
                                  <p:stCondLst>
                                    <p:cond delay="0"/>
                                  </p:stCondLst>
                                  <p:childTnLst>
                                    <p:set>
                                      <p:cBhvr>
                                        <p:cTn id="58" dur="1" fill="hold">
                                          <p:stCondLst>
                                            <p:cond delay="0"/>
                                          </p:stCondLst>
                                        </p:cTn>
                                        <p:tgtEl>
                                          <p:spTgt spid="8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1" animBg="1"/>
      <p:bldP spid="26" grpId="1" animBg="1"/>
      <p:bldP spid="94" grpId="0"/>
      <p:bldP spid="2" grpId="0" animBg="1"/>
      <p:bldP spid="69" grpId="0"/>
      <p:bldP spid="69" grpId="1"/>
      <p:bldP spid="74" grpId="0"/>
      <p:bldP spid="74" grpId="1"/>
      <p:bldP spid="82" grpId="0"/>
      <p:bldP spid="82" grpId="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6205DD86-315C-53B6-CEEF-A9919650168E}"/>
              </a:ext>
            </a:extLst>
          </p:cNvPr>
          <p:cNvCxnSpPr>
            <a:cxnSpLocks/>
            <a:stCxn id="11" idx="3"/>
            <a:endCxn id="15" idx="7"/>
          </p:cNvCxnSpPr>
          <p:nvPr/>
        </p:nvCxnSpPr>
        <p:spPr>
          <a:xfrm flipH="1" flipV="1">
            <a:off x="2359531" y="1311658"/>
            <a:ext cx="361290" cy="49367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4" name="Straight Connector 23">
            <a:extLst>
              <a:ext uri="{FF2B5EF4-FFF2-40B4-BE49-F238E27FC236}">
                <a16:creationId xmlns:a16="http://schemas.microsoft.com/office/drawing/2014/main" id="{6205DD86-315C-53B6-CEEF-A9919650168E}"/>
              </a:ext>
            </a:extLst>
          </p:cNvPr>
          <p:cNvCxnSpPr>
            <a:cxnSpLocks/>
            <a:stCxn id="8" idx="0"/>
            <a:endCxn id="11" idx="4"/>
          </p:cNvCxnSpPr>
          <p:nvPr/>
        </p:nvCxnSpPr>
        <p:spPr>
          <a:xfrm flipV="1">
            <a:off x="2024276" y="1856246"/>
            <a:ext cx="675457" cy="14400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7" name="Freeform: Shape 34">
            <a:extLst>
              <a:ext uri="{FF2B5EF4-FFF2-40B4-BE49-F238E27FC236}">
                <a16:creationId xmlns:a16="http://schemas.microsoft.com/office/drawing/2014/main" id="{5A43D9D2-4CAA-3544-4E99-2BE62F8BF717}"/>
              </a:ext>
            </a:extLst>
          </p:cNvPr>
          <p:cNvSpPr/>
          <p:nvPr/>
        </p:nvSpPr>
        <p:spPr>
          <a:xfrm rot="15608222" flipV="1">
            <a:off x="2462826" y="2315309"/>
            <a:ext cx="1302703" cy="393948"/>
          </a:xfrm>
          <a:custGeom>
            <a:avLst/>
            <a:gdLst>
              <a:gd name="connsiteX0" fmla="*/ 0 w 2961249"/>
              <a:gd name="connsiteY0" fmla="*/ 436103 h 436103"/>
              <a:gd name="connsiteX1" fmla="*/ 942535 w 2961249"/>
              <a:gd name="connsiteY1" fmla="*/ 63310 h 436103"/>
              <a:gd name="connsiteX2" fmla="*/ 1892104 w 2961249"/>
              <a:gd name="connsiteY2" fmla="*/ 35174 h 436103"/>
              <a:gd name="connsiteX3" fmla="*/ 2961249 w 2961249"/>
              <a:gd name="connsiteY3" fmla="*/ 422036 h 436103"/>
              <a:gd name="connsiteX4" fmla="*/ 2961249 w 2961249"/>
              <a:gd name="connsiteY4" fmla="*/ 422036 h 436103"/>
              <a:gd name="connsiteX5" fmla="*/ 2961249 w 2961249"/>
              <a:gd name="connsiteY5" fmla="*/ 422036 h 436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61249" h="436103">
                <a:moveTo>
                  <a:pt x="0" y="436103"/>
                </a:moveTo>
                <a:cubicBezTo>
                  <a:pt x="313592" y="283117"/>
                  <a:pt x="627184" y="130131"/>
                  <a:pt x="942535" y="63310"/>
                </a:cubicBezTo>
                <a:cubicBezTo>
                  <a:pt x="1257886" y="-3512"/>
                  <a:pt x="1555652" y="-24614"/>
                  <a:pt x="1892104" y="35174"/>
                </a:cubicBezTo>
                <a:cubicBezTo>
                  <a:pt x="2228556" y="94962"/>
                  <a:pt x="2961249" y="422036"/>
                  <a:pt x="2961249" y="422036"/>
                </a:cubicBezTo>
                <a:lnTo>
                  <a:pt x="2961249" y="422036"/>
                </a:lnTo>
                <a:lnTo>
                  <a:pt x="2961249" y="422036"/>
                </a:lnTo>
              </a:path>
            </a:pathLst>
          </a:cu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Freeform: Shape 34">
            <a:extLst>
              <a:ext uri="{FF2B5EF4-FFF2-40B4-BE49-F238E27FC236}">
                <a16:creationId xmlns:a16="http://schemas.microsoft.com/office/drawing/2014/main" id="{5A43D9D2-4CAA-3544-4E99-2BE62F8BF717}"/>
              </a:ext>
            </a:extLst>
          </p:cNvPr>
          <p:cNvSpPr/>
          <p:nvPr/>
        </p:nvSpPr>
        <p:spPr>
          <a:xfrm rot="21008222" flipV="1">
            <a:off x="1055646" y="3420515"/>
            <a:ext cx="1906824" cy="306139"/>
          </a:xfrm>
          <a:custGeom>
            <a:avLst/>
            <a:gdLst>
              <a:gd name="connsiteX0" fmla="*/ 0 w 2961249"/>
              <a:gd name="connsiteY0" fmla="*/ 436103 h 436103"/>
              <a:gd name="connsiteX1" fmla="*/ 942535 w 2961249"/>
              <a:gd name="connsiteY1" fmla="*/ 63310 h 436103"/>
              <a:gd name="connsiteX2" fmla="*/ 1892104 w 2961249"/>
              <a:gd name="connsiteY2" fmla="*/ 35174 h 436103"/>
              <a:gd name="connsiteX3" fmla="*/ 2961249 w 2961249"/>
              <a:gd name="connsiteY3" fmla="*/ 422036 h 436103"/>
              <a:gd name="connsiteX4" fmla="*/ 2961249 w 2961249"/>
              <a:gd name="connsiteY4" fmla="*/ 422036 h 436103"/>
              <a:gd name="connsiteX5" fmla="*/ 2961249 w 2961249"/>
              <a:gd name="connsiteY5" fmla="*/ 422036 h 436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61249" h="436103">
                <a:moveTo>
                  <a:pt x="0" y="436103"/>
                </a:moveTo>
                <a:cubicBezTo>
                  <a:pt x="313592" y="283117"/>
                  <a:pt x="627184" y="130131"/>
                  <a:pt x="942535" y="63310"/>
                </a:cubicBezTo>
                <a:cubicBezTo>
                  <a:pt x="1257886" y="-3512"/>
                  <a:pt x="1555652" y="-24614"/>
                  <a:pt x="1892104" y="35174"/>
                </a:cubicBezTo>
                <a:cubicBezTo>
                  <a:pt x="2228556" y="94962"/>
                  <a:pt x="2961249" y="422036"/>
                  <a:pt x="2961249" y="422036"/>
                </a:cubicBezTo>
                <a:lnTo>
                  <a:pt x="2961249" y="422036"/>
                </a:lnTo>
                <a:lnTo>
                  <a:pt x="2961249" y="422036"/>
                </a:lnTo>
              </a:path>
            </a:pathLst>
          </a:cu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5" name="Straight Connector 24">
            <a:extLst>
              <a:ext uri="{FF2B5EF4-FFF2-40B4-BE49-F238E27FC236}">
                <a16:creationId xmlns:a16="http://schemas.microsoft.com/office/drawing/2014/main" id="{6205DD86-315C-53B6-CEEF-A9919650168E}"/>
              </a:ext>
            </a:extLst>
          </p:cNvPr>
          <p:cNvCxnSpPr>
            <a:cxnSpLocks/>
            <a:stCxn id="18" idx="7"/>
            <a:endCxn id="14" idx="4"/>
          </p:cNvCxnSpPr>
          <p:nvPr/>
        </p:nvCxnSpPr>
        <p:spPr>
          <a:xfrm>
            <a:off x="2054100" y="2833536"/>
            <a:ext cx="855386" cy="40233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a:extLst>
              <a:ext uri="{FF2B5EF4-FFF2-40B4-BE49-F238E27FC236}">
                <a16:creationId xmlns:a16="http://schemas.microsoft.com/office/drawing/2014/main" id="{6205DD86-315C-53B6-CEEF-A9919650168E}"/>
              </a:ext>
            </a:extLst>
          </p:cNvPr>
          <p:cNvCxnSpPr>
            <a:cxnSpLocks/>
            <a:stCxn id="18" idx="4"/>
            <a:endCxn id="6" idx="7"/>
          </p:cNvCxnSpPr>
          <p:nvPr/>
        </p:nvCxnSpPr>
        <p:spPr>
          <a:xfrm flipH="1" flipV="1">
            <a:off x="878429" y="2391794"/>
            <a:ext cx="1052759" cy="39083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1" name="Straight Connector 20">
            <a:extLst>
              <a:ext uri="{FF2B5EF4-FFF2-40B4-BE49-F238E27FC236}">
                <a16:creationId xmlns:a16="http://schemas.microsoft.com/office/drawing/2014/main" id="{6205DD86-315C-53B6-CEEF-A9919650168E}"/>
              </a:ext>
            </a:extLst>
          </p:cNvPr>
          <p:cNvCxnSpPr>
            <a:cxnSpLocks/>
            <a:stCxn id="19" idx="2"/>
            <a:endCxn id="6" idx="6"/>
          </p:cNvCxnSpPr>
          <p:nvPr/>
        </p:nvCxnSpPr>
        <p:spPr>
          <a:xfrm flipH="1" flipV="1">
            <a:off x="827517" y="2412882"/>
            <a:ext cx="144000" cy="108012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0" name="Straight Connector 19">
            <a:extLst>
              <a:ext uri="{FF2B5EF4-FFF2-40B4-BE49-F238E27FC236}">
                <a16:creationId xmlns:a16="http://schemas.microsoft.com/office/drawing/2014/main" id="{6205DD86-315C-53B6-CEEF-A9919650168E}"/>
              </a:ext>
            </a:extLst>
          </p:cNvPr>
          <p:cNvCxnSpPr>
            <a:cxnSpLocks/>
            <a:stCxn id="19" idx="1"/>
            <a:endCxn id="18" idx="5"/>
          </p:cNvCxnSpPr>
          <p:nvPr/>
        </p:nvCxnSpPr>
        <p:spPr>
          <a:xfrm flipV="1">
            <a:off x="1022429" y="2833536"/>
            <a:ext cx="929847" cy="68055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 name="Oval 5">
            <a:extLst>
              <a:ext uri="{FF2B5EF4-FFF2-40B4-BE49-F238E27FC236}">
                <a16:creationId xmlns:a16="http://schemas.microsoft.com/office/drawing/2014/main" id="{BDD11F87-DA81-9510-C1CB-0AF4093562CB}"/>
              </a:ext>
            </a:extLst>
          </p:cNvPr>
          <p:cNvSpPr/>
          <p:nvPr/>
        </p:nvSpPr>
        <p:spPr>
          <a:xfrm rot="5400000">
            <a:off x="755517" y="226888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 name="Straight Connector 6">
            <a:extLst>
              <a:ext uri="{FF2B5EF4-FFF2-40B4-BE49-F238E27FC236}">
                <a16:creationId xmlns:a16="http://schemas.microsoft.com/office/drawing/2014/main" id="{6205DD86-315C-53B6-CEEF-A9919650168E}"/>
              </a:ext>
            </a:extLst>
          </p:cNvPr>
          <p:cNvCxnSpPr>
            <a:cxnSpLocks/>
            <a:stCxn id="8" idx="5"/>
            <a:endCxn id="6" idx="0"/>
          </p:cNvCxnSpPr>
          <p:nvPr/>
        </p:nvCxnSpPr>
        <p:spPr>
          <a:xfrm flipH="1">
            <a:off x="899517" y="2051158"/>
            <a:ext cx="1001847" cy="28972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8" name="Oval 7">
            <a:extLst>
              <a:ext uri="{FF2B5EF4-FFF2-40B4-BE49-F238E27FC236}">
                <a16:creationId xmlns:a16="http://schemas.microsoft.com/office/drawing/2014/main" id="{BDD11F87-DA81-9510-C1CB-0AF4093562CB}"/>
              </a:ext>
            </a:extLst>
          </p:cNvPr>
          <p:cNvSpPr/>
          <p:nvPr/>
        </p:nvSpPr>
        <p:spPr>
          <a:xfrm rot="5400000">
            <a:off x="1880276" y="192824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0" name="Straight Connector 9">
            <a:extLst>
              <a:ext uri="{FF2B5EF4-FFF2-40B4-BE49-F238E27FC236}">
                <a16:creationId xmlns:a16="http://schemas.microsoft.com/office/drawing/2014/main" id="{6205DD86-315C-53B6-CEEF-A9919650168E}"/>
              </a:ext>
            </a:extLst>
          </p:cNvPr>
          <p:cNvCxnSpPr>
            <a:cxnSpLocks/>
            <a:stCxn id="15" idx="5"/>
            <a:endCxn id="8" idx="1"/>
          </p:cNvCxnSpPr>
          <p:nvPr/>
        </p:nvCxnSpPr>
        <p:spPr>
          <a:xfrm flipH="1">
            <a:off x="2003188" y="1311658"/>
            <a:ext cx="254519" cy="63767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1" name="Oval 10">
            <a:extLst>
              <a:ext uri="{FF2B5EF4-FFF2-40B4-BE49-F238E27FC236}">
                <a16:creationId xmlns:a16="http://schemas.microsoft.com/office/drawing/2014/main" id="{BDD11F87-DA81-9510-C1CB-0AF4093562CB}"/>
              </a:ext>
            </a:extLst>
          </p:cNvPr>
          <p:cNvSpPr/>
          <p:nvPr/>
        </p:nvSpPr>
        <p:spPr>
          <a:xfrm rot="5400000">
            <a:off x="2699733" y="178424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2" name="Straight Connector 11">
            <a:extLst>
              <a:ext uri="{FF2B5EF4-FFF2-40B4-BE49-F238E27FC236}">
                <a16:creationId xmlns:a16="http://schemas.microsoft.com/office/drawing/2014/main" id="{6205DD86-315C-53B6-CEEF-A9919650168E}"/>
              </a:ext>
            </a:extLst>
          </p:cNvPr>
          <p:cNvCxnSpPr>
            <a:cxnSpLocks/>
            <a:stCxn id="14" idx="2"/>
            <a:endCxn id="11" idx="6"/>
          </p:cNvCxnSpPr>
          <p:nvPr/>
        </p:nvCxnSpPr>
        <p:spPr>
          <a:xfrm flipH="1" flipV="1">
            <a:off x="2771733" y="1928246"/>
            <a:ext cx="209753" cy="123562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4" name="Oval 13">
            <a:extLst>
              <a:ext uri="{FF2B5EF4-FFF2-40B4-BE49-F238E27FC236}">
                <a16:creationId xmlns:a16="http://schemas.microsoft.com/office/drawing/2014/main" id="{BDD11F87-DA81-9510-C1CB-0AF4093562CB}"/>
              </a:ext>
            </a:extLst>
          </p:cNvPr>
          <p:cNvSpPr/>
          <p:nvPr/>
        </p:nvSpPr>
        <p:spPr>
          <a:xfrm rot="5400000">
            <a:off x="2909486" y="316387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5" name="Oval 14">
            <a:extLst>
              <a:ext uri="{FF2B5EF4-FFF2-40B4-BE49-F238E27FC236}">
                <a16:creationId xmlns:a16="http://schemas.microsoft.com/office/drawing/2014/main" id="{BDD11F87-DA81-9510-C1CB-0AF4093562CB}"/>
              </a:ext>
            </a:extLst>
          </p:cNvPr>
          <p:cNvSpPr/>
          <p:nvPr/>
        </p:nvSpPr>
        <p:spPr>
          <a:xfrm rot="5400000">
            <a:off x="2236619" y="118874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8" name="Oval 17">
            <a:extLst>
              <a:ext uri="{FF2B5EF4-FFF2-40B4-BE49-F238E27FC236}">
                <a16:creationId xmlns:a16="http://schemas.microsoft.com/office/drawing/2014/main" id="{BDD11F87-DA81-9510-C1CB-0AF4093562CB}"/>
              </a:ext>
            </a:extLst>
          </p:cNvPr>
          <p:cNvSpPr/>
          <p:nvPr/>
        </p:nvSpPr>
        <p:spPr>
          <a:xfrm rot="5400000">
            <a:off x="1931188" y="271062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9" name="Oval 18">
            <a:extLst>
              <a:ext uri="{FF2B5EF4-FFF2-40B4-BE49-F238E27FC236}">
                <a16:creationId xmlns:a16="http://schemas.microsoft.com/office/drawing/2014/main" id="{BDD11F87-DA81-9510-C1CB-0AF4093562CB}"/>
              </a:ext>
            </a:extLst>
          </p:cNvPr>
          <p:cNvSpPr/>
          <p:nvPr/>
        </p:nvSpPr>
        <p:spPr>
          <a:xfrm rot="5400000">
            <a:off x="899517" y="349300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2" name="Straight Connector 21">
            <a:extLst>
              <a:ext uri="{FF2B5EF4-FFF2-40B4-BE49-F238E27FC236}">
                <a16:creationId xmlns:a16="http://schemas.microsoft.com/office/drawing/2014/main" id="{6205DD86-315C-53B6-CEEF-A9919650168E}"/>
              </a:ext>
            </a:extLst>
          </p:cNvPr>
          <p:cNvCxnSpPr>
            <a:cxnSpLocks/>
            <a:stCxn id="18" idx="2"/>
            <a:endCxn id="8" idx="6"/>
          </p:cNvCxnSpPr>
          <p:nvPr/>
        </p:nvCxnSpPr>
        <p:spPr>
          <a:xfrm flipH="1" flipV="1">
            <a:off x="1952276" y="2072246"/>
            <a:ext cx="50912" cy="63837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3" name="Straight Connector 22">
            <a:extLst>
              <a:ext uri="{FF2B5EF4-FFF2-40B4-BE49-F238E27FC236}">
                <a16:creationId xmlns:a16="http://schemas.microsoft.com/office/drawing/2014/main" id="{6205DD86-315C-53B6-CEEF-A9919650168E}"/>
              </a:ext>
            </a:extLst>
          </p:cNvPr>
          <p:cNvCxnSpPr>
            <a:cxnSpLocks/>
            <a:stCxn id="14" idx="3"/>
            <a:endCxn id="8" idx="7"/>
          </p:cNvCxnSpPr>
          <p:nvPr/>
        </p:nvCxnSpPr>
        <p:spPr>
          <a:xfrm flipH="1" flipV="1">
            <a:off x="2003188" y="2051158"/>
            <a:ext cx="927386" cy="113380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US" sz="3600" dirty="0">
                <a:solidFill>
                  <a:schemeClr val="tx1"/>
                </a:solidFill>
              </a:rPr>
              <a:t>Find a spanning tree of a connected graph G. </a:t>
            </a:r>
            <a:endParaRPr lang="en-US" dirty="0">
              <a:solidFill>
                <a:schemeClr val="tx1"/>
              </a:solidFill>
            </a:endParaRPr>
          </a:p>
        </p:txBody>
      </p:sp>
      <p:sp>
        <p:nvSpPr>
          <p:cNvPr id="94" name="Rectangle 93"/>
          <p:cNvSpPr/>
          <p:nvPr/>
        </p:nvSpPr>
        <p:spPr>
          <a:xfrm>
            <a:off x="7497567" y="1226524"/>
            <a:ext cx="3631002" cy="1938992"/>
          </a:xfrm>
          <a:prstGeom prst="rect">
            <a:avLst/>
          </a:prstGeom>
        </p:spPr>
        <p:txBody>
          <a:bodyPr wrap="square">
            <a:spAutoFit/>
          </a:bodyPr>
          <a:lstStyle/>
          <a:p>
            <a:pPr algn="ctr"/>
            <a:r>
              <a:rPr lang="en-US" sz="2400" dirty="0">
                <a:solidFill>
                  <a:srgbClr val="002060"/>
                </a:solidFill>
              </a:rPr>
              <a:t>Given graph is connected, contain cycles so apply </a:t>
            </a:r>
            <a:r>
              <a:rPr lang="en-US" sz="2400" b="1" dirty="0">
                <a:solidFill>
                  <a:srgbClr val="002060"/>
                </a:solidFill>
              </a:rPr>
              <a:t>Cycle Removal method</a:t>
            </a:r>
            <a:r>
              <a:rPr lang="en-US" sz="2400" dirty="0">
                <a:solidFill>
                  <a:srgbClr val="002060"/>
                </a:solidFill>
              </a:rPr>
              <a:t> for finding spanning tree of a connected graph  </a:t>
            </a:r>
          </a:p>
        </p:txBody>
      </p:sp>
      <p:sp>
        <p:nvSpPr>
          <p:cNvPr id="2" name="Rectangle 1"/>
          <p:cNvSpPr/>
          <p:nvPr/>
        </p:nvSpPr>
        <p:spPr>
          <a:xfrm>
            <a:off x="3410105" y="3824288"/>
            <a:ext cx="7718464"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lnSpc>
                <a:spcPct val="150000"/>
              </a:lnSpc>
              <a:spcBef>
                <a:spcPts val="1000"/>
              </a:spcBef>
              <a:buClr>
                <a:srgbClr val="B84742"/>
              </a:buClr>
            </a:pPr>
            <a:r>
              <a:rPr lang="en-US" sz="2400" b="1" dirty="0">
                <a:solidFill>
                  <a:srgbClr val="002060"/>
                </a:solidFill>
              </a:rPr>
              <a:t>If the graph G contains </a:t>
            </a:r>
            <a:r>
              <a:rPr lang="en-US" sz="2400" b="1" dirty="0">
                <a:solidFill>
                  <a:srgbClr val="FF0000"/>
                </a:solidFill>
              </a:rPr>
              <a:t>circuit</a:t>
            </a:r>
            <a:r>
              <a:rPr lang="en-US" sz="2400" b="1" dirty="0">
                <a:solidFill>
                  <a:srgbClr val="002060"/>
                </a:solidFill>
              </a:rPr>
              <a:t>, select any one edge from circuit and remove it.</a:t>
            </a:r>
          </a:p>
        </p:txBody>
      </p:sp>
      <p:sp>
        <p:nvSpPr>
          <p:cNvPr id="69" name="TextBox 68"/>
          <p:cNvSpPr txBox="1"/>
          <p:nvPr/>
        </p:nvSpPr>
        <p:spPr>
          <a:xfrm>
            <a:off x="1168002" y="2796680"/>
            <a:ext cx="298480" cy="369332"/>
          </a:xfrm>
          <a:prstGeom prst="rect">
            <a:avLst/>
          </a:prstGeom>
          <a:noFill/>
        </p:spPr>
        <p:txBody>
          <a:bodyPr wrap="none" rtlCol="0">
            <a:spAutoFit/>
          </a:bodyPr>
          <a:lstStyle/>
          <a:p>
            <a:r>
              <a:rPr lang="en-US" dirty="0"/>
              <a:t>1</a:t>
            </a:r>
          </a:p>
        </p:txBody>
      </p:sp>
      <p:sp>
        <p:nvSpPr>
          <p:cNvPr id="28" name="TextBox 27"/>
          <p:cNvSpPr txBox="1"/>
          <p:nvPr/>
        </p:nvSpPr>
        <p:spPr>
          <a:xfrm>
            <a:off x="1842480" y="3191566"/>
            <a:ext cx="298480" cy="369332"/>
          </a:xfrm>
          <a:prstGeom prst="rect">
            <a:avLst/>
          </a:prstGeom>
          <a:noFill/>
        </p:spPr>
        <p:txBody>
          <a:bodyPr wrap="none" rtlCol="0">
            <a:spAutoFit/>
          </a:bodyPr>
          <a:lstStyle/>
          <a:p>
            <a:r>
              <a:rPr lang="en-US" dirty="0"/>
              <a:t>2</a:t>
            </a:r>
          </a:p>
        </p:txBody>
      </p:sp>
      <p:sp>
        <p:nvSpPr>
          <p:cNvPr id="29" name="TextBox 28"/>
          <p:cNvSpPr txBox="1"/>
          <p:nvPr/>
        </p:nvSpPr>
        <p:spPr>
          <a:xfrm>
            <a:off x="2941056" y="2342668"/>
            <a:ext cx="298480" cy="369332"/>
          </a:xfrm>
          <a:prstGeom prst="rect">
            <a:avLst/>
          </a:prstGeom>
          <a:noFill/>
        </p:spPr>
        <p:txBody>
          <a:bodyPr wrap="none" rtlCol="0">
            <a:spAutoFit/>
          </a:bodyPr>
          <a:lstStyle/>
          <a:p>
            <a:r>
              <a:rPr lang="en-US" dirty="0"/>
              <a:t>3</a:t>
            </a:r>
          </a:p>
        </p:txBody>
      </p:sp>
    </p:spTree>
    <p:extLst>
      <p:ext uri="{BB962C8B-B14F-4D97-AF65-F5344CB8AC3E}">
        <p14:creationId xmlns:p14="http://schemas.microsoft.com/office/powerpoint/2010/main" val="632675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22"/>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23"/>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24"/>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6"/>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1" nodeType="clickEffect">
                                  <p:stCondLst>
                                    <p:cond delay="0"/>
                                  </p:stCondLst>
                                  <p:childTnLst>
                                    <p:set>
                                      <p:cBhvr>
                                        <p:cTn id="38" dur="1" fill="hold">
                                          <p:stCondLst>
                                            <p:cond delay="0"/>
                                          </p:stCondLst>
                                        </p:cTn>
                                        <p:tgtEl>
                                          <p:spTgt spid="69"/>
                                        </p:tgtEl>
                                        <p:attrNameLst>
                                          <p:attrName>style.visibility</p:attrName>
                                        </p:attrNameLst>
                                      </p:cBhvr>
                                      <p:to>
                                        <p:strVal val="hidden"/>
                                      </p:to>
                                    </p:set>
                                  </p:childTnLst>
                                </p:cTn>
                              </p:par>
                              <p:par>
                                <p:cTn id="39" presetID="1" presetClass="entr" presetSubtype="0" fill="hold" grpId="0" nodeType="withEffect">
                                  <p:stCondLst>
                                    <p:cond delay="0"/>
                                  </p:stCondLst>
                                  <p:childTnLst>
                                    <p:set>
                                      <p:cBhvr>
                                        <p:cTn id="40" dur="1" fill="hold">
                                          <p:stCondLst>
                                            <p:cond delay="0"/>
                                          </p:stCondLst>
                                        </p:cTn>
                                        <p:tgtEl>
                                          <p:spTgt spid="2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0" nodeType="clickEffect">
                                  <p:stCondLst>
                                    <p:cond delay="0"/>
                                  </p:stCondLst>
                                  <p:childTnLst>
                                    <p:set>
                                      <p:cBhvr>
                                        <p:cTn id="44" dur="1" fill="hold">
                                          <p:stCondLst>
                                            <p:cond delay="0"/>
                                          </p:stCondLst>
                                        </p:cTn>
                                        <p:tgtEl>
                                          <p:spTgt spid="26"/>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grpId="1" nodeType="clickEffect">
                                  <p:stCondLst>
                                    <p:cond delay="0"/>
                                  </p:stCondLst>
                                  <p:childTnLst>
                                    <p:set>
                                      <p:cBhvr>
                                        <p:cTn id="48" dur="1" fill="hold">
                                          <p:stCondLst>
                                            <p:cond delay="0"/>
                                          </p:stCondLst>
                                        </p:cTn>
                                        <p:tgtEl>
                                          <p:spTgt spid="28"/>
                                        </p:tgtEl>
                                        <p:attrNameLst>
                                          <p:attrName>style.visibility</p:attrName>
                                        </p:attrNameLst>
                                      </p:cBhvr>
                                      <p:to>
                                        <p:strVal val="hidden"/>
                                      </p:to>
                                    </p:set>
                                  </p:childTnLst>
                                </p:cTn>
                              </p:par>
                              <p:par>
                                <p:cTn id="49" presetID="1" presetClass="entr" presetSubtype="0" fill="hold" grpId="0" nodeType="with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0" nodeType="clickEffect">
                                  <p:stCondLst>
                                    <p:cond delay="0"/>
                                  </p:stCondLst>
                                  <p:childTnLst>
                                    <p:set>
                                      <p:cBhvr>
                                        <p:cTn id="54" dur="1" fill="hold">
                                          <p:stCondLst>
                                            <p:cond delay="0"/>
                                          </p:stCondLst>
                                        </p:cTn>
                                        <p:tgtEl>
                                          <p:spTgt spid="27"/>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1" nodeType="clickEffect">
                                  <p:stCondLst>
                                    <p:cond delay="0"/>
                                  </p:stCondLst>
                                  <p:childTnLst>
                                    <p:set>
                                      <p:cBhvr>
                                        <p:cTn id="58" dur="1" fill="hold">
                                          <p:stCondLst>
                                            <p:cond delay="0"/>
                                          </p:stCondLst>
                                        </p:cTn>
                                        <p:tgtEl>
                                          <p:spTgt spid="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6" grpId="0" animBg="1"/>
      <p:bldP spid="94" grpId="0"/>
      <p:bldP spid="2" grpId="0" animBg="1"/>
      <p:bldP spid="69" grpId="0"/>
      <p:bldP spid="69" grpId="1"/>
      <p:bldP spid="28" grpId="0"/>
      <p:bldP spid="28" grpId="1"/>
      <p:bldP spid="29" grpId="0"/>
      <p:bldP spid="29" grpId="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Freeform: Shape 34">
            <a:extLst>
              <a:ext uri="{FF2B5EF4-FFF2-40B4-BE49-F238E27FC236}">
                <a16:creationId xmlns:a16="http://schemas.microsoft.com/office/drawing/2014/main" id="{5A43D9D2-4CAA-3544-4E99-2BE62F8BF717}"/>
              </a:ext>
            </a:extLst>
          </p:cNvPr>
          <p:cNvSpPr/>
          <p:nvPr/>
        </p:nvSpPr>
        <p:spPr>
          <a:xfrm rot="21008222" flipV="1">
            <a:off x="3131561" y="3420516"/>
            <a:ext cx="1906824" cy="306139"/>
          </a:xfrm>
          <a:custGeom>
            <a:avLst/>
            <a:gdLst>
              <a:gd name="connsiteX0" fmla="*/ 0 w 2961249"/>
              <a:gd name="connsiteY0" fmla="*/ 436103 h 436103"/>
              <a:gd name="connsiteX1" fmla="*/ 942535 w 2961249"/>
              <a:gd name="connsiteY1" fmla="*/ 63310 h 436103"/>
              <a:gd name="connsiteX2" fmla="*/ 1892104 w 2961249"/>
              <a:gd name="connsiteY2" fmla="*/ 35174 h 436103"/>
              <a:gd name="connsiteX3" fmla="*/ 2961249 w 2961249"/>
              <a:gd name="connsiteY3" fmla="*/ 422036 h 436103"/>
              <a:gd name="connsiteX4" fmla="*/ 2961249 w 2961249"/>
              <a:gd name="connsiteY4" fmla="*/ 422036 h 436103"/>
              <a:gd name="connsiteX5" fmla="*/ 2961249 w 2961249"/>
              <a:gd name="connsiteY5" fmla="*/ 422036 h 436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61249" h="436103">
                <a:moveTo>
                  <a:pt x="0" y="436103"/>
                </a:moveTo>
                <a:cubicBezTo>
                  <a:pt x="313592" y="283117"/>
                  <a:pt x="627184" y="130131"/>
                  <a:pt x="942535" y="63310"/>
                </a:cubicBezTo>
                <a:cubicBezTo>
                  <a:pt x="1257886" y="-3512"/>
                  <a:pt x="1555652" y="-24614"/>
                  <a:pt x="1892104" y="35174"/>
                </a:cubicBezTo>
                <a:cubicBezTo>
                  <a:pt x="2228556" y="94962"/>
                  <a:pt x="2961249" y="422036"/>
                  <a:pt x="2961249" y="422036"/>
                </a:cubicBezTo>
                <a:lnTo>
                  <a:pt x="2961249" y="422036"/>
                </a:lnTo>
                <a:lnTo>
                  <a:pt x="2961249" y="422036"/>
                </a:lnTo>
              </a:path>
            </a:pathLst>
          </a:cu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Oval 37">
            <a:extLst>
              <a:ext uri="{FF2B5EF4-FFF2-40B4-BE49-F238E27FC236}">
                <a16:creationId xmlns:a16="http://schemas.microsoft.com/office/drawing/2014/main" id="{BDD11F87-DA81-9510-C1CB-0AF4093562CB}"/>
              </a:ext>
            </a:extLst>
          </p:cNvPr>
          <p:cNvSpPr/>
          <p:nvPr/>
        </p:nvSpPr>
        <p:spPr>
          <a:xfrm rot="5400000">
            <a:off x="2831432" y="226888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1" name="Straight Connector 40">
            <a:extLst>
              <a:ext uri="{FF2B5EF4-FFF2-40B4-BE49-F238E27FC236}">
                <a16:creationId xmlns:a16="http://schemas.microsoft.com/office/drawing/2014/main" id="{6205DD86-315C-53B6-CEEF-A9919650168E}"/>
              </a:ext>
            </a:extLst>
          </p:cNvPr>
          <p:cNvCxnSpPr>
            <a:cxnSpLocks/>
            <a:stCxn id="45" idx="5"/>
            <a:endCxn id="65" idx="2"/>
          </p:cNvCxnSpPr>
          <p:nvPr/>
        </p:nvCxnSpPr>
        <p:spPr>
          <a:xfrm flipH="1">
            <a:off x="4049279" y="1311659"/>
            <a:ext cx="284343" cy="60669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2" name="Oval 41">
            <a:extLst>
              <a:ext uri="{FF2B5EF4-FFF2-40B4-BE49-F238E27FC236}">
                <a16:creationId xmlns:a16="http://schemas.microsoft.com/office/drawing/2014/main" id="{BDD11F87-DA81-9510-C1CB-0AF4093562CB}"/>
              </a:ext>
            </a:extLst>
          </p:cNvPr>
          <p:cNvSpPr/>
          <p:nvPr/>
        </p:nvSpPr>
        <p:spPr>
          <a:xfrm rot="5400000">
            <a:off x="4775648" y="178424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4" name="Oval 43">
            <a:extLst>
              <a:ext uri="{FF2B5EF4-FFF2-40B4-BE49-F238E27FC236}">
                <a16:creationId xmlns:a16="http://schemas.microsoft.com/office/drawing/2014/main" id="{BDD11F87-DA81-9510-C1CB-0AF4093562CB}"/>
              </a:ext>
            </a:extLst>
          </p:cNvPr>
          <p:cNvSpPr/>
          <p:nvPr/>
        </p:nvSpPr>
        <p:spPr>
          <a:xfrm rot="5400000">
            <a:off x="4985401" y="316387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5" name="Oval 44">
            <a:extLst>
              <a:ext uri="{FF2B5EF4-FFF2-40B4-BE49-F238E27FC236}">
                <a16:creationId xmlns:a16="http://schemas.microsoft.com/office/drawing/2014/main" id="{BDD11F87-DA81-9510-C1CB-0AF4093562CB}"/>
              </a:ext>
            </a:extLst>
          </p:cNvPr>
          <p:cNvSpPr/>
          <p:nvPr/>
        </p:nvSpPr>
        <p:spPr>
          <a:xfrm rot="5400000">
            <a:off x="4312534" y="118874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9" name="Oval 48">
            <a:extLst>
              <a:ext uri="{FF2B5EF4-FFF2-40B4-BE49-F238E27FC236}">
                <a16:creationId xmlns:a16="http://schemas.microsoft.com/office/drawing/2014/main" id="{BDD11F87-DA81-9510-C1CB-0AF4093562CB}"/>
              </a:ext>
            </a:extLst>
          </p:cNvPr>
          <p:cNvSpPr/>
          <p:nvPr/>
        </p:nvSpPr>
        <p:spPr>
          <a:xfrm rot="5400000">
            <a:off x="2975432" y="349300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1" name="Straight Connector 50">
            <a:extLst>
              <a:ext uri="{FF2B5EF4-FFF2-40B4-BE49-F238E27FC236}">
                <a16:creationId xmlns:a16="http://schemas.microsoft.com/office/drawing/2014/main" id="{6205DD86-315C-53B6-CEEF-A9919650168E}"/>
              </a:ext>
            </a:extLst>
          </p:cNvPr>
          <p:cNvCxnSpPr>
            <a:cxnSpLocks/>
            <a:stCxn id="49" idx="2"/>
            <a:endCxn id="38" idx="6"/>
          </p:cNvCxnSpPr>
          <p:nvPr/>
        </p:nvCxnSpPr>
        <p:spPr>
          <a:xfrm flipH="1" flipV="1">
            <a:off x="2903432" y="2412883"/>
            <a:ext cx="144000" cy="108012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3" name="Straight Connector 52">
            <a:extLst>
              <a:ext uri="{FF2B5EF4-FFF2-40B4-BE49-F238E27FC236}">
                <a16:creationId xmlns:a16="http://schemas.microsoft.com/office/drawing/2014/main" id="{6205DD86-315C-53B6-CEEF-A9919650168E}"/>
              </a:ext>
            </a:extLst>
          </p:cNvPr>
          <p:cNvCxnSpPr>
            <a:cxnSpLocks/>
            <a:stCxn id="44" idx="3"/>
            <a:endCxn id="65" idx="7"/>
          </p:cNvCxnSpPr>
          <p:nvPr/>
        </p:nvCxnSpPr>
        <p:spPr>
          <a:xfrm flipH="1" flipV="1">
            <a:off x="4100191" y="2041265"/>
            <a:ext cx="906298" cy="114369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4" name="Straight Connector 53">
            <a:extLst>
              <a:ext uri="{FF2B5EF4-FFF2-40B4-BE49-F238E27FC236}">
                <a16:creationId xmlns:a16="http://schemas.microsoft.com/office/drawing/2014/main" id="{6205DD86-315C-53B6-CEEF-A9919650168E}"/>
              </a:ext>
            </a:extLst>
          </p:cNvPr>
          <p:cNvCxnSpPr>
            <a:cxnSpLocks/>
            <a:stCxn id="65" idx="0"/>
            <a:endCxn id="42" idx="5"/>
          </p:cNvCxnSpPr>
          <p:nvPr/>
        </p:nvCxnSpPr>
        <p:spPr>
          <a:xfrm flipV="1">
            <a:off x="4121279" y="1907159"/>
            <a:ext cx="675457" cy="8319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5" name="Oval 64">
            <a:extLst>
              <a:ext uri="{FF2B5EF4-FFF2-40B4-BE49-F238E27FC236}">
                <a16:creationId xmlns:a16="http://schemas.microsoft.com/office/drawing/2014/main" id="{BDD11F87-DA81-9510-C1CB-0AF4093562CB}"/>
              </a:ext>
            </a:extLst>
          </p:cNvPr>
          <p:cNvSpPr/>
          <p:nvPr/>
        </p:nvSpPr>
        <p:spPr>
          <a:xfrm rot="5400000">
            <a:off x="3977279" y="191835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6" name="Oval 65">
            <a:extLst>
              <a:ext uri="{FF2B5EF4-FFF2-40B4-BE49-F238E27FC236}">
                <a16:creationId xmlns:a16="http://schemas.microsoft.com/office/drawing/2014/main" id="{BDD11F87-DA81-9510-C1CB-0AF4093562CB}"/>
              </a:ext>
            </a:extLst>
          </p:cNvPr>
          <p:cNvSpPr/>
          <p:nvPr/>
        </p:nvSpPr>
        <p:spPr>
          <a:xfrm rot="5400000">
            <a:off x="6816639" y="226888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7" name="Straight Connector 66">
            <a:extLst>
              <a:ext uri="{FF2B5EF4-FFF2-40B4-BE49-F238E27FC236}">
                <a16:creationId xmlns:a16="http://schemas.microsoft.com/office/drawing/2014/main" id="{6205DD86-315C-53B6-CEEF-A9919650168E}"/>
              </a:ext>
            </a:extLst>
          </p:cNvPr>
          <p:cNvCxnSpPr>
            <a:cxnSpLocks/>
            <a:stCxn id="68" idx="5"/>
            <a:endCxn id="66" idx="0"/>
          </p:cNvCxnSpPr>
          <p:nvPr/>
        </p:nvCxnSpPr>
        <p:spPr>
          <a:xfrm flipH="1">
            <a:off x="6960639" y="2051159"/>
            <a:ext cx="1001847" cy="28972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8" name="Oval 67">
            <a:extLst>
              <a:ext uri="{FF2B5EF4-FFF2-40B4-BE49-F238E27FC236}">
                <a16:creationId xmlns:a16="http://schemas.microsoft.com/office/drawing/2014/main" id="{BDD11F87-DA81-9510-C1CB-0AF4093562CB}"/>
              </a:ext>
            </a:extLst>
          </p:cNvPr>
          <p:cNvSpPr/>
          <p:nvPr/>
        </p:nvSpPr>
        <p:spPr>
          <a:xfrm rot="5400000">
            <a:off x="7941398" y="192824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0" name="Oval 69">
            <a:extLst>
              <a:ext uri="{FF2B5EF4-FFF2-40B4-BE49-F238E27FC236}">
                <a16:creationId xmlns:a16="http://schemas.microsoft.com/office/drawing/2014/main" id="{BDD11F87-DA81-9510-C1CB-0AF4093562CB}"/>
              </a:ext>
            </a:extLst>
          </p:cNvPr>
          <p:cNvSpPr/>
          <p:nvPr/>
        </p:nvSpPr>
        <p:spPr>
          <a:xfrm rot="5400000">
            <a:off x="8760855" y="178424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1" name="Straight Connector 70">
            <a:extLst>
              <a:ext uri="{FF2B5EF4-FFF2-40B4-BE49-F238E27FC236}">
                <a16:creationId xmlns:a16="http://schemas.microsoft.com/office/drawing/2014/main" id="{6205DD86-315C-53B6-CEEF-A9919650168E}"/>
              </a:ext>
            </a:extLst>
          </p:cNvPr>
          <p:cNvCxnSpPr>
            <a:cxnSpLocks/>
            <a:stCxn id="72" idx="2"/>
            <a:endCxn id="70" idx="6"/>
          </p:cNvCxnSpPr>
          <p:nvPr/>
        </p:nvCxnSpPr>
        <p:spPr>
          <a:xfrm flipH="1" flipV="1">
            <a:off x="8832855" y="1928247"/>
            <a:ext cx="209753" cy="123562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2" name="Oval 71">
            <a:extLst>
              <a:ext uri="{FF2B5EF4-FFF2-40B4-BE49-F238E27FC236}">
                <a16:creationId xmlns:a16="http://schemas.microsoft.com/office/drawing/2014/main" id="{BDD11F87-DA81-9510-C1CB-0AF4093562CB}"/>
              </a:ext>
            </a:extLst>
          </p:cNvPr>
          <p:cNvSpPr/>
          <p:nvPr/>
        </p:nvSpPr>
        <p:spPr>
          <a:xfrm rot="5400000">
            <a:off x="8970608" y="316387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3" name="Oval 72">
            <a:extLst>
              <a:ext uri="{FF2B5EF4-FFF2-40B4-BE49-F238E27FC236}">
                <a16:creationId xmlns:a16="http://schemas.microsoft.com/office/drawing/2014/main" id="{BDD11F87-DA81-9510-C1CB-0AF4093562CB}"/>
              </a:ext>
            </a:extLst>
          </p:cNvPr>
          <p:cNvSpPr/>
          <p:nvPr/>
        </p:nvSpPr>
        <p:spPr>
          <a:xfrm rot="5400000">
            <a:off x="8297741" y="118874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5" name="Straight Connector 74">
            <a:extLst>
              <a:ext uri="{FF2B5EF4-FFF2-40B4-BE49-F238E27FC236}">
                <a16:creationId xmlns:a16="http://schemas.microsoft.com/office/drawing/2014/main" id="{6205DD86-315C-53B6-CEEF-A9919650168E}"/>
              </a:ext>
            </a:extLst>
          </p:cNvPr>
          <p:cNvCxnSpPr>
            <a:cxnSpLocks/>
            <a:stCxn id="76" idx="4"/>
            <a:endCxn id="66" idx="0"/>
          </p:cNvCxnSpPr>
          <p:nvPr/>
        </p:nvCxnSpPr>
        <p:spPr>
          <a:xfrm flipH="1" flipV="1">
            <a:off x="6960639" y="2340883"/>
            <a:ext cx="1031671" cy="44174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6" name="Oval 75">
            <a:extLst>
              <a:ext uri="{FF2B5EF4-FFF2-40B4-BE49-F238E27FC236}">
                <a16:creationId xmlns:a16="http://schemas.microsoft.com/office/drawing/2014/main" id="{BDD11F87-DA81-9510-C1CB-0AF4093562CB}"/>
              </a:ext>
            </a:extLst>
          </p:cNvPr>
          <p:cNvSpPr/>
          <p:nvPr/>
        </p:nvSpPr>
        <p:spPr>
          <a:xfrm rot="5400000">
            <a:off x="7992310" y="271062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7" name="Oval 76">
            <a:extLst>
              <a:ext uri="{FF2B5EF4-FFF2-40B4-BE49-F238E27FC236}">
                <a16:creationId xmlns:a16="http://schemas.microsoft.com/office/drawing/2014/main" id="{BDD11F87-DA81-9510-C1CB-0AF4093562CB}"/>
              </a:ext>
            </a:extLst>
          </p:cNvPr>
          <p:cNvSpPr/>
          <p:nvPr/>
        </p:nvSpPr>
        <p:spPr>
          <a:xfrm rot="5400000">
            <a:off x="6960639" y="349300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8" name="Straight Connector 77">
            <a:extLst>
              <a:ext uri="{FF2B5EF4-FFF2-40B4-BE49-F238E27FC236}">
                <a16:creationId xmlns:a16="http://schemas.microsoft.com/office/drawing/2014/main" id="{6205DD86-315C-53B6-CEEF-A9919650168E}"/>
              </a:ext>
            </a:extLst>
          </p:cNvPr>
          <p:cNvCxnSpPr>
            <a:cxnSpLocks/>
            <a:stCxn id="77" idx="0"/>
            <a:endCxn id="76" idx="5"/>
          </p:cNvCxnSpPr>
          <p:nvPr/>
        </p:nvCxnSpPr>
        <p:spPr>
          <a:xfrm flipV="1">
            <a:off x="7104639" y="2833537"/>
            <a:ext cx="908759" cy="73146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9" name="Straight Connector 78">
            <a:extLst>
              <a:ext uri="{FF2B5EF4-FFF2-40B4-BE49-F238E27FC236}">
                <a16:creationId xmlns:a16="http://schemas.microsoft.com/office/drawing/2014/main" id="{6205DD86-315C-53B6-CEEF-A9919650168E}"/>
              </a:ext>
            </a:extLst>
          </p:cNvPr>
          <p:cNvCxnSpPr>
            <a:cxnSpLocks/>
            <a:stCxn id="77" idx="2"/>
            <a:endCxn id="66" idx="6"/>
          </p:cNvCxnSpPr>
          <p:nvPr/>
        </p:nvCxnSpPr>
        <p:spPr>
          <a:xfrm flipH="1" flipV="1">
            <a:off x="6888639" y="2412883"/>
            <a:ext cx="144000" cy="108012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0" name="Straight Connector 79">
            <a:extLst>
              <a:ext uri="{FF2B5EF4-FFF2-40B4-BE49-F238E27FC236}">
                <a16:creationId xmlns:a16="http://schemas.microsoft.com/office/drawing/2014/main" id="{6205DD86-315C-53B6-CEEF-A9919650168E}"/>
              </a:ext>
            </a:extLst>
          </p:cNvPr>
          <p:cNvCxnSpPr>
            <a:cxnSpLocks/>
            <a:stCxn id="76" idx="2"/>
            <a:endCxn id="68" idx="6"/>
          </p:cNvCxnSpPr>
          <p:nvPr/>
        </p:nvCxnSpPr>
        <p:spPr>
          <a:xfrm flipH="1" flipV="1">
            <a:off x="8013398" y="2072247"/>
            <a:ext cx="50912" cy="63837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1" name="Straight Connector 80">
            <a:extLst>
              <a:ext uri="{FF2B5EF4-FFF2-40B4-BE49-F238E27FC236}">
                <a16:creationId xmlns:a16="http://schemas.microsoft.com/office/drawing/2014/main" id="{6205DD86-315C-53B6-CEEF-A9919650168E}"/>
              </a:ext>
            </a:extLst>
          </p:cNvPr>
          <p:cNvCxnSpPr>
            <a:cxnSpLocks/>
            <a:stCxn id="72" idx="3"/>
            <a:endCxn id="68" idx="7"/>
          </p:cNvCxnSpPr>
          <p:nvPr/>
        </p:nvCxnSpPr>
        <p:spPr>
          <a:xfrm flipH="1" flipV="1">
            <a:off x="8064310" y="2051159"/>
            <a:ext cx="927386" cy="113380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3" name="Straight Connector 82">
            <a:extLst>
              <a:ext uri="{FF2B5EF4-FFF2-40B4-BE49-F238E27FC236}">
                <a16:creationId xmlns:a16="http://schemas.microsoft.com/office/drawing/2014/main" id="{6205DD86-315C-53B6-CEEF-A9919650168E}"/>
              </a:ext>
            </a:extLst>
          </p:cNvPr>
          <p:cNvCxnSpPr>
            <a:cxnSpLocks/>
            <a:stCxn id="76" idx="7"/>
            <a:endCxn id="72" idx="4"/>
          </p:cNvCxnSpPr>
          <p:nvPr/>
        </p:nvCxnSpPr>
        <p:spPr>
          <a:xfrm>
            <a:off x="8115222" y="2833537"/>
            <a:ext cx="855386" cy="40233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84" name="Freeform: Shape 34">
            <a:extLst>
              <a:ext uri="{FF2B5EF4-FFF2-40B4-BE49-F238E27FC236}">
                <a16:creationId xmlns:a16="http://schemas.microsoft.com/office/drawing/2014/main" id="{5A43D9D2-4CAA-3544-4E99-2BE62F8BF717}"/>
              </a:ext>
            </a:extLst>
          </p:cNvPr>
          <p:cNvSpPr/>
          <p:nvPr/>
        </p:nvSpPr>
        <p:spPr>
          <a:xfrm rot="21008222" flipV="1">
            <a:off x="7116768" y="3420516"/>
            <a:ext cx="1906824" cy="306139"/>
          </a:xfrm>
          <a:custGeom>
            <a:avLst/>
            <a:gdLst>
              <a:gd name="connsiteX0" fmla="*/ 0 w 2961249"/>
              <a:gd name="connsiteY0" fmla="*/ 436103 h 436103"/>
              <a:gd name="connsiteX1" fmla="*/ 942535 w 2961249"/>
              <a:gd name="connsiteY1" fmla="*/ 63310 h 436103"/>
              <a:gd name="connsiteX2" fmla="*/ 1892104 w 2961249"/>
              <a:gd name="connsiteY2" fmla="*/ 35174 h 436103"/>
              <a:gd name="connsiteX3" fmla="*/ 2961249 w 2961249"/>
              <a:gd name="connsiteY3" fmla="*/ 422036 h 436103"/>
              <a:gd name="connsiteX4" fmla="*/ 2961249 w 2961249"/>
              <a:gd name="connsiteY4" fmla="*/ 422036 h 436103"/>
              <a:gd name="connsiteX5" fmla="*/ 2961249 w 2961249"/>
              <a:gd name="connsiteY5" fmla="*/ 422036 h 436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61249" h="436103">
                <a:moveTo>
                  <a:pt x="0" y="436103"/>
                </a:moveTo>
                <a:cubicBezTo>
                  <a:pt x="313592" y="283117"/>
                  <a:pt x="627184" y="130131"/>
                  <a:pt x="942535" y="63310"/>
                </a:cubicBezTo>
                <a:cubicBezTo>
                  <a:pt x="1257886" y="-3512"/>
                  <a:pt x="1555652" y="-24614"/>
                  <a:pt x="1892104" y="35174"/>
                </a:cubicBezTo>
                <a:cubicBezTo>
                  <a:pt x="2228556" y="94962"/>
                  <a:pt x="2961249" y="422036"/>
                  <a:pt x="2961249" y="422036"/>
                </a:cubicBezTo>
                <a:lnTo>
                  <a:pt x="2961249" y="422036"/>
                </a:lnTo>
                <a:lnTo>
                  <a:pt x="2961249" y="422036"/>
                </a:lnTo>
              </a:path>
            </a:pathLst>
          </a:cu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5" name="Freeform: Shape 34">
            <a:extLst>
              <a:ext uri="{FF2B5EF4-FFF2-40B4-BE49-F238E27FC236}">
                <a16:creationId xmlns:a16="http://schemas.microsoft.com/office/drawing/2014/main" id="{5A43D9D2-4CAA-3544-4E99-2BE62F8BF717}"/>
              </a:ext>
            </a:extLst>
          </p:cNvPr>
          <p:cNvSpPr/>
          <p:nvPr/>
        </p:nvSpPr>
        <p:spPr>
          <a:xfrm rot="15608222" flipV="1">
            <a:off x="8523948" y="2315310"/>
            <a:ext cx="1302703" cy="393948"/>
          </a:xfrm>
          <a:custGeom>
            <a:avLst/>
            <a:gdLst>
              <a:gd name="connsiteX0" fmla="*/ 0 w 2961249"/>
              <a:gd name="connsiteY0" fmla="*/ 436103 h 436103"/>
              <a:gd name="connsiteX1" fmla="*/ 942535 w 2961249"/>
              <a:gd name="connsiteY1" fmla="*/ 63310 h 436103"/>
              <a:gd name="connsiteX2" fmla="*/ 1892104 w 2961249"/>
              <a:gd name="connsiteY2" fmla="*/ 35174 h 436103"/>
              <a:gd name="connsiteX3" fmla="*/ 2961249 w 2961249"/>
              <a:gd name="connsiteY3" fmla="*/ 422036 h 436103"/>
              <a:gd name="connsiteX4" fmla="*/ 2961249 w 2961249"/>
              <a:gd name="connsiteY4" fmla="*/ 422036 h 436103"/>
              <a:gd name="connsiteX5" fmla="*/ 2961249 w 2961249"/>
              <a:gd name="connsiteY5" fmla="*/ 422036 h 436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61249" h="436103">
                <a:moveTo>
                  <a:pt x="0" y="436103"/>
                </a:moveTo>
                <a:cubicBezTo>
                  <a:pt x="313592" y="283117"/>
                  <a:pt x="627184" y="130131"/>
                  <a:pt x="942535" y="63310"/>
                </a:cubicBezTo>
                <a:cubicBezTo>
                  <a:pt x="1257886" y="-3512"/>
                  <a:pt x="1555652" y="-24614"/>
                  <a:pt x="1892104" y="35174"/>
                </a:cubicBezTo>
                <a:cubicBezTo>
                  <a:pt x="2228556" y="94962"/>
                  <a:pt x="2961249" y="422036"/>
                  <a:pt x="2961249" y="422036"/>
                </a:cubicBezTo>
                <a:lnTo>
                  <a:pt x="2961249" y="422036"/>
                </a:lnTo>
                <a:lnTo>
                  <a:pt x="2961249" y="422036"/>
                </a:lnTo>
              </a:path>
            </a:pathLst>
          </a:cu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US" sz="3600" dirty="0">
                <a:solidFill>
                  <a:schemeClr val="tx1"/>
                </a:solidFill>
              </a:rPr>
              <a:t>Find a spanning tree of a connected graph G. </a:t>
            </a:r>
            <a:endParaRPr lang="en-US" dirty="0">
              <a:solidFill>
                <a:schemeClr val="tx1"/>
              </a:solidFill>
            </a:endParaRPr>
          </a:p>
        </p:txBody>
      </p:sp>
      <p:sp>
        <p:nvSpPr>
          <p:cNvPr id="95" name="Rectangle 94"/>
          <p:cNvSpPr/>
          <p:nvPr/>
        </p:nvSpPr>
        <p:spPr>
          <a:xfrm>
            <a:off x="2120820" y="4159697"/>
            <a:ext cx="3844854" cy="1200329"/>
          </a:xfrm>
          <a:prstGeom prst="rect">
            <a:avLst/>
          </a:prstGeom>
        </p:spPr>
        <p:txBody>
          <a:bodyPr wrap="square">
            <a:spAutoFit/>
          </a:bodyPr>
          <a:lstStyle/>
          <a:p>
            <a:pPr algn="ctr"/>
            <a:r>
              <a:rPr lang="en-US" sz="2400" dirty="0">
                <a:solidFill>
                  <a:srgbClr val="002060"/>
                </a:solidFill>
              </a:rPr>
              <a:t>Given graph is connected, and contain no cycle so graph itself is a spanning tree</a:t>
            </a:r>
          </a:p>
        </p:txBody>
      </p:sp>
      <p:sp>
        <p:nvSpPr>
          <p:cNvPr id="96" name="Rectangle 95"/>
          <p:cNvSpPr/>
          <p:nvPr/>
        </p:nvSpPr>
        <p:spPr>
          <a:xfrm>
            <a:off x="6162971" y="4158854"/>
            <a:ext cx="3844854" cy="1200329"/>
          </a:xfrm>
          <a:prstGeom prst="rect">
            <a:avLst/>
          </a:prstGeom>
        </p:spPr>
        <p:txBody>
          <a:bodyPr wrap="square">
            <a:spAutoFit/>
          </a:bodyPr>
          <a:lstStyle/>
          <a:p>
            <a:pPr algn="ctr"/>
            <a:r>
              <a:rPr lang="en-US" sz="2400" dirty="0">
                <a:solidFill>
                  <a:srgbClr val="002060"/>
                </a:solidFill>
              </a:rPr>
              <a:t>Given graph is disconnected, so graph does not have a spanning tree</a:t>
            </a:r>
          </a:p>
        </p:txBody>
      </p:sp>
    </p:spTree>
    <p:extLst>
      <p:ext uri="{BB962C8B-B14F-4D97-AF65-F5344CB8AC3E}">
        <p14:creationId xmlns:p14="http://schemas.microsoft.com/office/powerpoint/2010/main" val="3589296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7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6"/>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7"/>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7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80"/>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81"/>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8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8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38" grpId="0" animBg="1"/>
      <p:bldP spid="42" grpId="0" animBg="1"/>
      <p:bldP spid="44" grpId="0" animBg="1"/>
      <p:bldP spid="45" grpId="0" animBg="1"/>
      <p:bldP spid="49" grpId="0" animBg="1"/>
      <p:bldP spid="65" grpId="0" animBg="1"/>
      <p:bldP spid="66" grpId="0" animBg="1"/>
      <p:bldP spid="68" grpId="0" animBg="1"/>
      <p:bldP spid="70" grpId="0" animBg="1"/>
      <p:bldP spid="72" grpId="0" animBg="1"/>
      <p:bldP spid="73" grpId="0" animBg="1"/>
      <p:bldP spid="76" grpId="0" animBg="1"/>
      <p:bldP spid="77" grpId="0" animBg="1"/>
      <p:bldP spid="84" grpId="0" animBg="1"/>
      <p:bldP spid="85" grpId="0" animBg="1"/>
      <p:bldP spid="95" grpId="0"/>
      <p:bldP spid="96"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US" dirty="0"/>
              <a:t>Important Term</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131182" y="818866"/>
                <a:ext cx="11728722" cy="5635143"/>
              </a:xfrm>
            </p:spPr>
            <p:txBody>
              <a:bodyPr/>
              <a:lstStyle/>
              <a:p>
                <a:pPr>
                  <a:lnSpc>
                    <a:spcPct val="150000"/>
                  </a:lnSpc>
                </a:pPr>
                <a:r>
                  <a:rPr lang="en-IN" b="1" dirty="0"/>
                  <a:t>Definition: </a:t>
                </a:r>
                <a:r>
                  <a:rPr lang="en-US" dirty="0"/>
                  <a:t>An </a:t>
                </a:r>
                <a:r>
                  <a:rPr lang="en-US" b="1" dirty="0"/>
                  <a:t>edge in a spanning tree</a:t>
                </a:r>
                <a:r>
                  <a:rPr lang="en-US" dirty="0"/>
                  <a:t> T is called a </a:t>
                </a:r>
                <a:r>
                  <a:rPr lang="en-US" b="1" dirty="0">
                    <a:solidFill>
                      <a:srgbClr val="FF0000"/>
                    </a:solidFill>
                  </a:rPr>
                  <a:t>branch</a:t>
                </a:r>
                <a:r>
                  <a:rPr lang="en-US" dirty="0"/>
                  <a:t>. </a:t>
                </a:r>
              </a:p>
              <a:p>
                <a:pPr>
                  <a:lnSpc>
                    <a:spcPct val="150000"/>
                  </a:lnSpc>
                </a:pPr>
                <a:r>
                  <a:rPr lang="en-IN" b="1" dirty="0"/>
                  <a:t>Definition: </a:t>
                </a:r>
                <a:r>
                  <a:rPr lang="en-US" dirty="0"/>
                  <a:t>An </a:t>
                </a:r>
                <a:r>
                  <a:rPr lang="en-US" b="1" dirty="0"/>
                  <a:t>edge</a:t>
                </a:r>
                <a:r>
                  <a:rPr lang="en-US" dirty="0"/>
                  <a:t> of G that is </a:t>
                </a:r>
                <a:r>
                  <a:rPr lang="en-US" b="1" dirty="0"/>
                  <a:t>not in a spanning tree </a:t>
                </a:r>
                <a:r>
                  <a:rPr lang="en-US" dirty="0"/>
                  <a:t>T is called a </a:t>
                </a:r>
                <a:r>
                  <a:rPr lang="en-US" b="1" dirty="0">
                    <a:solidFill>
                      <a:srgbClr val="FF0000"/>
                    </a:solidFill>
                  </a:rPr>
                  <a:t>chord</a:t>
                </a:r>
                <a:r>
                  <a:rPr lang="en-US" b="1" dirty="0"/>
                  <a:t>.</a:t>
                </a:r>
              </a:p>
              <a:p>
                <a:pPr>
                  <a:lnSpc>
                    <a:spcPct val="150000"/>
                  </a:lnSpc>
                  <a:buClr>
                    <a:srgbClr val="B84742"/>
                  </a:buClr>
                </a:pPr>
                <a:r>
                  <a:rPr lang="en-US" dirty="0"/>
                  <a:t>A connected graph of</a:t>
                </a:r>
                <a14:m>
                  <m:oMath xmlns:m="http://schemas.openxmlformats.org/officeDocument/2006/math">
                    <m:r>
                      <a:rPr lang="en-US" i="1" dirty="0">
                        <a:latin typeface="Cambria Math" panose="02040503050406030204" pitchFamily="18" charset="0"/>
                      </a:rPr>
                      <m:t> </m:t>
                    </m:r>
                    <m:r>
                      <a:rPr lang="en-US" b="1" dirty="0">
                        <a:latin typeface="Cambria Math" panose="02040503050406030204" pitchFamily="18" charset="0"/>
                      </a:rPr>
                      <m:t>𝐧</m:t>
                    </m:r>
                  </m:oMath>
                </a14:m>
                <a:r>
                  <a:rPr lang="en-US" b="1" dirty="0"/>
                  <a:t> vertices </a:t>
                </a:r>
                <a:r>
                  <a:rPr lang="en-US" dirty="0"/>
                  <a:t>and</a:t>
                </a:r>
                <a14:m>
                  <m:oMath xmlns:m="http://schemas.openxmlformats.org/officeDocument/2006/math">
                    <m:r>
                      <a:rPr lang="en-US" dirty="0">
                        <a:latin typeface="Cambria Math" panose="02040503050406030204" pitchFamily="18" charset="0"/>
                      </a:rPr>
                      <m:t> </m:t>
                    </m:r>
                    <m:r>
                      <a:rPr lang="en-US" b="1" dirty="0">
                        <a:latin typeface="Cambria Math" panose="02040503050406030204" pitchFamily="18" charset="0"/>
                      </a:rPr>
                      <m:t>𝐞</m:t>
                    </m:r>
                    <m:r>
                      <a:rPr lang="en-US" b="1" dirty="0">
                        <a:latin typeface="Cambria Math" panose="02040503050406030204" pitchFamily="18" charset="0"/>
                      </a:rPr>
                      <m:t> </m:t>
                    </m:r>
                  </m:oMath>
                </a14:m>
                <a:r>
                  <a:rPr lang="en-US" b="1" dirty="0"/>
                  <a:t>edges</a:t>
                </a:r>
                <a:r>
                  <a:rPr lang="en-US" dirty="0"/>
                  <a:t> has</a:t>
                </a:r>
                <a14:m>
                  <m:oMath xmlns:m="http://schemas.openxmlformats.org/officeDocument/2006/math">
                    <m:r>
                      <a:rPr lang="en-US" dirty="0">
                        <a:latin typeface="Cambria Math" panose="02040503050406030204" pitchFamily="18" charset="0"/>
                      </a:rPr>
                      <m:t> </m:t>
                    </m:r>
                    <m:r>
                      <a:rPr lang="en-US" b="1" dirty="0" smtClean="0">
                        <a:solidFill>
                          <a:srgbClr val="FF0000"/>
                        </a:solidFill>
                        <a:latin typeface="Cambria Math" panose="02040503050406030204" pitchFamily="18" charset="0"/>
                      </a:rPr>
                      <m:t>𝐧</m:t>
                    </m:r>
                    <m:r>
                      <a:rPr lang="en-US" b="1" dirty="0" smtClean="0">
                        <a:solidFill>
                          <a:srgbClr val="FF0000"/>
                        </a:solidFill>
                        <a:latin typeface="Cambria Math" panose="02040503050406030204" pitchFamily="18" charset="0"/>
                      </a:rPr>
                      <m:t> − </m:t>
                    </m:r>
                    <m:r>
                      <a:rPr lang="en-US" b="1" dirty="0" smtClean="0">
                        <a:solidFill>
                          <a:srgbClr val="FF0000"/>
                        </a:solidFill>
                        <a:latin typeface="Cambria Math" panose="02040503050406030204" pitchFamily="18" charset="0"/>
                      </a:rPr>
                      <m:t>𝟏</m:t>
                    </m:r>
                  </m:oMath>
                </a14:m>
                <a:r>
                  <a:rPr lang="en-US" b="1" dirty="0">
                    <a:solidFill>
                      <a:srgbClr val="FF0000"/>
                    </a:solidFill>
                  </a:rPr>
                  <a:t> branches</a:t>
                </a:r>
                <a:r>
                  <a:rPr lang="en-US" dirty="0"/>
                  <a:t>.</a:t>
                </a:r>
              </a:p>
              <a:p>
                <a:pPr>
                  <a:lnSpc>
                    <a:spcPct val="150000"/>
                  </a:lnSpc>
                  <a:buClr>
                    <a:srgbClr val="B84742"/>
                  </a:buClr>
                </a:pPr>
                <a:r>
                  <a:rPr lang="en-US" dirty="0"/>
                  <a:t>A connected graph of</a:t>
                </a:r>
                <a14:m>
                  <m:oMath xmlns:m="http://schemas.openxmlformats.org/officeDocument/2006/math">
                    <m:r>
                      <a:rPr lang="en-US" b="1" dirty="0">
                        <a:latin typeface="Cambria Math" panose="02040503050406030204" pitchFamily="18" charset="0"/>
                      </a:rPr>
                      <m:t> </m:t>
                    </m:r>
                    <m:r>
                      <a:rPr lang="en-US" b="1" dirty="0">
                        <a:latin typeface="Cambria Math" panose="02040503050406030204" pitchFamily="18" charset="0"/>
                      </a:rPr>
                      <m:t>𝐧</m:t>
                    </m:r>
                  </m:oMath>
                </a14:m>
                <a:r>
                  <a:rPr lang="en-US" b="1" dirty="0"/>
                  <a:t> vertices </a:t>
                </a:r>
                <a:r>
                  <a:rPr lang="en-US" dirty="0"/>
                  <a:t>and</a:t>
                </a:r>
                <a14:m>
                  <m:oMath xmlns:m="http://schemas.openxmlformats.org/officeDocument/2006/math">
                    <m:r>
                      <a:rPr lang="en-US" dirty="0">
                        <a:latin typeface="Cambria Math" panose="02040503050406030204" pitchFamily="18" charset="0"/>
                      </a:rPr>
                      <m:t> </m:t>
                    </m:r>
                    <m:r>
                      <a:rPr lang="en-US" b="1" dirty="0">
                        <a:latin typeface="Cambria Math" panose="02040503050406030204" pitchFamily="18" charset="0"/>
                      </a:rPr>
                      <m:t>𝐞</m:t>
                    </m:r>
                  </m:oMath>
                </a14:m>
                <a:r>
                  <a:rPr lang="en-US" b="1" dirty="0"/>
                  <a:t> edges</a:t>
                </a:r>
                <a:r>
                  <a:rPr lang="en-US" dirty="0"/>
                  <a:t> has</a:t>
                </a:r>
                <a14:m>
                  <m:oMath xmlns:m="http://schemas.openxmlformats.org/officeDocument/2006/math">
                    <m:r>
                      <a:rPr lang="en-US" dirty="0">
                        <a:latin typeface="Cambria Math" panose="02040503050406030204" pitchFamily="18" charset="0"/>
                      </a:rPr>
                      <m:t> </m:t>
                    </m:r>
                    <m:r>
                      <a:rPr lang="en-US" b="1" dirty="0" smtClean="0">
                        <a:solidFill>
                          <a:srgbClr val="FF0000"/>
                        </a:solidFill>
                        <a:latin typeface="Cambria Math" panose="02040503050406030204" pitchFamily="18" charset="0"/>
                      </a:rPr>
                      <m:t>𝐞</m:t>
                    </m:r>
                    <m:r>
                      <a:rPr lang="en-US" b="1" dirty="0" smtClean="0">
                        <a:solidFill>
                          <a:srgbClr val="FF0000"/>
                        </a:solidFill>
                        <a:latin typeface="Cambria Math" panose="02040503050406030204" pitchFamily="18" charset="0"/>
                      </a:rPr>
                      <m:t> − </m:t>
                    </m:r>
                    <m:r>
                      <a:rPr lang="en-US" b="1" dirty="0" smtClean="0">
                        <a:solidFill>
                          <a:srgbClr val="FF0000"/>
                        </a:solidFill>
                        <a:latin typeface="Cambria Math" panose="02040503050406030204" pitchFamily="18" charset="0"/>
                      </a:rPr>
                      <m:t>𝐧</m:t>
                    </m:r>
                    <m:r>
                      <a:rPr lang="en-US" b="1" dirty="0" smtClean="0">
                        <a:solidFill>
                          <a:srgbClr val="FF0000"/>
                        </a:solidFill>
                        <a:latin typeface="Cambria Math" panose="02040503050406030204" pitchFamily="18" charset="0"/>
                      </a:rPr>
                      <m:t> + </m:t>
                    </m:r>
                    <m:r>
                      <a:rPr lang="en-US" b="1" dirty="0" smtClean="0">
                        <a:solidFill>
                          <a:srgbClr val="FF0000"/>
                        </a:solidFill>
                        <a:latin typeface="Cambria Math" panose="02040503050406030204" pitchFamily="18" charset="0"/>
                      </a:rPr>
                      <m:t>𝟏</m:t>
                    </m:r>
                  </m:oMath>
                </a14:m>
                <a:r>
                  <a:rPr lang="en-US" b="1" dirty="0">
                    <a:solidFill>
                      <a:srgbClr val="FF0000"/>
                    </a:solidFill>
                  </a:rPr>
                  <a:t> chords</a:t>
                </a:r>
                <a:r>
                  <a:rPr lang="en-US" b="1" dirty="0"/>
                  <a:t>.</a:t>
                </a:r>
              </a:p>
              <a:p>
                <a:pPr>
                  <a:lnSpc>
                    <a:spcPct val="150000"/>
                  </a:lnSpc>
                  <a:buClr>
                    <a:srgbClr val="B84742"/>
                  </a:buClr>
                </a:pPr>
                <a:r>
                  <a:rPr lang="en-US" b="1" dirty="0">
                    <a:solidFill>
                      <a:srgbClr val="B71B1C"/>
                    </a:solidFill>
                    <a:ea typeface="Calibri" panose="020F0502020204030204" pitchFamily="34" charset="0"/>
                    <a:cs typeface="Shruti" panose="020B0502040204020203" pitchFamily="34" charset="0"/>
                  </a:rPr>
                  <a:t>Rank of a </a:t>
                </a:r>
                <a:r>
                  <a:rPr lang="en-US" b="1" u="sng" dirty="0">
                    <a:solidFill>
                      <a:srgbClr val="B71B1C"/>
                    </a:solidFill>
                    <a:ea typeface="Calibri" panose="020F0502020204030204" pitchFamily="34" charset="0"/>
                    <a:cs typeface="Shruti" panose="020B0502040204020203" pitchFamily="34" charset="0"/>
                  </a:rPr>
                  <a:t>connected graph </a:t>
                </a:r>
                <a14:m>
                  <m:oMath xmlns:m="http://schemas.openxmlformats.org/officeDocument/2006/math">
                    <m:r>
                      <a:rPr lang="en-US" b="1" i="0" dirty="0" smtClean="0">
                        <a:solidFill>
                          <a:srgbClr val="B71B1C"/>
                        </a:solidFill>
                        <a:latin typeface="Cambria Math" panose="02040503050406030204" pitchFamily="18" charset="0"/>
                        <a:ea typeface="Calibri" panose="020F0502020204030204" pitchFamily="34" charset="0"/>
                        <a:cs typeface="Shruti" panose="020B0502040204020203" pitchFamily="34" charset="0"/>
                      </a:rPr>
                      <m:t>𝐆</m:t>
                    </m:r>
                    <m:r>
                      <a:rPr lang="en-US" b="1" i="0" dirty="0" smtClean="0">
                        <a:solidFill>
                          <a:srgbClr val="B71B1C"/>
                        </a:solidFill>
                        <a:latin typeface="Cambria Math" panose="02040503050406030204" pitchFamily="18" charset="0"/>
                        <a:ea typeface="Calibri" panose="020F0502020204030204" pitchFamily="34" charset="0"/>
                        <a:cs typeface="Shruti" panose="020B0502040204020203" pitchFamily="34" charset="0"/>
                      </a:rPr>
                      <m:t>=</m:t>
                    </m:r>
                    <m:r>
                      <a:rPr lang="en-US" b="1" i="0" dirty="0" smtClean="0">
                        <a:solidFill>
                          <a:srgbClr val="B71B1C"/>
                        </a:solidFill>
                        <a:latin typeface="Cambria Math" panose="02040503050406030204" pitchFamily="18" charset="0"/>
                        <a:ea typeface="Calibri" panose="020F0502020204030204" pitchFamily="34" charset="0"/>
                        <a:cs typeface="Shruti" panose="020B0502040204020203" pitchFamily="34" charset="0"/>
                      </a:rPr>
                      <m:t>𝐧</m:t>
                    </m:r>
                    <m:r>
                      <a:rPr lang="en-US" b="1" i="0" dirty="0" smtClean="0">
                        <a:solidFill>
                          <a:srgbClr val="B71B1C"/>
                        </a:solidFill>
                        <a:latin typeface="Cambria Math" panose="02040503050406030204" pitchFamily="18" charset="0"/>
                        <a:ea typeface="Calibri" panose="020F0502020204030204" pitchFamily="34" charset="0"/>
                        <a:cs typeface="Shruti" panose="020B0502040204020203" pitchFamily="34" charset="0"/>
                      </a:rPr>
                      <m:t>−</m:t>
                    </m:r>
                    <m:r>
                      <a:rPr lang="en-US" b="1" i="0" dirty="0" smtClean="0">
                        <a:solidFill>
                          <a:srgbClr val="B71B1C"/>
                        </a:solidFill>
                        <a:latin typeface="Cambria Math" panose="02040503050406030204" pitchFamily="18" charset="0"/>
                        <a:ea typeface="Calibri" panose="020F0502020204030204" pitchFamily="34" charset="0"/>
                        <a:cs typeface="Shruti" panose="020B0502040204020203" pitchFamily="34" charset="0"/>
                      </a:rPr>
                      <m:t>𝟏</m:t>
                    </m:r>
                    <m:r>
                      <a:rPr lang="en-US" b="1" i="0" dirty="0" smtClean="0">
                        <a:solidFill>
                          <a:srgbClr val="B71B1C"/>
                        </a:solidFill>
                        <a:latin typeface="Cambria Math" panose="02040503050406030204" pitchFamily="18" charset="0"/>
                        <a:ea typeface="Calibri" panose="020F0502020204030204" pitchFamily="34" charset="0"/>
                        <a:cs typeface="Shruti" panose="020B0502040204020203" pitchFamily="34" charset="0"/>
                      </a:rPr>
                      <m:t>=</m:t>
                    </m:r>
                  </m:oMath>
                </a14:m>
                <a:r>
                  <a:rPr lang="en-US" b="1" dirty="0"/>
                  <a:t> </a:t>
                </a:r>
                <a:r>
                  <a:rPr lang="en-US" dirty="0"/>
                  <a:t>Total number of branches </a:t>
                </a:r>
              </a:p>
              <a:p>
                <a:pPr>
                  <a:lnSpc>
                    <a:spcPct val="150000"/>
                  </a:lnSpc>
                  <a:buClr>
                    <a:srgbClr val="B84742"/>
                  </a:buClr>
                </a:pPr>
                <a:r>
                  <a:rPr lang="en-US" b="1" dirty="0">
                    <a:solidFill>
                      <a:srgbClr val="B71B1C"/>
                    </a:solidFill>
                    <a:ea typeface="Calibri" panose="020F0502020204030204" pitchFamily="34" charset="0"/>
                    <a:cs typeface="Shruti" panose="020B0502040204020203" pitchFamily="34" charset="0"/>
                  </a:rPr>
                  <a:t>Nullity of a </a:t>
                </a:r>
                <a:r>
                  <a:rPr lang="en-US" b="1" u="sng" dirty="0">
                    <a:solidFill>
                      <a:srgbClr val="B71B1C"/>
                    </a:solidFill>
                    <a:ea typeface="Calibri" panose="020F0502020204030204" pitchFamily="34" charset="0"/>
                    <a:cs typeface="Shruti" panose="020B0502040204020203" pitchFamily="34" charset="0"/>
                  </a:rPr>
                  <a:t>connected graph</a:t>
                </a:r>
                <a14:m>
                  <m:oMath xmlns:m="http://schemas.openxmlformats.org/officeDocument/2006/math">
                    <m:r>
                      <a:rPr lang="en-US" b="1" i="0" dirty="0" smtClean="0">
                        <a:solidFill>
                          <a:srgbClr val="B71B1C"/>
                        </a:solidFill>
                        <a:latin typeface="Cambria Math" panose="02040503050406030204" pitchFamily="18" charset="0"/>
                        <a:ea typeface="Calibri" panose="020F0502020204030204" pitchFamily="34" charset="0"/>
                        <a:cs typeface="Shruti" panose="020B0502040204020203" pitchFamily="34" charset="0"/>
                      </a:rPr>
                      <m:t> </m:t>
                    </m:r>
                    <m:r>
                      <a:rPr lang="en-US" b="1" i="0" dirty="0" smtClean="0">
                        <a:solidFill>
                          <a:srgbClr val="B71B1C"/>
                        </a:solidFill>
                        <a:latin typeface="Cambria Math" panose="02040503050406030204" pitchFamily="18" charset="0"/>
                        <a:ea typeface="Calibri" panose="020F0502020204030204" pitchFamily="34" charset="0"/>
                        <a:cs typeface="Shruti" panose="020B0502040204020203" pitchFamily="34" charset="0"/>
                      </a:rPr>
                      <m:t>𝐆</m:t>
                    </m:r>
                    <m:r>
                      <a:rPr lang="en-US" b="1" i="0" dirty="0" smtClean="0">
                        <a:solidFill>
                          <a:srgbClr val="B71B1C"/>
                        </a:solidFill>
                        <a:latin typeface="Cambria Math" panose="02040503050406030204" pitchFamily="18" charset="0"/>
                        <a:ea typeface="Calibri" panose="020F0502020204030204" pitchFamily="34" charset="0"/>
                        <a:cs typeface="Shruti" panose="020B0502040204020203" pitchFamily="34" charset="0"/>
                      </a:rPr>
                      <m:t>=</m:t>
                    </m:r>
                    <m:r>
                      <a:rPr lang="en-US" b="1" i="0" dirty="0" smtClean="0">
                        <a:solidFill>
                          <a:srgbClr val="B71B1C"/>
                        </a:solidFill>
                        <a:latin typeface="Cambria Math" panose="02040503050406030204" pitchFamily="18" charset="0"/>
                        <a:ea typeface="Calibri" panose="020F0502020204030204" pitchFamily="34" charset="0"/>
                        <a:cs typeface="Shruti" panose="020B0502040204020203" pitchFamily="34" charset="0"/>
                      </a:rPr>
                      <m:t>𝐞</m:t>
                    </m:r>
                    <m:r>
                      <a:rPr lang="en-US" b="1" i="0" dirty="0" smtClean="0">
                        <a:solidFill>
                          <a:srgbClr val="B71B1C"/>
                        </a:solidFill>
                        <a:latin typeface="Cambria Math" panose="02040503050406030204" pitchFamily="18" charset="0"/>
                        <a:ea typeface="Calibri" panose="020F0502020204030204" pitchFamily="34" charset="0"/>
                        <a:cs typeface="Shruti" panose="020B0502040204020203" pitchFamily="34" charset="0"/>
                      </a:rPr>
                      <m:t>−</m:t>
                    </m:r>
                    <m:r>
                      <a:rPr lang="en-US" b="1" i="0" dirty="0" smtClean="0">
                        <a:solidFill>
                          <a:srgbClr val="B71B1C"/>
                        </a:solidFill>
                        <a:latin typeface="Cambria Math" panose="02040503050406030204" pitchFamily="18" charset="0"/>
                        <a:ea typeface="Calibri" panose="020F0502020204030204" pitchFamily="34" charset="0"/>
                        <a:cs typeface="Shruti" panose="020B0502040204020203" pitchFamily="34" charset="0"/>
                      </a:rPr>
                      <m:t>𝐧</m:t>
                    </m:r>
                    <m:r>
                      <a:rPr lang="en-US" b="1" i="0" dirty="0" smtClean="0">
                        <a:solidFill>
                          <a:srgbClr val="B71B1C"/>
                        </a:solidFill>
                        <a:latin typeface="Cambria Math" panose="02040503050406030204" pitchFamily="18" charset="0"/>
                        <a:ea typeface="Calibri" panose="020F0502020204030204" pitchFamily="34" charset="0"/>
                        <a:cs typeface="Shruti" panose="020B0502040204020203" pitchFamily="34" charset="0"/>
                      </a:rPr>
                      <m:t>+</m:t>
                    </m:r>
                    <m:r>
                      <a:rPr lang="en-US" b="1" i="0" dirty="0" smtClean="0">
                        <a:solidFill>
                          <a:srgbClr val="B71B1C"/>
                        </a:solidFill>
                        <a:latin typeface="Cambria Math" panose="02040503050406030204" pitchFamily="18" charset="0"/>
                        <a:ea typeface="Calibri" panose="020F0502020204030204" pitchFamily="34" charset="0"/>
                        <a:cs typeface="Shruti" panose="020B0502040204020203" pitchFamily="34" charset="0"/>
                      </a:rPr>
                      <m:t>𝟏</m:t>
                    </m:r>
                    <m:r>
                      <a:rPr lang="en-US" b="1" i="0" dirty="0" smtClean="0">
                        <a:solidFill>
                          <a:srgbClr val="B71B1C"/>
                        </a:solidFill>
                        <a:latin typeface="Cambria Math" panose="02040503050406030204" pitchFamily="18" charset="0"/>
                        <a:ea typeface="Calibri" panose="020F0502020204030204" pitchFamily="34" charset="0"/>
                        <a:cs typeface="Shruti" panose="020B0502040204020203" pitchFamily="34" charset="0"/>
                      </a:rPr>
                      <m:t>=</m:t>
                    </m:r>
                  </m:oMath>
                </a14:m>
                <a:r>
                  <a:rPr lang="en-US" b="1" dirty="0"/>
                  <a:t> </a:t>
                </a:r>
                <a:r>
                  <a:rPr lang="en-US" dirty="0"/>
                  <a:t>Total number of chords</a:t>
                </a:r>
              </a:p>
              <a:p>
                <a:pPr>
                  <a:lnSpc>
                    <a:spcPct val="150000"/>
                  </a:lnSpc>
                  <a:buClr>
                    <a:srgbClr val="B84742"/>
                  </a:buClr>
                </a:pPr>
                <a:r>
                  <a:rPr lang="en-US" dirty="0">
                    <a:solidFill>
                      <a:srgbClr val="FF0000"/>
                    </a:solidFill>
                    <a:ea typeface="Calibri" panose="020F0502020204030204" pitchFamily="34" charset="0"/>
                    <a:cs typeface="Shruti" panose="020B0502040204020203" pitchFamily="34" charset="0"/>
                  </a:rPr>
                  <a:t>Rank + Nullity</a:t>
                </a:r>
                <a14:m>
                  <m:oMath xmlns:m="http://schemas.openxmlformats.org/officeDocument/2006/math">
                    <m:r>
                      <a:rPr lang="en-US" b="1" i="0" dirty="0" smtClean="0">
                        <a:solidFill>
                          <a:srgbClr val="FF0000"/>
                        </a:solidFill>
                        <a:latin typeface="Cambria Math" panose="02040503050406030204" pitchFamily="18" charset="0"/>
                        <a:ea typeface="Calibri" panose="020F0502020204030204" pitchFamily="34" charset="0"/>
                        <a:cs typeface="Shruti" panose="020B0502040204020203" pitchFamily="34" charset="0"/>
                      </a:rPr>
                      <m:t> </m:t>
                    </m:r>
                    <m:r>
                      <a:rPr lang="en-US" b="1" i="1" dirty="0" smtClean="0">
                        <a:solidFill>
                          <a:srgbClr val="FF0000"/>
                        </a:solidFill>
                        <a:latin typeface="Cambria Math" panose="02040503050406030204" pitchFamily="18" charset="0"/>
                        <a:ea typeface="Calibri" panose="020F0502020204030204" pitchFamily="34" charset="0"/>
                        <a:cs typeface="Shruti" panose="020B0502040204020203" pitchFamily="34" charset="0"/>
                      </a:rPr>
                      <m:t>=</m:t>
                    </m:r>
                    <m:r>
                      <a:rPr lang="en-US" b="1" i="0" dirty="0" smtClean="0">
                        <a:solidFill>
                          <a:srgbClr val="FF0000"/>
                        </a:solidFill>
                        <a:latin typeface="Cambria Math" panose="02040503050406030204" pitchFamily="18" charset="0"/>
                        <a:ea typeface="Calibri" panose="020F0502020204030204" pitchFamily="34" charset="0"/>
                        <a:cs typeface="Shruti" panose="020B0502040204020203" pitchFamily="34" charset="0"/>
                      </a:rPr>
                      <m:t>𝐞</m:t>
                    </m:r>
                    <m:r>
                      <a:rPr lang="en-US" b="1" i="0" dirty="0" smtClean="0">
                        <a:solidFill>
                          <a:srgbClr val="FF0000"/>
                        </a:solidFill>
                        <a:latin typeface="Cambria Math" panose="02040503050406030204" pitchFamily="18" charset="0"/>
                        <a:ea typeface="Calibri" panose="020F0502020204030204" pitchFamily="34" charset="0"/>
                        <a:cs typeface="Shruti" panose="020B0502040204020203" pitchFamily="34" charset="0"/>
                      </a:rPr>
                      <m:t>=</m:t>
                    </m:r>
                  </m:oMath>
                </a14:m>
                <a:r>
                  <a:rPr lang="en-US" b="1" dirty="0">
                    <a:solidFill>
                      <a:srgbClr val="FF0000"/>
                    </a:solidFill>
                  </a:rPr>
                  <a:t> </a:t>
                </a:r>
                <a:r>
                  <a:rPr lang="en-US" dirty="0"/>
                  <a:t>Total number of edges</a:t>
                </a:r>
              </a:p>
              <a:p>
                <a:endParaRPr lang="en-US" b="1" dirty="0"/>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131182" y="818866"/>
                <a:ext cx="11728722" cy="5635143"/>
              </a:xfrm>
              <a:blipFill rotWithShape="0">
                <a:blip r:embed="rId2"/>
                <a:stretch>
                  <a:fillRect l="-988"/>
                </a:stretch>
              </a:blipFill>
            </p:spPr>
            <p:txBody>
              <a:bodyPr/>
              <a:lstStyle/>
              <a:p>
                <a:r>
                  <a:rPr lang="en-US">
                    <a:noFill/>
                  </a:rPr>
                  <a:t> </a:t>
                </a:r>
              </a:p>
            </p:txBody>
          </p:sp>
        </mc:Fallback>
      </mc:AlternateContent>
    </p:spTree>
    <p:extLst>
      <p:ext uri="{BB962C8B-B14F-4D97-AF65-F5344CB8AC3E}">
        <p14:creationId xmlns:p14="http://schemas.microsoft.com/office/powerpoint/2010/main" val="1802535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US" dirty="0"/>
              <a:t>Example</a:t>
            </a:r>
          </a:p>
        </p:txBody>
      </p:sp>
      <p:pic>
        <p:nvPicPr>
          <p:cNvPr id="6" name="Picture 5"/>
          <p:cNvPicPr>
            <a:picLocks noChangeAspect="1"/>
          </p:cNvPicPr>
          <p:nvPr/>
        </p:nvPicPr>
        <p:blipFill>
          <a:blip r:embed="rId2"/>
          <a:stretch>
            <a:fillRect/>
          </a:stretch>
        </p:blipFill>
        <p:spPr>
          <a:xfrm>
            <a:off x="1309384" y="2654033"/>
            <a:ext cx="3353091" cy="3206774"/>
          </a:xfrm>
          <a:prstGeom prst="rect">
            <a:avLst/>
          </a:prstGeom>
        </p:spPr>
      </p:pic>
      <mc:AlternateContent xmlns:mc="http://schemas.openxmlformats.org/markup-compatibility/2006" xmlns:a14="http://schemas.microsoft.com/office/drawing/2010/main">
        <mc:Choice Requires="a14">
          <p:sp>
            <p:nvSpPr>
              <p:cNvPr id="15" name="Rectangle 14"/>
              <p:cNvSpPr/>
              <p:nvPr/>
            </p:nvSpPr>
            <p:spPr>
              <a:xfrm>
                <a:off x="226152" y="925999"/>
                <a:ext cx="5519556" cy="1513235"/>
              </a:xfrm>
              <a:prstGeom prst="rect">
                <a:avLst/>
              </a:prstGeom>
            </p:spPr>
            <p:txBody>
              <a:bodyPr wrap="square">
                <a:spAutoFit/>
              </a:bodyPr>
              <a:lstStyle/>
              <a:p>
                <a:pPr marL="0" lvl="1" algn="ctr">
                  <a:spcBef>
                    <a:spcPts val="1000"/>
                  </a:spcBef>
                  <a:buClr>
                    <a:srgbClr val="B84742"/>
                  </a:buClr>
                </a:pPr>
                <a:r>
                  <a:rPr lang="en-US" sz="2800" dirty="0">
                    <a:solidFill>
                      <a:srgbClr val="002060"/>
                    </a:solidFill>
                  </a:rPr>
                  <a:t>Consider Graph of order </a:t>
                </a:r>
                <a14:m>
                  <m:oMath xmlns:m="http://schemas.openxmlformats.org/officeDocument/2006/math">
                    <m:r>
                      <m:rPr>
                        <m:sty m:val="p"/>
                      </m:rPr>
                      <a:rPr lang="en-US" sz="2800" b="0" i="0" smtClean="0">
                        <a:solidFill>
                          <a:srgbClr val="002060"/>
                        </a:solidFill>
                        <a:latin typeface="Cambria Math" panose="02040503050406030204" pitchFamily="18" charset="0"/>
                      </a:rPr>
                      <m:t>n</m:t>
                    </m:r>
                    <m:r>
                      <a:rPr lang="en-US" sz="2800" b="0" i="0" smtClean="0">
                        <a:solidFill>
                          <a:srgbClr val="002060"/>
                        </a:solidFill>
                        <a:latin typeface="Cambria Math" panose="02040503050406030204" pitchFamily="18" charset="0"/>
                      </a:rPr>
                      <m:t>=7 </m:t>
                    </m:r>
                  </m:oMath>
                </a14:m>
                <a:r>
                  <a:rPr lang="en-US" sz="2800" dirty="0">
                    <a:solidFill>
                      <a:srgbClr val="002060"/>
                    </a:solidFill>
                  </a:rPr>
                  <a:t>and size </a:t>
                </a:r>
                <a14:m>
                  <m:oMath xmlns:m="http://schemas.openxmlformats.org/officeDocument/2006/math">
                    <m:r>
                      <m:rPr>
                        <m:sty m:val="p"/>
                      </m:rPr>
                      <a:rPr lang="en-US" sz="2800" b="0" i="0" smtClean="0">
                        <a:solidFill>
                          <a:srgbClr val="002060"/>
                        </a:solidFill>
                        <a:latin typeface="Cambria Math" panose="02040503050406030204" pitchFamily="18" charset="0"/>
                      </a:rPr>
                      <m:t>e</m:t>
                    </m:r>
                    <m:r>
                      <a:rPr lang="en-US" sz="2800" b="0" i="0" smtClean="0">
                        <a:solidFill>
                          <a:srgbClr val="002060"/>
                        </a:solidFill>
                        <a:latin typeface="Cambria Math" panose="02040503050406030204" pitchFamily="18" charset="0"/>
                      </a:rPr>
                      <m:t>=13</m:t>
                    </m:r>
                  </m:oMath>
                </a14:m>
                <a:r>
                  <a:rPr lang="en-US" sz="2800" dirty="0">
                    <a:solidFill>
                      <a:srgbClr val="002060"/>
                    </a:solidFill>
                  </a:rPr>
                  <a:t> with its Spanning Tree </a:t>
                </a:r>
              </a:p>
              <a:p>
                <a:pPr marL="0" lvl="1" algn="ctr">
                  <a:spcBef>
                    <a:spcPts val="1000"/>
                  </a:spcBef>
                  <a:buClr>
                    <a:srgbClr val="B84742"/>
                  </a:buClr>
                </a:pPr>
                <a:r>
                  <a:rPr lang="en-US" sz="2800" dirty="0">
                    <a:solidFill>
                      <a:srgbClr val="002060"/>
                    </a:solidFill>
                  </a:rPr>
                  <a:t>(Highlighted in Green)</a:t>
                </a:r>
              </a:p>
            </p:txBody>
          </p:sp>
        </mc:Choice>
        <mc:Fallback xmlns="">
          <p:sp>
            <p:nvSpPr>
              <p:cNvPr id="15" name="Rectangle 14"/>
              <p:cNvSpPr>
                <a:spLocks noRot="1" noChangeAspect="1" noMove="1" noResize="1" noEditPoints="1" noAdjustHandles="1" noChangeArrowheads="1" noChangeShapeType="1" noTextEdit="1"/>
              </p:cNvSpPr>
              <p:nvPr/>
            </p:nvSpPr>
            <p:spPr>
              <a:xfrm>
                <a:off x="226152" y="925999"/>
                <a:ext cx="5519556" cy="1513235"/>
              </a:xfrm>
              <a:prstGeom prst="rect">
                <a:avLst/>
              </a:prstGeom>
              <a:blipFill rotWithShape="0">
                <a:blip r:embed="rId3"/>
                <a:stretch>
                  <a:fillRect t="-4435" b="-104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6250526" y="1410870"/>
                <a:ext cx="3273717" cy="523220"/>
              </a:xfrm>
              <a:prstGeom prst="rect">
                <a:avLst/>
              </a:prstGeom>
            </p:spPr>
            <p:txBody>
              <a:bodyPr wrap="none">
                <a:spAutoFit/>
              </a:bodyPr>
              <a:lstStyle/>
              <a:p>
                <a:r>
                  <a:rPr lang="en-US" sz="2800" b="1" dirty="0">
                    <a:solidFill>
                      <a:srgbClr val="002060"/>
                    </a:solidFill>
                    <a:latin typeface="Roboto Condensed" panose="02000000000000000000" pitchFamily="2" charset="0"/>
                  </a:rPr>
                  <a:t>Branch:</a:t>
                </a:r>
                <a14:m>
                  <m:oMath xmlns:m="http://schemas.openxmlformats.org/officeDocument/2006/math">
                    <m:r>
                      <a:rPr lang="en-US" sz="2800" b="1" i="1">
                        <a:solidFill>
                          <a:srgbClr val="002060"/>
                        </a:solidFill>
                        <a:latin typeface="Cambria Math" panose="02040503050406030204" pitchFamily="18" charset="0"/>
                      </a:rPr>
                      <m:t> </m:t>
                    </m:r>
                    <m:d>
                      <m:dPr>
                        <m:begChr m:val="{"/>
                        <m:endChr m:val="}"/>
                        <m:ctrlPr>
                          <a:rPr lang="en-US" sz="2800" i="1">
                            <a:solidFill>
                              <a:srgbClr val="002060"/>
                            </a:solidFill>
                            <a:latin typeface="Cambria Math" panose="02040503050406030204" pitchFamily="18" charset="0"/>
                          </a:rPr>
                        </m:ctrlPr>
                      </m:dPr>
                      <m:e>
                        <m:r>
                          <m:rPr>
                            <m:sty m:val="p"/>
                          </m:rPr>
                          <a:rPr lang="en-US" sz="2800" b="0" i="1">
                            <a:solidFill>
                              <a:srgbClr val="002060"/>
                            </a:solidFill>
                            <a:latin typeface="Cambria Math" panose="02040503050406030204" pitchFamily="18" charset="0"/>
                          </a:rPr>
                          <m:t>c</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 </m:t>
                        </m:r>
                        <m:r>
                          <m:rPr>
                            <m:sty m:val="p"/>
                          </m:rPr>
                          <a:rPr lang="en-US" sz="2800" b="0" i="1">
                            <a:solidFill>
                              <a:srgbClr val="002060"/>
                            </a:solidFill>
                            <a:latin typeface="Cambria Math" panose="02040503050406030204" pitchFamily="18" charset="0"/>
                          </a:rPr>
                          <m:t>b</m:t>
                        </m:r>
                        <m:r>
                          <a:rPr lang="en-US" sz="2800" b="0">
                            <a:solidFill>
                              <a:srgbClr val="002060"/>
                            </a:solidFill>
                            <a:latin typeface="Cambria Math" panose="02040503050406030204" pitchFamily="18" charset="0"/>
                          </a:rPr>
                          <m:t>,</m:t>
                        </m:r>
                        <m:r>
                          <m:rPr>
                            <m:sty m:val="p"/>
                          </m:rPr>
                          <a:rPr lang="en-US" sz="2800" b="0" i="1">
                            <a:solidFill>
                              <a:srgbClr val="002060"/>
                            </a:solidFill>
                            <a:latin typeface="Cambria Math" panose="02040503050406030204" pitchFamily="18" charset="0"/>
                          </a:rPr>
                          <m:t>h</m:t>
                        </m:r>
                        <m:r>
                          <a:rPr lang="en-US" sz="2800" b="0">
                            <a:solidFill>
                              <a:srgbClr val="002060"/>
                            </a:solidFill>
                            <a:latin typeface="Cambria Math" panose="02040503050406030204" pitchFamily="18" charset="0"/>
                          </a:rPr>
                          <m:t>,</m:t>
                        </m:r>
                        <m:r>
                          <m:rPr>
                            <m:sty m:val="p"/>
                          </m:rPr>
                          <a:rPr lang="en-US" sz="2800" b="0" i="1">
                            <a:solidFill>
                              <a:srgbClr val="002060"/>
                            </a:solidFill>
                            <a:latin typeface="Cambria Math" panose="02040503050406030204" pitchFamily="18" charset="0"/>
                          </a:rPr>
                          <m:t>i</m:t>
                        </m:r>
                        <m:r>
                          <a:rPr lang="en-US" sz="2800" b="0">
                            <a:solidFill>
                              <a:srgbClr val="002060"/>
                            </a:solidFill>
                            <a:latin typeface="Cambria Math" panose="02040503050406030204" pitchFamily="18" charset="0"/>
                          </a:rPr>
                          <m:t>,</m:t>
                        </m:r>
                        <m:r>
                          <m:rPr>
                            <m:sty m:val="p"/>
                          </m:rPr>
                          <a:rPr lang="en-US" sz="2800" b="0" i="1">
                            <a:solidFill>
                              <a:srgbClr val="002060"/>
                            </a:solidFill>
                            <a:latin typeface="Cambria Math" panose="02040503050406030204" pitchFamily="18" charset="0"/>
                          </a:rPr>
                          <m:t>j</m:t>
                        </m:r>
                        <m:r>
                          <a:rPr lang="en-US" sz="2800" b="0">
                            <a:solidFill>
                              <a:srgbClr val="002060"/>
                            </a:solidFill>
                            <a:latin typeface="Cambria Math" panose="02040503050406030204" pitchFamily="18" charset="0"/>
                          </a:rPr>
                          <m:t>,</m:t>
                        </m:r>
                        <m:r>
                          <m:rPr>
                            <m:sty m:val="p"/>
                          </m:rPr>
                          <a:rPr lang="en-US" sz="2800" b="0" i="1">
                            <a:solidFill>
                              <a:srgbClr val="002060"/>
                            </a:solidFill>
                            <a:latin typeface="Cambria Math" panose="02040503050406030204" pitchFamily="18" charset="0"/>
                          </a:rPr>
                          <m:t>l</m:t>
                        </m:r>
                      </m:e>
                    </m:d>
                  </m:oMath>
                </a14:m>
                <a:endParaRPr lang="en-US" sz="2800" dirty="0"/>
              </a:p>
            </p:txBody>
          </p:sp>
        </mc:Choice>
        <mc:Fallback xmlns="">
          <p:sp>
            <p:nvSpPr>
              <p:cNvPr id="3" name="Rectangle 2"/>
              <p:cNvSpPr>
                <a:spLocks noRot="1" noChangeAspect="1" noMove="1" noResize="1" noEditPoints="1" noAdjustHandles="1" noChangeArrowheads="1" noChangeShapeType="1" noTextEdit="1"/>
              </p:cNvSpPr>
              <p:nvPr/>
            </p:nvSpPr>
            <p:spPr>
              <a:xfrm>
                <a:off x="6250526" y="1410870"/>
                <a:ext cx="3273717" cy="523220"/>
              </a:xfrm>
              <a:prstGeom prst="rect">
                <a:avLst/>
              </a:prstGeom>
              <a:blipFill rotWithShape="0">
                <a:blip r:embed="rId4"/>
                <a:stretch>
                  <a:fillRect l="-3724" t="-11628"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6250526" y="2194726"/>
                <a:ext cx="3699025" cy="523220"/>
              </a:xfrm>
              <a:prstGeom prst="rect">
                <a:avLst/>
              </a:prstGeom>
            </p:spPr>
            <p:txBody>
              <a:bodyPr wrap="none">
                <a:spAutoFit/>
              </a:bodyPr>
              <a:lstStyle/>
              <a:p>
                <a:pPr algn="ctr">
                  <a:spcBef>
                    <a:spcPts val="1000"/>
                  </a:spcBef>
                </a:pPr>
                <a:r>
                  <a:rPr lang="en-US" sz="2800" b="1" dirty="0">
                    <a:solidFill>
                      <a:srgbClr val="002060"/>
                    </a:solidFill>
                    <a:latin typeface="Roboto Condensed" panose="02000000000000000000" pitchFamily="2" charset="0"/>
                  </a:rPr>
                  <a:t>Chord:</a:t>
                </a:r>
                <a14:m>
                  <m:oMath xmlns:m="http://schemas.openxmlformats.org/officeDocument/2006/math">
                    <m:r>
                      <a:rPr lang="en-US" sz="2800" b="1" i="1">
                        <a:solidFill>
                          <a:srgbClr val="002060"/>
                        </a:solidFill>
                        <a:latin typeface="Cambria Math" panose="02040503050406030204" pitchFamily="18" charset="0"/>
                      </a:rPr>
                      <m:t> </m:t>
                    </m:r>
                    <m:d>
                      <m:dPr>
                        <m:begChr m:val="{"/>
                        <m:endChr m:val="}"/>
                        <m:ctrlPr>
                          <a:rPr lang="en-US" sz="2800" i="1">
                            <a:solidFill>
                              <a:srgbClr val="002060"/>
                            </a:solidFill>
                            <a:latin typeface="Cambria Math" panose="02040503050406030204" pitchFamily="18" charset="0"/>
                          </a:rPr>
                        </m:ctrlPr>
                      </m:dPr>
                      <m:e>
                        <m:r>
                          <m:rPr>
                            <m:sty m:val="p"/>
                          </m:rPr>
                          <a:rPr lang="en-US" sz="2800" b="0" i="1">
                            <a:solidFill>
                              <a:srgbClr val="002060"/>
                            </a:solidFill>
                            <a:latin typeface="Cambria Math" panose="02040503050406030204" pitchFamily="18" charset="0"/>
                          </a:rPr>
                          <m:t>a</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 </m:t>
                        </m:r>
                        <m:r>
                          <m:rPr>
                            <m:sty m:val="p"/>
                          </m:rPr>
                          <a:rPr lang="en-US" sz="2800" b="0" i="1">
                            <a:solidFill>
                              <a:srgbClr val="002060"/>
                            </a:solidFill>
                            <a:latin typeface="Cambria Math" panose="02040503050406030204" pitchFamily="18" charset="0"/>
                          </a:rPr>
                          <m:t>d</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 </m:t>
                        </m:r>
                        <m:r>
                          <m:rPr>
                            <m:sty m:val="p"/>
                          </m:rPr>
                          <a:rPr lang="en-US" sz="2800" b="0" i="1">
                            <a:solidFill>
                              <a:srgbClr val="002060"/>
                            </a:solidFill>
                            <a:latin typeface="Cambria Math" panose="02040503050406030204" pitchFamily="18" charset="0"/>
                          </a:rPr>
                          <m:t>e</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 </m:t>
                        </m:r>
                        <m:r>
                          <m:rPr>
                            <m:sty m:val="p"/>
                          </m:rPr>
                          <a:rPr lang="en-US" sz="2800" b="0" i="1">
                            <a:solidFill>
                              <a:srgbClr val="002060"/>
                            </a:solidFill>
                            <a:latin typeface="Cambria Math" panose="02040503050406030204" pitchFamily="18" charset="0"/>
                          </a:rPr>
                          <m:t>f</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 </m:t>
                        </m:r>
                        <m:r>
                          <m:rPr>
                            <m:sty m:val="p"/>
                          </m:rPr>
                          <a:rPr lang="en-US" sz="2800" b="0" i="1">
                            <a:solidFill>
                              <a:srgbClr val="002060"/>
                            </a:solidFill>
                            <a:latin typeface="Cambria Math" panose="02040503050406030204" pitchFamily="18" charset="0"/>
                          </a:rPr>
                          <m:t>g</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 </m:t>
                        </m:r>
                        <m:r>
                          <m:rPr>
                            <m:sty m:val="p"/>
                          </m:rPr>
                          <a:rPr lang="en-US" sz="2800" b="0" i="1">
                            <a:solidFill>
                              <a:srgbClr val="002060"/>
                            </a:solidFill>
                            <a:latin typeface="Cambria Math" panose="02040503050406030204" pitchFamily="18" charset="0"/>
                          </a:rPr>
                          <m:t>k</m:t>
                        </m:r>
                        <m:r>
                          <a:rPr lang="en-US" sz="2800" b="0">
                            <a:solidFill>
                              <a:srgbClr val="002060"/>
                            </a:solidFill>
                            <a:latin typeface="Cambria Math" panose="02040503050406030204" pitchFamily="18" charset="0"/>
                          </a:rPr>
                          <m:t>,</m:t>
                        </m:r>
                        <m:r>
                          <a:rPr lang="en-US" sz="2800" b="0" i="1">
                            <a:solidFill>
                              <a:srgbClr val="002060"/>
                            </a:solidFill>
                            <a:latin typeface="Cambria Math" panose="02040503050406030204" pitchFamily="18" charset="0"/>
                          </a:rPr>
                          <m:t> </m:t>
                        </m:r>
                        <m:r>
                          <m:rPr>
                            <m:sty m:val="p"/>
                          </m:rPr>
                          <a:rPr lang="en-US" sz="2800" b="0" i="1">
                            <a:solidFill>
                              <a:srgbClr val="002060"/>
                            </a:solidFill>
                            <a:latin typeface="Cambria Math" panose="02040503050406030204" pitchFamily="18" charset="0"/>
                          </a:rPr>
                          <m:t>m</m:t>
                        </m:r>
                      </m:e>
                    </m:d>
                  </m:oMath>
                </a14:m>
                <a:r>
                  <a:rPr lang="en-US" sz="2800" dirty="0">
                    <a:solidFill>
                      <a:srgbClr val="002060"/>
                    </a:solidFill>
                    <a:latin typeface="Roboto Condensed" panose="02000000000000000000" pitchFamily="2" charset="0"/>
                  </a:rPr>
                  <a:t> </a:t>
                </a:r>
                <a:endParaRPr lang="en-US" sz="2800" dirty="0">
                  <a:effectLst/>
                </a:endParaRPr>
              </a:p>
            </p:txBody>
          </p:sp>
        </mc:Choice>
        <mc:Fallback xmlns="">
          <p:sp>
            <p:nvSpPr>
              <p:cNvPr id="4" name="Rectangle 3"/>
              <p:cNvSpPr>
                <a:spLocks noRot="1" noChangeAspect="1" noMove="1" noResize="1" noEditPoints="1" noAdjustHandles="1" noChangeArrowheads="1" noChangeShapeType="1" noTextEdit="1"/>
              </p:cNvSpPr>
              <p:nvPr/>
            </p:nvSpPr>
            <p:spPr>
              <a:xfrm>
                <a:off x="6250526" y="2194726"/>
                <a:ext cx="3699025" cy="523220"/>
              </a:xfrm>
              <a:prstGeom prst="rect">
                <a:avLst/>
              </a:prstGeom>
              <a:blipFill rotWithShape="0">
                <a:blip r:embed="rId5"/>
                <a:stretch>
                  <a:fillRect l="-2801" t="-11628"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6250526" y="2978582"/>
                <a:ext cx="3606244" cy="523220"/>
              </a:xfrm>
              <a:prstGeom prst="rect">
                <a:avLst/>
              </a:prstGeom>
            </p:spPr>
            <p:txBody>
              <a:bodyPr wrap="none">
                <a:spAutoFit/>
              </a:bodyPr>
              <a:lstStyle/>
              <a:p>
                <a:r>
                  <a:rPr lang="en-US" sz="2800" b="1" dirty="0">
                    <a:solidFill>
                      <a:srgbClr val="002060"/>
                    </a:solidFill>
                    <a:ea typeface="Calibri" panose="020F0502020204030204" pitchFamily="34" charset="0"/>
                    <a:cs typeface="Shruti" panose="020B0502040204020203" pitchFamily="34" charset="0"/>
                  </a:rPr>
                  <a:t>Rank of </a:t>
                </a:r>
                <a14:m>
                  <m:oMath xmlns:m="http://schemas.openxmlformats.org/officeDocument/2006/math">
                    <m:r>
                      <a:rPr lang="en-US" sz="2800" b="1" dirty="0">
                        <a:solidFill>
                          <a:srgbClr val="002060"/>
                        </a:solidFill>
                        <a:latin typeface="Cambria Math" panose="02040503050406030204" pitchFamily="18" charset="0"/>
                        <a:ea typeface="Calibri" panose="020F0502020204030204" pitchFamily="34" charset="0"/>
                        <a:cs typeface="Shruti" panose="020B0502040204020203" pitchFamily="34" charset="0"/>
                      </a:rPr>
                      <m:t>𝐆</m:t>
                    </m:r>
                    <m:r>
                      <a:rPr lang="en-US" sz="2800" b="0" dirty="0">
                        <a:solidFill>
                          <a:srgbClr val="002060"/>
                        </a:solidFill>
                        <a:latin typeface="Cambria Math" panose="02040503050406030204" pitchFamily="18" charset="0"/>
                        <a:ea typeface="Calibri" panose="020F0502020204030204" pitchFamily="34" charset="0"/>
                        <a:cs typeface="Shruti" panose="020B0502040204020203" pitchFamily="34" charset="0"/>
                      </a:rPr>
                      <m:t>=</m:t>
                    </m:r>
                    <m:r>
                      <a:rPr lang="en-US" sz="2800" b="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7</m:t>
                    </m:r>
                    <m:r>
                      <a:rPr lang="en-US" sz="2800" b="0" dirty="0">
                        <a:solidFill>
                          <a:srgbClr val="002060"/>
                        </a:solidFill>
                        <a:latin typeface="Cambria Math" panose="02040503050406030204" pitchFamily="18" charset="0"/>
                        <a:ea typeface="Calibri" panose="020F0502020204030204" pitchFamily="34" charset="0"/>
                        <a:cs typeface="Shruti" panose="020B0502040204020203" pitchFamily="34" charset="0"/>
                      </a:rPr>
                      <m:t>−</m:t>
                    </m:r>
                    <m:r>
                      <a:rPr lang="en-US" sz="2800" b="0" i="1" dirty="0">
                        <a:solidFill>
                          <a:srgbClr val="002060"/>
                        </a:solidFill>
                        <a:latin typeface="Cambria Math" panose="02040503050406030204" pitchFamily="18" charset="0"/>
                        <a:ea typeface="Calibri" panose="020F0502020204030204" pitchFamily="34" charset="0"/>
                        <a:cs typeface="Shruti" panose="020B0502040204020203" pitchFamily="34" charset="0"/>
                      </a:rPr>
                      <m:t>1</m:t>
                    </m:r>
                    <m:r>
                      <a:rPr lang="en-US" sz="2800" b="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=6</m:t>
                    </m:r>
                  </m:oMath>
                </a14:m>
                <a:endParaRPr lang="en-US" sz="2800" dirty="0">
                  <a:solidFill>
                    <a:srgbClr val="002060"/>
                  </a:solidFill>
                </a:endParaRPr>
              </a:p>
            </p:txBody>
          </p:sp>
        </mc:Choice>
        <mc:Fallback xmlns="">
          <p:sp>
            <p:nvSpPr>
              <p:cNvPr id="10" name="Rectangle 9"/>
              <p:cNvSpPr>
                <a:spLocks noRot="1" noChangeAspect="1" noMove="1" noResize="1" noEditPoints="1" noAdjustHandles="1" noChangeArrowheads="1" noChangeShapeType="1" noTextEdit="1"/>
              </p:cNvSpPr>
              <p:nvPr/>
            </p:nvSpPr>
            <p:spPr>
              <a:xfrm>
                <a:off x="6250526" y="2978582"/>
                <a:ext cx="3606244" cy="523220"/>
              </a:xfrm>
              <a:prstGeom prst="rect">
                <a:avLst/>
              </a:prstGeom>
              <a:blipFill rotWithShape="0">
                <a:blip r:embed="rId6"/>
                <a:stretch>
                  <a:fillRect l="-3378" t="-12941" b="-329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6250526" y="3762438"/>
                <a:ext cx="4677884" cy="523220"/>
              </a:xfrm>
              <a:prstGeom prst="rect">
                <a:avLst/>
              </a:prstGeom>
            </p:spPr>
            <p:txBody>
              <a:bodyPr wrap="none">
                <a:spAutoFit/>
              </a:bodyPr>
              <a:lstStyle/>
              <a:p>
                <a:r>
                  <a:rPr lang="en-US" sz="2800" b="1" dirty="0">
                    <a:solidFill>
                      <a:srgbClr val="002060"/>
                    </a:solidFill>
                    <a:ea typeface="Calibri" panose="020F0502020204030204" pitchFamily="34" charset="0"/>
                    <a:cs typeface="Shruti" panose="020B0502040204020203" pitchFamily="34" charset="0"/>
                  </a:rPr>
                  <a:t>Nullity of</a:t>
                </a:r>
                <a14:m>
                  <m:oMath xmlns:m="http://schemas.openxmlformats.org/officeDocument/2006/math">
                    <m:r>
                      <a:rPr lang="en-US" sz="2800" b="1" i="1" dirty="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US" sz="2800" b="1" dirty="0">
                        <a:solidFill>
                          <a:srgbClr val="002060"/>
                        </a:solidFill>
                        <a:latin typeface="Cambria Math" panose="02040503050406030204" pitchFamily="18" charset="0"/>
                        <a:ea typeface="Calibri" panose="020F0502020204030204" pitchFamily="34" charset="0"/>
                        <a:cs typeface="Shruti" panose="020B0502040204020203" pitchFamily="34" charset="0"/>
                      </a:rPr>
                      <m:t>𝐆</m:t>
                    </m:r>
                    <m:r>
                      <a:rPr lang="en-US" sz="2800" b="0" dirty="0">
                        <a:solidFill>
                          <a:srgbClr val="002060"/>
                        </a:solidFill>
                        <a:latin typeface="Cambria Math" panose="02040503050406030204" pitchFamily="18" charset="0"/>
                        <a:ea typeface="Calibri" panose="020F0502020204030204" pitchFamily="34" charset="0"/>
                        <a:cs typeface="Shruti" panose="020B0502040204020203" pitchFamily="34" charset="0"/>
                      </a:rPr>
                      <m:t>=</m:t>
                    </m:r>
                    <m:r>
                      <a:rPr lang="en-US" sz="2800" b="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13</m:t>
                    </m:r>
                    <m:r>
                      <a:rPr lang="en-US" sz="2800" b="0" dirty="0">
                        <a:solidFill>
                          <a:srgbClr val="002060"/>
                        </a:solidFill>
                        <a:latin typeface="Cambria Math" panose="02040503050406030204" pitchFamily="18" charset="0"/>
                        <a:ea typeface="Calibri" panose="020F0502020204030204" pitchFamily="34" charset="0"/>
                        <a:cs typeface="Shruti" panose="020B0502040204020203" pitchFamily="34" charset="0"/>
                      </a:rPr>
                      <m:t>−</m:t>
                    </m:r>
                    <m:r>
                      <a:rPr lang="en-US" sz="2800" b="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7</m:t>
                    </m:r>
                    <m:r>
                      <a:rPr lang="en-US" sz="2800" b="0" dirty="0">
                        <a:solidFill>
                          <a:srgbClr val="002060"/>
                        </a:solidFill>
                        <a:latin typeface="Cambria Math" panose="02040503050406030204" pitchFamily="18" charset="0"/>
                        <a:ea typeface="Calibri" panose="020F0502020204030204" pitchFamily="34" charset="0"/>
                        <a:cs typeface="Shruti" panose="020B0502040204020203" pitchFamily="34" charset="0"/>
                      </a:rPr>
                      <m:t>+</m:t>
                    </m:r>
                    <m:r>
                      <a:rPr lang="en-US" sz="2800" b="0" i="1" dirty="0">
                        <a:solidFill>
                          <a:srgbClr val="002060"/>
                        </a:solidFill>
                        <a:latin typeface="Cambria Math" panose="02040503050406030204" pitchFamily="18" charset="0"/>
                        <a:ea typeface="Calibri" panose="020F0502020204030204" pitchFamily="34" charset="0"/>
                        <a:cs typeface="Shruti" panose="020B0502040204020203" pitchFamily="34" charset="0"/>
                      </a:rPr>
                      <m:t>1</m:t>
                    </m:r>
                    <m:r>
                      <a:rPr lang="en-US" sz="2800" b="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=7</m:t>
                    </m:r>
                  </m:oMath>
                </a14:m>
                <a:endParaRPr lang="en-US" sz="2800" dirty="0">
                  <a:solidFill>
                    <a:srgbClr val="002060"/>
                  </a:solidFill>
                </a:endParaRPr>
              </a:p>
            </p:txBody>
          </p:sp>
        </mc:Choice>
        <mc:Fallback xmlns="">
          <p:sp>
            <p:nvSpPr>
              <p:cNvPr id="12" name="Rectangle 11"/>
              <p:cNvSpPr>
                <a:spLocks noRot="1" noChangeAspect="1" noMove="1" noResize="1" noEditPoints="1" noAdjustHandles="1" noChangeArrowheads="1" noChangeShapeType="1" noTextEdit="1"/>
              </p:cNvSpPr>
              <p:nvPr/>
            </p:nvSpPr>
            <p:spPr>
              <a:xfrm>
                <a:off x="6250526" y="3762438"/>
                <a:ext cx="4677884" cy="523220"/>
              </a:xfrm>
              <a:prstGeom prst="rect">
                <a:avLst/>
              </a:prstGeom>
              <a:blipFill rotWithShape="0">
                <a:blip r:embed="rId7"/>
                <a:stretch>
                  <a:fillRect l="-2604" t="-11628" b="-313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6250526" y="4546294"/>
                <a:ext cx="5038110" cy="523220"/>
              </a:xfrm>
              <a:prstGeom prst="rect">
                <a:avLst/>
              </a:prstGeom>
            </p:spPr>
            <p:txBody>
              <a:bodyPr wrap="none">
                <a:spAutoFit/>
              </a:bodyPr>
              <a:lstStyle/>
              <a:p>
                <a:r>
                  <a:rPr lang="en-US" sz="2800" b="1" dirty="0">
                    <a:solidFill>
                      <a:srgbClr val="002060"/>
                    </a:solidFill>
                    <a:ea typeface="Calibri" panose="020F0502020204030204" pitchFamily="34" charset="0"/>
                    <a:cs typeface="Shruti" panose="020B0502040204020203" pitchFamily="34" charset="0"/>
                  </a:rPr>
                  <a:t>Rank + Nullity</a:t>
                </a:r>
                <a14:m>
                  <m:oMath xmlns:m="http://schemas.openxmlformats.org/officeDocument/2006/math">
                    <m:r>
                      <a:rPr lang="en-US" sz="2800" b="1" dirty="0">
                        <a:solidFill>
                          <a:srgbClr val="002060"/>
                        </a:solidFill>
                        <a:latin typeface="Cambria Math" panose="02040503050406030204" pitchFamily="18" charset="0"/>
                        <a:ea typeface="Calibri" panose="020F0502020204030204" pitchFamily="34" charset="0"/>
                        <a:cs typeface="Shruti" panose="020B0502040204020203" pitchFamily="34" charset="0"/>
                      </a:rPr>
                      <m:t> </m:t>
                    </m:r>
                    <m:r>
                      <a:rPr lang="en-US" sz="2800" b="0" i="1" dirty="0">
                        <a:solidFill>
                          <a:srgbClr val="002060"/>
                        </a:solidFill>
                        <a:latin typeface="Cambria Math" panose="02040503050406030204" pitchFamily="18" charset="0"/>
                        <a:ea typeface="Calibri" panose="020F0502020204030204" pitchFamily="34" charset="0"/>
                        <a:cs typeface="Shruti" panose="020B0502040204020203" pitchFamily="34" charset="0"/>
                      </a:rPr>
                      <m:t>=</m:t>
                    </m:r>
                    <m:r>
                      <a:rPr lang="en-US" sz="2800" b="0" i="1"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6+7=13=</m:t>
                    </m:r>
                    <m:r>
                      <m:rPr>
                        <m:sty m:val="p"/>
                      </m:rPr>
                      <a:rPr lang="en-US" sz="2800" b="0" i="0" dirty="0" smtClean="0">
                        <a:solidFill>
                          <a:srgbClr val="002060"/>
                        </a:solidFill>
                        <a:latin typeface="Cambria Math" panose="02040503050406030204" pitchFamily="18" charset="0"/>
                        <a:ea typeface="Calibri" panose="020F0502020204030204" pitchFamily="34" charset="0"/>
                        <a:cs typeface="Shruti" panose="020B0502040204020203" pitchFamily="34" charset="0"/>
                      </a:rPr>
                      <m:t>e</m:t>
                    </m:r>
                  </m:oMath>
                </a14:m>
                <a:endParaRPr lang="en-US" sz="2800" dirty="0">
                  <a:solidFill>
                    <a:srgbClr val="002060"/>
                  </a:solidFill>
                </a:endParaRPr>
              </a:p>
            </p:txBody>
          </p:sp>
        </mc:Choice>
        <mc:Fallback xmlns="">
          <p:sp>
            <p:nvSpPr>
              <p:cNvPr id="13" name="Rectangle 12"/>
              <p:cNvSpPr>
                <a:spLocks noRot="1" noChangeAspect="1" noMove="1" noResize="1" noEditPoints="1" noAdjustHandles="1" noChangeArrowheads="1" noChangeShapeType="1" noTextEdit="1"/>
              </p:cNvSpPr>
              <p:nvPr/>
            </p:nvSpPr>
            <p:spPr>
              <a:xfrm>
                <a:off x="6250526" y="4546294"/>
                <a:ext cx="5038110" cy="523220"/>
              </a:xfrm>
              <a:prstGeom prst="rect">
                <a:avLst/>
              </a:prstGeom>
              <a:blipFill rotWithShape="0">
                <a:blip r:embed="rId8"/>
                <a:stretch>
                  <a:fillRect l="-2418" t="-12791" b="-31395"/>
                </a:stretch>
              </a:blipFill>
            </p:spPr>
            <p:txBody>
              <a:bodyPr/>
              <a:lstStyle/>
              <a:p>
                <a:r>
                  <a:rPr lang="en-US">
                    <a:noFill/>
                  </a:rPr>
                  <a:t> </a:t>
                </a:r>
              </a:p>
            </p:txBody>
          </p:sp>
        </mc:Fallback>
      </mc:AlternateContent>
    </p:spTree>
    <p:extLst>
      <p:ext uri="{BB962C8B-B14F-4D97-AF65-F5344CB8AC3E}">
        <p14:creationId xmlns:p14="http://schemas.microsoft.com/office/powerpoint/2010/main" val="2398419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0" grpId="0"/>
      <p:bldP spid="12" grpId="0"/>
      <p:bldP spid="13"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Method-3</a:t>
            </a:r>
          </a:p>
        </p:txBody>
      </p:sp>
    </p:spTree>
    <p:extLst>
      <p:ext uri="{BB962C8B-B14F-4D97-AF65-F5344CB8AC3E}">
        <p14:creationId xmlns:p14="http://schemas.microsoft.com/office/powerpoint/2010/main" val="90948360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9"/>
            <a:ext cx="11929645" cy="544937"/>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Find a spanning tree from the following graph.</a:t>
            </a:r>
          </a:p>
        </p:txBody>
      </p:sp>
      <p:sp>
        <p:nvSpPr>
          <p:cNvPr id="16" name="Content Placeholder 2">
            <a:extLst>
              <a:ext uri="{FF2B5EF4-FFF2-40B4-BE49-F238E27FC236}">
                <a16:creationId xmlns:a16="http://schemas.microsoft.com/office/drawing/2014/main" id="{635C8299-099D-4E74-A7B7-29B2E1FD450E}"/>
              </a:ext>
            </a:extLst>
          </p:cNvPr>
          <p:cNvSpPr txBox="1">
            <a:spLocks/>
          </p:cNvSpPr>
          <p:nvPr/>
        </p:nvSpPr>
        <p:spPr>
          <a:xfrm>
            <a:off x="0" y="4011271"/>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3 ⇝ Example 1</a:t>
            </a:r>
            <a:endParaRPr lang="en-US" dirty="0"/>
          </a:p>
        </p:txBody>
      </p:sp>
      <mc:AlternateContent xmlns:mc="http://schemas.openxmlformats.org/markup-compatibility/2006" xmlns:a14="http://schemas.microsoft.com/office/drawing/2010/main">
        <mc:Choice Requires="a14">
          <p:sp>
            <p:nvSpPr>
              <p:cNvPr id="10" name="TextBox 9"/>
              <p:cNvSpPr txBox="1"/>
              <p:nvPr/>
            </p:nvSpPr>
            <p:spPr>
              <a:xfrm>
                <a:off x="5971865" y="3488051"/>
                <a:ext cx="653192"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m:rPr>
                              <m:sty m:val="p"/>
                            </m:rPr>
                            <a:rPr lang="en-US" sz="2800" i="0" dirty="0" smtClean="0">
                              <a:latin typeface="Cambria Math" panose="02040503050406030204" pitchFamily="18" charset="0"/>
                            </a:rPr>
                            <m:t>G</m:t>
                          </m:r>
                        </m:e>
                        <m:sub>
                          <m:r>
                            <a:rPr lang="en-US" sz="2800" b="0" i="0" dirty="0" smtClean="0">
                              <a:latin typeface="Cambria Math" panose="02040503050406030204" pitchFamily="18" charset="0"/>
                            </a:rPr>
                            <m:t>2</m:t>
                          </m:r>
                        </m:sub>
                      </m:sSub>
                    </m:oMath>
                  </m:oMathPara>
                </a14:m>
                <a:endParaRPr lang="en-US" sz="2800" dirty="0"/>
              </a:p>
            </p:txBody>
          </p:sp>
        </mc:Choice>
        <mc:Fallback xmlns="">
          <p:sp>
            <p:nvSpPr>
              <p:cNvPr id="10" name="TextBox 9"/>
              <p:cNvSpPr txBox="1">
                <a:spLocks noRot="1" noChangeAspect="1" noMove="1" noResize="1" noEditPoints="1" noAdjustHandles="1" noChangeArrowheads="1" noChangeShapeType="1" noTextEdit="1"/>
              </p:cNvSpPr>
              <p:nvPr/>
            </p:nvSpPr>
            <p:spPr>
              <a:xfrm>
                <a:off x="5971865" y="3488051"/>
                <a:ext cx="653192" cy="523220"/>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230004" y="4649591"/>
                <a:ext cx="7876765" cy="1082348"/>
              </a:xfrm>
              <a:prstGeom prst="rect">
                <a:avLst/>
              </a:prstGeom>
            </p:spPr>
            <p:txBody>
              <a:bodyPr wrap="square">
                <a:spAutoFit/>
              </a:bodyPr>
              <a:lstStyle/>
              <a:p>
                <a:pPr algn="just">
                  <a:spcBef>
                    <a:spcPts val="1000"/>
                  </a:spcBef>
                  <a:buClr>
                    <a:srgbClr val="B84742"/>
                  </a:buClr>
                </a:pPr>
                <a:r>
                  <a:rPr lang="en-US" sz="2800" b="1" dirty="0">
                    <a:solidFill>
                      <a:srgbClr val="002060"/>
                    </a:solidFill>
                  </a:rPr>
                  <a:t>For </a:t>
                </a:r>
                <a14:m>
                  <m:oMath xmlns:m="http://schemas.openxmlformats.org/officeDocument/2006/math">
                    <m:sSub>
                      <m:sSubPr>
                        <m:ctrlPr>
                          <a:rPr lang="en-US" sz="2800" b="1" i="1">
                            <a:solidFill>
                              <a:srgbClr val="002060"/>
                            </a:solidFill>
                            <a:latin typeface="Cambria Math" panose="02040503050406030204" pitchFamily="18" charset="0"/>
                          </a:rPr>
                        </m:ctrlPr>
                      </m:sSubPr>
                      <m:e>
                        <m:r>
                          <a:rPr lang="en-US" sz="2800" b="1">
                            <a:solidFill>
                              <a:srgbClr val="002060"/>
                            </a:solidFill>
                            <a:latin typeface="Cambria Math" panose="02040503050406030204" pitchFamily="18" charset="0"/>
                          </a:rPr>
                          <m:t>𝐆</m:t>
                        </m:r>
                      </m:e>
                      <m:sub>
                        <m:r>
                          <a:rPr lang="en-US" sz="2800" b="1">
                            <a:solidFill>
                              <a:srgbClr val="002060"/>
                            </a:solidFill>
                            <a:latin typeface="Cambria Math" panose="02040503050406030204" pitchFamily="18" charset="0"/>
                          </a:rPr>
                          <m:t>𝟏</m:t>
                        </m:r>
                      </m:sub>
                    </m:sSub>
                  </m:oMath>
                </a14:m>
                <a:r>
                  <a:rPr lang="en-US" sz="2800" dirty="0">
                    <a:solidFill>
                      <a:srgbClr val="002060"/>
                    </a:solidFill>
                  </a:rPr>
                  <a:t> </a:t>
                </a:r>
              </a:p>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It has no circuits. </a:t>
                </a:r>
                <a14:m>
                  <m:oMath xmlns:m="http://schemas.openxmlformats.org/officeDocument/2006/math">
                    <m:r>
                      <a:rPr lang="en-US" sz="2800" b="0" i="0" smtClean="0">
                        <a:solidFill>
                          <a:srgbClr val="002060"/>
                        </a:solidFill>
                        <a:latin typeface="Cambria Math" panose="02040503050406030204" pitchFamily="18" charset="0"/>
                      </a:rPr>
                      <m:t> </m:t>
                    </m:r>
                    <m:sSub>
                      <m:sSubPr>
                        <m:ctrlPr>
                          <a:rPr lang="en-US"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G</m:t>
                        </m:r>
                      </m:e>
                      <m:sub>
                        <m:r>
                          <a:rPr lang="en-US" sz="2800" b="0" i="0" smtClean="0">
                            <a:solidFill>
                              <a:srgbClr val="002060"/>
                            </a:solidFill>
                            <a:latin typeface="Cambria Math" panose="02040503050406030204" pitchFamily="18" charset="0"/>
                          </a:rPr>
                          <m:t>1</m:t>
                        </m:r>
                      </m:sub>
                    </m:sSub>
                    <m:r>
                      <a:rPr lang="en-US" sz="2800" b="0" i="0" smtClean="0">
                        <a:solidFill>
                          <a:srgbClr val="002060"/>
                        </a:solidFill>
                        <a:latin typeface="Cambria Math" panose="02040503050406030204" pitchFamily="18" charset="0"/>
                      </a:rPr>
                      <m:t> </m:t>
                    </m:r>
                  </m:oMath>
                </a14:m>
                <a:r>
                  <a:rPr lang="en-US" sz="2800" dirty="0">
                    <a:solidFill>
                      <a:srgbClr val="002060"/>
                    </a:solidFill>
                  </a:rPr>
                  <a:t>itself is a spanning tree.</a:t>
                </a:r>
              </a:p>
            </p:txBody>
          </p:sp>
        </mc:Choice>
        <mc:Fallback xmlns="">
          <p:sp>
            <p:nvSpPr>
              <p:cNvPr id="3" name="Rectangle 2"/>
              <p:cNvSpPr>
                <a:spLocks noRot="1" noChangeAspect="1" noMove="1" noResize="1" noEditPoints="1" noAdjustHandles="1" noChangeArrowheads="1" noChangeShapeType="1" noTextEdit="1"/>
              </p:cNvSpPr>
              <p:nvPr/>
            </p:nvSpPr>
            <p:spPr>
              <a:xfrm>
                <a:off x="230004" y="4649591"/>
                <a:ext cx="7876765" cy="1082348"/>
              </a:xfrm>
              <a:prstGeom prst="rect">
                <a:avLst/>
              </a:prstGeom>
              <a:blipFill rotWithShape="0">
                <a:blip r:embed="rId3"/>
                <a:stretch>
                  <a:fillRect l="-1625" t="-6215" b="-152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3739617" y="3488051"/>
                <a:ext cx="57823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smtClean="0">
                              <a:latin typeface="Cambria Math" panose="02040503050406030204" pitchFamily="18" charset="0"/>
                            </a:rPr>
                          </m:ctrlPr>
                        </m:sSubPr>
                        <m:e>
                          <m:r>
                            <m:rPr>
                              <m:sty m:val="p"/>
                            </m:rPr>
                            <a:rPr lang="en-US" sz="2400" i="0" dirty="0" smtClean="0">
                              <a:latin typeface="Cambria Math" panose="02040503050406030204" pitchFamily="18" charset="0"/>
                            </a:rPr>
                            <m:t>G</m:t>
                          </m:r>
                        </m:e>
                        <m:sub>
                          <m:r>
                            <a:rPr lang="en-US" sz="2400" i="0" dirty="0" smtClean="0">
                              <a:latin typeface="Cambria Math" panose="02040503050406030204" pitchFamily="18" charset="0"/>
                            </a:rPr>
                            <m:t>1</m:t>
                          </m:r>
                        </m:sub>
                      </m:sSub>
                    </m:oMath>
                  </m:oMathPara>
                </a14:m>
                <a:endParaRPr lang="en-US" sz="2400" dirty="0"/>
              </a:p>
            </p:txBody>
          </p:sp>
        </mc:Choice>
        <mc:Fallback xmlns="">
          <p:sp>
            <p:nvSpPr>
              <p:cNvPr id="40" name="TextBox 39"/>
              <p:cNvSpPr txBox="1">
                <a:spLocks noRot="1" noChangeAspect="1" noMove="1" noResize="1" noEditPoints="1" noAdjustHandles="1" noChangeArrowheads="1" noChangeShapeType="1" noTextEdit="1"/>
              </p:cNvSpPr>
              <p:nvPr/>
            </p:nvSpPr>
            <p:spPr>
              <a:xfrm>
                <a:off x="3739617" y="3488051"/>
                <a:ext cx="578235" cy="461665"/>
              </a:xfrm>
              <a:prstGeom prst="rect">
                <a:avLst/>
              </a:prstGeom>
              <a:blipFill rotWithShape="0">
                <a:blip r:embed="rId4"/>
                <a:stretch>
                  <a:fillRect b="-26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p:cNvSpPr txBox="1"/>
              <p:nvPr/>
            </p:nvSpPr>
            <p:spPr>
              <a:xfrm>
                <a:off x="7916081" y="3488051"/>
                <a:ext cx="65319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m:rPr>
                              <m:sty m:val="p"/>
                            </m:rPr>
                            <a:rPr lang="en-US" sz="2800" i="0" dirty="0" smtClean="0">
                              <a:latin typeface="Cambria Math" panose="02040503050406030204" pitchFamily="18" charset="0"/>
                            </a:rPr>
                            <m:t>G</m:t>
                          </m:r>
                        </m:e>
                        <m:sub>
                          <m:r>
                            <a:rPr lang="en-US" sz="2800" b="0" i="0" dirty="0" smtClean="0">
                              <a:latin typeface="Cambria Math" panose="02040503050406030204" pitchFamily="18" charset="0"/>
                            </a:rPr>
                            <m:t>3</m:t>
                          </m:r>
                        </m:sub>
                      </m:sSub>
                    </m:oMath>
                  </m:oMathPara>
                </a14:m>
                <a:endParaRPr lang="en-US" sz="2800" dirty="0"/>
              </a:p>
            </p:txBody>
          </p:sp>
        </mc:Choice>
        <mc:Fallback xmlns="">
          <p:sp>
            <p:nvSpPr>
              <p:cNvPr id="41" name="TextBox 40"/>
              <p:cNvSpPr txBox="1">
                <a:spLocks noRot="1" noChangeAspect="1" noMove="1" noResize="1" noEditPoints="1" noAdjustHandles="1" noChangeArrowheads="1" noChangeShapeType="1" noTextEdit="1"/>
              </p:cNvSpPr>
              <p:nvPr/>
            </p:nvSpPr>
            <p:spPr>
              <a:xfrm>
                <a:off x="7916081" y="3488051"/>
                <a:ext cx="653191" cy="523220"/>
              </a:xfrm>
              <a:prstGeom prst="rect">
                <a:avLst/>
              </a:prstGeom>
              <a:blipFill rotWithShape="0">
                <a:blip r:embed="rId5"/>
                <a:stretch>
                  <a:fillRect/>
                </a:stretch>
              </a:blipFill>
            </p:spPr>
            <p:txBody>
              <a:bodyPr/>
              <a:lstStyle/>
              <a:p>
                <a:r>
                  <a:rPr lang="en-US">
                    <a:noFill/>
                  </a:rPr>
                  <a:t> </a:t>
                </a:r>
              </a:p>
            </p:txBody>
          </p:sp>
        </mc:Fallback>
      </mc:AlternateContent>
      <p:pic>
        <p:nvPicPr>
          <p:cNvPr id="5" name="Picture 4"/>
          <p:cNvPicPr>
            <a:picLocks noChangeAspect="1"/>
          </p:cNvPicPr>
          <p:nvPr/>
        </p:nvPicPr>
        <p:blipFill>
          <a:blip r:embed="rId6"/>
          <a:stretch>
            <a:fillRect/>
          </a:stretch>
        </p:blipFill>
        <p:spPr>
          <a:xfrm>
            <a:off x="2970660" y="1705828"/>
            <a:ext cx="5774331" cy="2017538"/>
          </a:xfrm>
          <a:prstGeom prst="rect">
            <a:avLst/>
          </a:prstGeom>
        </p:spPr>
      </p:pic>
    </p:spTree>
    <p:extLst>
      <p:ext uri="{BB962C8B-B14F-4D97-AF65-F5344CB8AC3E}">
        <p14:creationId xmlns:p14="http://schemas.microsoft.com/office/powerpoint/2010/main" val="15441005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9"/>
            <a:ext cx="11929645" cy="544937"/>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Find a spanning tree from the following graph.</a:t>
            </a:r>
          </a:p>
        </p:txBody>
      </p:sp>
      <p:sp>
        <p:nvSpPr>
          <p:cNvPr id="16" name="Content Placeholder 2">
            <a:extLst>
              <a:ext uri="{FF2B5EF4-FFF2-40B4-BE49-F238E27FC236}">
                <a16:creationId xmlns:a16="http://schemas.microsoft.com/office/drawing/2014/main" id="{635C8299-099D-4E74-A7B7-29B2E1FD450E}"/>
              </a:ext>
            </a:extLst>
          </p:cNvPr>
          <p:cNvSpPr txBox="1">
            <a:spLocks/>
          </p:cNvSpPr>
          <p:nvPr/>
        </p:nvSpPr>
        <p:spPr>
          <a:xfrm>
            <a:off x="0" y="4011271"/>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3 ⇝ Example 1(Cont.)</a:t>
            </a:r>
            <a:endParaRPr lang="en-US" dirty="0"/>
          </a:p>
        </p:txBody>
      </p:sp>
      <mc:AlternateContent xmlns:mc="http://schemas.openxmlformats.org/markup-compatibility/2006" xmlns:a14="http://schemas.microsoft.com/office/drawing/2010/main">
        <mc:Choice Requires="a14">
          <p:sp>
            <p:nvSpPr>
              <p:cNvPr id="10" name="TextBox 9"/>
              <p:cNvSpPr txBox="1"/>
              <p:nvPr/>
            </p:nvSpPr>
            <p:spPr>
              <a:xfrm>
                <a:off x="5971865" y="3488051"/>
                <a:ext cx="653192"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m:rPr>
                              <m:sty m:val="p"/>
                            </m:rPr>
                            <a:rPr lang="en-US" sz="2800" i="0" dirty="0" smtClean="0">
                              <a:latin typeface="Cambria Math" panose="02040503050406030204" pitchFamily="18" charset="0"/>
                            </a:rPr>
                            <m:t>G</m:t>
                          </m:r>
                        </m:e>
                        <m:sub>
                          <m:r>
                            <a:rPr lang="en-US" sz="2800" b="0" i="0" dirty="0" smtClean="0">
                              <a:latin typeface="Cambria Math" panose="02040503050406030204" pitchFamily="18" charset="0"/>
                            </a:rPr>
                            <m:t>2</m:t>
                          </m:r>
                        </m:sub>
                      </m:sSub>
                    </m:oMath>
                  </m:oMathPara>
                </a14:m>
                <a:endParaRPr lang="en-US" sz="2800" dirty="0"/>
              </a:p>
            </p:txBody>
          </p:sp>
        </mc:Choice>
        <mc:Fallback xmlns="">
          <p:sp>
            <p:nvSpPr>
              <p:cNvPr id="10" name="TextBox 9"/>
              <p:cNvSpPr txBox="1">
                <a:spLocks noRot="1" noChangeAspect="1" noMove="1" noResize="1" noEditPoints="1" noAdjustHandles="1" noChangeArrowheads="1" noChangeShapeType="1" noTextEdit="1"/>
              </p:cNvSpPr>
              <p:nvPr/>
            </p:nvSpPr>
            <p:spPr>
              <a:xfrm>
                <a:off x="5971865" y="3488051"/>
                <a:ext cx="653192" cy="523220"/>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230004" y="4649591"/>
                <a:ext cx="7876765" cy="1082348"/>
              </a:xfrm>
              <a:prstGeom prst="rect">
                <a:avLst/>
              </a:prstGeom>
            </p:spPr>
            <p:txBody>
              <a:bodyPr wrap="square">
                <a:spAutoFit/>
              </a:bodyPr>
              <a:lstStyle/>
              <a:p>
                <a:pPr algn="just">
                  <a:spcBef>
                    <a:spcPts val="1000"/>
                  </a:spcBef>
                  <a:buClr>
                    <a:srgbClr val="B84742"/>
                  </a:buClr>
                </a:pPr>
                <a:r>
                  <a:rPr lang="en-US" sz="2800" b="1" dirty="0">
                    <a:solidFill>
                      <a:srgbClr val="002060"/>
                    </a:solidFill>
                  </a:rPr>
                  <a:t>For </a:t>
                </a:r>
                <a14:m>
                  <m:oMath xmlns:m="http://schemas.openxmlformats.org/officeDocument/2006/math">
                    <m:sSub>
                      <m:sSubPr>
                        <m:ctrlPr>
                          <a:rPr lang="en-US" sz="2800" b="1" i="1">
                            <a:solidFill>
                              <a:srgbClr val="002060"/>
                            </a:solidFill>
                            <a:latin typeface="Cambria Math" panose="02040503050406030204" pitchFamily="18" charset="0"/>
                          </a:rPr>
                        </m:ctrlPr>
                      </m:sSubPr>
                      <m:e>
                        <m:r>
                          <a:rPr lang="en-US" sz="2800" b="1">
                            <a:solidFill>
                              <a:srgbClr val="002060"/>
                            </a:solidFill>
                            <a:latin typeface="Cambria Math" panose="02040503050406030204" pitchFamily="18" charset="0"/>
                          </a:rPr>
                          <m:t>𝐆</m:t>
                        </m:r>
                      </m:e>
                      <m:sub>
                        <m:r>
                          <a:rPr lang="en-US" sz="2800" b="1">
                            <a:solidFill>
                              <a:srgbClr val="002060"/>
                            </a:solidFill>
                            <a:latin typeface="Cambria Math" panose="02040503050406030204" pitchFamily="18" charset="0"/>
                          </a:rPr>
                          <m:t>𝟏</m:t>
                        </m:r>
                      </m:sub>
                    </m:sSub>
                  </m:oMath>
                </a14:m>
                <a:r>
                  <a:rPr lang="en-US" sz="2800" dirty="0">
                    <a:solidFill>
                      <a:srgbClr val="002060"/>
                    </a:solidFill>
                  </a:rPr>
                  <a:t> </a:t>
                </a:r>
              </a:p>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It has no circuits. </a:t>
                </a:r>
                <a14:m>
                  <m:oMath xmlns:m="http://schemas.openxmlformats.org/officeDocument/2006/math">
                    <m:r>
                      <a:rPr lang="en-US" sz="2800" b="0" i="0" smtClean="0">
                        <a:solidFill>
                          <a:srgbClr val="002060"/>
                        </a:solidFill>
                        <a:latin typeface="Cambria Math" panose="02040503050406030204" pitchFamily="18" charset="0"/>
                      </a:rPr>
                      <m:t> </m:t>
                    </m:r>
                    <m:sSub>
                      <m:sSubPr>
                        <m:ctrlPr>
                          <a:rPr lang="en-US"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G</m:t>
                        </m:r>
                      </m:e>
                      <m:sub>
                        <m:r>
                          <a:rPr lang="en-US" sz="2800" b="0" i="0" smtClean="0">
                            <a:solidFill>
                              <a:srgbClr val="002060"/>
                            </a:solidFill>
                            <a:latin typeface="Cambria Math" panose="02040503050406030204" pitchFamily="18" charset="0"/>
                          </a:rPr>
                          <m:t>1</m:t>
                        </m:r>
                      </m:sub>
                    </m:sSub>
                    <m:r>
                      <a:rPr lang="en-US" sz="2800" b="0" i="0" smtClean="0">
                        <a:solidFill>
                          <a:srgbClr val="002060"/>
                        </a:solidFill>
                        <a:latin typeface="Cambria Math" panose="02040503050406030204" pitchFamily="18" charset="0"/>
                      </a:rPr>
                      <m:t> </m:t>
                    </m:r>
                  </m:oMath>
                </a14:m>
                <a:r>
                  <a:rPr lang="en-US" sz="2800" dirty="0">
                    <a:solidFill>
                      <a:srgbClr val="002060"/>
                    </a:solidFill>
                  </a:rPr>
                  <a:t>itself is a spanning tree.</a:t>
                </a:r>
              </a:p>
            </p:txBody>
          </p:sp>
        </mc:Choice>
        <mc:Fallback xmlns="">
          <p:sp>
            <p:nvSpPr>
              <p:cNvPr id="3" name="Rectangle 2"/>
              <p:cNvSpPr>
                <a:spLocks noRot="1" noChangeAspect="1" noMove="1" noResize="1" noEditPoints="1" noAdjustHandles="1" noChangeArrowheads="1" noChangeShapeType="1" noTextEdit="1"/>
              </p:cNvSpPr>
              <p:nvPr/>
            </p:nvSpPr>
            <p:spPr>
              <a:xfrm>
                <a:off x="230004" y="4649591"/>
                <a:ext cx="7876765" cy="1082348"/>
              </a:xfrm>
              <a:prstGeom prst="rect">
                <a:avLst/>
              </a:prstGeom>
              <a:blipFill rotWithShape="0">
                <a:blip r:embed="rId3"/>
                <a:stretch>
                  <a:fillRect l="-1625" t="-6215" b="-152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3739617" y="3488051"/>
                <a:ext cx="57823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i="1" dirty="0" smtClean="0">
                              <a:latin typeface="Cambria Math" panose="02040503050406030204" pitchFamily="18" charset="0"/>
                            </a:rPr>
                          </m:ctrlPr>
                        </m:sSubPr>
                        <m:e>
                          <m:r>
                            <m:rPr>
                              <m:sty m:val="p"/>
                            </m:rPr>
                            <a:rPr lang="en-US" sz="2400" i="0" dirty="0" smtClean="0">
                              <a:latin typeface="Cambria Math" panose="02040503050406030204" pitchFamily="18" charset="0"/>
                            </a:rPr>
                            <m:t>G</m:t>
                          </m:r>
                        </m:e>
                        <m:sub>
                          <m:r>
                            <a:rPr lang="en-US" sz="2400" i="0" dirty="0" smtClean="0">
                              <a:latin typeface="Cambria Math" panose="02040503050406030204" pitchFamily="18" charset="0"/>
                            </a:rPr>
                            <m:t>1</m:t>
                          </m:r>
                        </m:sub>
                      </m:sSub>
                    </m:oMath>
                  </m:oMathPara>
                </a14:m>
                <a:endParaRPr lang="en-US" sz="2400" dirty="0"/>
              </a:p>
            </p:txBody>
          </p:sp>
        </mc:Choice>
        <mc:Fallback xmlns="">
          <p:sp>
            <p:nvSpPr>
              <p:cNvPr id="40" name="TextBox 39"/>
              <p:cNvSpPr txBox="1">
                <a:spLocks noRot="1" noChangeAspect="1" noMove="1" noResize="1" noEditPoints="1" noAdjustHandles="1" noChangeArrowheads="1" noChangeShapeType="1" noTextEdit="1"/>
              </p:cNvSpPr>
              <p:nvPr/>
            </p:nvSpPr>
            <p:spPr>
              <a:xfrm>
                <a:off x="3739617" y="3488051"/>
                <a:ext cx="578235" cy="461665"/>
              </a:xfrm>
              <a:prstGeom prst="rect">
                <a:avLst/>
              </a:prstGeom>
              <a:blipFill rotWithShape="0">
                <a:blip r:embed="rId4"/>
                <a:stretch>
                  <a:fillRect b="-26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p:cNvSpPr txBox="1"/>
              <p:nvPr/>
            </p:nvSpPr>
            <p:spPr>
              <a:xfrm>
                <a:off x="7916081" y="3488051"/>
                <a:ext cx="65319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m:rPr>
                              <m:sty m:val="p"/>
                            </m:rPr>
                            <a:rPr lang="en-US" sz="2800" i="0" dirty="0" smtClean="0">
                              <a:latin typeface="Cambria Math" panose="02040503050406030204" pitchFamily="18" charset="0"/>
                            </a:rPr>
                            <m:t>G</m:t>
                          </m:r>
                        </m:e>
                        <m:sub>
                          <m:r>
                            <a:rPr lang="en-US" sz="2800" b="0" i="0" dirty="0" smtClean="0">
                              <a:latin typeface="Cambria Math" panose="02040503050406030204" pitchFamily="18" charset="0"/>
                            </a:rPr>
                            <m:t>3</m:t>
                          </m:r>
                        </m:sub>
                      </m:sSub>
                    </m:oMath>
                  </m:oMathPara>
                </a14:m>
                <a:endParaRPr lang="en-US" sz="2800" dirty="0"/>
              </a:p>
            </p:txBody>
          </p:sp>
        </mc:Choice>
        <mc:Fallback xmlns="">
          <p:sp>
            <p:nvSpPr>
              <p:cNvPr id="41" name="TextBox 40"/>
              <p:cNvSpPr txBox="1">
                <a:spLocks noRot="1" noChangeAspect="1" noMove="1" noResize="1" noEditPoints="1" noAdjustHandles="1" noChangeArrowheads="1" noChangeShapeType="1" noTextEdit="1"/>
              </p:cNvSpPr>
              <p:nvPr/>
            </p:nvSpPr>
            <p:spPr>
              <a:xfrm>
                <a:off x="7916081" y="3488051"/>
                <a:ext cx="653191" cy="523220"/>
              </a:xfrm>
              <a:prstGeom prst="rect">
                <a:avLst/>
              </a:prstGeom>
              <a:blipFill rotWithShape="0">
                <a:blip r:embed="rId5"/>
                <a:stretch>
                  <a:fillRect/>
                </a:stretch>
              </a:blipFill>
            </p:spPr>
            <p:txBody>
              <a:bodyPr/>
              <a:lstStyle/>
              <a:p>
                <a:r>
                  <a:rPr lang="en-US">
                    <a:noFill/>
                  </a:rPr>
                  <a:t> </a:t>
                </a:r>
              </a:p>
            </p:txBody>
          </p:sp>
        </mc:Fallback>
      </mc:AlternateContent>
      <p:pic>
        <p:nvPicPr>
          <p:cNvPr id="5" name="Picture 4"/>
          <p:cNvPicPr>
            <a:picLocks noChangeAspect="1"/>
          </p:cNvPicPr>
          <p:nvPr/>
        </p:nvPicPr>
        <p:blipFill>
          <a:blip r:embed="rId6"/>
          <a:stretch>
            <a:fillRect/>
          </a:stretch>
        </p:blipFill>
        <p:spPr>
          <a:xfrm>
            <a:off x="2970660" y="1705828"/>
            <a:ext cx="5774331" cy="2017538"/>
          </a:xfrm>
          <a:prstGeom prst="rect">
            <a:avLst/>
          </a:prstGeom>
        </p:spPr>
      </p:pic>
    </p:spTree>
    <p:extLst>
      <p:ext uri="{BB962C8B-B14F-4D97-AF65-F5344CB8AC3E}">
        <p14:creationId xmlns:p14="http://schemas.microsoft.com/office/powerpoint/2010/main" val="30560161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635C8299-099D-4E74-A7B7-29B2E1FD450E}"/>
              </a:ext>
            </a:extLst>
          </p:cNvPr>
          <p:cNvSpPr txBox="1">
            <a:spLocks/>
          </p:cNvSpPr>
          <p:nvPr/>
        </p:nvSpPr>
        <p:spPr>
          <a:xfrm>
            <a:off x="131176" y="884283"/>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3 ⇝ Example 1(Cont.)</a:t>
            </a:r>
            <a:endParaRPr lang="en-US" dirty="0"/>
          </a:p>
        </p:txBody>
      </p:sp>
      <mc:AlternateContent xmlns:mc="http://schemas.openxmlformats.org/markup-compatibility/2006" xmlns:a14="http://schemas.microsoft.com/office/drawing/2010/main">
        <mc:Choice Requires="a14">
          <p:sp>
            <p:nvSpPr>
              <p:cNvPr id="11" name="Rectangle 10"/>
              <p:cNvSpPr/>
              <p:nvPr/>
            </p:nvSpPr>
            <p:spPr>
              <a:xfrm>
                <a:off x="131176" y="1580586"/>
                <a:ext cx="5928312" cy="2934137"/>
              </a:xfrm>
              <a:prstGeom prst="rect">
                <a:avLst/>
              </a:prstGeom>
            </p:spPr>
            <p:txBody>
              <a:bodyPr wrap="square">
                <a:spAutoFit/>
              </a:bodyPr>
              <a:lstStyle/>
              <a:p>
                <a:pPr algn="just">
                  <a:spcBef>
                    <a:spcPts val="1000"/>
                  </a:spcBef>
                  <a:buClr>
                    <a:srgbClr val="B84742"/>
                  </a:buClr>
                </a:pPr>
                <a:r>
                  <a:rPr lang="en-US" sz="2800" b="1" dirty="0">
                    <a:solidFill>
                      <a:srgbClr val="002060"/>
                    </a:solidFill>
                  </a:rPr>
                  <a:t>For </a:t>
                </a:r>
                <a14:m>
                  <m:oMath xmlns:m="http://schemas.openxmlformats.org/officeDocument/2006/math">
                    <m:sSub>
                      <m:sSubPr>
                        <m:ctrlPr>
                          <a:rPr lang="en-US" sz="2800" b="1" i="1" smtClean="0">
                            <a:solidFill>
                              <a:srgbClr val="002060"/>
                            </a:solidFill>
                            <a:latin typeface="Cambria Math" panose="02040503050406030204" pitchFamily="18" charset="0"/>
                          </a:rPr>
                        </m:ctrlPr>
                      </m:sSubPr>
                      <m:e>
                        <m:r>
                          <a:rPr lang="en-US" sz="2800" b="1" i="0" smtClean="0">
                            <a:solidFill>
                              <a:srgbClr val="002060"/>
                            </a:solidFill>
                            <a:latin typeface="Cambria Math" panose="02040503050406030204" pitchFamily="18" charset="0"/>
                          </a:rPr>
                          <m:t>𝐆</m:t>
                        </m:r>
                      </m:e>
                      <m:sub>
                        <m:r>
                          <a:rPr lang="en-US" sz="2800" b="1" i="0" smtClean="0">
                            <a:solidFill>
                              <a:srgbClr val="002060"/>
                            </a:solidFill>
                            <a:latin typeface="Cambria Math" panose="02040503050406030204" pitchFamily="18" charset="0"/>
                          </a:rPr>
                          <m:t>𝟐</m:t>
                        </m:r>
                      </m:sub>
                    </m:sSub>
                  </m:oMath>
                </a14:m>
                <a:r>
                  <a:rPr lang="en-US" sz="2800" dirty="0">
                    <a:solidFill>
                      <a:srgbClr val="002060"/>
                    </a:solidFill>
                  </a:rPr>
                  <a:t> </a:t>
                </a:r>
              </a:p>
              <a:p>
                <a:pPr marL="265113" lvl="1" indent="-265113" algn="just">
                  <a:spcBef>
                    <a:spcPts val="1000"/>
                  </a:spcBef>
                  <a:buClr>
                    <a:srgbClr val="B84742"/>
                  </a:buClr>
                  <a:buFont typeface="Wingdings 3" panose="05040102010807070707" pitchFamily="18" charset="2"/>
                  <a:buChar char=""/>
                </a:pPr>
                <a:r>
                  <a:rPr lang="en-US" sz="2800" dirty="0">
                    <a:solidFill>
                      <a:srgbClr val="002060"/>
                    </a:solidFill>
                  </a:rPr>
                  <a:t>Given graph is connected, contain cycles so apply </a:t>
                </a:r>
                <a:r>
                  <a:rPr lang="en-US" sz="2800" b="1" dirty="0">
                    <a:solidFill>
                      <a:srgbClr val="002060"/>
                    </a:solidFill>
                  </a:rPr>
                  <a:t>Cycle Removal</a:t>
                </a:r>
                <a:r>
                  <a:rPr lang="en-US" sz="2800" dirty="0">
                    <a:solidFill>
                      <a:srgbClr val="002060"/>
                    </a:solidFill>
                  </a:rPr>
                  <a:t> method for finding spanning tree of a connected graph </a:t>
                </a:r>
              </a:p>
              <a:p>
                <a:pPr marL="265113" lvl="1" indent="-265113" algn="just">
                  <a:spcBef>
                    <a:spcPts val="1000"/>
                  </a:spcBef>
                  <a:buClr>
                    <a:srgbClr val="B84742"/>
                  </a:buClr>
                  <a:buFont typeface="Wingdings 3" panose="05040102010807070707" pitchFamily="18" charset="2"/>
                  <a:buChar char=""/>
                </a:pPr>
                <a:endParaRPr lang="en-US" sz="2800" dirty="0">
                  <a:solidFill>
                    <a:srgbClr val="002060"/>
                  </a:solidFill>
                </a:endParaRPr>
              </a:p>
            </p:txBody>
          </p:sp>
        </mc:Choice>
        <mc:Fallback xmlns="">
          <p:sp>
            <p:nvSpPr>
              <p:cNvPr id="11" name="Rectangle 10"/>
              <p:cNvSpPr>
                <a:spLocks noRot="1" noChangeAspect="1" noMove="1" noResize="1" noEditPoints="1" noAdjustHandles="1" noChangeArrowheads="1" noChangeShapeType="1" noTextEdit="1"/>
              </p:cNvSpPr>
              <p:nvPr/>
            </p:nvSpPr>
            <p:spPr>
              <a:xfrm>
                <a:off x="131176" y="1580586"/>
                <a:ext cx="5928312" cy="2934137"/>
              </a:xfrm>
              <a:prstGeom prst="rect">
                <a:avLst/>
              </a:prstGeom>
              <a:blipFill rotWithShape="0">
                <a:blip r:embed="rId2"/>
                <a:stretch>
                  <a:fillRect l="-2160" t="-2075" r="-2058"/>
                </a:stretch>
              </a:blipFill>
            </p:spPr>
            <p:txBody>
              <a:bodyPr/>
              <a:lstStyle/>
              <a:p>
                <a:r>
                  <a:rPr lang="en-US">
                    <a:noFill/>
                  </a:rPr>
                  <a:t> </a:t>
                </a:r>
              </a:p>
            </p:txBody>
          </p:sp>
        </mc:Fallback>
      </mc:AlternateContent>
      <p:sp>
        <p:nvSpPr>
          <p:cNvPr id="20" name="TextBox 19"/>
          <p:cNvSpPr txBox="1"/>
          <p:nvPr/>
        </p:nvSpPr>
        <p:spPr>
          <a:xfrm>
            <a:off x="7594048" y="5893794"/>
            <a:ext cx="2125903" cy="523220"/>
          </a:xfrm>
          <a:prstGeom prst="rect">
            <a:avLst/>
          </a:prstGeom>
          <a:noFill/>
        </p:spPr>
        <p:txBody>
          <a:bodyPr wrap="none" rtlCol="0">
            <a:spAutoFit/>
          </a:bodyPr>
          <a:lstStyle/>
          <a:p>
            <a:r>
              <a:rPr lang="en-US" sz="2800" i="0" dirty="0">
                <a:solidFill>
                  <a:srgbClr val="002060"/>
                </a:solidFill>
                <a:latin typeface="+mj-lt"/>
              </a:rPr>
              <a:t>S</a:t>
            </a:r>
            <a:r>
              <a:rPr lang="en-US" sz="2800" b="0" i="0" dirty="0">
                <a:solidFill>
                  <a:srgbClr val="002060"/>
                </a:solidFill>
                <a:latin typeface="+mj-lt"/>
              </a:rPr>
              <a:t>panning tree</a:t>
            </a:r>
            <a:endParaRPr lang="en-US" sz="2800" dirty="0">
              <a:solidFill>
                <a:srgbClr val="002060"/>
              </a:solidFill>
            </a:endParaRPr>
          </a:p>
        </p:txBody>
      </p:sp>
      <p:cxnSp>
        <p:nvCxnSpPr>
          <p:cNvPr id="21" name="Straight Connector 20">
            <a:extLst>
              <a:ext uri="{FF2B5EF4-FFF2-40B4-BE49-F238E27FC236}">
                <a16:creationId xmlns:a16="http://schemas.microsoft.com/office/drawing/2014/main" id="{4E99354E-B9E7-A4B9-B0FB-B85D7587CE5F}"/>
              </a:ext>
            </a:extLst>
          </p:cNvPr>
          <p:cNvCxnSpPr>
            <a:cxnSpLocks/>
            <a:stCxn id="25" idx="6"/>
            <a:endCxn id="22" idx="2"/>
          </p:cNvCxnSpPr>
          <p:nvPr/>
        </p:nvCxnSpPr>
        <p:spPr>
          <a:xfrm>
            <a:off x="7893258" y="3867995"/>
            <a:ext cx="1527484"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2" name="Oval 21">
            <a:extLst>
              <a:ext uri="{FF2B5EF4-FFF2-40B4-BE49-F238E27FC236}">
                <a16:creationId xmlns:a16="http://schemas.microsoft.com/office/drawing/2014/main" id="{C327030C-79EF-3CF6-8D84-F693C3A31D6D}"/>
              </a:ext>
            </a:extLst>
          </p:cNvPr>
          <p:cNvSpPr/>
          <p:nvPr/>
        </p:nvSpPr>
        <p:spPr>
          <a:xfrm>
            <a:off x="9420742" y="379599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3" name="Oval 22">
            <a:extLst>
              <a:ext uri="{FF2B5EF4-FFF2-40B4-BE49-F238E27FC236}">
                <a16:creationId xmlns:a16="http://schemas.microsoft.com/office/drawing/2014/main" id="{4C2F5D99-BEB8-068B-6568-73FD39ACA5CA}"/>
              </a:ext>
            </a:extLst>
          </p:cNvPr>
          <p:cNvSpPr/>
          <p:nvPr/>
        </p:nvSpPr>
        <p:spPr>
          <a:xfrm>
            <a:off x="9420742" y="550703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4" name="Oval 23">
            <a:extLst>
              <a:ext uri="{FF2B5EF4-FFF2-40B4-BE49-F238E27FC236}">
                <a16:creationId xmlns:a16="http://schemas.microsoft.com/office/drawing/2014/main" id="{388BE81F-06D7-152E-7885-16AC17B4F94F}"/>
              </a:ext>
            </a:extLst>
          </p:cNvPr>
          <p:cNvSpPr/>
          <p:nvPr/>
        </p:nvSpPr>
        <p:spPr>
          <a:xfrm>
            <a:off x="7749258" y="550703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5" name="Oval 24">
            <a:extLst>
              <a:ext uri="{FF2B5EF4-FFF2-40B4-BE49-F238E27FC236}">
                <a16:creationId xmlns:a16="http://schemas.microsoft.com/office/drawing/2014/main" id="{1FF8334A-51A7-7A3E-6DDD-6377BE88E413}"/>
              </a:ext>
            </a:extLst>
          </p:cNvPr>
          <p:cNvSpPr/>
          <p:nvPr/>
        </p:nvSpPr>
        <p:spPr>
          <a:xfrm>
            <a:off x="7749258" y="379599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6" name="Straight Connector 25">
            <a:extLst>
              <a:ext uri="{FF2B5EF4-FFF2-40B4-BE49-F238E27FC236}">
                <a16:creationId xmlns:a16="http://schemas.microsoft.com/office/drawing/2014/main" id="{4E99354E-B9E7-A4B9-B0FB-B85D7587CE5F}"/>
              </a:ext>
            </a:extLst>
          </p:cNvPr>
          <p:cNvCxnSpPr>
            <a:cxnSpLocks/>
            <a:stCxn id="22" idx="4"/>
            <a:endCxn id="23" idx="0"/>
          </p:cNvCxnSpPr>
          <p:nvPr/>
        </p:nvCxnSpPr>
        <p:spPr>
          <a:xfrm>
            <a:off x="9492742" y="3939995"/>
            <a:ext cx="0" cy="156703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7" name="Straight Connector 26">
            <a:extLst>
              <a:ext uri="{FF2B5EF4-FFF2-40B4-BE49-F238E27FC236}">
                <a16:creationId xmlns:a16="http://schemas.microsoft.com/office/drawing/2014/main" id="{4E99354E-B9E7-A4B9-B0FB-B85D7587CE5F}"/>
              </a:ext>
            </a:extLst>
          </p:cNvPr>
          <p:cNvCxnSpPr>
            <a:cxnSpLocks/>
            <a:stCxn id="24" idx="7"/>
            <a:endCxn id="22" idx="3"/>
          </p:cNvCxnSpPr>
          <p:nvPr/>
        </p:nvCxnSpPr>
        <p:spPr>
          <a:xfrm flipV="1">
            <a:off x="7872170" y="3918907"/>
            <a:ext cx="1569660" cy="160921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8" name="Straight Connector 27">
            <a:extLst>
              <a:ext uri="{FF2B5EF4-FFF2-40B4-BE49-F238E27FC236}">
                <a16:creationId xmlns:a16="http://schemas.microsoft.com/office/drawing/2014/main" id="{4E99354E-B9E7-A4B9-B0FB-B85D7587CE5F}"/>
              </a:ext>
            </a:extLst>
          </p:cNvPr>
          <p:cNvCxnSpPr>
            <a:cxnSpLocks/>
            <a:stCxn id="24" idx="6"/>
            <a:endCxn id="23" idx="2"/>
          </p:cNvCxnSpPr>
          <p:nvPr/>
        </p:nvCxnSpPr>
        <p:spPr>
          <a:xfrm>
            <a:off x="7893258" y="5579034"/>
            <a:ext cx="1527484"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9" name="TextBox 28"/>
          <p:cNvSpPr txBox="1"/>
          <p:nvPr/>
        </p:nvSpPr>
        <p:spPr>
          <a:xfrm>
            <a:off x="8834356" y="4999580"/>
            <a:ext cx="298480" cy="369332"/>
          </a:xfrm>
          <a:prstGeom prst="rect">
            <a:avLst/>
          </a:prstGeom>
          <a:noFill/>
        </p:spPr>
        <p:txBody>
          <a:bodyPr wrap="none" rtlCol="0">
            <a:spAutoFit/>
          </a:bodyPr>
          <a:lstStyle/>
          <a:p>
            <a:r>
              <a:rPr lang="en-US" dirty="0"/>
              <a:t>1</a:t>
            </a:r>
          </a:p>
        </p:txBody>
      </p:sp>
      <p:pic>
        <p:nvPicPr>
          <p:cNvPr id="3" name="Picture 2"/>
          <p:cNvPicPr>
            <a:picLocks noChangeAspect="1"/>
          </p:cNvPicPr>
          <p:nvPr/>
        </p:nvPicPr>
        <p:blipFill>
          <a:blip r:embed="rId3"/>
          <a:stretch>
            <a:fillRect/>
          </a:stretch>
        </p:blipFill>
        <p:spPr>
          <a:xfrm>
            <a:off x="7749258" y="1289106"/>
            <a:ext cx="1828959" cy="2408129"/>
          </a:xfrm>
          <a:prstGeom prst="rect">
            <a:avLst/>
          </a:prstGeom>
        </p:spPr>
      </p:pic>
      <p:sp>
        <p:nvSpPr>
          <p:cNvPr id="32" name="Rectangle 31"/>
          <p:cNvSpPr/>
          <p:nvPr/>
        </p:nvSpPr>
        <p:spPr>
          <a:xfrm>
            <a:off x="391729" y="4549147"/>
            <a:ext cx="5407205"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lnSpc>
                <a:spcPct val="150000"/>
              </a:lnSpc>
              <a:spcBef>
                <a:spcPts val="1000"/>
              </a:spcBef>
              <a:buClr>
                <a:srgbClr val="B84742"/>
              </a:buClr>
            </a:pPr>
            <a:r>
              <a:rPr lang="en-US" sz="2400" b="1" dirty="0">
                <a:solidFill>
                  <a:srgbClr val="002060"/>
                </a:solidFill>
              </a:rPr>
              <a:t>If the graph G contains </a:t>
            </a:r>
            <a:r>
              <a:rPr lang="en-US" sz="2400" b="1" dirty="0">
                <a:solidFill>
                  <a:srgbClr val="FF0000"/>
                </a:solidFill>
              </a:rPr>
              <a:t>circuit</a:t>
            </a:r>
            <a:r>
              <a:rPr lang="en-US" sz="2400" b="1" dirty="0">
                <a:solidFill>
                  <a:srgbClr val="002060"/>
                </a:solidFill>
              </a:rPr>
              <a:t>, select any one edge from circuit and remove it.</a:t>
            </a:r>
          </a:p>
        </p:txBody>
      </p:sp>
    </p:spTree>
    <p:extLst>
      <p:ext uri="{BB962C8B-B14F-4D97-AF65-F5344CB8AC3E}">
        <p14:creationId xmlns:p14="http://schemas.microsoft.com/office/powerpoint/2010/main" val="30301920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childTnLst>
                                    <p:set>
                                      <p:cBhvr>
                                        <p:cTn id="25" dur="1" fill="hold">
                                          <p:stCondLst>
                                            <p:cond delay="0"/>
                                          </p:stCondLst>
                                        </p:cTn>
                                        <p:tgtEl>
                                          <p:spTgt spid="23"/>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childTnLst>
                                    <p:set>
                                      <p:cBhvr>
                                        <p:cTn id="31" dur="1" fill="hold">
                                          <p:stCondLst>
                                            <p:cond delay="0"/>
                                          </p:stCondLst>
                                        </p:cTn>
                                        <p:tgtEl>
                                          <p:spTgt spid="25"/>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26"/>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27"/>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2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29"/>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xit" presetSubtype="0" fill="hold" nodeType="clickEffect">
                                  <p:stCondLst>
                                    <p:cond delay="0"/>
                                  </p:stCondLst>
                                  <p:childTnLst>
                                    <p:set>
                                      <p:cBhvr>
                                        <p:cTn id="45" dur="1" fill="hold">
                                          <p:stCondLst>
                                            <p:cond delay="0"/>
                                          </p:stCondLst>
                                        </p:cTn>
                                        <p:tgtEl>
                                          <p:spTgt spid="27"/>
                                        </p:tgtEl>
                                        <p:attrNameLst>
                                          <p:attrName>style.visibility</p:attrName>
                                        </p:attrNameLst>
                                      </p:cBhvr>
                                      <p:to>
                                        <p:strVal val="hidden"/>
                                      </p:to>
                                    </p:set>
                                  </p:childTnLst>
                                </p:cTn>
                              </p:par>
                              <p:par>
                                <p:cTn id="46" presetID="1" presetClass="exit" presetSubtype="0" fill="hold" grpId="1" nodeType="withEffect">
                                  <p:stCondLst>
                                    <p:cond delay="0"/>
                                  </p:stCondLst>
                                  <p:childTnLst>
                                    <p:set>
                                      <p:cBhvr>
                                        <p:cTn id="47" dur="1" fill="hold">
                                          <p:stCondLst>
                                            <p:cond delay="0"/>
                                          </p:stCondLst>
                                        </p:cTn>
                                        <p:tgtEl>
                                          <p:spTgt spid="29"/>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2" grpId="0" animBg="1"/>
      <p:bldP spid="23" grpId="0" animBg="1"/>
      <p:bldP spid="24" grpId="0" animBg="1"/>
      <p:bldP spid="25" grpId="0" animBg="1"/>
      <p:bldP spid="29" grpId="0"/>
      <p:bldP spid="29" grpId="1"/>
      <p:bldP spid="32"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635C8299-099D-4E74-A7B7-29B2E1FD450E}"/>
              </a:ext>
            </a:extLst>
          </p:cNvPr>
          <p:cNvSpPr txBox="1">
            <a:spLocks/>
          </p:cNvSpPr>
          <p:nvPr/>
        </p:nvSpPr>
        <p:spPr>
          <a:xfrm>
            <a:off x="131176" y="868701"/>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3 ⇝ Example 1(Cont.)</a:t>
            </a:r>
            <a:endParaRPr lang="en-US" dirty="0"/>
          </a:p>
        </p:txBody>
      </p:sp>
      <mc:AlternateContent xmlns:mc="http://schemas.openxmlformats.org/markup-compatibility/2006" xmlns:a14="http://schemas.microsoft.com/office/drawing/2010/main">
        <mc:Choice Requires="a14">
          <p:sp>
            <p:nvSpPr>
              <p:cNvPr id="11" name="Rectangle 10"/>
              <p:cNvSpPr/>
              <p:nvPr/>
            </p:nvSpPr>
            <p:spPr>
              <a:xfrm>
                <a:off x="131176" y="1549422"/>
                <a:ext cx="7389356" cy="1944122"/>
              </a:xfrm>
              <a:prstGeom prst="rect">
                <a:avLst/>
              </a:prstGeom>
            </p:spPr>
            <p:txBody>
              <a:bodyPr wrap="square">
                <a:spAutoFit/>
              </a:bodyPr>
              <a:lstStyle/>
              <a:p>
                <a:pPr algn="just">
                  <a:spcBef>
                    <a:spcPts val="1000"/>
                  </a:spcBef>
                  <a:buClr>
                    <a:srgbClr val="B84742"/>
                  </a:buClr>
                </a:pPr>
                <a:r>
                  <a:rPr lang="en-US" sz="2800" b="1" dirty="0">
                    <a:solidFill>
                      <a:srgbClr val="002060"/>
                    </a:solidFill>
                  </a:rPr>
                  <a:t>For </a:t>
                </a:r>
                <a14:m>
                  <m:oMath xmlns:m="http://schemas.openxmlformats.org/officeDocument/2006/math">
                    <m:sSub>
                      <m:sSubPr>
                        <m:ctrlPr>
                          <a:rPr lang="en-US" sz="2800" b="1" i="1" smtClean="0">
                            <a:solidFill>
                              <a:srgbClr val="002060"/>
                            </a:solidFill>
                            <a:latin typeface="Cambria Math" panose="02040503050406030204" pitchFamily="18" charset="0"/>
                          </a:rPr>
                        </m:ctrlPr>
                      </m:sSubPr>
                      <m:e>
                        <m:r>
                          <a:rPr lang="en-US" sz="2800" b="1" i="0" smtClean="0">
                            <a:solidFill>
                              <a:srgbClr val="002060"/>
                            </a:solidFill>
                            <a:latin typeface="Cambria Math" panose="02040503050406030204" pitchFamily="18" charset="0"/>
                          </a:rPr>
                          <m:t>𝐆</m:t>
                        </m:r>
                      </m:e>
                      <m:sub>
                        <m:r>
                          <a:rPr lang="en-US" sz="2800" b="1" i="0" smtClean="0">
                            <a:solidFill>
                              <a:srgbClr val="002060"/>
                            </a:solidFill>
                            <a:latin typeface="Cambria Math" panose="02040503050406030204" pitchFamily="18" charset="0"/>
                          </a:rPr>
                          <m:t>𝟑</m:t>
                        </m:r>
                      </m:sub>
                    </m:sSub>
                  </m:oMath>
                </a14:m>
                <a:r>
                  <a:rPr lang="en-US" sz="2800" dirty="0">
                    <a:solidFill>
                      <a:srgbClr val="002060"/>
                    </a:solidFill>
                  </a:rPr>
                  <a:t> </a:t>
                </a:r>
              </a:p>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Given graph is connected, contain cycles so apply </a:t>
                </a:r>
                <a:r>
                  <a:rPr lang="en-US" sz="2800" b="1" dirty="0">
                    <a:solidFill>
                      <a:srgbClr val="002060"/>
                    </a:solidFill>
                  </a:rPr>
                  <a:t>Cycle Removal </a:t>
                </a:r>
                <a:r>
                  <a:rPr lang="en-US" sz="2800" dirty="0">
                    <a:solidFill>
                      <a:srgbClr val="002060"/>
                    </a:solidFill>
                  </a:rPr>
                  <a:t>method for finding spanning tree of a connected graph </a:t>
                </a:r>
              </a:p>
            </p:txBody>
          </p:sp>
        </mc:Choice>
        <mc:Fallback xmlns="">
          <p:sp>
            <p:nvSpPr>
              <p:cNvPr id="11" name="Rectangle 10"/>
              <p:cNvSpPr>
                <a:spLocks noRot="1" noChangeAspect="1" noMove="1" noResize="1" noEditPoints="1" noAdjustHandles="1" noChangeArrowheads="1" noChangeShapeType="1" noTextEdit="1"/>
              </p:cNvSpPr>
              <p:nvPr/>
            </p:nvSpPr>
            <p:spPr>
              <a:xfrm>
                <a:off x="131176" y="1549422"/>
                <a:ext cx="7389356" cy="1944122"/>
              </a:xfrm>
              <a:prstGeom prst="rect">
                <a:avLst/>
              </a:prstGeom>
              <a:blipFill rotWithShape="0">
                <a:blip r:embed="rId2"/>
                <a:stretch>
                  <a:fillRect l="-1733" t="-3135" r="-1650" b="-7837"/>
                </a:stretch>
              </a:blipFill>
            </p:spPr>
            <p:txBody>
              <a:bodyPr/>
              <a:lstStyle/>
              <a:p>
                <a:r>
                  <a:rPr lang="en-US">
                    <a:noFill/>
                  </a:rPr>
                  <a:t> </a:t>
                </a:r>
              </a:p>
            </p:txBody>
          </p:sp>
        </mc:Fallback>
      </mc:AlternateContent>
      <p:sp>
        <p:nvSpPr>
          <p:cNvPr id="42" name="TextBox 41"/>
          <p:cNvSpPr txBox="1"/>
          <p:nvPr/>
        </p:nvSpPr>
        <p:spPr>
          <a:xfrm>
            <a:off x="8539226" y="5575220"/>
            <a:ext cx="2133918" cy="523220"/>
          </a:xfrm>
          <a:prstGeom prst="rect">
            <a:avLst/>
          </a:prstGeom>
          <a:noFill/>
        </p:spPr>
        <p:txBody>
          <a:bodyPr wrap="none" rtlCol="0">
            <a:spAutoFit/>
          </a:bodyPr>
          <a:lstStyle/>
          <a:p>
            <a:pPr algn="ctr"/>
            <a:r>
              <a:rPr lang="en-US" sz="2800" dirty="0">
                <a:solidFill>
                  <a:srgbClr val="002060"/>
                </a:solidFill>
              </a:rPr>
              <a:t>Spanning tree</a:t>
            </a:r>
          </a:p>
        </p:txBody>
      </p:sp>
      <p:sp>
        <p:nvSpPr>
          <p:cNvPr id="43" name="Oval 42">
            <a:extLst>
              <a:ext uri="{FF2B5EF4-FFF2-40B4-BE49-F238E27FC236}">
                <a16:creationId xmlns:a16="http://schemas.microsoft.com/office/drawing/2014/main" id="{BDD11F87-DA81-9510-C1CB-0AF4093562CB}"/>
              </a:ext>
            </a:extLst>
          </p:cNvPr>
          <p:cNvSpPr/>
          <p:nvPr/>
        </p:nvSpPr>
        <p:spPr>
          <a:xfrm rot="5400000">
            <a:off x="9203995" y="425798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4" name="Oval 43">
            <a:extLst>
              <a:ext uri="{FF2B5EF4-FFF2-40B4-BE49-F238E27FC236}">
                <a16:creationId xmlns:a16="http://schemas.microsoft.com/office/drawing/2014/main" id="{BDD11F87-DA81-9510-C1CB-0AF4093562CB}"/>
              </a:ext>
            </a:extLst>
          </p:cNvPr>
          <p:cNvSpPr/>
          <p:nvPr/>
        </p:nvSpPr>
        <p:spPr>
          <a:xfrm rot="5400000">
            <a:off x="9924075" y="425798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5" name="Oval 44">
            <a:extLst>
              <a:ext uri="{FF2B5EF4-FFF2-40B4-BE49-F238E27FC236}">
                <a16:creationId xmlns:a16="http://schemas.microsoft.com/office/drawing/2014/main" id="{BDD11F87-DA81-9510-C1CB-0AF4093562CB}"/>
              </a:ext>
            </a:extLst>
          </p:cNvPr>
          <p:cNvSpPr/>
          <p:nvPr/>
        </p:nvSpPr>
        <p:spPr>
          <a:xfrm rot="5400000">
            <a:off x="9203995" y="497806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6" name="Oval 45">
            <a:extLst>
              <a:ext uri="{FF2B5EF4-FFF2-40B4-BE49-F238E27FC236}">
                <a16:creationId xmlns:a16="http://schemas.microsoft.com/office/drawing/2014/main" id="{BDD11F87-DA81-9510-C1CB-0AF4093562CB}"/>
              </a:ext>
            </a:extLst>
          </p:cNvPr>
          <p:cNvSpPr/>
          <p:nvPr/>
        </p:nvSpPr>
        <p:spPr>
          <a:xfrm rot="5400000">
            <a:off x="9918965" y="497806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7" name="Oval 46">
            <a:extLst>
              <a:ext uri="{FF2B5EF4-FFF2-40B4-BE49-F238E27FC236}">
                <a16:creationId xmlns:a16="http://schemas.microsoft.com/office/drawing/2014/main" id="{BDD11F87-DA81-9510-C1CB-0AF4093562CB}"/>
              </a:ext>
            </a:extLst>
          </p:cNvPr>
          <p:cNvSpPr/>
          <p:nvPr/>
        </p:nvSpPr>
        <p:spPr>
          <a:xfrm rot="5400000">
            <a:off x="8843971" y="389796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8" name="Oval 47">
            <a:extLst>
              <a:ext uri="{FF2B5EF4-FFF2-40B4-BE49-F238E27FC236}">
                <a16:creationId xmlns:a16="http://schemas.microsoft.com/office/drawing/2014/main" id="{BDD11F87-DA81-9510-C1CB-0AF4093562CB}"/>
              </a:ext>
            </a:extLst>
          </p:cNvPr>
          <p:cNvSpPr/>
          <p:nvPr/>
        </p:nvSpPr>
        <p:spPr>
          <a:xfrm rot="5400000">
            <a:off x="10284115" y="389796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9" name="Oval 48">
            <a:extLst>
              <a:ext uri="{FF2B5EF4-FFF2-40B4-BE49-F238E27FC236}">
                <a16:creationId xmlns:a16="http://schemas.microsoft.com/office/drawing/2014/main" id="{BDD11F87-DA81-9510-C1CB-0AF4093562CB}"/>
              </a:ext>
            </a:extLst>
          </p:cNvPr>
          <p:cNvSpPr/>
          <p:nvPr/>
        </p:nvSpPr>
        <p:spPr>
          <a:xfrm rot="5400000">
            <a:off x="8843971" y="533810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0" name="Oval 49">
            <a:extLst>
              <a:ext uri="{FF2B5EF4-FFF2-40B4-BE49-F238E27FC236}">
                <a16:creationId xmlns:a16="http://schemas.microsoft.com/office/drawing/2014/main" id="{BDD11F87-DA81-9510-C1CB-0AF4093562CB}"/>
              </a:ext>
            </a:extLst>
          </p:cNvPr>
          <p:cNvSpPr/>
          <p:nvPr/>
        </p:nvSpPr>
        <p:spPr>
          <a:xfrm rot="5400000">
            <a:off x="10284115" y="533810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1" name="Straight Connector 50">
            <a:extLst>
              <a:ext uri="{FF2B5EF4-FFF2-40B4-BE49-F238E27FC236}">
                <a16:creationId xmlns:a16="http://schemas.microsoft.com/office/drawing/2014/main" id="{6205DD86-315C-53B6-CEEF-A9919650168E}"/>
              </a:ext>
            </a:extLst>
          </p:cNvPr>
          <p:cNvCxnSpPr>
            <a:cxnSpLocks/>
            <a:stCxn id="43" idx="0"/>
            <a:endCxn id="44" idx="4"/>
          </p:cNvCxnSpPr>
          <p:nvPr/>
        </p:nvCxnSpPr>
        <p:spPr>
          <a:xfrm>
            <a:off x="9347995" y="4329988"/>
            <a:ext cx="57608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2" name="Straight Connector 51">
            <a:extLst>
              <a:ext uri="{FF2B5EF4-FFF2-40B4-BE49-F238E27FC236}">
                <a16:creationId xmlns:a16="http://schemas.microsoft.com/office/drawing/2014/main" id="{6205DD86-315C-53B6-CEEF-A9919650168E}"/>
              </a:ext>
            </a:extLst>
          </p:cNvPr>
          <p:cNvCxnSpPr>
            <a:cxnSpLocks/>
            <a:stCxn id="45" idx="0"/>
            <a:endCxn id="46" idx="4"/>
          </p:cNvCxnSpPr>
          <p:nvPr/>
        </p:nvCxnSpPr>
        <p:spPr>
          <a:xfrm>
            <a:off x="9347995" y="5050068"/>
            <a:ext cx="57097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3" name="Straight Connector 52">
            <a:extLst>
              <a:ext uri="{FF2B5EF4-FFF2-40B4-BE49-F238E27FC236}">
                <a16:creationId xmlns:a16="http://schemas.microsoft.com/office/drawing/2014/main" id="{6205DD86-315C-53B6-CEEF-A9919650168E}"/>
              </a:ext>
            </a:extLst>
          </p:cNvPr>
          <p:cNvCxnSpPr>
            <a:cxnSpLocks/>
            <a:stCxn id="43" idx="6"/>
            <a:endCxn id="45" idx="2"/>
          </p:cNvCxnSpPr>
          <p:nvPr/>
        </p:nvCxnSpPr>
        <p:spPr>
          <a:xfrm>
            <a:off x="9275995" y="4401988"/>
            <a:ext cx="0" cy="57608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4" name="Straight Connector 53">
            <a:extLst>
              <a:ext uri="{FF2B5EF4-FFF2-40B4-BE49-F238E27FC236}">
                <a16:creationId xmlns:a16="http://schemas.microsoft.com/office/drawing/2014/main" id="{6205DD86-315C-53B6-CEEF-A9919650168E}"/>
              </a:ext>
            </a:extLst>
          </p:cNvPr>
          <p:cNvCxnSpPr>
            <a:cxnSpLocks/>
            <a:stCxn id="44" idx="6"/>
            <a:endCxn id="46" idx="2"/>
          </p:cNvCxnSpPr>
          <p:nvPr/>
        </p:nvCxnSpPr>
        <p:spPr>
          <a:xfrm flipH="1">
            <a:off x="9990965" y="4401988"/>
            <a:ext cx="5110" cy="57608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5" name="Straight Connector 54">
            <a:extLst>
              <a:ext uri="{FF2B5EF4-FFF2-40B4-BE49-F238E27FC236}">
                <a16:creationId xmlns:a16="http://schemas.microsoft.com/office/drawing/2014/main" id="{6205DD86-315C-53B6-CEEF-A9919650168E}"/>
              </a:ext>
            </a:extLst>
          </p:cNvPr>
          <p:cNvCxnSpPr>
            <a:cxnSpLocks/>
            <a:stCxn id="47" idx="6"/>
            <a:endCxn id="49" idx="2"/>
          </p:cNvCxnSpPr>
          <p:nvPr/>
        </p:nvCxnSpPr>
        <p:spPr>
          <a:xfrm>
            <a:off x="8915971" y="4041964"/>
            <a:ext cx="0" cy="129614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6" name="Straight Connector 55">
            <a:extLst>
              <a:ext uri="{FF2B5EF4-FFF2-40B4-BE49-F238E27FC236}">
                <a16:creationId xmlns:a16="http://schemas.microsoft.com/office/drawing/2014/main" id="{6205DD86-315C-53B6-CEEF-A9919650168E}"/>
              </a:ext>
            </a:extLst>
          </p:cNvPr>
          <p:cNvCxnSpPr>
            <a:cxnSpLocks/>
            <a:stCxn id="48" idx="6"/>
            <a:endCxn id="50" idx="2"/>
          </p:cNvCxnSpPr>
          <p:nvPr/>
        </p:nvCxnSpPr>
        <p:spPr>
          <a:xfrm>
            <a:off x="10356115" y="4041964"/>
            <a:ext cx="0" cy="129614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7" name="Straight Connector 56">
            <a:extLst>
              <a:ext uri="{FF2B5EF4-FFF2-40B4-BE49-F238E27FC236}">
                <a16:creationId xmlns:a16="http://schemas.microsoft.com/office/drawing/2014/main" id="{6205DD86-315C-53B6-CEEF-A9919650168E}"/>
              </a:ext>
            </a:extLst>
          </p:cNvPr>
          <p:cNvCxnSpPr>
            <a:cxnSpLocks/>
            <a:stCxn id="50" idx="4"/>
            <a:endCxn id="49" idx="0"/>
          </p:cNvCxnSpPr>
          <p:nvPr/>
        </p:nvCxnSpPr>
        <p:spPr>
          <a:xfrm flipH="1">
            <a:off x="8987971" y="5410108"/>
            <a:ext cx="1296144" cy="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8" name="Straight Connector 57">
            <a:extLst>
              <a:ext uri="{FF2B5EF4-FFF2-40B4-BE49-F238E27FC236}">
                <a16:creationId xmlns:a16="http://schemas.microsoft.com/office/drawing/2014/main" id="{6205DD86-315C-53B6-CEEF-A9919650168E}"/>
              </a:ext>
            </a:extLst>
          </p:cNvPr>
          <p:cNvCxnSpPr>
            <a:cxnSpLocks/>
            <a:stCxn id="48" idx="4"/>
            <a:endCxn id="47" idx="0"/>
          </p:cNvCxnSpPr>
          <p:nvPr/>
        </p:nvCxnSpPr>
        <p:spPr>
          <a:xfrm flipH="1">
            <a:off x="8987971" y="3969964"/>
            <a:ext cx="1296144"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9" name="Straight Connector 58">
            <a:extLst>
              <a:ext uri="{FF2B5EF4-FFF2-40B4-BE49-F238E27FC236}">
                <a16:creationId xmlns:a16="http://schemas.microsoft.com/office/drawing/2014/main" id="{6205DD86-315C-53B6-CEEF-A9919650168E}"/>
              </a:ext>
            </a:extLst>
          </p:cNvPr>
          <p:cNvCxnSpPr>
            <a:cxnSpLocks/>
            <a:stCxn id="47" idx="7"/>
            <a:endCxn id="43" idx="3"/>
          </p:cNvCxnSpPr>
          <p:nvPr/>
        </p:nvCxnSpPr>
        <p:spPr>
          <a:xfrm>
            <a:off x="8966883" y="4020876"/>
            <a:ext cx="258200" cy="25820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0" name="Straight Connector 59">
            <a:extLst>
              <a:ext uri="{FF2B5EF4-FFF2-40B4-BE49-F238E27FC236}">
                <a16:creationId xmlns:a16="http://schemas.microsoft.com/office/drawing/2014/main" id="{6205DD86-315C-53B6-CEEF-A9919650168E}"/>
              </a:ext>
            </a:extLst>
          </p:cNvPr>
          <p:cNvCxnSpPr>
            <a:cxnSpLocks/>
            <a:stCxn id="44" idx="1"/>
            <a:endCxn id="48" idx="5"/>
          </p:cNvCxnSpPr>
          <p:nvPr/>
        </p:nvCxnSpPr>
        <p:spPr>
          <a:xfrm flipV="1">
            <a:off x="10046987" y="4020876"/>
            <a:ext cx="258216" cy="25820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1" name="Straight Connector 60">
            <a:extLst>
              <a:ext uri="{FF2B5EF4-FFF2-40B4-BE49-F238E27FC236}">
                <a16:creationId xmlns:a16="http://schemas.microsoft.com/office/drawing/2014/main" id="{6205DD86-315C-53B6-CEEF-A9919650168E}"/>
              </a:ext>
            </a:extLst>
          </p:cNvPr>
          <p:cNvCxnSpPr>
            <a:cxnSpLocks/>
            <a:stCxn id="49" idx="1"/>
            <a:endCxn id="45" idx="5"/>
          </p:cNvCxnSpPr>
          <p:nvPr/>
        </p:nvCxnSpPr>
        <p:spPr>
          <a:xfrm flipV="1">
            <a:off x="8966883" y="5100980"/>
            <a:ext cx="258200" cy="25821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2" name="Straight Connector 61">
            <a:extLst>
              <a:ext uri="{FF2B5EF4-FFF2-40B4-BE49-F238E27FC236}">
                <a16:creationId xmlns:a16="http://schemas.microsoft.com/office/drawing/2014/main" id="{6205DD86-315C-53B6-CEEF-A9919650168E}"/>
              </a:ext>
            </a:extLst>
          </p:cNvPr>
          <p:cNvCxnSpPr>
            <a:cxnSpLocks/>
            <a:stCxn id="46" idx="7"/>
            <a:endCxn id="50" idx="3"/>
          </p:cNvCxnSpPr>
          <p:nvPr/>
        </p:nvCxnSpPr>
        <p:spPr>
          <a:xfrm>
            <a:off x="10041877" y="5100980"/>
            <a:ext cx="263326" cy="25821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3" name="TextBox 62"/>
          <p:cNvSpPr txBox="1"/>
          <p:nvPr/>
        </p:nvSpPr>
        <p:spPr>
          <a:xfrm>
            <a:off x="8928087" y="4422537"/>
            <a:ext cx="301686" cy="369332"/>
          </a:xfrm>
          <a:prstGeom prst="rect">
            <a:avLst/>
          </a:prstGeom>
          <a:noFill/>
        </p:spPr>
        <p:txBody>
          <a:bodyPr wrap="none" rtlCol="0">
            <a:spAutoFit/>
          </a:bodyPr>
          <a:lstStyle/>
          <a:p>
            <a:r>
              <a:rPr lang="en-US" dirty="0"/>
              <a:t>1</a:t>
            </a:r>
          </a:p>
        </p:txBody>
      </p:sp>
      <p:pic>
        <p:nvPicPr>
          <p:cNvPr id="3" name="Picture 2"/>
          <p:cNvPicPr>
            <a:picLocks noChangeAspect="1"/>
          </p:cNvPicPr>
          <p:nvPr/>
        </p:nvPicPr>
        <p:blipFill>
          <a:blip r:embed="rId3"/>
          <a:stretch>
            <a:fillRect/>
          </a:stretch>
        </p:blipFill>
        <p:spPr>
          <a:xfrm>
            <a:off x="8603075" y="1046642"/>
            <a:ext cx="2006220" cy="2515880"/>
          </a:xfrm>
          <a:prstGeom prst="rect">
            <a:avLst/>
          </a:prstGeom>
        </p:spPr>
      </p:pic>
      <p:pic>
        <p:nvPicPr>
          <p:cNvPr id="7" name="Picture 6"/>
          <p:cNvPicPr>
            <a:picLocks noChangeAspect="1"/>
          </p:cNvPicPr>
          <p:nvPr/>
        </p:nvPicPr>
        <p:blipFill>
          <a:blip r:embed="rId4"/>
          <a:stretch>
            <a:fillRect/>
          </a:stretch>
        </p:blipFill>
        <p:spPr>
          <a:xfrm>
            <a:off x="256389" y="4395249"/>
            <a:ext cx="7724775" cy="1266825"/>
          </a:xfrm>
          <a:prstGeom prst="rect">
            <a:avLst/>
          </a:prstGeom>
        </p:spPr>
      </p:pic>
      <p:sp>
        <p:nvSpPr>
          <p:cNvPr id="68" name="TextBox 67"/>
          <p:cNvSpPr txBox="1"/>
          <p:nvPr/>
        </p:nvSpPr>
        <p:spPr>
          <a:xfrm>
            <a:off x="9488709" y="3958685"/>
            <a:ext cx="301686" cy="369332"/>
          </a:xfrm>
          <a:prstGeom prst="rect">
            <a:avLst/>
          </a:prstGeom>
          <a:noFill/>
        </p:spPr>
        <p:txBody>
          <a:bodyPr wrap="none" rtlCol="0">
            <a:spAutoFit/>
          </a:bodyPr>
          <a:lstStyle/>
          <a:p>
            <a:r>
              <a:rPr lang="en-US" dirty="0"/>
              <a:t>2</a:t>
            </a:r>
          </a:p>
        </p:txBody>
      </p:sp>
      <p:sp>
        <p:nvSpPr>
          <p:cNvPr id="69" name="TextBox 68"/>
          <p:cNvSpPr txBox="1"/>
          <p:nvPr/>
        </p:nvSpPr>
        <p:spPr>
          <a:xfrm>
            <a:off x="9458800" y="5046417"/>
            <a:ext cx="301686" cy="369332"/>
          </a:xfrm>
          <a:prstGeom prst="rect">
            <a:avLst/>
          </a:prstGeom>
          <a:noFill/>
        </p:spPr>
        <p:txBody>
          <a:bodyPr wrap="none" rtlCol="0">
            <a:spAutoFit/>
          </a:bodyPr>
          <a:lstStyle/>
          <a:p>
            <a:r>
              <a:rPr lang="en-US" dirty="0"/>
              <a:t>3</a:t>
            </a:r>
          </a:p>
        </p:txBody>
      </p:sp>
    </p:spTree>
    <p:extLst>
      <p:ext uri="{BB962C8B-B14F-4D97-AF65-F5344CB8AC3E}">
        <p14:creationId xmlns:p14="http://schemas.microsoft.com/office/powerpoint/2010/main" val="42776658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60"/>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61"/>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6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nodeType="clickEffect">
                                  <p:stCondLst>
                                    <p:cond delay="0"/>
                                  </p:stCondLst>
                                  <p:childTnLst>
                                    <p:set>
                                      <p:cBhvr>
                                        <p:cTn id="66" dur="1" fill="hold">
                                          <p:stCondLst>
                                            <p:cond delay="0"/>
                                          </p:stCondLst>
                                        </p:cTn>
                                        <p:tgtEl>
                                          <p:spTgt spid="53"/>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nodeType="clickEffect">
                                  <p:stCondLst>
                                    <p:cond delay="0"/>
                                  </p:stCondLst>
                                  <p:childTnLst>
                                    <p:set>
                                      <p:cBhvr>
                                        <p:cTn id="70" dur="1" fill="hold">
                                          <p:stCondLst>
                                            <p:cond delay="0"/>
                                          </p:stCondLst>
                                        </p:cTn>
                                        <p:tgtEl>
                                          <p:spTgt spid="54"/>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nodeType="clickEffect">
                                  <p:stCondLst>
                                    <p:cond delay="0"/>
                                  </p:stCondLst>
                                  <p:childTnLst>
                                    <p:set>
                                      <p:cBhvr>
                                        <p:cTn id="74" dur="1" fill="hold">
                                          <p:stCondLst>
                                            <p:cond delay="0"/>
                                          </p:stCondLst>
                                        </p:cTn>
                                        <p:tgtEl>
                                          <p:spTgt spid="56"/>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1" nodeType="clickEffect">
                                  <p:stCondLst>
                                    <p:cond delay="0"/>
                                  </p:stCondLst>
                                  <p:childTnLst>
                                    <p:set>
                                      <p:cBhvr>
                                        <p:cTn id="78" dur="1" fill="hold">
                                          <p:stCondLst>
                                            <p:cond delay="0"/>
                                          </p:stCondLst>
                                        </p:cTn>
                                        <p:tgtEl>
                                          <p:spTgt spid="63"/>
                                        </p:tgtEl>
                                        <p:attrNameLst>
                                          <p:attrName>style.visibility</p:attrName>
                                        </p:attrNameLst>
                                      </p:cBhvr>
                                      <p:to>
                                        <p:strVal val="hidden"/>
                                      </p:to>
                                    </p:set>
                                  </p:childTnLst>
                                </p:cTn>
                              </p:par>
                              <p:par>
                                <p:cTn id="79" presetID="1" presetClass="entr" presetSubtype="0" fill="hold" grpId="0" nodeType="withEffect">
                                  <p:stCondLst>
                                    <p:cond delay="0"/>
                                  </p:stCondLst>
                                  <p:childTnLst>
                                    <p:set>
                                      <p:cBhvr>
                                        <p:cTn id="80" dur="1" fill="hold">
                                          <p:stCondLst>
                                            <p:cond delay="0"/>
                                          </p:stCondLst>
                                        </p:cTn>
                                        <p:tgtEl>
                                          <p:spTgt spid="68"/>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xit" presetSubtype="0" fill="hold" nodeType="clickEffect">
                                  <p:stCondLst>
                                    <p:cond delay="0"/>
                                  </p:stCondLst>
                                  <p:childTnLst>
                                    <p:set>
                                      <p:cBhvr>
                                        <p:cTn id="84" dur="1" fill="hold">
                                          <p:stCondLst>
                                            <p:cond delay="0"/>
                                          </p:stCondLst>
                                        </p:cTn>
                                        <p:tgtEl>
                                          <p:spTgt spid="51"/>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1" presetClass="exit" presetSubtype="0" fill="hold" grpId="1" nodeType="clickEffect">
                                  <p:stCondLst>
                                    <p:cond delay="0"/>
                                  </p:stCondLst>
                                  <p:childTnLst>
                                    <p:set>
                                      <p:cBhvr>
                                        <p:cTn id="88" dur="1" fill="hold">
                                          <p:stCondLst>
                                            <p:cond delay="0"/>
                                          </p:stCondLst>
                                        </p:cTn>
                                        <p:tgtEl>
                                          <p:spTgt spid="68"/>
                                        </p:tgtEl>
                                        <p:attrNameLst>
                                          <p:attrName>style.visibility</p:attrName>
                                        </p:attrNameLst>
                                      </p:cBhvr>
                                      <p:to>
                                        <p:strVal val="hidden"/>
                                      </p:to>
                                    </p:set>
                                  </p:childTnLst>
                                </p:cTn>
                              </p:par>
                              <p:par>
                                <p:cTn id="89" presetID="1" presetClass="entr" presetSubtype="0" fill="hold" grpId="0" nodeType="withEffect">
                                  <p:stCondLst>
                                    <p:cond delay="0"/>
                                  </p:stCondLst>
                                  <p:childTnLst>
                                    <p:set>
                                      <p:cBhvr>
                                        <p:cTn id="90" dur="1" fill="hold">
                                          <p:stCondLst>
                                            <p:cond delay="0"/>
                                          </p:stCondLst>
                                        </p:cTn>
                                        <p:tgtEl>
                                          <p:spTgt spid="6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xit" presetSubtype="0" fill="hold" nodeType="clickEffect">
                                  <p:stCondLst>
                                    <p:cond delay="0"/>
                                  </p:stCondLst>
                                  <p:childTnLst>
                                    <p:set>
                                      <p:cBhvr>
                                        <p:cTn id="94" dur="1" fill="hold">
                                          <p:stCondLst>
                                            <p:cond delay="0"/>
                                          </p:stCondLst>
                                        </p:cTn>
                                        <p:tgtEl>
                                          <p:spTgt spid="52"/>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1" presetClass="exit" presetSubtype="0" fill="hold" grpId="1" nodeType="clickEffect">
                                  <p:stCondLst>
                                    <p:cond delay="0"/>
                                  </p:stCondLst>
                                  <p:childTnLst>
                                    <p:set>
                                      <p:cBhvr>
                                        <p:cTn id="98" dur="1" fill="hold">
                                          <p:stCondLst>
                                            <p:cond delay="0"/>
                                          </p:stCondLst>
                                        </p:cTn>
                                        <p:tgtEl>
                                          <p:spTgt spid="69"/>
                                        </p:tgtEl>
                                        <p:attrNameLst>
                                          <p:attrName>style.visibility</p:attrName>
                                        </p:attrNameLst>
                                      </p:cBhvr>
                                      <p:to>
                                        <p:strVal val="hidden"/>
                                      </p:to>
                                    </p:set>
                                  </p:childTnLst>
                                </p:cTn>
                              </p:par>
                              <p:par>
                                <p:cTn id="99" presetID="1" presetClass="entr" presetSubtype="0" fill="hold" grpId="0" nodeType="withEffect">
                                  <p:stCondLst>
                                    <p:cond delay="0"/>
                                  </p:stCondLst>
                                  <p:childTnLst>
                                    <p:set>
                                      <p:cBhvr>
                                        <p:cTn id="100"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animBg="1"/>
      <p:bldP spid="44" grpId="0" animBg="1"/>
      <p:bldP spid="45" grpId="0" animBg="1"/>
      <p:bldP spid="46" grpId="0" animBg="1"/>
      <p:bldP spid="47" grpId="0" animBg="1"/>
      <p:bldP spid="48" grpId="0" animBg="1"/>
      <p:bldP spid="49" grpId="0" animBg="1"/>
      <p:bldP spid="50" grpId="0" animBg="1"/>
      <p:bldP spid="63" grpId="0"/>
      <p:bldP spid="63" grpId="1"/>
      <p:bldP spid="68" grpId="0"/>
      <p:bldP spid="68" grpId="1"/>
      <p:bldP spid="69" grpId="0"/>
      <p:bldP spid="69" grpId="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795831"/>
                <a:ext cx="11929645" cy="2273129"/>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For each of the following standard graphs with</a:t>
                </a:r>
                <a14:m>
                  <m:oMath xmlns:m="http://schemas.openxmlformats.org/officeDocument/2006/math">
                    <m:r>
                      <a:rPr lang="en-US" sz="2800" i="1" dirty="0" smtClean="0">
                        <a:solidFill>
                          <a:schemeClr val="bg1"/>
                        </a:solidFill>
                        <a:latin typeface="Cambria Math" panose="02040503050406030204" pitchFamily="18" charset="0"/>
                      </a:rPr>
                      <m:t> </m:t>
                    </m:r>
                    <m:r>
                      <m:rPr>
                        <m:sty m:val="p"/>
                      </m:rPr>
                      <a:rPr lang="en-US" sz="2800" i="0" dirty="0" smtClean="0">
                        <a:solidFill>
                          <a:schemeClr val="bg1"/>
                        </a:solidFill>
                        <a:latin typeface="Cambria Math" panose="02040503050406030204" pitchFamily="18" charset="0"/>
                      </a:rPr>
                      <m:t>n</m:t>
                    </m:r>
                  </m:oMath>
                </a14:m>
                <a:r>
                  <a:rPr lang="en-US" sz="2800" dirty="0">
                    <a:solidFill>
                      <a:schemeClr val="bg1"/>
                    </a:solidFill>
                  </a:rPr>
                  <a:t> vertices, find the rank and nullity.</a:t>
                </a:r>
              </a:p>
              <a:p>
                <a:pPr marL="514350" indent="-514350">
                  <a:buFont typeface="+mj-lt"/>
                  <a:buAutoNum type="alphaLcParenR"/>
                </a:pPr>
                <a:r>
                  <a:rPr lang="en-US" sz="2800" dirty="0">
                    <a:solidFill>
                      <a:schemeClr val="bg1"/>
                    </a:solidFill>
                  </a:rPr>
                  <a:t>Complete graph</a:t>
                </a:r>
                <a14:m>
                  <m:oMath xmlns:m="http://schemas.openxmlformats.org/officeDocument/2006/math">
                    <m:r>
                      <a:rPr lang="en-US" sz="2800" b="0" i="1" dirty="0" smtClean="0">
                        <a:solidFill>
                          <a:schemeClr val="bg1"/>
                        </a:solidFill>
                        <a:latin typeface="Cambria Math" panose="02040503050406030204" pitchFamily="18" charset="0"/>
                      </a:rPr>
                      <m:t> </m:t>
                    </m:r>
                    <m:sSub>
                      <m:sSubPr>
                        <m:ctrlPr>
                          <a:rPr lang="en-US" sz="2800" i="1" dirty="0" err="1">
                            <a:solidFill>
                              <a:schemeClr val="bg1"/>
                            </a:solidFill>
                            <a:latin typeface="Cambria Math" panose="02040503050406030204" pitchFamily="18" charset="0"/>
                          </a:rPr>
                        </m:ctrlPr>
                      </m:sSubPr>
                      <m:e>
                        <m:r>
                          <m:rPr>
                            <m:sty m:val="p"/>
                          </m:rPr>
                          <a:rPr lang="en-US" sz="2800" b="0" i="0" dirty="0" err="1">
                            <a:solidFill>
                              <a:schemeClr val="bg1"/>
                            </a:solidFill>
                            <a:latin typeface="Cambria Math" panose="02040503050406030204" pitchFamily="18" charset="0"/>
                          </a:rPr>
                          <m:t>K</m:t>
                        </m:r>
                      </m:e>
                      <m:sub>
                        <m:r>
                          <m:rPr>
                            <m:sty m:val="p"/>
                          </m:rPr>
                          <a:rPr lang="en-US" sz="2800" b="0" i="0" dirty="0" err="1">
                            <a:solidFill>
                              <a:schemeClr val="bg1"/>
                            </a:solidFill>
                            <a:latin typeface="Cambria Math" panose="02040503050406030204" pitchFamily="18" charset="0"/>
                          </a:rPr>
                          <m:t>n</m:t>
                        </m:r>
                      </m:sub>
                    </m:sSub>
                  </m:oMath>
                </a14:m>
                <a:endParaRPr lang="en-US" sz="2800" dirty="0">
                  <a:solidFill>
                    <a:schemeClr val="bg1"/>
                  </a:solidFill>
                </a:endParaRPr>
              </a:p>
              <a:p>
                <a:pPr marL="514350" indent="-514350">
                  <a:buFont typeface="+mj-lt"/>
                  <a:buAutoNum type="alphaLcParenR"/>
                </a:pPr>
                <a:r>
                  <a:rPr lang="en-US" sz="2800" dirty="0">
                    <a:solidFill>
                      <a:schemeClr val="bg1"/>
                    </a:solidFill>
                  </a:rPr>
                  <a:t>Cycle graph</a:t>
                </a:r>
                <a14:m>
                  <m:oMath xmlns:m="http://schemas.openxmlformats.org/officeDocument/2006/math">
                    <m:r>
                      <a:rPr lang="en-US" sz="2800" b="0" i="1" dirty="0" smtClean="0">
                        <a:solidFill>
                          <a:schemeClr val="bg1"/>
                        </a:solidFill>
                        <a:latin typeface="Cambria Math" panose="02040503050406030204" pitchFamily="18" charset="0"/>
                      </a:rPr>
                      <m:t> </m:t>
                    </m:r>
                    <m:sSub>
                      <m:sSubPr>
                        <m:ctrlPr>
                          <a:rPr lang="en-US" sz="2800" i="1" dirty="0" err="1">
                            <a:solidFill>
                              <a:schemeClr val="bg1"/>
                            </a:solidFill>
                            <a:latin typeface="Cambria Math" panose="02040503050406030204" pitchFamily="18" charset="0"/>
                          </a:rPr>
                        </m:ctrlPr>
                      </m:sSubPr>
                      <m:e>
                        <m:r>
                          <m:rPr>
                            <m:sty m:val="p"/>
                          </m:rPr>
                          <a:rPr lang="en-US" sz="2800" b="0" i="0" dirty="0" err="1">
                            <a:solidFill>
                              <a:schemeClr val="bg1"/>
                            </a:solidFill>
                            <a:latin typeface="Cambria Math" panose="02040503050406030204" pitchFamily="18" charset="0"/>
                          </a:rPr>
                          <m:t>C</m:t>
                        </m:r>
                      </m:e>
                      <m:sub>
                        <m:r>
                          <m:rPr>
                            <m:sty m:val="p"/>
                          </m:rPr>
                          <a:rPr lang="en-US" sz="2800" b="0" i="0" dirty="0" err="1">
                            <a:solidFill>
                              <a:schemeClr val="bg1"/>
                            </a:solidFill>
                            <a:latin typeface="Cambria Math" panose="02040503050406030204" pitchFamily="18" charset="0"/>
                          </a:rPr>
                          <m:t>n</m:t>
                        </m:r>
                      </m:sub>
                    </m:sSub>
                  </m:oMath>
                </a14:m>
                <a:r>
                  <a:rPr lang="en-US" sz="2800" dirty="0">
                    <a:solidFill>
                      <a:schemeClr val="bg1"/>
                    </a:solidFill>
                  </a:rPr>
                  <a:t> </a:t>
                </a:r>
              </a:p>
              <a:p>
                <a:pPr marL="514350" indent="-514350">
                  <a:buFont typeface="+mj-lt"/>
                  <a:buAutoNum type="alphaLcParenR"/>
                </a:pPr>
                <a:r>
                  <a:rPr lang="en-US" sz="2800" dirty="0">
                    <a:solidFill>
                      <a:schemeClr val="bg1"/>
                    </a:solidFill>
                  </a:rPr>
                  <a:t>Path graph</a:t>
                </a:r>
                <a14:m>
                  <m:oMath xmlns:m="http://schemas.openxmlformats.org/officeDocument/2006/math">
                    <m:r>
                      <a:rPr lang="en-US" sz="2800" b="0" i="1" dirty="0" smtClean="0">
                        <a:solidFill>
                          <a:schemeClr val="bg1"/>
                        </a:solidFill>
                        <a:latin typeface="Cambria Math" panose="02040503050406030204" pitchFamily="18" charset="0"/>
                      </a:rPr>
                      <m:t> </m:t>
                    </m:r>
                    <m:sSub>
                      <m:sSubPr>
                        <m:ctrlPr>
                          <a:rPr lang="en-US" sz="2800" i="1" dirty="0" err="1">
                            <a:solidFill>
                              <a:schemeClr val="bg1"/>
                            </a:solidFill>
                            <a:latin typeface="Cambria Math" panose="02040503050406030204" pitchFamily="18" charset="0"/>
                          </a:rPr>
                        </m:ctrlPr>
                      </m:sSubPr>
                      <m:e>
                        <m:r>
                          <m:rPr>
                            <m:sty m:val="p"/>
                          </m:rPr>
                          <a:rPr lang="en-US" sz="2800" b="0" i="0" dirty="0" err="1">
                            <a:solidFill>
                              <a:schemeClr val="bg1"/>
                            </a:solidFill>
                            <a:latin typeface="Cambria Math" panose="02040503050406030204" pitchFamily="18" charset="0"/>
                          </a:rPr>
                          <m:t>P</m:t>
                        </m:r>
                      </m:e>
                      <m:sub>
                        <m:r>
                          <m:rPr>
                            <m:sty m:val="p"/>
                          </m:rPr>
                          <a:rPr lang="en-US" sz="2800" b="0" i="0" dirty="0" err="1">
                            <a:solidFill>
                              <a:schemeClr val="bg1"/>
                            </a:solidFill>
                            <a:latin typeface="Cambria Math" panose="02040503050406030204" pitchFamily="18" charset="0"/>
                          </a:rPr>
                          <m:t>n</m:t>
                        </m:r>
                      </m:sub>
                    </m:sSub>
                  </m:oMath>
                </a14:m>
                <a:endParaRPr lang="en-US" sz="2800" dirty="0">
                  <a:solidFill>
                    <a:schemeClr val="bg1"/>
                  </a:solidFill>
                </a:endParaRPr>
              </a:p>
              <a:p>
                <a:pPr marL="514350" indent="-514350">
                  <a:buFont typeface="+mj-lt"/>
                  <a:buAutoNum type="alphaLcParenR"/>
                </a:pPr>
                <a:r>
                  <a:rPr lang="en-US" sz="2800" dirty="0">
                    <a:solidFill>
                      <a:schemeClr val="bg1"/>
                    </a:solidFill>
                  </a:rPr>
                  <a:t>Star tree</a:t>
                </a:r>
                <a14:m>
                  <m:oMath xmlns:m="http://schemas.openxmlformats.org/officeDocument/2006/math">
                    <m:r>
                      <a:rPr lang="en-US" sz="2800" b="0" i="1" dirty="0" smtClean="0">
                        <a:solidFill>
                          <a:schemeClr val="bg1"/>
                        </a:solidFill>
                        <a:latin typeface="Cambria Math" panose="02040503050406030204" pitchFamily="18" charset="0"/>
                      </a:rPr>
                      <m:t> </m:t>
                    </m:r>
                    <m:sSub>
                      <m:sSubPr>
                        <m:ctrlPr>
                          <a:rPr lang="en-US" sz="2800" i="1" dirty="0" err="1">
                            <a:solidFill>
                              <a:schemeClr val="bg1"/>
                            </a:solidFill>
                            <a:latin typeface="Cambria Math" panose="02040503050406030204" pitchFamily="18" charset="0"/>
                          </a:rPr>
                        </m:ctrlPr>
                      </m:sSubPr>
                      <m:e>
                        <m:r>
                          <m:rPr>
                            <m:sty m:val="p"/>
                          </m:rPr>
                          <a:rPr lang="en-US" sz="2800" b="0" i="0" dirty="0" err="1">
                            <a:solidFill>
                              <a:schemeClr val="bg1"/>
                            </a:solidFill>
                            <a:latin typeface="Cambria Math" panose="02040503050406030204" pitchFamily="18" charset="0"/>
                          </a:rPr>
                          <m:t>S</m:t>
                        </m:r>
                      </m:e>
                      <m:sub>
                        <m:r>
                          <m:rPr>
                            <m:sty m:val="p"/>
                          </m:rPr>
                          <a:rPr lang="en-US" sz="2800" b="0" i="0" dirty="0" err="1">
                            <a:solidFill>
                              <a:schemeClr val="bg1"/>
                            </a:solidFill>
                            <a:latin typeface="Cambria Math" panose="02040503050406030204" pitchFamily="18" charset="0"/>
                          </a:rPr>
                          <m:t>n</m:t>
                        </m:r>
                      </m:sub>
                    </m:sSub>
                  </m:oMath>
                </a14:m>
                <a:r>
                  <a:rPr lang="en-US" sz="2800" dirty="0">
                    <a:solidFill>
                      <a:schemeClr val="bg1"/>
                    </a:solidFill>
                  </a:rPr>
                  <a:t> </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795831"/>
                <a:ext cx="11929645" cy="2273129"/>
              </a:xfrm>
              <a:prstGeom prst="rect">
                <a:avLst/>
              </a:prstGeom>
              <a:blipFill rotWithShape="0">
                <a:blip r:embed="rId2"/>
                <a:stretch>
                  <a:fillRect l="-1074" t="-2957" b="-5645"/>
                </a:stretch>
              </a:blipFill>
              <a:ln>
                <a:noFill/>
              </a:ln>
            </p:spPr>
            <p:txBody>
              <a:bodyPr/>
              <a:lstStyle/>
              <a:p>
                <a:r>
                  <a:rPr lang="en-US">
                    <a:noFill/>
                  </a:rPr>
                  <a:t> </a:t>
                </a:r>
              </a:p>
            </p:txBody>
          </p:sp>
        </mc:Fallback>
      </mc:AlternateContent>
      <p:sp>
        <p:nvSpPr>
          <p:cNvPr id="16" name="Content Placeholder 2">
            <a:extLst>
              <a:ext uri="{FF2B5EF4-FFF2-40B4-BE49-F238E27FC236}">
                <a16:creationId xmlns:a16="http://schemas.microsoft.com/office/drawing/2014/main" id="{635C8299-099D-4E74-A7B7-29B2E1FD450E}"/>
              </a:ext>
            </a:extLst>
          </p:cNvPr>
          <p:cNvSpPr txBox="1">
            <a:spLocks/>
          </p:cNvSpPr>
          <p:nvPr/>
        </p:nvSpPr>
        <p:spPr>
          <a:xfrm>
            <a:off x="113592" y="3121804"/>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3 ⇝ Example 2</a:t>
            </a:r>
            <a:endParaRPr lang="en-US" dirty="0"/>
          </a:p>
        </p:txBody>
      </p:sp>
      <p:sp>
        <p:nvSpPr>
          <p:cNvPr id="5" name="Rectangle 4"/>
          <p:cNvSpPr/>
          <p:nvPr/>
        </p:nvSpPr>
        <p:spPr>
          <a:xfrm>
            <a:off x="113592" y="2074664"/>
            <a:ext cx="11947229" cy="523220"/>
          </a:xfrm>
          <a:prstGeom prst="rect">
            <a:avLst/>
          </a:prstGeom>
        </p:spPr>
        <p:txBody>
          <a:bodyPr wrap="square">
            <a:spAutoFit/>
          </a:bodyPr>
          <a:lstStyle/>
          <a:p>
            <a:pPr marL="265113" indent="-265113" algn="just">
              <a:spcBef>
                <a:spcPts val="1000"/>
              </a:spcBef>
              <a:buClr>
                <a:srgbClr val="B84742"/>
              </a:buClr>
              <a:buFont typeface="Wingdings 3" panose="05040102010807070707" pitchFamily="18" charset="2"/>
              <a:buChar char=""/>
            </a:pPr>
            <a:endParaRPr lang="en-IN" sz="2800" dirty="0">
              <a:solidFill>
                <a:srgbClr val="FF0000"/>
              </a:solidFill>
            </a:endParaRPr>
          </a:p>
        </p:txBody>
      </p:sp>
      <mc:AlternateContent xmlns:mc="http://schemas.openxmlformats.org/markup-compatibility/2006" xmlns:a14="http://schemas.microsoft.com/office/drawing/2010/main">
        <mc:Choice Requires="a14">
          <p:sp>
            <p:nvSpPr>
              <p:cNvPr id="7" name="TextBox 6"/>
              <p:cNvSpPr txBox="1"/>
              <p:nvPr/>
            </p:nvSpPr>
            <p:spPr>
              <a:xfrm>
                <a:off x="1760066" y="3193589"/>
                <a:ext cx="9758645" cy="461665"/>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US" sz="2400" dirty="0">
                    <a:solidFill>
                      <a:srgbClr val="002060"/>
                    </a:solidFill>
                  </a:rPr>
                  <a:t>According to formula </a:t>
                </a:r>
                <a:r>
                  <a:rPr lang="en-US" sz="2400" b="1" dirty="0">
                    <a:solidFill>
                      <a:srgbClr val="002060"/>
                    </a:solidFill>
                  </a:rPr>
                  <a:t>Rank</a:t>
                </a:r>
                <a:r>
                  <a:rPr lang="en-US" sz="2400" dirty="0">
                    <a:solidFill>
                      <a:srgbClr val="002060"/>
                    </a:solidFill>
                  </a:rPr>
                  <a:t> of connected graph G with n vertices is</a:t>
                </a:r>
                <a14:m>
                  <m:oMath xmlns:m="http://schemas.openxmlformats.org/officeDocument/2006/math">
                    <m:r>
                      <a:rPr lang="en-US" sz="2400" i="1" dirty="0" smtClean="0">
                        <a:solidFill>
                          <a:srgbClr val="002060"/>
                        </a:solidFill>
                        <a:latin typeface="Cambria Math" panose="02040503050406030204" pitchFamily="18" charset="0"/>
                      </a:rPr>
                      <m:t> </m:t>
                    </m:r>
                    <m:r>
                      <a:rPr lang="en-US" sz="2400" i="1" dirty="0" smtClean="0">
                        <a:solidFill>
                          <a:srgbClr val="002060"/>
                        </a:solidFill>
                        <a:latin typeface="Cambria Math" panose="02040503050406030204" pitchFamily="18" charset="0"/>
                      </a:rPr>
                      <m:t>𝑛</m:t>
                    </m:r>
                    <m:r>
                      <a:rPr lang="en-US" sz="2400" i="1" dirty="0" smtClean="0">
                        <a:solidFill>
                          <a:srgbClr val="002060"/>
                        </a:solidFill>
                        <a:latin typeface="Cambria Math" panose="02040503050406030204" pitchFamily="18" charset="0"/>
                      </a:rPr>
                      <m:t>−1</m:t>
                    </m:r>
                  </m:oMath>
                </a14:m>
                <a:r>
                  <a:rPr lang="en-US" sz="2400" dirty="0">
                    <a:solidFill>
                      <a:srgbClr val="002060"/>
                    </a:solidFill>
                  </a:rPr>
                  <a:t> </a:t>
                </a:r>
              </a:p>
            </p:txBody>
          </p:sp>
        </mc:Choice>
        <mc:Fallback xmlns="">
          <p:sp>
            <p:nvSpPr>
              <p:cNvPr id="7" name="TextBox 6"/>
              <p:cNvSpPr txBox="1">
                <a:spLocks noRot="1" noChangeAspect="1" noMove="1" noResize="1" noEditPoints="1" noAdjustHandles="1" noChangeArrowheads="1" noChangeShapeType="1" noTextEdit="1"/>
              </p:cNvSpPr>
              <p:nvPr/>
            </p:nvSpPr>
            <p:spPr>
              <a:xfrm>
                <a:off x="1760066" y="3193589"/>
                <a:ext cx="9758645" cy="461665"/>
              </a:xfrm>
              <a:prstGeom prst="rect">
                <a:avLst/>
              </a:prstGeom>
              <a:blipFill rotWithShape="0">
                <a:blip r:embed="rId3"/>
                <a:stretch>
                  <a:fillRect t="-7692" b="-282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6" name="Table 25"/>
              <p:cNvGraphicFramePr>
                <a:graphicFrameLocks noGrp="1"/>
              </p:cNvGraphicFramePr>
              <p:nvPr>
                <p:extLst>
                  <p:ext uri="{D42A27DB-BD31-4B8C-83A1-F6EECF244321}">
                    <p14:modId xmlns:p14="http://schemas.microsoft.com/office/powerpoint/2010/main" val="3276390352"/>
                  </p:ext>
                </p:extLst>
              </p:nvPr>
            </p:nvGraphicFramePr>
            <p:xfrm>
              <a:off x="2495600" y="3799344"/>
              <a:ext cx="2445799" cy="2635265"/>
            </p:xfrm>
            <a:graphic>
              <a:graphicData uri="http://schemas.openxmlformats.org/drawingml/2006/table">
                <a:tbl>
                  <a:tblPr firstRow="1" bandRow="1">
                    <a:tableStyleId>{5C22544A-7EE6-4342-B048-85BDC9FD1C3A}</a:tableStyleId>
                  </a:tblPr>
                  <a:tblGrid>
                    <a:gridCol w="2445799">
                      <a:extLst>
                        <a:ext uri="{9D8B030D-6E8A-4147-A177-3AD203B41FA5}">
                          <a16:colId xmlns:a16="http://schemas.microsoft.com/office/drawing/2014/main" val="20000"/>
                        </a:ext>
                      </a:extLst>
                    </a:gridCol>
                  </a:tblGrid>
                  <a:tr h="499864">
                    <a:tc>
                      <a:txBody>
                        <a:bodyPr/>
                        <a:lstStyle/>
                        <a:p>
                          <a:pPr algn="ctr"/>
                          <a:r>
                            <a:rPr lang="en-US" sz="2400" dirty="0"/>
                            <a:t>Graph </a:t>
                          </a:r>
                        </a:p>
                      </a:txBody>
                      <a:tcPr/>
                    </a:tc>
                    <a:extLst>
                      <a:ext uri="{0D108BD9-81ED-4DB2-BD59-A6C34878D82A}">
                        <a16:rowId xmlns:a16="http://schemas.microsoft.com/office/drawing/2014/main" val="10000"/>
                      </a:ext>
                    </a:extLst>
                  </a:tr>
                  <a:tr h="736816">
                    <a:tc>
                      <a:txBody>
                        <a:bodyPr/>
                        <a:lstStyle/>
                        <a:p>
                          <a:pPr algn="ctr"/>
                          <a:r>
                            <a:rPr lang="en-US" sz="2400" b="1" i="1" baseline="0" dirty="0">
                              <a:latin typeface="Cambria Math" panose="02040503050406030204" pitchFamily="18" charset="0"/>
                            </a:rPr>
                            <a:t> </a:t>
                          </a:r>
                          <a14:m>
                            <m:oMath xmlns:m="http://schemas.openxmlformats.org/officeDocument/2006/math">
                              <m:sSub>
                                <m:sSubPr>
                                  <m:ctrlPr>
                                    <a:rPr lang="en-US" sz="2400" b="1" i="1" smtClean="0">
                                      <a:latin typeface="Cambria Math" panose="02040503050406030204" pitchFamily="18" charset="0"/>
                                    </a:rPr>
                                  </m:ctrlPr>
                                </m:sSubPr>
                                <m:e>
                                  <m:r>
                                    <a:rPr lang="en-US" sz="2400" b="1" i="0" smtClean="0">
                                      <a:latin typeface="Cambria Math" panose="02040503050406030204" pitchFamily="18" charset="0"/>
                                    </a:rPr>
                                    <m:t>𝐊</m:t>
                                  </m:r>
                                </m:e>
                                <m:sub>
                                  <m:r>
                                    <a:rPr lang="en-US" sz="2400" b="1" i="0" smtClean="0">
                                      <a:latin typeface="Cambria Math" panose="02040503050406030204" pitchFamily="18" charset="0"/>
                                    </a:rPr>
                                    <m:t>𝐧</m:t>
                                  </m:r>
                                </m:sub>
                              </m:sSub>
                            </m:oMath>
                          </a14:m>
                          <a:endParaRPr lang="en-US" sz="2400" b="1" i="0" dirty="0"/>
                        </a:p>
                      </a:txBody>
                      <a:tcPr/>
                    </a:tc>
                    <a:extLst>
                      <a:ext uri="{0D108BD9-81ED-4DB2-BD59-A6C34878D82A}">
                        <a16:rowId xmlns:a16="http://schemas.microsoft.com/office/drawing/2014/main" val="10001"/>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2400" b="1" i="1" smtClean="0">
                                        <a:latin typeface="Cambria Math" panose="02040503050406030204" pitchFamily="18" charset="0"/>
                                      </a:rPr>
                                    </m:ctrlPr>
                                  </m:sSubPr>
                                  <m:e>
                                    <m:r>
                                      <a:rPr lang="en-US" sz="2400" b="1" i="0" smtClean="0">
                                        <a:latin typeface="Cambria Math" panose="02040503050406030204" pitchFamily="18" charset="0"/>
                                      </a:rPr>
                                      <m:t>𝐂</m:t>
                                    </m:r>
                                  </m:e>
                                  <m:sub>
                                    <m:r>
                                      <a:rPr lang="en-US" sz="2400" b="1" i="0" smtClean="0">
                                        <a:latin typeface="Cambria Math" panose="02040503050406030204" pitchFamily="18" charset="0"/>
                                      </a:rPr>
                                      <m:t>𝐧</m:t>
                                    </m:r>
                                  </m:sub>
                                </m:sSub>
                              </m:oMath>
                            </m:oMathPara>
                          </a14:m>
                          <a:endParaRPr lang="en-US" sz="2400" b="1" i="0" dirty="0"/>
                        </a:p>
                      </a:txBody>
                      <a:tcPr/>
                    </a:tc>
                    <a:extLst>
                      <a:ext uri="{0D108BD9-81ED-4DB2-BD59-A6C34878D82A}">
                        <a16:rowId xmlns:a16="http://schemas.microsoft.com/office/drawing/2014/main" val="10002"/>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US" sz="2400" b="1" i="1" smtClean="0">
                                        <a:latin typeface="Cambria Math" panose="02040503050406030204" pitchFamily="18" charset="0"/>
                                      </a:rPr>
                                    </m:ctrlPr>
                                  </m:sSubPr>
                                  <m:e>
                                    <m:r>
                                      <a:rPr lang="en-US" sz="2400" b="1" i="0" smtClean="0">
                                        <a:latin typeface="Cambria Math" panose="02040503050406030204" pitchFamily="18" charset="0"/>
                                      </a:rPr>
                                      <m:t>𝐏</m:t>
                                    </m:r>
                                  </m:e>
                                  <m:sub>
                                    <m:r>
                                      <a:rPr lang="en-US" sz="2400" b="1" i="0" smtClean="0">
                                        <a:latin typeface="Cambria Math" panose="02040503050406030204" pitchFamily="18" charset="0"/>
                                      </a:rPr>
                                      <m:t>𝐧</m:t>
                                    </m:r>
                                  </m:sub>
                                </m:sSub>
                              </m:oMath>
                            </m:oMathPara>
                          </a14:m>
                          <a:endParaRPr lang="en-US" sz="2400" b="1" i="0" dirty="0"/>
                        </a:p>
                      </a:txBody>
                      <a:tcPr/>
                    </a:tc>
                    <a:extLst>
                      <a:ext uri="{0D108BD9-81ED-4DB2-BD59-A6C34878D82A}">
                        <a16:rowId xmlns:a16="http://schemas.microsoft.com/office/drawing/2014/main" val="10003"/>
                      </a:ext>
                    </a:extLst>
                  </a:tr>
                  <a:tr h="484185">
                    <a:tc>
                      <a:txBody>
                        <a:bodyPr/>
                        <a:lstStyle/>
                        <a:p>
                          <a:pPr/>
                          <a14:m>
                            <m:oMathPara xmlns:m="http://schemas.openxmlformats.org/officeDocument/2006/math">
                              <m:oMathParaPr>
                                <m:jc m:val="centerGroup"/>
                              </m:oMathParaPr>
                              <m:oMath xmlns:m="http://schemas.openxmlformats.org/officeDocument/2006/math">
                                <m:sSub>
                                  <m:sSubPr>
                                    <m:ctrlPr>
                                      <a:rPr lang="en-US" sz="2400" b="1" i="1" smtClean="0">
                                        <a:latin typeface="Cambria Math" panose="02040503050406030204" pitchFamily="18" charset="0"/>
                                      </a:rPr>
                                    </m:ctrlPr>
                                  </m:sSubPr>
                                  <m:e>
                                    <m:r>
                                      <a:rPr lang="en-US" sz="2400" b="1" i="0" smtClean="0">
                                        <a:latin typeface="Cambria Math" panose="02040503050406030204" pitchFamily="18" charset="0"/>
                                      </a:rPr>
                                      <m:t>𝐒</m:t>
                                    </m:r>
                                  </m:e>
                                  <m:sub>
                                    <m:r>
                                      <a:rPr lang="en-US" sz="2400" b="1" i="0" smtClean="0">
                                        <a:latin typeface="Cambria Math" panose="02040503050406030204" pitchFamily="18" charset="0"/>
                                      </a:rPr>
                                      <m:t>𝐧</m:t>
                                    </m:r>
                                  </m:sub>
                                </m:sSub>
                              </m:oMath>
                            </m:oMathPara>
                          </a14:m>
                          <a:endParaRPr lang="en-US" sz="2400" b="1" i="0" dirty="0"/>
                        </a:p>
                      </a:txBody>
                      <a:tcPr/>
                    </a:tc>
                    <a:extLst>
                      <a:ext uri="{0D108BD9-81ED-4DB2-BD59-A6C34878D82A}">
                        <a16:rowId xmlns:a16="http://schemas.microsoft.com/office/drawing/2014/main" val="10004"/>
                      </a:ext>
                    </a:extLst>
                  </a:tr>
                </a:tbl>
              </a:graphicData>
            </a:graphic>
          </p:graphicFrame>
        </mc:Choice>
        <mc:Fallback xmlns="">
          <p:graphicFrame>
            <p:nvGraphicFramePr>
              <p:cNvPr id="26" name="Table 25"/>
              <p:cNvGraphicFramePr>
                <a:graphicFrameLocks noGrp="1"/>
              </p:cNvGraphicFramePr>
              <p:nvPr>
                <p:extLst>
                  <p:ext uri="{D42A27DB-BD31-4B8C-83A1-F6EECF244321}">
                    <p14:modId xmlns:p14="http://schemas.microsoft.com/office/powerpoint/2010/main" val="3276390352"/>
                  </p:ext>
                </p:extLst>
              </p:nvPr>
            </p:nvGraphicFramePr>
            <p:xfrm>
              <a:off x="2495600" y="3799344"/>
              <a:ext cx="2445799" cy="2635265"/>
            </p:xfrm>
            <a:graphic>
              <a:graphicData uri="http://schemas.openxmlformats.org/drawingml/2006/table">
                <a:tbl>
                  <a:tblPr firstRow="1" bandRow="1">
                    <a:tableStyleId>{5C22544A-7EE6-4342-B048-85BDC9FD1C3A}</a:tableStyleId>
                  </a:tblPr>
                  <a:tblGrid>
                    <a:gridCol w="2445799">
                      <a:extLst>
                        <a:ext uri="{9D8B030D-6E8A-4147-A177-3AD203B41FA5}">
                          <a16:colId xmlns:a16="http://schemas.microsoft.com/office/drawing/2014/main" xmlns="" xmlns:a14="http://schemas.microsoft.com/office/drawing/2010/main" val="20000"/>
                        </a:ext>
                      </a:extLst>
                    </a:gridCol>
                  </a:tblGrid>
                  <a:tr h="499864">
                    <a:tc>
                      <a:txBody>
                        <a:bodyPr/>
                        <a:lstStyle/>
                        <a:p>
                          <a:pPr algn="ctr"/>
                          <a:r>
                            <a:rPr lang="en-US" sz="2400" dirty="0"/>
                            <a:t>Graph </a:t>
                          </a:r>
                        </a:p>
                      </a:txBody>
                      <a:tcPr/>
                    </a:tc>
                    <a:extLst>
                      <a:ext uri="{0D108BD9-81ED-4DB2-BD59-A6C34878D82A}">
                        <a16:rowId xmlns:a16="http://schemas.microsoft.com/office/drawing/2014/main" xmlns="" xmlns:a14="http://schemas.microsoft.com/office/drawing/2010/main" val="10000"/>
                      </a:ext>
                    </a:extLst>
                  </a:tr>
                  <a:tr h="736816">
                    <a:tc>
                      <a:txBody>
                        <a:bodyPr/>
                        <a:lstStyle/>
                        <a:p>
                          <a:endParaRPr lang="en-US"/>
                        </a:p>
                      </a:txBody>
                      <a:tcPr>
                        <a:blipFill rotWithShape="0">
                          <a:blip r:embed="rId4"/>
                          <a:stretch>
                            <a:fillRect l="-249" t="-73554" r="-995" b="-191736"/>
                          </a:stretch>
                        </a:blipFill>
                      </a:tcPr>
                    </a:tc>
                    <a:extLst>
                      <a:ext uri="{0D108BD9-81ED-4DB2-BD59-A6C34878D82A}">
                        <a16:rowId xmlns:a16="http://schemas.microsoft.com/office/drawing/2014/main" xmlns="" xmlns:a14="http://schemas.microsoft.com/office/drawing/2010/main" val="10001"/>
                      </a:ext>
                    </a:extLst>
                  </a:tr>
                  <a:tr h="457200">
                    <a:tc>
                      <a:txBody>
                        <a:bodyPr/>
                        <a:lstStyle/>
                        <a:p>
                          <a:endParaRPr lang="en-US"/>
                        </a:p>
                      </a:txBody>
                      <a:tcPr>
                        <a:blipFill rotWithShape="0">
                          <a:blip r:embed="rId4"/>
                          <a:stretch>
                            <a:fillRect l="-249" t="-280000" r="-995" b="-209333"/>
                          </a:stretch>
                        </a:blipFill>
                      </a:tcPr>
                    </a:tc>
                    <a:extLst>
                      <a:ext uri="{0D108BD9-81ED-4DB2-BD59-A6C34878D82A}">
                        <a16:rowId xmlns:a16="http://schemas.microsoft.com/office/drawing/2014/main" xmlns="" xmlns:a14="http://schemas.microsoft.com/office/drawing/2010/main" val="10002"/>
                      </a:ext>
                    </a:extLst>
                  </a:tr>
                  <a:tr h="457200">
                    <a:tc>
                      <a:txBody>
                        <a:bodyPr/>
                        <a:lstStyle/>
                        <a:p>
                          <a:endParaRPr lang="en-US"/>
                        </a:p>
                      </a:txBody>
                      <a:tcPr>
                        <a:blipFill rotWithShape="0">
                          <a:blip r:embed="rId4"/>
                          <a:stretch>
                            <a:fillRect l="-249" t="-380000" r="-995" b="-109333"/>
                          </a:stretch>
                        </a:blipFill>
                      </a:tcPr>
                    </a:tc>
                    <a:extLst>
                      <a:ext uri="{0D108BD9-81ED-4DB2-BD59-A6C34878D82A}">
                        <a16:rowId xmlns:a16="http://schemas.microsoft.com/office/drawing/2014/main" xmlns="" xmlns:a14="http://schemas.microsoft.com/office/drawing/2010/main" val="10003"/>
                      </a:ext>
                    </a:extLst>
                  </a:tr>
                  <a:tr h="484185">
                    <a:tc>
                      <a:txBody>
                        <a:bodyPr/>
                        <a:lstStyle/>
                        <a:p>
                          <a:endParaRPr lang="en-US"/>
                        </a:p>
                      </a:txBody>
                      <a:tcPr>
                        <a:blipFill rotWithShape="0">
                          <a:blip r:embed="rId4"/>
                          <a:stretch>
                            <a:fillRect l="-249" t="-450000" r="-995" b="-2500"/>
                          </a:stretch>
                        </a:blipFill>
                      </a:tcPr>
                    </a:tc>
                    <a:extLst>
                      <a:ext uri="{0D108BD9-81ED-4DB2-BD59-A6C34878D82A}">
                        <a16:rowId xmlns:a16="http://schemas.microsoft.com/office/drawing/2014/main" xmlns="" xmlns:a14="http://schemas.microsoft.com/office/drawing/2010/main" val="10004"/>
                      </a:ext>
                    </a:extLst>
                  </a:tr>
                </a:tbl>
              </a:graphicData>
            </a:graphic>
          </p:graphicFrame>
        </mc:Fallback>
      </mc:AlternateContent>
      <p:graphicFrame>
        <p:nvGraphicFramePr>
          <p:cNvPr id="27" name="Table 26"/>
          <p:cNvGraphicFramePr>
            <a:graphicFrameLocks noGrp="1"/>
          </p:cNvGraphicFramePr>
          <p:nvPr>
            <p:extLst>
              <p:ext uri="{D42A27DB-BD31-4B8C-83A1-F6EECF244321}">
                <p14:modId xmlns:p14="http://schemas.microsoft.com/office/powerpoint/2010/main" val="611336898"/>
              </p:ext>
            </p:extLst>
          </p:nvPr>
        </p:nvGraphicFramePr>
        <p:xfrm>
          <a:off x="4871864" y="3809080"/>
          <a:ext cx="1423055" cy="2610561"/>
        </p:xfrm>
        <a:graphic>
          <a:graphicData uri="http://schemas.openxmlformats.org/drawingml/2006/table">
            <a:tbl>
              <a:tblPr firstRow="1" bandRow="1">
                <a:tableStyleId>{5C22544A-7EE6-4342-B048-85BDC9FD1C3A}</a:tableStyleId>
              </a:tblPr>
              <a:tblGrid>
                <a:gridCol w="1423055">
                  <a:extLst>
                    <a:ext uri="{9D8B030D-6E8A-4147-A177-3AD203B41FA5}">
                      <a16:colId xmlns:a16="http://schemas.microsoft.com/office/drawing/2014/main" val="20000"/>
                    </a:ext>
                  </a:extLst>
                </a:gridCol>
              </a:tblGrid>
              <a:tr h="483931">
                <a:tc>
                  <a:txBody>
                    <a:bodyPr/>
                    <a:lstStyle/>
                    <a:p>
                      <a:pPr algn="ctr"/>
                      <a:r>
                        <a:rPr lang="en-US" sz="2400" b="1" i="0" kern="1200" dirty="0">
                          <a:solidFill>
                            <a:schemeClr val="lt1"/>
                          </a:solidFill>
                          <a:latin typeface="+mn-lt"/>
                          <a:ea typeface="+mn-ea"/>
                          <a:cs typeface="+mn-cs"/>
                        </a:rPr>
                        <a:t>Rank</a:t>
                      </a:r>
                    </a:p>
                  </a:txBody>
                  <a:tcPr/>
                </a:tc>
                <a:extLst>
                  <a:ext uri="{0D108BD9-81ED-4DB2-BD59-A6C34878D82A}">
                    <a16:rowId xmlns:a16="http://schemas.microsoft.com/office/drawing/2014/main" val="10000"/>
                  </a:ext>
                </a:extLst>
              </a:tr>
              <a:tr h="743013">
                <a:tc>
                  <a:txBody>
                    <a:bodyPr/>
                    <a:lstStyle/>
                    <a:p>
                      <a:pPr algn="ctr"/>
                      <a:endParaRPr lang="en-US" b="1" i="0" dirty="0"/>
                    </a:p>
                  </a:txBody>
                  <a:tcPr/>
                </a:tc>
                <a:extLst>
                  <a:ext uri="{0D108BD9-81ED-4DB2-BD59-A6C34878D82A}">
                    <a16:rowId xmlns:a16="http://schemas.microsoft.com/office/drawing/2014/main" val="10001"/>
                  </a:ext>
                </a:extLst>
              </a:tr>
              <a:tr h="466158">
                <a:tc>
                  <a:txBody>
                    <a:bodyPr/>
                    <a:lstStyle/>
                    <a:p>
                      <a:endParaRPr lang="en-US" b="1" i="0" dirty="0"/>
                    </a:p>
                  </a:txBody>
                  <a:tcPr/>
                </a:tc>
                <a:extLst>
                  <a:ext uri="{0D108BD9-81ED-4DB2-BD59-A6C34878D82A}">
                    <a16:rowId xmlns:a16="http://schemas.microsoft.com/office/drawing/2014/main" val="10002"/>
                  </a:ext>
                </a:extLst>
              </a:tr>
              <a:tr h="457473">
                <a:tc>
                  <a:txBody>
                    <a:bodyPr/>
                    <a:lstStyle/>
                    <a:p>
                      <a:endParaRPr lang="en-US" b="1" i="0" dirty="0"/>
                    </a:p>
                  </a:txBody>
                  <a:tcPr/>
                </a:tc>
                <a:extLst>
                  <a:ext uri="{0D108BD9-81ED-4DB2-BD59-A6C34878D82A}">
                    <a16:rowId xmlns:a16="http://schemas.microsoft.com/office/drawing/2014/main" val="10003"/>
                  </a:ext>
                </a:extLst>
              </a:tr>
              <a:tr h="459986">
                <a:tc>
                  <a:txBody>
                    <a:bodyPr/>
                    <a:lstStyle/>
                    <a:p>
                      <a:endParaRPr lang="en-US" b="1" i="0" dirty="0"/>
                    </a:p>
                  </a:txBody>
                  <a:tcPr/>
                </a:tc>
                <a:extLst>
                  <a:ext uri="{0D108BD9-81ED-4DB2-BD59-A6C34878D82A}">
                    <a16:rowId xmlns:a16="http://schemas.microsoft.com/office/drawing/2014/main" val="10004"/>
                  </a:ext>
                </a:extLst>
              </a:tr>
            </a:tbl>
          </a:graphicData>
        </a:graphic>
      </p:graphicFrame>
      <mc:AlternateContent xmlns:mc="http://schemas.openxmlformats.org/markup-compatibility/2006" xmlns:a14="http://schemas.microsoft.com/office/drawing/2010/main">
        <mc:Choice Requires="a14">
          <p:sp>
            <p:nvSpPr>
              <p:cNvPr id="28" name="TextBox 27"/>
              <p:cNvSpPr txBox="1"/>
              <p:nvPr/>
            </p:nvSpPr>
            <p:spPr>
              <a:xfrm>
                <a:off x="5086721" y="5933480"/>
                <a:ext cx="972767" cy="461665"/>
              </a:xfrm>
              <a:prstGeom prst="rect">
                <a:avLst/>
              </a:prstGeom>
              <a:noFill/>
            </p:spPr>
            <p:txBody>
              <a:bodyPr wrap="none" rtlCol="0">
                <a:spAutoFit/>
              </a:bodyPr>
              <a:lstStyle>
                <a:defPPr>
                  <a:defRPr lang="en-US"/>
                </a:defPPr>
                <a:lvl1pPr>
                  <a:defRPr sz="2400" b="0" i="0">
                    <a:solidFill>
                      <a:srgbClr val="FF000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m:rPr>
                          <m:sty m:val="p"/>
                        </m:rPr>
                        <a:rPr lang="en-US" i="0">
                          <a:latin typeface="Cambria Math" panose="02040503050406030204" pitchFamily="18" charset="0"/>
                        </a:rPr>
                        <m:t>n</m:t>
                      </m:r>
                      <m:r>
                        <a:rPr lang="en-US" i="0">
                          <a:latin typeface="Cambria Math" panose="02040503050406030204" pitchFamily="18" charset="0"/>
                        </a:rPr>
                        <m:t>−1</m:t>
                      </m:r>
                    </m:oMath>
                  </m:oMathPara>
                </a14:m>
                <a:endParaRPr lang="en-US" dirty="0"/>
              </a:p>
            </p:txBody>
          </p:sp>
        </mc:Choice>
        <mc:Fallback xmlns="">
          <p:sp>
            <p:nvSpPr>
              <p:cNvPr id="28" name="TextBox 27"/>
              <p:cNvSpPr txBox="1">
                <a:spLocks noRot="1" noChangeAspect="1" noMove="1" noResize="1" noEditPoints="1" noAdjustHandles="1" noChangeArrowheads="1" noChangeShapeType="1" noTextEdit="1"/>
              </p:cNvSpPr>
              <p:nvPr/>
            </p:nvSpPr>
            <p:spPr>
              <a:xfrm>
                <a:off x="5086721" y="5933480"/>
                <a:ext cx="972767" cy="461665"/>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5086722" y="5472909"/>
                <a:ext cx="972767" cy="461665"/>
              </a:xfrm>
              <a:prstGeom prst="rect">
                <a:avLst/>
              </a:prstGeom>
              <a:noFill/>
            </p:spPr>
            <p:txBody>
              <a:bodyPr wrap="none" rtlCol="0">
                <a:spAutoFit/>
              </a:bodyPr>
              <a:lstStyle>
                <a:defPPr>
                  <a:defRPr lang="en-US"/>
                </a:defPPr>
                <a:lvl1pPr>
                  <a:defRPr sz="2400" b="0" i="0">
                    <a:solidFill>
                      <a:srgbClr val="FF000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m:rPr>
                          <m:sty m:val="p"/>
                        </m:rPr>
                        <a:rPr lang="en-US" i="0">
                          <a:latin typeface="Cambria Math" panose="02040503050406030204" pitchFamily="18" charset="0"/>
                        </a:rPr>
                        <m:t>n</m:t>
                      </m:r>
                      <m:r>
                        <a:rPr lang="en-US" i="0">
                          <a:latin typeface="Cambria Math" panose="02040503050406030204" pitchFamily="18" charset="0"/>
                        </a:rPr>
                        <m:t>−1</m:t>
                      </m:r>
                    </m:oMath>
                  </m:oMathPara>
                </a14:m>
                <a:endParaRPr lang="en-US" dirty="0"/>
              </a:p>
            </p:txBody>
          </p:sp>
        </mc:Choice>
        <mc:Fallback xmlns="">
          <p:sp>
            <p:nvSpPr>
              <p:cNvPr id="29" name="TextBox 28"/>
              <p:cNvSpPr txBox="1">
                <a:spLocks noRot="1" noChangeAspect="1" noMove="1" noResize="1" noEditPoints="1" noAdjustHandles="1" noChangeArrowheads="1" noChangeShapeType="1" noTextEdit="1"/>
              </p:cNvSpPr>
              <p:nvPr/>
            </p:nvSpPr>
            <p:spPr>
              <a:xfrm>
                <a:off x="5086722" y="5472909"/>
                <a:ext cx="972767" cy="461665"/>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5086722" y="4975858"/>
                <a:ext cx="972767" cy="461665"/>
              </a:xfrm>
              <a:prstGeom prst="rect">
                <a:avLst/>
              </a:prstGeom>
              <a:noFill/>
            </p:spPr>
            <p:txBody>
              <a:bodyPr wrap="none" rtlCol="0">
                <a:spAutoFit/>
              </a:bodyPr>
              <a:lstStyle>
                <a:defPPr>
                  <a:defRPr lang="en-US"/>
                </a:defPPr>
                <a:lvl1pPr>
                  <a:defRPr sz="2400" b="0" i="0">
                    <a:solidFill>
                      <a:srgbClr val="FF000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m:rPr>
                          <m:sty m:val="p"/>
                        </m:rPr>
                        <a:rPr lang="en-US" i="0">
                          <a:latin typeface="Cambria Math" panose="02040503050406030204" pitchFamily="18" charset="0"/>
                        </a:rPr>
                        <m:t>n</m:t>
                      </m:r>
                      <m:r>
                        <a:rPr lang="en-US" i="0">
                          <a:latin typeface="Cambria Math" panose="02040503050406030204" pitchFamily="18" charset="0"/>
                        </a:rPr>
                        <m:t>−1</m:t>
                      </m:r>
                    </m:oMath>
                  </m:oMathPara>
                </a14:m>
                <a:endParaRPr lang="en-US" dirty="0"/>
              </a:p>
            </p:txBody>
          </p:sp>
        </mc:Choice>
        <mc:Fallback xmlns="">
          <p:sp>
            <p:nvSpPr>
              <p:cNvPr id="30" name="TextBox 29"/>
              <p:cNvSpPr txBox="1">
                <a:spLocks noRot="1" noChangeAspect="1" noMove="1" noResize="1" noEditPoints="1" noAdjustHandles="1" noChangeArrowheads="1" noChangeShapeType="1" noTextEdit="1"/>
              </p:cNvSpPr>
              <p:nvPr/>
            </p:nvSpPr>
            <p:spPr>
              <a:xfrm>
                <a:off x="5086722" y="4975858"/>
                <a:ext cx="972767" cy="461665"/>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p:cNvSpPr txBox="1"/>
              <p:nvPr/>
            </p:nvSpPr>
            <p:spPr>
              <a:xfrm>
                <a:off x="5086721" y="4350692"/>
                <a:ext cx="97276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solidFill>
                            <a:srgbClr val="FF0000"/>
                          </a:solidFill>
                          <a:latin typeface="Cambria Math" panose="02040503050406030204" pitchFamily="18" charset="0"/>
                        </a:rPr>
                        <m:t>n</m:t>
                      </m:r>
                      <m:r>
                        <a:rPr lang="en-US" sz="2400" b="0" i="0" smtClean="0">
                          <a:solidFill>
                            <a:srgbClr val="FF0000"/>
                          </a:solidFill>
                          <a:latin typeface="Cambria Math" panose="02040503050406030204" pitchFamily="18" charset="0"/>
                        </a:rPr>
                        <m:t>−1</m:t>
                      </m:r>
                    </m:oMath>
                  </m:oMathPara>
                </a14:m>
                <a:endParaRPr lang="en-US" sz="2400" dirty="0">
                  <a:solidFill>
                    <a:srgbClr val="FF0000"/>
                  </a:solidFill>
                </a:endParaRPr>
              </a:p>
            </p:txBody>
          </p:sp>
        </mc:Choice>
        <mc:Fallback xmlns="">
          <p:sp>
            <p:nvSpPr>
              <p:cNvPr id="31" name="TextBox 30"/>
              <p:cNvSpPr txBox="1">
                <a:spLocks noRot="1" noChangeAspect="1" noMove="1" noResize="1" noEditPoints="1" noAdjustHandles="1" noChangeArrowheads="1" noChangeShapeType="1" noTextEdit="1"/>
              </p:cNvSpPr>
              <p:nvPr/>
            </p:nvSpPr>
            <p:spPr>
              <a:xfrm>
                <a:off x="5086721" y="4350692"/>
                <a:ext cx="972767" cy="461665"/>
              </a:xfrm>
              <a:prstGeom prst="rect">
                <a:avLst/>
              </a:prstGeom>
              <a:blipFill rotWithShape="0">
                <a:blip r:embed="rId8"/>
                <a:stretch>
                  <a:fillRect/>
                </a:stretch>
              </a:blipFill>
            </p:spPr>
            <p:txBody>
              <a:bodyPr/>
              <a:lstStyle/>
              <a:p>
                <a:r>
                  <a:rPr lang="en-US">
                    <a:noFill/>
                  </a:rPr>
                  <a:t> </a:t>
                </a:r>
              </a:p>
            </p:txBody>
          </p:sp>
        </mc:Fallback>
      </mc:AlternateContent>
      <p:graphicFrame>
        <p:nvGraphicFramePr>
          <p:cNvPr id="13" name="Table 12"/>
          <p:cNvGraphicFramePr>
            <a:graphicFrameLocks noGrp="1"/>
          </p:cNvGraphicFramePr>
          <p:nvPr>
            <p:extLst>
              <p:ext uri="{D42A27DB-BD31-4B8C-83A1-F6EECF244321}">
                <p14:modId xmlns:p14="http://schemas.microsoft.com/office/powerpoint/2010/main" val="3695093882"/>
              </p:ext>
            </p:extLst>
          </p:nvPr>
        </p:nvGraphicFramePr>
        <p:xfrm>
          <a:off x="6266211" y="3809932"/>
          <a:ext cx="2422077" cy="2609709"/>
        </p:xfrm>
        <a:graphic>
          <a:graphicData uri="http://schemas.openxmlformats.org/drawingml/2006/table">
            <a:tbl>
              <a:tblPr firstRow="1" bandRow="1">
                <a:tableStyleId>{5C22544A-7EE6-4342-B048-85BDC9FD1C3A}</a:tableStyleId>
              </a:tblPr>
              <a:tblGrid>
                <a:gridCol w="2422077">
                  <a:extLst>
                    <a:ext uri="{9D8B030D-6E8A-4147-A177-3AD203B41FA5}">
                      <a16:colId xmlns:a16="http://schemas.microsoft.com/office/drawing/2014/main" val="20000"/>
                    </a:ext>
                  </a:extLst>
                </a:gridCol>
              </a:tblGrid>
              <a:tr h="483931">
                <a:tc>
                  <a:txBody>
                    <a:bodyPr/>
                    <a:lstStyle/>
                    <a:p>
                      <a:pPr algn="ctr"/>
                      <a:r>
                        <a:rPr lang="en-US" sz="2400" b="1" i="0" kern="1200" dirty="0">
                          <a:solidFill>
                            <a:schemeClr val="lt1"/>
                          </a:solidFill>
                          <a:latin typeface="+mn-lt"/>
                          <a:ea typeface="+mn-ea"/>
                          <a:cs typeface="+mn-cs"/>
                        </a:rPr>
                        <a:t>Number of edges </a:t>
                      </a:r>
                    </a:p>
                  </a:txBody>
                  <a:tcPr/>
                </a:tc>
                <a:extLst>
                  <a:ext uri="{0D108BD9-81ED-4DB2-BD59-A6C34878D82A}">
                    <a16:rowId xmlns:a16="http://schemas.microsoft.com/office/drawing/2014/main" val="10000"/>
                  </a:ext>
                </a:extLst>
              </a:tr>
              <a:tr h="742161">
                <a:tc>
                  <a:txBody>
                    <a:bodyPr/>
                    <a:lstStyle/>
                    <a:p>
                      <a:pPr algn="ctr"/>
                      <a:endParaRPr lang="en-US" b="1" i="0" dirty="0"/>
                    </a:p>
                  </a:txBody>
                  <a:tcPr/>
                </a:tc>
                <a:extLst>
                  <a:ext uri="{0D108BD9-81ED-4DB2-BD59-A6C34878D82A}">
                    <a16:rowId xmlns:a16="http://schemas.microsoft.com/office/drawing/2014/main" val="10001"/>
                  </a:ext>
                </a:extLst>
              </a:tr>
              <a:tr h="466158">
                <a:tc>
                  <a:txBody>
                    <a:bodyPr/>
                    <a:lstStyle/>
                    <a:p>
                      <a:endParaRPr lang="en-US" b="1" i="0" dirty="0"/>
                    </a:p>
                  </a:txBody>
                  <a:tcPr/>
                </a:tc>
                <a:extLst>
                  <a:ext uri="{0D108BD9-81ED-4DB2-BD59-A6C34878D82A}">
                    <a16:rowId xmlns:a16="http://schemas.microsoft.com/office/drawing/2014/main" val="10002"/>
                  </a:ext>
                </a:extLst>
              </a:tr>
              <a:tr h="457473">
                <a:tc>
                  <a:txBody>
                    <a:bodyPr/>
                    <a:lstStyle/>
                    <a:p>
                      <a:endParaRPr lang="en-US" b="1" i="0" dirty="0"/>
                    </a:p>
                  </a:txBody>
                  <a:tcPr/>
                </a:tc>
                <a:extLst>
                  <a:ext uri="{0D108BD9-81ED-4DB2-BD59-A6C34878D82A}">
                    <a16:rowId xmlns:a16="http://schemas.microsoft.com/office/drawing/2014/main" val="10003"/>
                  </a:ext>
                </a:extLst>
              </a:tr>
              <a:tr h="459986">
                <a:tc>
                  <a:txBody>
                    <a:bodyPr/>
                    <a:lstStyle/>
                    <a:p>
                      <a:endParaRPr lang="en-US" b="1" i="0" dirty="0"/>
                    </a:p>
                  </a:txBody>
                  <a:tcPr/>
                </a:tc>
                <a:extLst>
                  <a:ext uri="{0D108BD9-81ED-4DB2-BD59-A6C34878D82A}">
                    <a16:rowId xmlns:a16="http://schemas.microsoft.com/office/drawing/2014/main" val="10004"/>
                  </a:ext>
                </a:extLst>
              </a:tr>
            </a:tbl>
          </a:graphicData>
        </a:graphic>
      </p:graphicFrame>
      <mc:AlternateContent xmlns:mc="http://schemas.openxmlformats.org/markup-compatibility/2006" xmlns:a14="http://schemas.microsoft.com/office/drawing/2010/main">
        <mc:Choice Requires="a14">
          <p:sp>
            <p:nvSpPr>
              <p:cNvPr id="14" name="TextBox 13"/>
              <p:cNvSpPr txBox="1"/>
              <p:nvPr/>
            </p:nvSpPr>
            <p:spPr>
              <a:xfrm>
                <a:off x="6463653" y="4241549"/>
                <a:ext cx="1813914" cy="8066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solidFill>
                                <a:srgbClr val="FF0000"/>
                              </a:solidFill>
                              <a:latin typeface="Cambria Math" panose="02040503050406030204" pitchFamily="18" charset="0"/>
                            </a:rPr>
                          </m:ctrlPr>
                        </m:fPr>
                        <m:num>
                          <m:r>
                            <m:rPr>
                              <m:sty m:val="p"/>
                            </m:rPr>
                            <a:rPr lang="en-US" sz="2400" b="0" i="0" smtClean="0">
                              <a:solidFill>
                                <a:srgbClr val="FF0000"/>
                              </a:solidFill>
                              <a:latin typeface="Cambria Math" panose="02040503050406030204" pitchFamily="18" charset="0"/>
                            </a:rPr>
                            <m:t>n</m:t>
                          </m:r>
                          <m:d>
                            <m:dPr>
                              <m:ctrlPr>
                                <a:rPr lang="en-US" sz="2400" b="0" i="1" smtClean="0">
                                  <a:solidFill>
                                    <a:srgbClr val="FF0000"/>
                                  </a:solidFill>
                                  <a:latin typeface="Cambria Math" panose="02040503050406030204" pitchFamily="18" charset="0"/>
                                </a:rPr>
                              </m:ctrlPr>
                            </m:dPr>
                            <m:e>
                              <m:r>
                                <m:rPr>
                                  <m:sty m:val="p"/>
                                </m:rPr>
                                <a:rPr lang="en-US" sz="2400" b="0" i="0" smtClean="0">
                                  <a:solidFill>
                                    <a:srgbClr val="FF0000"/>
                                  </a:solidFill>
                                  <a:latin typeface="Cambria Math" panose="02040503050406030204" pitchFamily="18" charset="0"/>
                                </a:rPr>
                                <m:t>n</m:t>
                              </m:r>
                              <m:r>
                                <a:rPr lang="en-US" sz="2400" b="0" i="0" smtClean="0">
                                  <a:solidFill>
                                    <a:srgbClr val="FF0000"/>
                                  </a:solidFill>
                                  <a:latin typeface="Cambria Math" panose="02040503050406030204" pitchFamily="18" charset="0"/>
                                </a:rPr>
                                <m:t>−1</m:t>
                              </m:r>
                            </m:e>
                          </m:d>
                        </m:num>
                        <m:den>
                          <m:r>
                            <a:rPr lang="en-US" sz="2400" b="0" i="0" smtClean="0">
                              <a:solidFill>
                                <a:srgbClr val="FF0000"/>
                              </a:solidFill>
                              <a:latin typeface="Cambria Math" panose="02040503050406030204" pitchFamily="18" charset="0"/>
                            </a:rPr>
                            <m:t>2</m:t>
                          </m:r>
                        </m:den>
                      </m:f>
                    </m:oMath>
                  </m:oMathPara>
                </a14:m>
                <a:endParaRPr lang="en-US" sz="2400" dirty="0">
                  <a:solidFill>
                    <a:srgbClr val="FF0000"/>
                  </a:solidFill>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6463653" y="4241549"/>
                <a:ext cx="1813914" cy="806696"/>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7104354" y="5048245"/>
                <a:ext cx="532512"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solidFill>
                            <a:srgbClr val="FF0000"/>
                          </a:solidFill>
                          <a:latin typeface="Cambria Math" panose="02040503050406030204" pitchFamily="18" charset="0"/>
                        </a:rPr>
                        <m:t>n</m:t>
                      </m:r>
                    </m:oMath>
                  </m:oMathPara>
                </a14:m>
                <a:endParaRPr lang="en-US" sz="2400" dirty="0">
                  <a:solidFill>
                    <a:srgbClr val="FF0000"/>
                  </a:solidFill>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7104354" y="5048245"/>
                <a:ext cx="532512" cy="461665"/>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6777631" y="5471815"/>
                <a:ext cx="1185958"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solidFill>
                            <a:srgbClr val="FF0000"/>
                          </a:solidFill>
                          <a:latin typeface="Cambria Math" panose="02040503050406030204" pitchFamily="18" charset="0"/>
                        </a:rPr>
                        <m:t>n</m:t>
                      </m:r>
                      <m:r>
                        <a:rPr lang="en-US" sz="2400" b="0" i="0" smtClean="0">
                          <a:solidFill>
                            <a:srgbClr val="FF0000"/>
                          </a:solidFill>
                          <a:latin typeface="Cambria Math" panose="02040503050406030204" pitchFamily="18" charset="0"/>
                        </a:rPr>
                        <m:t>−1</m:t>
                      </m:r>
                    </m:oMath>
                  </m:oMathPara>
                </a14:m>
                <a:endParaRPr lang="en-US" sz="2400" dirty="0">
                  <a:solidFill>
                    <a:srgbClr val="FF0000"/>
                  </a:solidFill>
                </a:endParaRPr>
              </a:p>
            </p:txBody>
          </p:sp>
        </mc:Choice>
        <mc:Fallback xmlns="">
          <p:sp>
            <p:nvSpPr>
              <p:cNvPr id="17" name="TextBox 16"/>
              <p:cNvSpPr txBox="1">
                <a:spLocks noRot="1" noChangeAspect="1" noMove="1" noResize="1" noEditPoints="1" noAdjustHandles="1" noChangeArrowheads="1" noChangeShapeType="1" noTextEdit="1"/>
              </p:cNvSpPr>
              <p:nvPr/>
            </p:nvSpPr>
            <p:spPr>
              <a:xfrm>
                <a:off x="6777631" y="5471815"/>
                <a:ext cx="1185958" cy="461665"/>
              </a:xfrm>
              <a:prstGeom prst="rect">
                <a:avLst/>
              </a:prstGeom>
              <a:blipFill rotWithShape="0">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6777631" y="5933480"/>
                <a:ext cx="1185958"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solidFill>
                            <a:srgbClr val="FF0000"/>
                          </a:solidFill>
                          <a:latin typeface="Cambria Math" panose="02040503050406030204" pitchFamily="18" charset="0"/>
                        </a:rPr>
                        <m:t>n</m:t>
                      </m:r>
                      <m:r>
                        <a:rPr lang="en-US" sz="2400" b="0" i="0" smtClean="0">
                          <a:solidFill>
                            <a:srgbClr val="FF0000"/>
                          </a:solidFill>
                          <a:latin typeface="Cambria Math" panose="02040503050406030204" pitchFamily="18" charset="0"/>
                        </a:rPr>
                        <m:t>−1</m:t>
                      </m:r>
                    </m:oMath>
                  </m:oMathPara>
                </a14:m>
                <a:endParaRPr lang="en-US" sz="2400" dirty="0">
                  <a:solidFill>
                    <a:srgbClr val="FF0000"/>
                  </a:solidFill>
                </a:endParaRPr>
              </a:p>
            </p:txBody>
          </p:sp>
        </mc:Choice>
        <mc:Fallback xmlns="">
          <p:sp>
            <p:nvSpPr>
              <p:cNvPr id="18" name="TextBox 17"/>
              <p:cNvSpPr txBox="1">
                <a:spLocks noRot="1" noChangeAspect="1" noMove="1" noResize="1" noEditPoints="1" noAdjustHandles="1" noChangeArrowheads="1" noChangeShapeType="1" noTextEdit="1"/>
              </p:cNvSpPr>
              <p:nvPr/>
            </p:nvSpPr>
            <p:spPr>
              <a:xfrm>
                <a:off x="6777631" y="5933480"/>
                <a:ext cx="1185958" cy="461665"/>
              </a:xfrm>
              <a:prstGeom prst="rect">
                <a:avLst/>
              </a:prstGeom>
              <a:blipFill rotWithShape="0">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252656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8" grpId="0"/>
      <p:bldP spid="29" grpId="0"/>
      <p:bldP spid="30" grpId="0"/>
      <p:bldP spid="31" grpId="0"/>
      <p:bldP spid="14" grpId="0"/>
      <p:bldP spid="15" grpId="0"/>
      <p:bldP spid="17" grpId="0"/>
      <p:bldP spid="18"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635C8299-099D-4E74-A7B7-29B2E1FD450E}"/>
              </a:ext>
            </a:extLst>
          </p:cNvPr>
          <p:cNvSpPr txBox="1">
            <a:spLocks/>
          </p:cNvSpPr>
          <p:nvPr/>
        </p:nvSpPr>
        <p:spPr>
          <a:xfrm>
            <a:off x="113592" y="851642"/>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b="0" dirty="0"/>
              <a:t>Method 3 ⇝ Example 2(Cont.)</a:t>
            </a:r>
            <a:endParaRPr lang="en-US" b="0" dirty="0"/>
          </a:p>
        </p:txBody>
      </p:sp>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945695049"/>
                  </p:ext>
                </p:extLst>
              </p:nvPr>
            </p:nvGraphicFramePr>
            <p:xfrm>
              <a:off x="685092" y="1500188"/>
              <a:ext cx="11200402" cy="4344923"/>
            </p:xfrm>
            <a:graphic>
              <a:graphicData uri="http://schemas.openxmlformats.org/drawingml/2006/table">
                <a:tbl>
                  <a:tblPr firstRow="1" bandRow="1">
                    <a:tableStyleId>{5C22544A-7EE6-4342-B048-85BDC9FD1C3A}</a:tableStyleId>
                  </a:tblPr>
                  <a:tblGrid>
                    <a:gridCol w="959531">
                      <a:extLst>
                        <a:ext uri="{9D8B030D-6E8A-4147-A177-3AD203B41FA5}">
                          <a16:colId xmlns:a16="http://schemas.microsoft.com/office/drawing/2014/main" val="20000"/>
                        </a:ext>
                      </a:extLst>
                    </a:gridCol>
                    <a:gridCol w="10240871">
                      <a:extLst>
                        <a:ext uri="{9D8B030D-6E8A-4147-A177-3AD203B41FA5}">
                          <a16:colId xmlns:a16="http://schemas.microsoft.com/office/drawing/2014/main" val="20003"/>
                        </a:ext>
                      </a:extLst>
                    </a:gridCol>
                  </a:tblGrid>
                  <a:tr h="798275">
                    <a:tc>
                      <a:txBody>
                        <a:bodyPr/>
                        <a:lstStyle/>
                        <a:p>
                          <a:pPr algn="ctr"/>
                          <a:r>
                            <a:rPr lang="en-US" sz="2400" i="0" dirty="0"/>
                            <a:t>Graph </a:t>
                          </a:r>
                        </a:p>
                      </a:txBody>
                      <a:tcPr anchor="ctr"/>
                    </a:tc>
                    <a:tc>
                      <a:txBody>
                        <a:bodyPr/>
                        <a:lstStyle/>
                        <a:p>
                          <a:pPr algn="ctr"/>
                          <a:r>
                            <a:rPr lang="en-US" sz="2400" dirty="0"/>
                            <a:t>Nullity (</a:t>
                          </a:r>
                          <a14:m>
                            <m:oMath xmlns:m="http://schemas.openxmlformats.org/officeDocument/2006/math">
                              <m:r>
                                <m:rPr>
                                  <m:sty m:val="p"/>
                                </m:rPr>
                                <a:rPr lang="en-US" sz="2400" i="0" dirty="0" smtClean="0">
                                  <a:latin typeface="Cambria Math" panose="02040503050406030204" pitchFamily="18" charset="0"/>
                                </a:rPr>
                                <m:t>e</m:t>
                              </m:r>
                              <m:r>
                                <a:rPr lang="en-US" sz="2400" i="0" dirty="0" smtClean="0">
                                  <a:latin typeface="Cambria Math" panose="02040503050406030204" pitchFamily="18" charset="0"/>
                                </a:rPr>
                                <m:t>−</m:t>
                              </m:r>
                              <m:r>
                                <m:rPr>
                                  <m:sty m:val="p"/>
                                </m:rPr>
                                <a:rPr lang="en-US" sz="2400" i="0" dirty="0" smtClean="0">
                                  <a:latin typeface="Cambria Math" panose="02040503050406030204" pitchFamily="18" charset="0"/>
                                </a:rPr>
                                <m:t>n</m:t>
                              </m:r>
                              <m:r>
                                <a:rPr lang="en-US" sz="2400" i="0" dirty="0" smtClean="0">
                                  <a:latin typeface="Cambria Math" panose="02040503050406030204" pitchFamily="18" charset="0"/>
                                </a:rPr>
                                <m:t>+1</m:t>
                              </m:r>
                            </m:oMath>
                          </a14:m>
                          <a:r>
                            <a:rPr lang="en-US" sz="2400" dirty="0"/>
                            <a:t>)</a:t>
                          </a:r>
                        </a:p>
                      </a:txBody>
                      <a:tcPr anchor="ctr"/>
                    </a:tc>
                    <a:extLst>
                      <a:ext uri="{0D108BD9-81ED-4DB2-BD59-A6C34878D82A}">
                        <a16:rowId xmlns:a16="http://schemas.microsoft.com/office/drawing/2014/main" val="10000"/>
                      </a:ext>
                    </a:extLst>
                  </a:tr>
                  <a:tr h="1296965">
                    <a:tc>
                      <a:txBody>
                        <a:bodyPr/>
                        <a:lstStyle/>
                        <a:p>
                          <a:endParaRPr lang="en-US" sz="2400" dirty="0"/>
                        </a:p>
                      </a:txBody>
                      <a:tcPr/>
                    </a:tc>
                    <a:tc>
                      <a:txBody>
                        <a:bodyPr/>
                        <a:lstStyle/>
                        <a:p>
                          <a:endParaRPr lang="en-US" dirty="0"/>
                        </a:p>
                      </a:txBody>
                      <a:tcPr/>
                    </a:tc>
                    <a:extLst>
                      <a:ext uri="{0D108BD9-81ED-4DB2-BD59-A6C34878D82A}">
                        <a16:rowId xmlns:a16="http://schemas.microsoft.com/office/drawing/2014/main" val="10001"/>
                      </a:ext>
                    </a:extLst>
                  </a:tr>
                  <a:tr h="725704">
                    <a:tc>
                      <a:txBody>
                        <a:bodyPr/>
                        <a:lstStyle/>
                        <a:p>
                          <a:endParaRPr lang="en-US" sz="2400" dirty="0"/>
                        </a:p>
                      </a:txBody>
                      <a:tcPr/>
                    </a:tc>
                    <a:tc>
                      <a:txBody>
                        <a:bodyPr/>
                        <a:lstStyle/>
                        <a:p>
                          <a:endParaRPr lang="en-US" dirty="0"/>
                        </a:p>
                      </a:txBody>
                      <a:tcPr/>
                    </a:tc>
                    <a:extLst>
                      <a:ext uri="{0D108BD9-81ED-4DB2-BD59-A6C34878D82A}">
                        <a16:rowId xmlns:a16="http://schemas.microsoft.com/office/drawing/2014/main" val="10002"/>
                      </a:ext>
                    </a:extLst>
                  </a:tr>
                  <a:tr h="798275">
                    <a:tc>
                      <a:txBody>
                        <a:bodyPr/>
                        <a:lstStyle/>
                        <a:p>
                          <a:endParaRPr lang="en-US" sz="2400" dirty="0"/>
                        </a:p>
                      </a:txBody>
                      <a:tcPr/>
                    </a:tc>
                    <a:tc>
                      <a:txBody>
                        <a:bodyPr/>
                        <a:lstStyle/>
                        <a:p>
                          <a:endParaRPr lang="en-US" dirty="0"/>
                        </a:p>
                      </a:txBody>
                      <a:tcPr/>
                    </a:tc>
                    <a:extLst>
                      <a:ext uri="{0D108BD9-81ED-4DB2-BD59-A6C34878D82A}">
                        <a16:rowId xmlns:a16="http://schemas.microsoft.com/office/drawing/2014/main" val="10003"/>
                      </a:ext>
                    </a:extLst>
                  </a:tr>
                  <a:tr h="725704">
                    <a:tc>
                      <a:txBody>
                        <a:bodyPr/>
                        <a:lstStyle/>
                        <a:p>
                          <a:endParaRPr lang="en-US" sz="2400" dirty="0"/>
                        </a:p>
                      </a:txBody>
                      <a:tcPr/>
                    </a:tc>
                    <a:tc>
                      <a:txBody>
                        <a:bodyPr/>
                        <a:lstStyle/>
                        <a:p>
                          <a:endParaRPr lang="en-US" dirty="0"/>
                        </a:p>
                      </a:txBody>
                      <a:tcPr/>
                    </a:tc>
                    <a:extLst>
                      <a:ext uri="{0D108BD9-81ED-4DB2-BD59-A6C34878D82A}">
                        <a16:rowId xmlns:a16="http://schemas.microsoft.com/office/drawing/2014/main" val="10004"/>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945695049"/>
                  </p:ext>
                </p:extLst>
              </p:nvPr>
            </p:nvGraphicFramePr>
            <p:xfrm>
              <a:off x="685092" y="1500188"/>
              <a:ext cx="11200402" cy="4344923"/>
            </p:xfrm>
            <a:graphic>
              <a:graphicData uri="http://schemas.openxmlformats.org/drawingml/2006/table">
                <a:tbl>
                  <a:tblPr firstRow="1" bandRow="1">
                    <a:tableStyleId>{5C22544A-7EE6-4342-B048-85BDC9FD1C3A}</a:tableStyleId>
                  </a:tblPr>
                  <a:tblGrid>
                    <a:gridCol w="959531">
                      <a:extLst>
                        <a:ext uri="{9D8B030D-6E8A-4147-A177-3AD203B41FA5}">
                          <a16:colId xmlns:a16="http://schemas.microsoft.com/office/drawing/2014/main" xmlns="" xmlns:a14="http://schemas.microsoft.com/office/drawing/2010/main" val="20000"/>
                        </a:ext>
                      </a:extLst>
                    </a:gridCol>
                    <a:gridCol w="10240871">
                      <a:extLst>
                        <a:ext uri="{9D8B030D-6E8A-4147-A177-3AD203B41FA5}">
                          <a16:colId xmlns:a16="http://schemas.microsoft.com/office/drawing/2014/main" xmlns="" xmlns:a14="http://schemas.microsoft.com/office/drawing/2010/main" val="20003"/>
                        </a:ext>
                      </a:extLst>
                    </a:gridCol>
                  </a:tblGrid>
                  <a:tr h="798275">
                    <a:tc>
                      <a:txBody>
                        <a:bodyPr/>
                        <a:lstStyle/>
                        <a:p>
                          <a:pPr algn="ctr"/>
                          <a:r>
                            <a:rPr lang="en-US" sz="2400" i="0" dirty="0"/>
                            <a:t>Graph </a:t>
                          </a:r>
                        </a:p>
                      </a:txBody>
                      <a:tcPr anchor="ctr"/>
                    </a:tc>
                    <a:tc>
                      <a:txBody>
                        <a:bodyPr/>
                        <a:lstStyle/>
                        <a:p>
                          <a:endParaRPr lang="en-US"/>
                        </a:p>
                      </a:txBody>
                      <a:tcPr anchor="ctr">
                        <a:blipFill rotWithShape="0">
                          <a:blip r:embed="rId2"/>
                          <a:stretch>
                            <a:fillRect l="-9399" t="-763" r="-238" b="-445802"/>
                          </a:stretch>
                        </a:blipFill>
                      </a:tcPr>
                    </a:tc>
                    <a:extLst>
                      <a:ext uri="{0D108BD9-81ED-4DB2-BD59-A6C34878D82A}">
                        <a16:rowId xmlns:a16="http://schemas.microsoft.com/office/drawing/2014/main" xmlns="" xmlns:a14="http://schemas.microsoft.com/office/drawing/2010/main" val="10000"/>
                      </a:ext>
                    </a:extLst>
                  </a:tr>
                  <a:tr h="1296965">
                    <a:tc>
                      <a:txBody>
                        <a:bodyPr/>
                        <a:lstStyle/>
                        <a:p>
                          <a:endParaRPr lang="en-US" sz="2400" dirty="0"/>
                        </a:p>
                      </a:txBody>
                      <a:tcPr/>
                    </a:tc>
                    <a:tc>
                      <a:txBody>
                        <a:bodyPr/>
                        <a:lstStyle/>
                        <a:p>
                          <a:endParaRPr lang="en-US" dirty="0"/>
                        </a:p>
                      </a:txBody>
                      <a:tcPr/>
                    </a:tc>
                    <a:extLst>
                      <a:ext uri="{0D108BD9-81ED-4DB2-BD59-A6C34878D82A}">
                        <a16:rowId xmlns:a16="http://schemas.microsoft.com/office/drawing/2014/main" xmlns="" xmlns:a14="http://schemas.microsoft.com/office/drawing/2010/main" val="10001"/>
                      </a:ext>
                    </a:extLst>
                  </a:tr>
                  <a:tr h="725704">
                    <a:tc>
                      <a:txBody>
                        <a:bodyPr/>
                        <a:lstStyle/>
                        <a:p>
                          <a:endParaRPr lang="en-US" sz="2400" dirty="0"/>
                        </a:p>
                      </a:txBody>
                      <a:tcPr/>
                    </a:tc>
                    <a:tc>
                      <a:txBody>
                        <a:bodyPr/>
                        <a:lstStyle/>
                        <a:p>
                          <a:endParaRPr lang="en-US" dirty="0"/>
                        </a:p>
                      </a:txBody>
                      <a:tcPr/>
                    </a:tc>
                    <a:extLst>
                      <a:ext uri="{0D108BD9-81ED-4DB2-BD59-A6C34878D82A}">
                        <a16:rowId xmlns:a16="http://schemas.microsoft.com/office/drawing/2014/main" xmlns="" xmlns:a14="http://schemas.microsoft.com/office/drawing/2010/main" val="10002"/>
                      </a:ext>
                    </a:extLst>
                  </a:tr>
                  <a:tr h="798275">
                    <a:tc>
                      <a:txBody>
                        <a:bodyPr/>
                        <a:lstStyle/>
                        <a:p>
                          <a:endParaRPr lang="en-US" sz="2400" dirty="0"/>
                        </a:p>
                      </a:txBody>
                      <a:tcPr/>
                    </a:tc>
                    <a:tc>
                      <a:txBody>
                        <a:bodyPr/>
                        <a:lstStyle/>
                        <a:p>
                          <a:endParaRPr lang="en-US" dirty="0"/>
                        </a:p>
                      </a:txBody>
                      <a:tcPr/>
                    </a:tc>
                    <a:extLst>
                      <a:ext uri="{0D108BD9-81ED-4DB2-BD59-A6C34878D82A}">
                        <a16:rowId xmlns:a16="http://schemas.microsoft.com/office/drawing/2014/main" xmlns="" xmlns:a14="http://schemas.microsoft.com/office/drawing/2010/main" val="10003"/>
                      </a:ext>
                    </a:extLst>
                  </a:tr>
                  <a:tr h="725704">
                    <a:tc>
                      <a:txBody>
                        <a:bodyPr/>
                        <a:lstStyle/>
                        <a:p>
                          <a:endParaRPr lang="en-US" sz="2400" dirty="0"/>
                        </a:p>
                      </a:txBody>
                      <a:tcPr/>
                    </a:tc>
                    <a:tc>
                      <a:txBody>
                        <a:bodyPr/>
                        <a:lstStyle/>
                        <a:p>
                          <a:endParaRPr lang="en-US" dirty="0"/>
                        </a:p>
                      </a:txBody>
                      <a:tcPr/>
                    </a:tc>
                    <a:extLst>
                      <a:ext uri="{0D108BD9-81ED-4DB2-BD59-A6C34878D82A}">
                        <a16:rowId xmlns:a16="http://schemas.microsoft.com/office/drawing/2014/main" xmlns="" xmlns:a14="http://schemas.microsoft.com/office/drawing/2010/main" val="10004"/>
                      </a:ext>
                    </a:extLst>
                  </a:tr>
                </a:tbl>
              </a:graphicData>
            </a:graphic>
          </p:graphicFrame>
        </mc:Fallback>
      </mc:AlternateContent>
      <mc:AlternateContent xmlns:mc="http://schemas.openxmlformats.org/markup-compatibility/2006" xmlns:a14="http://schemas.microsoft.com/office/drawing/2010/main">
        <mc:Choice Requires="a14">
          <p:sp>
            <p:nvSpPr>
              <p:cNvPr id="36" name="TextBox 35"/>
              <p:cNvSpPr txBox="1"/>
              <p:nvPr/>
            </p:nvSpPr>
            <p:spPr>
              <a:xfrm>
                <a:off x="822170" y="2635143"/>
                <a:ext cx="836916"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m:rPr>
                              <m:sty m:val="p"/>
                            </m:rPr>
                            <a:rPr lang="en-US" sz="2800" b="0" i="0" dirty="0" smtClean="0">
                              <a:latin typeface="Cambria Math" panose="02040503050406030204" pitchFamily="18" charset="0"/>
                            </a:rPr>
                            <m:t>K</m:t>
                          </m:r>
                        </m:e>
                        <m:sub>
                          <m:r>
                            <m:rPr>
                              <m:sty m:val="p"/>
                            </m:rPr>
                            <a:rPr lang="en-US" sz="2800" b="0" i="0" dirty="0" smtClean="0">
                              <a:latin typeface="Cambria Math" panose="02040503050406030204" pitchFamily="18" charset="0"/>
                            </a:rPr>
                            <m:t>n</m:t>
                          </m:r>
                        </m:sub>
                      </m:sSub>
                    </m:oMath>
                  </m:oMathPara>
                </a14:m>
                <a:endParaRPr lang="en-US" sz="2800" dirty="0"/>
              </a:p>
            </p:txBody>
          </p:sp>
        </mc:Choice>
        <mc:Fallback xmlns="">
          <p:sp>
            <p:nvSpPr>
              <p:cNvPr id="36" name="TextBox 35"/>
              <p:cNvSpPr txBox="1">
                <a:spLocks noRot="1" noChangeAspect="1" noMove="1" noResize="1" noEditPoints="1" noAdjustHandles="1" noChangeArrowheads="1" noChangeShapeType="1" noTextEdit="1"/>
              </p:cNvSpPr>
              <p:nvPr/>
            </p:nvSpPr>
            <p:spPr>
              <a:xfrm>
                <a:off x="822170" y="2635143"/>
                <a:ext cx="836916"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836665" y="3520451"/>
                <a:ext cx="790482"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m:rPr>
                              <m:sty m:val="p"/>
                            </m:rPr>
                            <a:rPr lang="en-US" sz="2800" b="0" i="0" dirty="0" smtClean="0">
                              <a:latin typeface="Cambria Math" panose="02040503050406030204" pitchFamily="18" charset="0"/>
                            </a:rPr>
                            <m:t>C</m:t>
                          </m:r>
                        </m:e>
                        <m:sub>
                          <m:r>
                            <m:rPr>
                              <m:sty m:val="p"/>
                            </m:rPr>
                            <a:rPr lang="en-US" sz="2800" b="0" i="0" dirty="0" smtClean="0">
                              <a:latin typeface="Cambria Math" panose="02040503050406030204" pitchFamily="18" charset="0"/>
                            </a:rPr>
                            <m:t>n</m:t>
                          </m:r>
                        </m:sub>
                      </m:sSub>
                    </m:oMath>
                  </m:oMathPara>
                </a14:m>
                <a:endParaRPr lang="en-US" sz="2800" dirty="0"/>
              </a:p>
            </p:txBody>
          </p:sp>
        </mc:Choice>
        <mc:Fallback xmlns="">
          <p:sp>
            <p:nvSpPr>
              <p:cNvPr id="37" name="TextBox 36"/>
              <p:cNvSpPr txBox="1">
                <a:spLocks noRot="1" noChangeAspect="1" noMove="1" noResize="1" noEditPoints="1" noAdjustHandles="1" noChangeArrowheads="1" noChangeShapeType="1" noTextEdit="1"/>
              </p:cNvSpPr>
              <p:nvPr/>
            </p:nvSpPr>
            <p:spPr>
              <a:xfrm>
                <a:off x="836665" y="3520451"/>
                <a:ext cx="790482"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p:cNvSpPr txBox="1"/>
              <p:nvPr/>
            </p:nvSpPr>
            <p:spPr>
              <a:xfrm>
                <a:off x="855402" y="4326890"/>
                <a:ext cx="733415"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m:rPr>
                              <m:sty m:val="p"/>
                            </m:rPr>
                            <a:rPr lang="en-US" sz="2800" b="0" i="0" dirty="0" smtClean="0">
                              <a:latin typeface="Cambria Math" panose="02040503050406030204" pitchFamily="18" charset="0"/>
                            </a:rPr>
                            <m:t>P</m:t>
                          </m:r>
                        </m:e>
                        <m:sub>
                          <m:r>
                            <m:rPr>
                              <m:sty m:val="p"/>
                            </m:rPr>
                            <a:rPr lang="en-US" sz="2800" b="0" i="0" dirty="0" smtClean="0">
                              <a:latin typeface="Cambria Math" panose="02040503050406030204" pitchFamily="18" charset="0"/>
                            </a:rPr>
                            <m:t>n</m:t>
                          </m:r>
                        </m:sub>
                      </m:sSub>
                    </m:oMath>
                  </m:oMathPara>
                </a14:m>
                <a:endParaRPr lang="en-US" sz="2800" dirty="0"/>
              </a:p>
            </p:txBody>
          </p:sp>
        </mc:Choice>
        <mc:Fallback xmlns="">
          <p:sp>
            <p:nvSpPr>
              <p:cNvPr id="38" name="TextBox 37"/>
              <p:cNvSpPr txBox="1">
                <a:spLocks noRot="1" noChangeAspect="1" noMove="1" noResize="1" noEditPoints="1" noAdjustHandles="1" noChangeArrowheads="1" noChangeShapeType="1" noTextEdit="1"/>
              </p:cNvSpPr>
              <p:nvPr/>
            </p:nvSpPr>
            <p:spPr>
              <a:xfrm>
                <a:off x="855402" y="4326890"/>
                <a:ext cx="733415" cy="5232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p:cNvSpPr txBox="1"/>
              <p:nvPr/>
            </p:nvSpPr>
            <p:spPr>
              <a:xfrm>
                <a:off x="855402" y="5193632"/>
                <a:ext cx="76116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m:rPr>
                              <m:sty m:val="p"/>
                            </m:rPr>
                            <a:rPr lang="en-US" sz="2800" b="0" i="0" dirty="0" smtClean="0">
                              <a:latin typeface="Cambria Math" panose="02040503050406030204" pitchFamily="18" charset="0"/>
                            </a:rPr>
                            <m:t>S</m:t>
                          </m:r>
                        </m:e>
                        <m:sub>
                          <m:r>
                            <m:rPr>
                              <m:sty m:val="p"/>
                            </m:rPr>
                            <a:rPr lang="en-US" sz="2800" b="0" i="0" dirty="0" smtClean="0">
                              <a:latin typeface="Cambria Math" panose="02040503050406030204" pitchFamily="18" charset="0"/>
                            </a:rPr>
                            <m:t>n</m:t>
                          </m:r>
                        </m:sub>
                      </m:sSub>
                    </m:oMath>
                  </m:oMathPara>
                </a14:m>
                <a:endParaRPr lang="en-US" sz="2800" dirty="0"/>
              </a:p>
            </p:txBody>
          </p:sp>
        </mc:Choice>
        <mc:Fallback xmlns="">
          <p:sp>
            <p:nvSpPr>
              <p:cNvPr id="39" name="TextBox 38"/>
              <p:cNvSpPr txBox="1">
                <a:spLocks noRot="1" noChangeAspect="1" noMove="1" noResize="1" noEditPoints="1" noAdjustHandles="1" noChangeArrowheads="1" noChangeShapeType="1" noTextEdit="1"/>
              </p:cNvSpPr>
              <p:nvPr/>
            </p:nvSpPr>
            <p:spPr>
              <a:xfrm>
                <a:off x="855402" y="5193632"/>
                <a:ext cx="761167" cy="52322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p:cNvSpPr txBox="1"/>
              <p:nvPr/>
            </p:nvSpPr>
            <p:spPr>
              <a:xfrm>
                <a:off x="1657667" y="2536520"/>
                <a:ext cx="2419437" cy="8066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i="1" smtClean="0">
                              <a:solidFill>
                                <a:srgbClr val="FF0000"/>
                              </a:solidFill>
                              <a:latin typeface="Cambria Math" panose="02040503050406030204" pitchFamily="18" charset="0"/>
                            </a:rPr>
                          </m:ctrlPr>
                        </m:fPr>
                        <m:num>
                          <m:r>
                            <m:rPr>
                              <m:sty m:val="p"/>
                            </m:rPr>
                            <a:rPr lang="en-US" sz="2400" b="0" i="0" smtClean="0">
                              <a:solidFill>
                                <a:srgbClr val="FF0000"/>
                              </a:solidFill>
                              <a:latin typeface="Cambria Math" panose="02040503050406030204" pitchFamily="18" charset="0"/>
                            </a:rPr>
                            <m:t>n</m:t>
                          </m:r>
                          <m:d>
                            <m:dPr>
                              <m:ctrlPr>
                                <a:rPr lang="en-US" sz="2400" i="1" smtClean="0">
                                  <a:solidFill>
                                    <a:srgbClr val="FF0000"/>
                                  </a:solidFill>
                                  <a:latin typeface="Cambria Math" panose="02040503050406030204" pitchFamily="18" charset="0"/>
                                </a:rPr>
                              </m:ctrlPr>
                            </m:dPr>
                            <m:e>
                              <m:r>
                                <m:rPr>
                                  <m:sty m:val="p"/>
                                </m:rPr>
                                <a:rPr lang="en-US" sz="2400" b="0" i="0" smtClean="0">
                                  <a:solidFill>
                                    <a:srgbClr val="FF0000"/>
                                  </a:solidFill>
                                  <a:latin typeface="Cambria Math" panose="02040503050406030204" pitchFamily="18" charset="0"/>
                                </a:rPr>
                                <m:t>n</m:t>
                              </m:r>
                              <m:r>
                                <a:rPr lang="en-US" sz="2400" b="0" i="0" smtClean="0">
                                  <a:solidFill>
                                    <a:srgbClr val="FF0000"/>
                                  </a:solidFill>
                                  <a:latin typeface="Cambria Math" panose="02040503050406030204" pitchFamily="18" charset="0"/>
                                </a:rPr>
                                <m:t>−1</m:t>
                              </m:r>
                            </m:e>
                          </m:d>
                        </m:num>
                        <m:den>
                          <m:r>
                            <a:rPr lang="en-US" sz="2400" b="0" i="0" smtClean="0">
                              <a:solidFill>
                                <a:srgbClr val="FF0000"/>
                              </a:solidFill>
                              <a:latin typeface="Cambria Math" panose="02040503050406030204" pitchFamily="18" charset="0"/>
                            </a:rPr>
                            <m:t>2</m:t>
                          </m:r>
                        </m:den>
                      </m:f>
                      <m:r>
                        <a:rPr lang="en-US" sz="2400" b="0" i="0" smtClean="0">
                          <a:solidFill>
                            <a:srgbClr val="FF0000"/>
                          </a:solidFill>
                          <a:latin typeface="Cambria Math" panose="02040503050406030204" pitchFamily="18" charset="0"/>
                        </a:rPr>
                        <m:t>−</m:t>
                      </m:r>
                      <m:r>
                        <m:rPr>
                          <m:sty m:val="p"/>
                        </m:rPr>
                        <a:rPr lang="en-US" sz="2400" b="0" i="0" smtClean="0">
                          <a:solidFill>
                            <a:srgbClr val="FF0000"/>
                          </a:solidFill>
                          <a:latin typeface="Cambria Math" panose="02040503050406030204" pitchFamily="18" charset="0"/>
                        </a:rPr>
                        <m:t>n</m:t>
                      </m:r>
                      <m:r>
                        <a:rPr lang="en-US" sz="2400" b="0" i="0" smtClean="0">
                          <a:solidFill>
                            <a:srgbClr val="FF0000"/>
                          </a:solidFill>
                          <a:latin typeface="Cambria Math" panose="02040503050406030204" pitchFamily="18" charset="0"/>
                        </a:rPr>
                        <m:t>+1</m:t>
                      </m:r>
                    </m:oMath>
                  </m:oMathPara>
                </a14:m>
                <a:endParaRPr lang="en-US" sz="2400" dirty="0">
                  <a:solidFill>
                    <a:srgbClr val="FF0000"/>
                  </a:solidFill>
                </a:endParaRPr>
              </a:p>
            </p:txBody>
          </p:sp>
        </mc:Choice>
        <mc:Fallback xmlns="">
          <p:sp>
            <p:nvSpPr>
              <p:cNvPr id="48" name="TextBox 47"/>
              <p:cNvSpPr txBox="1">
                <a:spLocks noRot="1" noChangeAspect="1" noMove="1" noResize="1" noEditPoints="1" noAdjustHandles="1" noChangeArrowheads="1" noChangeShapeType="1" noTextEdit="1"/>
              </p:cNvSpPr>
              <p:nvPr/>
            </p:nvSpPr>
            <p:spPr>
              <a:xfrm>
                <a:off x="1657667" y="2536520"/>
                <a:ext cx="2419437" cy="806696"/>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p:cNvSpPr txBox="1"/>
              <p:nvPr/>
            </p:nvSpPr>
            <p:spPr>
              <a:xfrm>
                <a:off x="1666418" y="3536905"/>
                <a:ext cx="148333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solidFill>
                            <a:srgbClr val="FF0000"/>
                          </a:solidFill>
                          <a:latin typeface="Cambria Math" panose="02040503050406030204" pitchFamily="18" charset="0"/>
                        </a:rPr>
                        <m:t>n</m:t>
                      </m:r>
                      <m:r>
                        <a:rPr lang="en-US" sz="2400" b="0" i="0" smtClean="0">
                          <a:solidFill>
                            <a:srgbClr val="FF0000"/>
                          </a:solidFill>
                          <a:latin typeface="Cambria Math" panose="02040503050406030204" pitchFamily="18" charset="0"/>
                        </a:rPr>
                        <m:t>−</m:t>
                      </m:r>
                      <m:r>
                        <m:rPr>
                          <m:sty m:val="p"/>
                        </m:rPr>
                        <a:rPr lang="en-US" sz="2400" b="0" i="0" smtClean="0">
                          <a:solidFill>
                            <a:srgbClr val="FF0000"/>
                          </a:solidFill>
                          <a:latin typeface="Cambria Math" panose="02040503050406030204" pitchFamily="18" charset="0"/>
                        </a:rPr>
                        <m:t>n</m:t>
                      </m:r>
                      <m:r>
                        <a:rPr lang="en-US" sz="2400" b="0" i="0" smtClean="0">
                          <a:solidFill>
                            <a:srgbClr val="FF0000"/>
                          </a:solidFill>
                          <a:latin typeface="Cambria Math" panose="02040503050406030204" pitchFamily="18" charset="0"/>
                        </a:rPr>
                        <m:t>+1</m:t>
                      </m:r>
                    </m:oMath>
                  </m:oMathPara>
                </a14:m>
                <a:endParaRPr lang="en-US" sz="2400" dirty="0">
                  <a:solidFill>
                    <a:srgbClr val="FF0000"/>
                  </a:solidFill>
                </a:endParaRPr>
              </a:p>
            </p:txBody>
          </p:sp>
        </mc:Choice>
        <mc:Fallback xmlns="">
          <p:sp>
            <p:nvSpPr>
              <p:cNvPr id="49" name="TextBox 48"/>
              <p:cNvSpPr txBox="1">
                <a:spLocks noRot="1" noChangeAspect="1" noMove="1" noResize="1" noEditPoints="1" noAdjustHandles="1" noChangeArrowheads="1" noChangeShapeType="1" noTextEdit="1"/>
              </p:cNvSpPr>
              <p:nvPr/>
            </p:nvSpPr>
            <p:spPr>
              <a:xfrm>
                <a:off x="1666418" y="3536905"/>
                <a:ext cx="1483333" cy="461665"/>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p:cNvSpPr txBox="1"/>
              <p:nvPr/>
            </p:nvSpPr>
            <p:spPr>
              <a:xfrm>
                <a:off x="1697281" y="4342092"/>
                <a:ext cx="201622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solidFill>
                            <a:srgbClr val="FF0000"/>
                          </a:solidFill>
                          <a:latin typeface="Cambria Math" panose="02040503050406030204" pitchFamily="18" charset="0"/>
                        </a:rPr>
                        <m:t>n</m:t>
                      </m:r>
                      <m:r>
                        <a:rPr lang="en-US" sz="2400" b="0" i="0" smtClean="0">
                          <a:solidFill>
                            <a:srgbClr val="FF0000"/>
                          </a:solidFill>
                          <a:latin typeface="Cambria Math" panose="02040503050406030204" pitchFamily="18" charset="0"/>
                        </a:rPr>
                        <m:t>−1−</m:t>
                      </m:r>
                      <m:r>
                        <m:rPr>
                          <m:sty m:val="p"/>
                        </m:rPr>
                        <a:rPr lang="en-US" sz="2400" b="0" i="0" smtClean="0">
                          <a:solidFill>
                            <a:srgbClr val="FF0000"/>
                          </a:solidFill>
                          <a:latin typeface="Cambria Math" panose="02040503050406030204" pitchFamily="18" charset="0"/>
                        </a:rPr>
                        <m:t>n</m:t>
                      </m:r>
                      <m:r>
                        <a:rPr lang="en-US" sz="2400" b="0" i="0" smtClean="0">
                          <a:solidFill>
                            <a:srgbClr val="FF0000"/>
                          </a:solidFill>
                          <a:latin typeface="Cambria Math" panose="02040503050406030204" pitchFamily="18" charset="0"/>
                        </a:rPr>
                        <m:t>+1</m:t>
                      </m:r>
                    </m:oMath>
                  </m:oMathPara>
                </a14:m>
                <a:endParaRPr lang="en-US" sz="2400" dirty="0">
                  <a:solidFill>
                    <a:srgbClr val="FF0000"/>
                  </a:solidFill>
                </a:endParaRPr>
              </a:p>
            </p:txBody>
          </p:sp>
        </mc:Choice>
        <mc:Fallback xmlns="">
          <p:sp>
            <p:nvSpPr>
              <p:cNvPr id="50" name="TextBox 49"/>
              <p:cNvSpPr txBox="1">
                <a:spLocks noRot="1" noChangeAspect="1" noMove="1" noResize="1" noEditPoints="1" noAdjustHandles="1" noChangeArrowheads="1" noChangeShapeType="1" noTextEdit="1"/>
              </p:cNvSpPr>
              <p:nvPr/>
            </p:nvSpPr>
            <p:spPr>
              <a:xfrm>
                <a:off x="1697281" y="4342092"/>
                <a:ext cx="2016224" cy="461665"/>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Box 50"/>
              <p:cNvSpPr txBox="1"/>
              <p:nvPr/>
            </p:nvSpPr>
            <p:spPr>
              <a:xfrm>
                <a:off x="1697282" y="5280223"/>
                <a:ext cx="1987389"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solidFill>
                            <a:srgbClr val="FF0000"/>
                          </a:solidFill>
                          <a:latin typeface="Cambria Math" panose="02040503050406030204" pitchFamily="18" charset="0"/>
                        </a:rPr>
                        <m:t>n</m:t>
                      </m:r>
                      <m:r>
                        <a:rPr lang="en-US" sz="2400" b="0" i="0" smtClean="0">
                          <a:solidFill>
                            <a:srgbClr val="FF0000"/>
                          </a:solidFill>
                          <a:latin typeface="Cambria Math" panose="02040503050406030204" pitchFamily="18" charset="0"/>
                        </a:rPr>
                        <m:t>−1−</m:t>
                      </m:r>
                      <m:r>
                        <m:rPr>
                          <m:sty m:val="p"/>
                        </m:rPr>
                        <a:rPr lang="en-US" sz="2400" b="0" i="0" smtClean="0">
                          <a:solidFill>
                            <a:srgbClr val="FF0000"/>
                          </a:solidFill>
                          <a:latin typeface="Cambria Math" panose="02040503050406030204" pitchFamily="18" charset="0"/>
                        </a:rPr>
                        <m:t>n</m:t>
                      </m:r>
                      <m:r>
                        <a:rPr lang="en-US" sz="2400" b="0" i="0" smtClean="0">
                          <a:solidFill>
                            <a:srgbClr val="FF0000"/>
                          </a:solidFill>
                          <a:latin typeface="Cambria Math" panose="02040503050406030204" pitchFamily="18" charset="0"/>
                        </a:rPr>
                        <m:t>+1</m:t>
                      </m:r>
                    </m:oMath>
                  </m:oMathPara>
                </a14:m>
                <a:endParaRPr lang="en-US" sz="2400" dirty="0">
                  <a:solidFill>
                    <a:srgbClr val="FF0000"/>
                  </a:solidFill>
                </a:endParaRPr>
              </a:p>
            </p:txBody>
          </p:sp>
        </mc:Choice>
        <mc:Fallback xmlns="">
          <p:sp>
            <p:nvSpPr>
              <p:cNvPr id="51" name="TextBox 50"/>
              <p:cNvSpPr txBox="1">
                <a:spLocks noRot="1" noChangeAspect="1" noMove="1" noResize="1" noEditPoints="1" noAdjustHandles="1" noChangeArrowheads="1" noChangeShapeType="1" noTextEdit="1"/>
              </p:cNvSpPr>
              <p:nvPr/>
            </p:nvSpPr>
            <p:spPr>
              <a:xfrm>
                <a:off x="1697282" y="5280223"/>
                <a:ext cx="1987389" cy="461665"/>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p:cNvSpPr txBox="1"/>
              <p:nvPr/>
            </p:nvSpPr>
            <p:spPr>
              <a:xfrm>
                <a:off x="3979461" y="2536520"/>
                <a:ext cx="2525207" cy="8404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0" smtClean="0">
                          <a:solidFill>
                            <a:srgbClr val="FF0000"/>
                          </a:solidFill>
                          <a:latin typeface="Cambria Math" panose="02040503050406030204" pitchFamily="18" charset="0"/>
                        </a:rPr>
                        <m:t>=</m:t>
                      </m:r>
                      <m:f>
                        <m:fPr>
                          <m:ctrlPr>
                            <a:rPr lang="en-US" sz="2400" i="1" smtClean="0">
                              <a:solidFill>
                                <a:srgbClr val="FF0000"/>
                              </a:solidFill>
                              <a:latin typeface="Cambria Math" panose="02040503050406030204" pitchFamily="18" charset="0"/>
                            </a:rPr>
                          </m:ctrlPr>
                        </m:fPr>
                        <m:num>
                          <m:sSup>
                            <m:sSupPr>
                              <m:ctrlPr>
                                <a:rPr lang="en-US" sz="2400" i="1" smtClean="0">
                                  <a:solidFill>
                                    <a:srgbClr val="FF0000"/>
                                  </a:solidFill>
                                  <a:latin typeface="Cambria Math" panose="02040503050406030204" pitchFamily="18" charset="0"/>
                                </a:rPr>
                              </m:ctrlPr>
                            </m:sSupPr>
                            <m:e>
                              <m:r>
                                <m:rPr>
                                  <m:sty m:val="p"/>
                                </m:rPr>
                                <a:rPr lang="en-US" sz="2400" b="0" i="0" smtClean="0">
                                  <a:solidFill>
                                    <a:srgbClr val="FF0000"/>
                                  </a:solidFill>
                                  <a:latin typeface="Cambria Math" panose="02040503050406030204" pitchFamily="18" charset="0"/>
                                </a:rPr>
                                <m:t>n</m:t>
                              </m:r>
                            </m:e>
                            <m:sup>
                              <m:r>
                                <a:rPr lang="en-US" sz="2400" b="0" i="0" smtClean="0">
                                  <a:solidFill>
                                    <a:srgbClr val="FF0000"/>
                                  </a:solidFill>
                                  <a:latin typeface="Cambria Math" panose="02040503050406030204" pitchFamily="18" charset="0"/>
                                </a:rPr>
                                <m:t>2</m:t>
                              </m:r>
                            </m:sup>
                          </m:sSup>
                          <m:r>
                            <a:rPr lang="en-US" sz="2400" b="0" i="0" smtClean="0">
                              <a:solidFill>
                                <a:srgbClr val="FF0000"/>
                              </a:solidFill>
                              <a:latin typeface="Cambria Math" panose="02040503050406030204" pitchFamily="18" charset="0"/>
                            </a:rPr>
                            <m:t>−</m:t>
                          </m:r>
                          <m:r>
                            <m:rPr>
                              <m:sty m:val="p"/>
                            </m:rPr>
                            <a:rPr lang="en-US" sz="2400" b="0" i="0" smtClean="0">
                              <a:solidFill>
                                <a:srgbClr val="FF0000"/>
                              </a:solidFill>
                              <a:latin typeface="Cambria Math" panose="02040503050406030204" pitchFamily="18" charset="0"/>
                            </a:rPr>
                            <m:t>n</m:t>
                          </m:r>
                          <m:r>
                            <a:rPr lang="en-US" sz="2400" b="0" i="0" smtClean="0">
                              <a:solidFill>
                                <a:srgbClr val="FF0000"/>
                              </a:solidFill>
                              <a:latin typeface="Cambria Math" panose="02040503050406030204" pitchFamily="18" charset="0"/>
                            </a:rPr>
                            <m:t>−2</m:t>
                          </m:r>
                          <m:r>
                            <m:rPr>
                              <m:sty m:val="p"/>
                            </m:rPr>
                            <a:rPr lang="en-US" sz="2400" b="0" i="0" smtClean="0">
                              <a:solidFill>
                                <a:srgbClr val="FF0000"/>
                              </a:solidFill>
                              <a:latin typeface="Cambria Math" panose="02040503050406030204" pitchFamily="18" charset="0"/>
                            </a:rPr>
                            <m:t>n</m:t>
                          </m:r>
                          <m:r>
                            <a:rPr lang="en-US" sz="2400" b="0" i="0" smtClean="0">
                              <a:solidFill>
                                <a:srgbClr val="FF0000"/>
                              </a:solidFill>
                              <a:latin typeface="Cambria Math" panose="02040503050406030204" pitchFamily="18" charset="0"/>
                            </a:rPr>
                            <m:t>−2</m:t>
                          </m:r>
                        </m:num>
                        <m:den>
                          <m:r>
                            <a:rPr lang="en-US" sz="2400" b="0" i="0" smtClean="0">
                              <a:solidFill>
                                <a:srgbClr val="FF0000"/>
                              </a:solidFill>
                              <a:latin typeface="Cambria Math" panose="02040503050406030204" pitchFamily="18" charset="0"/>
                            </a:rPr>
                            <m:t>2</m:t>
                          </m:r>
                        </m:den>
                      </m:f>
                    </m:oMath>
                  </m:oMathPara>
                </a14:m>
                <a:endParaRPr lang="en-US" sz="2400" dirty="0">
                  <a:solidFill>
                    <a:srgbClr val="FF0000"/>
                  </a:solidFill>
                </a:endParaRPr>
              </a:p>
            </p:txBody>
          </p:sp>
        </mc:Choice>
        <mc:Fallback xmlns="">
          <p:sp>
            <p:nvSpPr>
              <p:cNvPr id="52" name="TextBox 51"/>
              <p:cNvSpPr txBox="1">
                <a:spLocks noRot="1" noChangeAspect="1" noMove="1" noResize="1" noEditPoints="1" noAdjustHandles="1" noChangeArrowheads="1" noChangeShapeType="1" noTextEdit="1"/>
              </p:cNvSpPr>
              <p:nvPr/>
            </p:nvSpPr>
            <p:spPr>
              <a:xfrm>
                <a:off x="3979461" y="2536520"/>
                <a:ext cx="2525207" cy="840486"/>
              </a:xfrm>
              <a:prstGeom prst="rect">
                <a:avLst/>
              </a:prstGeom>
              <a:blipFill rotWithShape="0">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p:cNvSpPr txBox="1"/>
              <p:nvPr/>
            </p:nvSpPr>
            <p:spPr>
              <a:xfrm>
                <a:off x="6482600" y="2539167"/>
                <a:ext cx="2165918" cy="84048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0" smtClean="0">
                          <a:solidFill>
                            <a:srgbClr val="FF0000"/>
                          </a:solidFill>
                          <a:latin typeface="Cambria Math" panose="02040503050406030204" pitchFamily="18" charset="0"/>
                        </a:rPr>
                        <m:t>=</m:t>
                      </m:r>
                      <m:f>
                        <m:fPr>
                          <m:ctrlPr>
                            <a:rPr lang="en-US" sz="2400" i="1" smtClean="0">
                              <a:solidFill>
                                <a:srgbClr val="FF0000"/>
                              </a:solidFill>
                              <a:latin typeface="Cambria Math" panose="02040503050406030204" pitchFamily="18" charset="0"/>
                            </a:rPr>
                          </m:ctrlPr>
                        </m:fPr>
                        <m:num>
                          <m:sSup>
                            <m:sSupPr>
                              <m:ctrlPr>
                                <a:rPr lang="en-US" sz="2400" i="1" smtClean="0">
                                  <a:solidFill>
                                    <a:srgbClr val="FF0000"/>
                                  </a:solidFill>
                                  <a:latin typeface="Cambria Math" panose="02040503050406030204" pitchFamily="18" charset="0"/>
                                </a:rPr>
                              </m:ctrlPr>
                            </m:sSupPr>
                            <m:e>
                              <m:r>
                                <m:rPr>
                                  <m:sty m:val="p"/>
                                </m:rPr>
                                <a:rPr lang="en-US" sz="2400" b="0" i="0" smtClean="0">
                                  <a:solidFill>
                                    <a:srgbClr val="FF0000"/>
                                  </a:solidFill>
                                  <a:latin typeface="Cambria Math" panose="02040503050406030204" pitchFamily="18" charset="0"/>
                                </a:rPr>
                                <m:t>n</m:t>
                              </m:r>
                            </m:e>
                            <m:sup>
                              <m:r>
                                <a:rPr lang="en-US" sz="2400" b="0" i="0" smtClean="0">
                                  <a:solidFill>
                                    <a:srgbClr val="FF0000"/>
                                  </a:solidFill>
                                  <a:latin typeface="Cambria Math" panose="02040503050406030204" pitchFamily="18" charset="0"/>
                                </a:rPr>
                                <m:t>2</m:t>
                              </m:r>
                            </m:sup>
                          </m:sSup>
                          <m:r>
                            <a:rPr lang="en-US" sz="2400" b="0" i="0" smtClean="0">
                              <a:solidFill>
                                <a:srgbClr val="FF0000"/>
                              </a:solidFill>
                              <a:latin typeface="Cambria Math" panose="02040503050406030204" pitchFamily="18" charset="0"/>
                            </a:rPr>
                            <m:t>−3</m:t>
                          </m:r>
                          <m:r>
                            <m:rPr>
                              <m:sty m:val="p"/>
                            </m:rPr>
                            <a:rPr lang="en-US" sz="2400" b="0" i="0" smtClean="0">
                              <a:solidFill>
                                <a:srgbClr val="FF0000"/>
                              </a:solidFill>
                              <a:latin typeface="Cambria Math" panose="02040503050406030204" pitchFamily="18" charset="0"/>
                            </a:rPr>
                            <m:t>n</m:t>
                          </m:r>
                          <m:r>
                            <a:rPr lang="en-US" sz="2400" b="0" i="0" smtClean="0">
                              <a:solidFill>
                                <a:srgbClr val="FF0000"/>
                              </a:solidFill>
                              <a:latin typeface="Cambria Math" panose="02040503050406030204" pitchFamily="18" charset="0"/>
                            </a:rPr>
                            <m:t>−2</m:t>
                          </m:r>
                        </m:num>
                        <m:den>
                          <m:r>
                            <a:rPr lang="en-US" sz="2400" b="0" i="0" smtClean="0">
                              <a:solidFill>
                                <a:srgbClr val="FF0000"/>
                              </a:solidFill>
                              <a:latin typeface="Cambria Math" panose="02040503050406030204" pitchFamily="18" charset="0"/>
                            </a:rPr>
                            <m:t>2</m:t>
                          </m:r>
                        </m:den>
                      </m:f>
                    </m:oMath>
                  </m:oMathPara>
                </a14:m>
                <a:endParaRPr lang="en-US" sz="2400" dirty="0">
                  <a:solidFill>
                    <a:srgbClr val="FF0000"/>
                  </a:solidFill>
                </a:endParaRPr>
              </a:p>
            </p:txBody>
          </p:sp>
        </mc:Choice>
        <mc:Fallback xmlns="">
          <p:sp>
            <p:nvSpPr>
              <p:cNvPr id="53" name="TextBox 52"/>
              <p:cNvSpPr txBox="1">
                <a:spLocks noRot="1" noChangeAspect="1" noMove="1" noResize="1" noEditPoints="1" noAdjustHandles="1" noChangeArrowheads="1" noChangeShapeType="1" noTextEdit="1"/>
              </p:cNvSpPr>
              <p:nvPr/>
            </p:nvSpPr>
            <p:spPr>
              <a:xfrm>
                <a:off x="6482600" y="2539167"/>
                <a:ext cx="2165918" cy="840486"/>
              </a:xfrm>
              <a:prstGeom prst="rect">
                <a:avLst/>
              </a:prstGeom>
              <a:blipFill rotWithShape="0">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p:cNvSpPr txBox="1"/>
              <p:nvPr/>
            </p:nvSpPr>
            <p:spPr>
              <a:xfrm>
                <a:off x="8616965" y="2532031"/>
                <a:ext cx="2534692" cy="81567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FF0000"/>
                          </a:solidFill>
                          <a:latin typeface="Cambria Math" panose="02040503050406030204" pitchFamily="18" charset="0"/>
                        </a:rPr>
                        <m:t>=</m:t>
                      </m:r>
                      <m:f>
                        <m:fPr>
                          <m:ctrlPr>
                            <a:rPr lang="en-US" sz="2400" i="1" smtClean="0">
                              <a:solidFill>
                                <a:srgbClr val="FF0000"/>
                              </a:solidFill>
                              <a:latin typeface="Cambria Math" panose="02040503050406030204" pitchFamily="18" charset="0"/>
                            </a:rPr>
                          </m:ctrlPr>
                        </m:fPr>
                        <m:num>
                          <m:d>
                            <m:dPr>
                              <m:ctrlPr>
                                <a:rPr lang="en-US" sz="2400" i="1" smtClean="0">
                                  <a:solidFill>
                                    <a:srgbClr val="FF0000"/>
                                  </a:solidFill>
                                  <a:latin typeface="Cambria Math" panose="02040503050406030204" pitchFamily="18" charset="0"/>
                                </a:rPr>
                              </m:ctrlPr>
                            </m:dPr>
                            <m:e>
                              <m:r>
                                <m:rPr>
                                  <m:sty m:val="p"/>
                                </m:rPr>
                                <a:rPr lang="en-US" sz="2400" b="0" i="0" smtClean="0">
                                  <a:solidFill>
                                    <a:srgbClr val="FF0000"/>
                                  </a:solidFill>
                                  <a:latin typeface="Cambria Math" panose="02040503050406030204" pitchFamily="18" charset="0"/>
                                </a:rPr>
                                <m:t>n</m:t>
                              </m:r>
                              <m:r>
                                <a:rPr lang="en-US" sz="2400" b="0" i="0" smtClean="0">
                                  <a:solidFill>
                                    <a:srgbClr val="FF0000"/>
                                  </a:solidFill>
                                  <a:latin typeface="Cambria Math" panose="02040503050406030204" pitchFamily="18" charset="0"/>
                                </a:rPr>
                                <m:t>−2</m:t>
                              </m:r>
                            </m:e>
                          </m:d>
                          <m:d>
                            <m:dPr>
                              <m:ctrlPr>
                                <a:rPr lang="en-US" sz="2400" i="1" smtClean="0">
                                  <a:solidFill>
                                    <a:srgbClr val="FF0000"/>
                                  </a:solidFill>
                                  <a:latin typeface="Cambria Math" panose="02040503050406030204" pitchFamily="18" charset="0"/>
                                </a:rPr>
                              </m:ctrlPr>
                            </m:dPr>
                            <m:e>
                              <m:r>
                                <m:rPr>
                                  <m:sty m:val="p"/>
                                </m:rPr>
                                <a:rPr lang="en-US" sz="2400" b="0" i="0" smtClean="0">
                                  <a:solidFill>
                                    <a:srgbClr val="FF0000"/>
                                  </a:solidFill>
                                  <a:latin typeface="Cambria Math" panose="02040503050406030204" pitchFamily="18" charset="0"/>
                                </a:rPr>
                                <m:t>n</m:t>
                              </m:r>
                              <m:r>
                                <a:rPr lang="en-US" sz="2400" b="0" i="0" smtClean="0">
                                  <a:solidFill>
                                    <a:srgbClr val="FF0000"/>
                                  </a:solidFill>
                                  <a:latin typeface="Cambria Math" panose="02040503050406030204" pitchFamily="18" charset="0"/>
                                </a:rPr>
                                <m:t>−1</m:t>
                              </m:r>
                            </m:e>
                          </m:d>
                        </m:num>
                        <m:den>
                          <m:r>
                            <a:rPr lang="en-US" sz="2400" b="0" i="0" smtClean="0">
                              <a:solidFill>
                                <a:srgbClr val="FF0000"/>
                              </a:solidFill>
                              <a:latin typeface="Cambria Math" panose="02040503050406030204" pitchFamily="18" charset="0"/>
                            </a:rPr>
                            <m:t>2</m:t>
                          </m:r>
                        </m:den>
                      </m:f>
                    </m:oMath>
                  </m:oMathPara>
                </a14:m>
                <a:endParaRPr lang="en-US" sz="2400" dirty="0">
                  <a:solidFill>
                    <a:srgbClr val="FF0000"/>
                  </a:solidFill>
                </a:endParaRPr>
              </a:p>
            </p:txBody>
          </p:sp>
        </mc:Choice>
        <mc:Fallback xmlns="">
          <p:sp>
            <p:nvSpPr>
              <p:cNvPr id="54" name="TextBox 53"/>
              <p:cNvSpPr txBox="1">
                <a:spLocks noRot="1" noChangeAspect="1" noMove="1" noResize="1" noEditPoints="1" noAdjustHandles="1" noChangeArrowheads="1" noChangeShapeType="1" noTextEdit="1"/>
              </p:cNvSpPr>
              <p:nvPr/>
            </p:nvSpPr>
            <p:spPr>
              <a:xfrm>
                <a:off x="8616965" y="2532031"/>
                <a:ext cx="2534692" cy="815673"/>
              </a:xfrm>
              <a:prstGeom prst="rect">
                <a:avLst/>
              </a:prstGeom>
              <a:blipFill rotWithShape="0">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p:cNvSpPr txBox="1"/>
              <p:nvPr/>
            </p:nvSpPr>
            <p:spPr>
              <a:xfrm>
                <a:off x="3005735" y="3520451"/>
                <a:ext cx="715268"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a:solidFill>
                            <a:srgbClr val="FF0000"/>
                          </a:solidFill>
                          <a:latin typeface="Cambria Math" panose="02040503050406030204" pitchFamily="18" charset="0"/>
                        </a:rPr>
                        <m:t>=</m:t>
                      </m:r>
                      <m:r>
                        <a:rPr lang="en-US" sz="2400" b="0" i="0" smtClean="0">
                          <a:solidFill>
                            <a:srgbClr val="FF0000"/>
                          </a:solidFill>
                          <a:latin typeface="Cambria Math" panose="02040503050406030204" pitchFamily="18" charset="0"/>
                        </a:rPr>
                        <m:t>1</m:t>
                      </m:r>
                    </m:oMath>
                  </m:oMathPara>
                </a14:m>
                <a:endParaRPr lang="en-US" sz="2400" dirty="0">
                  <a:solidFill>
                    <a:srgbClr val="FF0000"/>
                  </a:solidFill>
                </a:endParaRPr>
              </a:p>
            </p:txBody>
          </p:sp>
        </mc:Choice>
        <mc:Fallback xmlns="">
          <p:sp>
            <p:nvSpPr>
              <p:cNvPr id="55" name="TextBox 54"/>
              <p:cNvSpPr txBox="1">
                <a:spLocks noRot="1" noChangeAspect="1" noMove="1" noResize="1" noEditPoints="1" noAdjustHandles="1" noChangeArrowheads="1" noChangeShapeType="1" noTextEdit="1"/>
              </p:cNvSpPr>
              <p:nvPr/>
            </p:nvSpPr>
            <p:spPr>
              <a:xfrm>
                <a:off x="3005735" y="3520451"/>
                <a:ext cx="715268" cy="461665"/>
              </a:xfrm>
              <a:prstGeom prst="rect">
                <a:avLst/>
              </a:prstGeom>
              <a:blipFill rotWithShape="0">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p:cNvSpPr txBox="1"/>
              <p:nvPr/>
            </p:nvSpPr>
            <p:spPr>
              <a:xfrm>
                <a:off x="3543507" y="4342092"/>
                <a:ext cx="645219"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0" smtClean="0">
                          <a:solidFill>
                            <a:srgbClr val="FF0000"/>
                          </a:solidFill>
                          <a:latin typeface="Cambria Math" panose="02040503050406030204" pitchFamily="18" charset="0"/>
                        </a:rPr>
                        <m:t>=0</m:t>
                      </m:r>
                    </m:oMath>
                  </m:oMathPara>
                </a14:m>
                <a:endParaRPr lang="en-US" sz="2400" dirty="0">
                  <a:solidFill>
                    <a:srgbClr val="FF0000"/>
                  </a:solidFill>
                </a:endParaRPr>
              </a:p>
            </p:txBody>
          </p:sp>
        </mc:Choice>
        <mc:Fallback xmlns="">
          <p:sp>
            <p:nvSpPr>
              <p:cNvPr id="56" name="TextBox 55"/>
              <p:cNvSpPr txBox="1">
                <a:spLocks noRot="1" noChangeAspect="1" noMove="1" noResize="1" noEditPoints="1" noAdjustHandles="1" noChangeArrowheads="1" noChangeShapeType="1" noTextEdit="1"/>
              </p:cNvSpPr>
              <p:nvPr/>
            </p:nvSpPr>
            <p:spPr>
              <a:xfrm>
                <a:off x="3543507" y="4342092"/>
                <a:ext cx="645219" cy="461665"/>
              </a:xfrm>
              <a:prstGeom prst="rect">
                <a:avLst/>
              </a:prstGeom>
              <a:blipFill rotWithShape="0">
                <a:blip r:embed="rId15"/>
                <a:stretch>
                  <a:fillRect r="-56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p:cNvSpPr txBox="1"/>
              <p:nvPr/>
            </p:nvSpPr>
            <p:spPr>
              <a:xfrm>
                <a:off x="3543507" y="5280222"/>
                <a:ext cx="645219"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0" smtClean="0">
                          <a:solidFill>
                            <a:srgbClr val="FF0000"/>
                          </a:solidFill>
                          <a:latin typeface="Cambria Math" panose="02040503050406030204" pitchFamily="18" charset="0"/>
                        </a:rPr>
                        <m:t>=0</m:t>
                      </m:r>
                    </m:oMath>
                  </m:oMathPara>
                </a14:m>
                <a:endParaRPr lang="en-US" sz="2400" dirty="0">
                  <a:solidFill>
                    <a:srgbClr val="FF0000"/>
                  </a:solidFill>
                </a:endParaRPr>
              </a:p>
            </p:txBody>
          </p:sp>
        </mc:Choice>
        <mc:Fallback xmlns="">
          <p:sp>
            <p:nvSpPr>
              <p:cNvPr id="57" name="TextBox 56"/>
              <p:cNvSpPr txBox="1">
                <a:spLocks noRot="1" noChangeAspect="1" noMove="1" noResize="1" noEditPoints="1" noAdjustHandles="1" noChangeArrowheads="1" noChangeShapeType="1" noTextEdit="1"/>
              </p:cNvSpPr>
              <p:nvPr/>
            </p:nvSpPr>
            <p:spPr>
              <a:xfrm>
                <a:off x="3543507" y="5280222"/>
                <a:ext cx="645219" cy="461665"/>
              </a:xfrm>
              <a:prstGeom prst="rect">
                <a:avLst/>
              </a:prstGeom>
              <a:blipFill rotWithShape="0">
                <a:blip r:embed="rId16"/>
                <a:stretch>
                  <a:fillRect r="-5660"/>
                </a:stretch>
              </a:blipFill>
            </p:spPr>
            <p:txBody>
              <a:bodyPr/>
              <a:lstStyle/>
              <a:p>
                <a:r>
                  <a:rPr lang="en-US">
                    <a:noFill/>
                  </a:rPr>
                  <a:t> </a:t>
                </a:r>
              </a:p>
            </p:txBody>
          </p:sp>
        </mc:Fallback>
      </mc:AlternateContent>
    </p:spTree>
    <p:extLst>
      <p:ext uri="{BB962C8B-B14F-4D97-AF65-F5344CB8AC3E}">
        <p14:creationId xmlns:p14="http://schemas.microsoft.com/office/powerpoint/2010/main" val="30924295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p:bldP spid="50" grpId="0"/>
      <p:bldP spid="51" grpId="0"/>
      <p:bldP spid="52" grpId="0"/>
      <p:bldP spid="53" grpId="0"/>
      <p:bldP spid="54" grpId="0"/>
      <p:bldP spid="55" grpId="0"/>
      <p:bldP spid="56" grpId="0"/>
      <p:bldP spid="57"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635C8299-099D-4E74-A7B7-29B2E1FD450E}"/>
              </a:ext>
            </a:extLst>
          </p:cNvPr>
          <p:cNvSpPr txBox="1">
            <a:spLocks/>
          </p:cNvSpPr>
          <p:nvPr/>
        </p:nvSpPr>
        <p:spPr>
          <a:xfrm>
            <a:off x="113592" y="765914"/>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3 ⇝ Example 2(Cont.)</a:t>
            </a:r>
            <a:endParaRPr lang="en-US" dirty="0"/>
          </a:p>
        </p:txBody>
      </p:sp>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1861047020"/>
                  </p:ext>
                </p:extLst>
              </p:nvPr>
            </p:nvGraphicFramePr>
            <p:xfrm>
              <a:off x="2350785" y="1603912"/>
              <a:ext cx="5761438" cy="4057336"/>
            </p:xfrm>
            <a:graphic>
              <a:graphicData uri="http://schemas.openxmlformats.org/drawingml/2006/table">
                <a:tbl>
                  <a:tblPr firstRow="1" bandRow="1">
                    <a:tableStyleId>{5C22544A-7EE6-4342-B048-85BDC9FD1C3A}</a:tableStyleId>
                  </a:tblPr>
                  <a:tblGrid>
                    <a:gridCol w="1224935">
                      <a:extLst>
                        <a:ext uri="{9D8B030D-6E8A-4147-A177-3AD203B41FA5}">
                          <a16:colId xmlns:a16="http://schemas.microsoft.com/office/drawing/2014/main" val="20000"/>
                        </a:ext>
                      </a:extLst>
                    </a:gridCol>
                    <a:gridCol w="1440160">
                      <a:extLst>
                        <a:ext uri="{9D8B030D-6E8A-4147-A177-3AD203B41FA5}">
                          <a16:colId xmlns:a16="http://schemas.microsoft.com/office/drawing/2014/main" val="20001"/>
                        </a:ext>
                      </a:extLst>
                    </a:gridCol>
                    <a:gridCol w="3096343">
                      <a:extLst>
                        <a:ext uri="{9D8B030D-6E8A-4147-A177-3AD203B41FA5}">
                          <a16:colId xmlns:a16="http://schemas.microsoft.com/office/drawing/2014/main" val="20002"/>
                        </a:ext>
                      </a:extLst>
                    </a:gridCol>
                  </a:tblGrid>
                  <a:tr h="792088">
                    <a:tc>
                      <a:txBody>
                        <a:bodyPr/>
                        <a:lstStyle/>
                        <a:p>
                          <a:pPr algn="ctr"/>
                          <a:r>
                            <a:rPr lang="en-US" sz="2400" i="0" dirty="0"/>
                            <a:t>Graph </a:t>
                          </a:r>
                        </a:p>
                      </a:txBody>
                      <a:tcPr/>
                    </a:tc>
                    <a:tc>
                      <a:txBody>
                        <a:bodyPr/>
                        <a:lstStyle/>
                        <a:p>
                          <a:pPr algn="ctr"/>
                          <a:r>
                            <a:rPr lang="en-US" sz="2400" dirty="0"/>
                            <a:t>Rank</a:t>
                          </a:r>
                          <a:r>
                            <a:rPr lang="en-US" sz="2400" baseline="0" dirty="0"/>
                            <a:t> </a:t>
                          </a:r>
                          <a:endParaRPr lang="en-US" sz="2400" dirty="0"/>
                        </a:p>
                      </a:txBody>
                      <a:tcPr/>
                    </a:tc>
                    <a:tc>
                      <a:txBody>
                        <a:bodyPr/>
                        <a:lstStyle/>
                        <a:p>
                          <a:pPr algn="ctr"/>
                          <a:r>
                            <a:rPr lang="en-US" sz="2400" dirty="0"/>
                            <a:t>Nullity (</a:t>
                          </a:r>
                          <a14:m>
                            <m:oMath xmlns:m="http://schemas.openxmlformats.org/officeDocument/2006/math">
                              <m:r>
                                <m:rPr>
                                  <m:sty m:val="p"/>
                                </m:rPr>
                                <a:rPr lang="en-US" sz="2400" i="0" dirty="0" smtClean="0">
                                  <a:latin typeface="Cambria Math" panose="02040503050406030204" pitchFamily="18" charset="0"/>
                                </a:rPr>
                                <m:t>e</m:t>
                              </m:r>
                              <m:r>
                                <a:rPr lang="en-US" sz="2400" i="0" dirty="0" smtClean="0">
                                  <a:latin typeface="Cambria Math" panose="02040503050406030204" pitchFamily="18" charset="0"/>
                                </a:rPr>
                                <m:t>−</m:t>
                              </m:r>
                              <m:r>
                                <m:rPr>
                                  <m:sty m:val="p"/>
                                </m:rPr>
                                <a:rPr lang="en-US" sz="2400" i="0" dirty="0" smtClean="0">
                                  <a:latin typeface="Cambria Math" panose="02040503050406030204" pitchFamily="18" charset="0"/>
                                </a:rPr>
                                <m:t>n</m:t>
                              </m:r>
                              <m:r>
                                <a:rPr lang="en-US" sz="2400" i="0" dirty="0" smtClean="0">
                                  <a:latin typeface="Cambria Math" panose="02040503050406030204" pitchFamily="18" charset="0"/>
                                </a:rPr>
                                <m:t>+1</m:t>
                              </m:r>
                            </m:oMath>
                          </a14:m>
                          <a:r>
                            <a:rPr lang="en-US" sz="2400" dirty="0"/>
                            <a:t>)</a:t>
                          </a:r>
                        </a:p>
                      </a:txBody>
                      <a:tcPr/>
                    </a:tc>
                    <a:extLst>
                      <a:ext uri="{0D108BD9-81ED-4DB2-BD59-A6C34878D82A}">
                        <a16:rowId xmlns:a16="http://schemas.microsoft.com/office/drawing/2014/main" val="10000"/>
                      </a:ext>
                    </a:extLst>
                  </a:tr>
                  <a:tr h="1033000">
                    <a:tc>
                      <a:txBody>
                        <a:bodyPr/>
                        <a:lstStyle/>
                        <a:p>
                          <a:endParaRPr lang="en-US" sz="2400"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720080">
                    <a:tc>
                      <a:txBody>
                        <a:bodyPr/>
                        <a:lstStyle/>
                        <a:p>
                          <a:endParaRPr lang="en-US" sz="2400"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r h="792088">
                    <a:tc>
                      <a:txBody>
                        <a:bodyPr/>
                        <a:lstStyle/>
                        <a:p>
                          <a:endParaRPr lang="en-US" sz="2400"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3"/>
                      </a:ext>
                    </a:extLst>
                  </a:tr>
                  <a:tr h="720080">
                    <a:tc>
                      <a:txBody>
                        <a:bodyPr/>
                        <a:lstStyle/>
                        <a:p>
                          <a:endParaRPr lang="en-US" sz="2400"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4"/>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1861047020"/>
                  </p:ext>
                </p:extLst>
              </p:nvPr>
            </p:nvGraphicFramePr>
            <p:xfrm>
              <a:off x="2350785" y="1603912"/>
              <a:ext cx="5761438" cy="4057336"/>
            </p:xfrm>
            <a:graphic>
              <a:graphicData uri="http://schemas.openxmlformats.org/drawingml/2006/table">
                <a:tbl>
                  <a:tblPr firstRow="1" bandRow="1">
                    <a:tableStyleId>{5C22544A-7EE6-4342-B048-85BDC9FD1C3A}</a:tableStyleId>
                  </a:tblPr>
                  <a:tblGrid>
                    <a:gridCol w="1224935"/>
                    <a:gridCol w="1440160"/>
                    <a:gridCol w="3096343"/>
                  </a:tblGrid>
                  <a:tr h="792088">
                    <a:tc>
                      <a:txBody>
                        <a:bodyPr/>
                        <a:lstStyle/>
                        <a:p>
                          <a:pPr algn="ctr"/>
                          <a:r>
                            <a:rPr lang="en-US" sz="2400" i="0" dirty="0" smtClean="0"/>
                            <a:t>Graph </a:t>
                          </a:r>
                          <a:endParaRPr lang="en-US" sz="2400" i="0" dirty="0"/>
                        </a:p>
                      </a:txBody>
                      <a:tcPr/>
                    </a:tc>
                    <a:tc>
                      <a:txBody>
                        <a:bodyPr/>
                        <a:lstStyle/>
                        <a:p>
                          <a:pPr algn="ctr"/>
                          <a:r>
                            <a:rPr lang="en-US" sz="2400" dirty="0" smtClean="0"/>
                            <a:t>Rank</a:t>
                          </a:r>
                          <a:r>
                            <a:rPr lang="en-US" sz="2400" baseline="0" dirty="0" smtClean="0"/>
                            <a:t> </a:t>
                          </a:r>
                          <a:endParaRPr lang="en-US" sz="2400" dirty="0"/>
                        </a:p>
                      </a:txBody>
                      <a:tcPr/>
                    </a:tc>
                    <a:tc>
                      <a:txBody>
                        <a:bodyPr/>
                        <a:lstStyle/>
                        <a:p>
                          <a:endParaRPr lang="en-US"/>
                        </a:p>
                      </a:txBody>
                      <a:tcPr>
                        <a:blipFill rotWithShape="0">
                          <a:blip r:embed="rId2"/>
                          <a:stretch>
                            <a:fillRect l="-86417" t="-5385" r="-787" b="-413846"/>
                          </a:stretch>
                        </a:blipFill>
                      </a:tcPr>
                    </a:tc>
                  </a:tr>
                  <a:tr h="1033000">
                    <a:tc>
                      <a:txBody>
                        <a:bodyPr/>
                        <a:lstStyle/>
                        <a:p>
                          <a:endParaRPr lang="en-US" sz="2400" dirty="0"/>
                        </a:p>
                      </a:txBody>
                      <a:tcPr/>
                    </a:tc>
                    <a:tc>
                      <a:txBody>
                        <a:bodyPr/>
                        <a:lstStyle/>
                        <a:p>
                          <a:endParaRPr lang="en-US" dirty="0"/>
                        </a:p>
                      </a:txBody>
                      <a:tcPr/>
                    </a:tc>
                    <a:tc>
                      <a:txBody>
                        <a:bodyPr/>
                        <a:lstStyle/>
                        <a:p>
                          <a:endParaRPr lang="en-US" dirty="0"/>
                        </a:p>
                      </a:txBody>
                      <a:tcPr/>
                    </a:tc>
                  </a:tr>
                  <a:tr h="720080">
                    <a:tc>
                      <a:txBody>
                        <a:bodyPr/>
                        <a:lstStyle/>
                        <a:p>
                          <a:endParaRPr lang="en-US" sz="2400" dirty="0"/>
                        </a:p>
                      </a:txBody>
                      <a:tcPr/>
                    </a:tc>
                    <a:tc>
                      <a:txBody>
                        <a:bodyPr/>
                        <a:lstStyle/>
                        <a:p>
                          <a:endParaRPr lang="en-US" dirty="0"/>
                        </a:p>
                      </a:txBody>
                      <a:tcPr/>
                    </a:tc>
                    <a:tc>
                      <a:txBody>
                        <a:bodyPr/>
                        <a:lstStyle/>
                        <a:p>
                          <a:endParaRPr lang="en-US" dirty="0"/>
                        </a:p>
                      </a:txBody>
                      <a:tcPr/>
                    </a:tc>
                  </a:tr>
                  <a:tr h="792088">
                    <a:tc>
                      <a:txBody>
                        <a:bodyPr/>
                        <a:lstStyle/>
                        <a:p>
                          <a:endParaRPr lang="en-US" sz="2400" dirty="0"/>
                        </a:p>
                      </a:txBody>
                      <a:tcPr/>
                    </a:tc>
                    <a:tc>
                      <a:txBody>
                        <a:bodyPr/>
                        <a:lstStyle/>
                        <a:p>
                          <a:endParaRPr lang="en-US" dirty="0"/>
                        </a:p>
                      </a:txBody>
                      <a:tcPr/>
                    </a:tc>
                    <a:tc>
                      <a:txBody>
                        <a:bodyPr/>
                        <a:lstStyle/>
                        <a:p>
                          <a:endParaRPr lang="en-US" dirty="0"/>
                        </a:p>
                      </a:txBody>
                      <a:tcPr/>
                    </a:tc>
                  </a:tr>
                  <a:tr h="720080">
                    <a:tc>
                      <a:txBody>
                        <a:bodyPr/>
                        <a:lstStyle/>
                        <a:p>
                          <a:endParaRPr lang="en-US" sz="2400" dirty="0"/>
                        </a:p>
                      </a:txBody>
                      <a:tcPr/>
                    </a:tc>
                    <a:tc>
                      <a:txBody>
                        <a:bodyPr/>
                        <a:lstStyle/>
                        <a:p>
                          <a:endParaRPr lang="en-US" dirty="0"/>
                        </a:p>
                      </a:txBody>
                      <a:tcPr/>
                    </a:tc>
                    <a:tc>
                      <a:txBody>
                        <a:bodyPr/>
                        <a:lstStyle/>
                        <a:p>
                          <a:endParaRPr lang="en-US" dirty="0"/>
                        </a:p>
                      </a:txBody>
                      <a:tcPr/>
                    </a:tc>
                  </a:tr>
                </a:tbl>
              </a:graphicData>
            </a:graphic>
          </p:graphicFrame>
        </mc:Fallback>
      </mc:AlternateContent>
      <mc:AlternateContent xmlns:mc="http://schemas.openxmlformats.org/markup-compatibility/2006" xmlns:a14="http://schemas.microsoft.com/office/drawing/2010/main">
        <mc:Choice Requires="a14">
          <p:sp>
            <p:nvSpPr>
              <p:cNvPr id="36" name="TextBox 35"/>
              <p:cNvSpPr txBox="1"/>
              <p:nvPr/>
            </p:nvSpPr>
            <p:spPr>
              <a:xfrm>
                <a:off x="2678031" y="2738154"/>
                <a:ext cx="836916"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m:rPr>
                              <m:sty m:val="p"/>
                            </m:rPr>
                            <a:rPr lang="en-US" sz="2800" i="0" dirty="0" smtClean="0">
                              <a:latin typeface="Cambria Math" panose="02040503050406030204" pitchFamily="18" charset="0"/>
                            </a:rPr>
                            <m:t>K</m:t>
                          </m:r>
                        </m:e>
                        <m:sub>
                          <m:r>
                            <m:rPr>
                              <m:sty m:val="p"/>
                            </m:rPr>
                            <a:rPr lang="en-US" sz="2800" i="0" dirty="0" smtClean="0">
                              <a:latin typeface="Cambria Math" panose="02040503050406030204" pitchFamily="18" charset="0"/>
                            </a:rPr>
                            <m:t>n</m:t>
                          </m:r>
                        </m:sub>
                      </m:sSub>
                    </m:oMath>
                  </m:oMathPara>
                </a14:m>
                <a:endParaRPr lang="en-US" sz="2800" dirty="0"/>
              </a:p>
            </p:txBody>
          </p:sp>
        </mc:Choice>
        <mc:Fallback xmlns="">
          <p:sp>
            <p:nvSpPr>
              <p:cNvPr id="36" name="TextBox 35"/>
              <p:cNvSpPr txBox="1">
                <a:spLocks noRot="1" noChangeAspect="1" noMove="1" noResize="1" noEditPoints="1" noAdjustHandles="1" noChangeArrowheads="1" noChangeShapeType="1" noTextEdit="1"/>
              </p:cNvSpPr>
              <p:nvPr/>
            </p:nvSpPr>
            <p:spPr>
              <a:xfrm>
                <a:off x="2678031" y="2738154"/>
                <a:ext cx="836916"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2678031" y="3493441"/>
                <a:ext cx="790482"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m:rPr>
                              <m:sty m:val="p"/>
                            </m:rPr>
                            <a:rPr lang="en-US" sz="2800" b="0" i="0" dirty="0" smtClean="0">
                              <a:latin typeface="Cambria Math" panose="02040503050406030204" pitchFamily="18" charset="0"/>
                            </a:rPr>
                            <m:t>C</m:t>
                          </m:r>
                        </m:e>
                        <m:sub>
                          <m:r>
                            <m:rPr>
                              <m:sty m:val="p"/>
                            </m:rPr>
                            <a:rPr lang="en-US" sz="2800" i="0" dirty="0" smtClean="0">
                              <a:latin typeface="Cambria Math" panose="02040503050406030204" pitchFamily="18" charset="0"/>
                            </a:rPr>
                            <m:t>n</m:t>
                          </m:r>
                        </m:sub>
                      </m:sSub>
                    </m:oMath>
                  </m:oMathPara>
                </a14:m>
                <a:endParaRPr lang="en-US" sz="2800" dirty="0"/>
              </a:p>
            </p:txBody>
          </p:sp>
        </mc:Choice>
        <mc:Fallback xmlns="">
          <p:sp>
            <p:nvSpPr>
              <p:cNvPr id="37" name="TextBox 36"/>
              <p:cNvSpPr txBox="1">
                <a:spLocks noRot="1" noChangeAspect="1" noMove="1" noResize="1" noEditPoints="1" noAdjustHandles="1" noChangeArrowheads="1" noChangeShapeType="1" noTextEdit="1"/>
              </p:cNvSpPr>
              <p:nvPr/>
            </p:nvSpPr>
            <p:spPr>
              <a:xfrm>
                <a:off x="2678031" y="3493441"/>
                <a:ext cx="790482"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p:cNvSpPr txBox="1"/>
              <p:nvPr/>
            </p:nvSpPr>
            <p:spPr>
              <a:xfrm>
                <a:off x="2701488" y="4310283"/>
                <a:ext cx="733415"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m:rPr>
                              <m:sty m:val="p"/>
                            </m:rPr>
                            <a:rPr lang="en-US" sz="2800" b="0" i="0" dirty="0" smtClean="0">
                              <a:latin typeface="Cambria Math" panose="02040503050406030204" pitchFamily="18" charset="0"/>
                            </a:rPr>
                            <m:t>P</m:t>
                          </m:r>
                        </m:e>
                        <m:sub>
                          <m:r>
                            <m:rPr>
                              <m:sty m:val="p"/>
                            </m:rPr>
                            <a:rPr lang="en-US" sz="2800" i="0" dirty="0" smtClean="0">
                              <a:latin typeface="Cambria Math" panose="02040503050406030204" pitchFamily="18" charset="0"/>
                            </a:rPr>
                            <m:t>n</m:t>
                          </m:r>
                        </m:sub>
                      </m:sSub>
                    </m:oMath>
                  </m:oMathPara>
                </a14:m>
                <a:endParaRPr lang="en-US" sz="2800" dirty="0"/>
              </a:p>
            </p:txBody>
          </p:sp>
        </mc:Choice>
        <mc:Fallback xmlns="">
          <p:sp>
            <p:nvSpPr>
              <p:cNvPr id="38" name="TextBox 37"/>
              <p:cNvSpPr txBox="1">
                <a:spLocks noRot="1" noChangeAspect="1" noMove="1" noResize="1" noEditPoints="1" noAdjustHandles="1" noChangeArrowheads="1" noChangeShapeType="1" noTextEdit="1"/>
              </p:cNvSpPr>
              <p:nvPr/>
            </p:nvSpPr>
            <p:spPr>
              <a:xfrm>
                <a:off x="2701488" y="4310283"/>
                <a:ext cx="733415" cy="5232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p:cNvSpPr txBox="1"/>
              <p:nvPr/>
            </p:nvSpPr>
            <p:spPr>
              <a:xfrm>
                <a:off x="2678031" y="5026718"/>
                <a:ext cx="761167"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m:rPr>
                              <m:sty m:val="p"/>
                            </m:rPr>
                            <a:rPr lang="en-US" sz="2800" b="0" i="0" dirty="0" smtClean="0">
                              <a:latin typeface="Cambria Math" panose="02040503050406030204" pitchFamily="18" charset="0"/>
                            </a:rPr>
                            <m:t>S</m:t>
                          </m:r>
                        </m:e>
                        <m:sub>
                          <m:r>
                            <m:rPr>
                              <m:sty m:val="p"/>
                            </m:rPr>
                            <a:rPr lang="en-US" sz="2800" i="0" dirty="0" smtClean="0">
                              <a:latin typeface="Cambria Math" panose="02040503050406030204" pitchFamily="18" charset="0"/>
                            </a:rPr>
                            <m:t>n</m:t>
                          </m:r>
                        </m:sub>
                      </m:sSub>
                    </m:oMath>
                  </m:oMathPara>
                </a14:m>
                <a:endParaRPr lang="en-US" sz="2800" dirty="0"/>
              </a:p>
            </p:txBody>
          </p:sp>
        </mc:Choice>
        <mc:Fallback xmlns="">
          <p:sp>
            <p:nvSpPr>
              <p:cNvPr id="39" name="TextBox 38"/>
              <p:cNvSpPr txBox="1">
                <a:spLocks noRot="1" noChangeAspect="1" noMove="1" noResize="1" noEditPoints="1" noAdjustHandles="1" noChangeArrowheads="1" noChangeShapeType="1" noTextEdit="1"/>
              </p:cNvSpPr>
              <p:nvPr/>
            </p:nvSpPr>
            <p:spPr>
              <a:xfrm>
                <a:off x="2678031" y="5026718"/>
                <a:ext cx="761167" cy="52322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3667944" y="5057495"/>
                <a:ext cx="1185958"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solidFill>
                            <a:srgbClr val="FF0000"/>
                          </a:solidFill>
                          <a:latin typeface="Cambria Math" panose="02040503050406030204" pitchFamily="18" charset="0"/>
                        </a:rPr>
                        <m:t>n</m:t>
                      </m:r>
                      <m:r>
                        <a:rPr lang="en-US" sz="2400" b="0" i="0" smtClean="0">
                          <a:solidFill>
                            <a:srgbClr val="FF0000"/>
                          </a:solidFill>
                          <a:latin typeface="Cambria Math" panose="02040503050406030204" pitchFamily="18" charset="0"/>
                        </a:rPr>
                        <m:t>−1</m:t>
                      </m:r>
                    </m:oMath>
                  </m:oMathPara>
                </a14:m>
                <a:endParaRPr lang="en-US" sz="2400" dirty="0">
                  <a:solidFill>
                    <a:srgbClr val="FF0000"/>
                  </a:solidFill>
                </a:endParaRPr>
              </a:p>
            </p:txBody>
          </p:sp>
        </mc:Choice>
        <mc:Fallback xmlns="">
          <p:sp>
            <p:nvSpPr>
              <p:cNvPr id="40" name="TextBox 39"/>
              <p:cNvSpPr txBox="1">
                <a:spLocks noRot="1" noChangeAspect="1" noMove="1" noResize="1" noEditPoints="1" noAdjustHandles="1" noChangeArrowheads="1" noChangeShapeType="1" noTextEdit="1"/>
              </p:cNvSpPr>
              <p:nvPr/>
            </p:nvSpPr>
            <p:spPr>
              <a:xfrm>
                <a:off x="3667944" y="5057495"/>
                <a:ext cx="1185958" cy="461665"/>
              </a:xfrm>
              <a:prstGeom prst="rect">
                <a:avLst/>
              </a:prstGeom>
              <a:blipFill rotWithShape="0">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p:cNvSpPr txBox="1"/>
              <p:nvPr/>
            </p:nvSpPr>
            <p:spPr>
              <a:xfrm>
                <a:off x="3667944" y="4341060"/>
                <a:ext cx="1185958"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solidFill>
                            <a:srgbClr val="FF0000"/>
                          </a:solidFill>
                          <a:latin typeface="Cambria Math" panose="02040503050406030204" pitchFamily="18" charset="0"/>
                        </a:rPr>
                        <m:t>n</m:t>
                      </m:r>
                      <m:r>
                        <a:rPr lang="en-US" sz="2400" b="0" i="0" smtClean="0">
                          <a:solidFill>
                            <a:srgbClr val="FF0000"/>
                          </a:solidFill>
                          <a:latin typeface="Cambria Math" panose="02040503050406030204" pitchFamily="18" charset="0"/>
                        </a:rPr>
                        <m:t>−1</m:t>
                      </m:r>
                    </m:oMath>
                  </m:oMathPara>
                </a14:m>
                <a:endParaRPr lang="en-US" sz="2400" dirty="0">
                  <a:solidFill>
                    <a:srgbClr val="FF0000"/>
                  </a:solidFill>
                </a:endParaRPr>
              </a:p>
            </p:txBody>
          </p:sp>
        </mc:Choice>
        <mc:Fallback xmlns="">
          <p:sp>
            <p:nvSpPr>
              <p:cNvPr id="41" name="TextBox 40"/>
              <p:cNvSpPr txBox="1">
                <a:spLocks noRot="1" noChangeAspect="1" noMove="1" noResize="1" noEditPoints="1" noAdjustHandles="1" noChangeArrowheads="1" noChangeShapeType="1" noTextEdit="1"/>
              </p:cNvSpPr>
              <p:nvPr/>
            </p:nvSpPr>
            <p:spPr>
              <a:xfrm>
                <a:off x="3667944" y="4341060"/>
                <a:ext cx="1185958" cy="461665"/>
              </a:xfrm>
              <a:prstGeom prst="rect">
                <a:avLst/>
              </a:prstGeom>
              <a:blipFill rotWithShape="0">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p:cNvSpPr txBox="1"/>
              <p:nvPr/>
            </p:nvSpPr>
            <p:spPr>
              <a:xfrm>
                <a:off x="3667944" y="3554996"/>
                <a:ext cx="1185958"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solidFill>
                            <a:srgbClr val="FF0000"/>
                          </a:solidFill>
                          <a:latin typeface="Cambria Math" panose="02040503050406030204" pitchFamily="18" charset="0"/>
                        </a:rPr>
                        <m:t>n</m:t>
                      </m:r>
                      <m:r>
                        <a:rPr lang="en-US" sz="2400" b="0" i="0" smtClean="0">
                          <a:solidFill>
                            <a:srgbClr val="FF0000"/>
                          </a:solidFill>
                          <a:latin typeface="Cambria Math" panose="02040503050406030204" pitchFamily="18" charset="0"/>
                        </a:rPr>
                        <m:t>−1</m:t>
                      </m:r>
                    </m:oMath>
                  </m:oMathPara>
                </a14:m>
                <a:endParaRPr lang="en-US" sz="2400" dirty="0">
                  <a:solidFill>
                    <a:srgbClr val="FF0000"/>
                  </a:solidFill>
                </a:endParaRPr>
              </a:p>
            </p:txBody>
          </p:sp>
        </mc:Choice>
        <mc:Fallback xmlns="">
          <p:sp>
            <p:nvSpPr>
              <p:cNvPr id="42" name="TextBox 41"/>
              <p:cNvSpPr txBox="1">
                <a:spLocks noRot="1" noChangeAspect="1" noMove="1" noResize="1" noEditPoints="1" noAdjustHandles="1" noChangeArrowheads="1" noChangeShapeType="1" noTextEdit="1"/>
              </p:cNvSpPr>
              <p:nvPr/>
            </p:nvSpPr>
            <p:spPr>
              <a:xfrm>
                <a:off x="3667944" y="3554996"/>
                <a:ext cx="1185958" cy="461665"/>
              </a:xfrm>
              <a:prstGeom prst="rect">
                <a:avLst/>
              </a:prstGeom>
              <a:blipFill rotWithShape="0">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p:cNvSpPr txBox="1"/>
              <p:nvPr/>
            </p:nvSpPr>
            <p:spPr>
              <a:xfrm>
                <a:off x="3667944" y="2738154"/>
                <a:ext cx="1185958"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n-US" sz="2400" b="0" i="0" smtClean="0">
                          <a:solidFill>
                            <a:srgbClr val="FF0000"/>
                          </a:solidFill>
                          <a:latin typeface="Cambria Math" panose="02040503050406030204" pitchFamily="18" charset="0"/>
                        </a:rPr>
                        <m:t>n</m:t>
                      </m:r>
                      <m:r>
                        <a:rPr lang="en-US" sz="2400" b="0" i="0" smtClean="0">
                          <a:solidFill>
                            <a:srgbClr val="FF0000"/>
                          </a:solidFill>
                          <a:latin typeface="Cambria Math" panose="02040503050406030204" pitchFamily="18" charset="0"/>
                        </a:rPr>
                        <m:t>−1</m:t>
                      </m:r>
                    </m:oMath>
                  </m:oMathPara>
                </a14:m>
                <a:endParaRPr lang="en-US" sz="2400" dirty="0">
                  <a:solidFill>
                    <a:srgbClr val="FF0000"/>
                  </a:solidFill>
                </a:endParaRPr>
              </a:p>
            </p:txBody>
          </p:sp>
        </mc:Choice>
        <mc:Fallback xmlns="">
          <p:sp>
            <p:nvSpPr>
              <p:cNvPr id="43" name="TextBox 42"/>
              <p:cNvSpPr txBox="1">
                <a:spLocks noRot="1" noChangeAspect="1" noMove="1" noResize="1" noEditPoints="1" noAdjustHandles="1" noChangeArrowheads="1" noChangeShapeType="1" noTextEdit="1"/>
              </p:cNvSpPr>
              <p:nvPr/>
            </p:nvSpPr>
            <p:spPr>
              <a:xfrm>
                <a:off x="3667944" y="2738154"/>
                <a:ext cx="1185958" cy="461665"/>
              </a:xfrm>
              <a:prstGeom prst="rect">
                <a:avLst/>
              </a:prstGeom>
              <a:blipFill rotWithShape="0">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Box 53"/>
              <p:cNvSpPr txBox="1"/>
              <p:nvPr/>
            </p:nvSpPr>
            <p:spPr>
              <a:xfrm>
                <a:off x="5159896" y="2540680"/>
                <a:ext cx="2534692" cy="81567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sz="2400" b="1" i="1" smtClean="0">
                              <a:solidFill>
                                <a:srgbClr val="FF0000"/>
                              </a:solidFill>
                              <a:latin typeface="Cambria Math" panose="02040503050406030204" pitchFamily="18" charset="0"/>
                            </a:rPr>
                          </m:ctrlPr>
                        </m:fPr>
                        <m:num>
                          <m:d>
                            <m:dPr>
                              <m:ctrlPr>
                                <a:rPr lang="en-US" sz="2400" b="1" i="1" smtClean="0">
                                  <a:solidFill>
                                    <a:srgbClr val="FF0000"/>
                                  </a:solidFill>
                                  <a:latin typeface="Cambria Math" panose="02040503050406030204" pitchFamily="18" charset="0"/>
                                </a:rPr>
                              </m:ctrlPr>
                            </m:dPr>
                            <m:e>
                              <m:r>
                                <a:rPr lang="en-US" sz="2400" b="1" i="0" smtClean="0">
                                  <a:solidFill>
                                    <a:srgbClr val="FF0000"/>
                                  </a:solidFill>
                                  <a:latin typeface="Cambria Math" panose="02040503050406030204" pitchFamily="18" charset="0"/>
                                </a:rPr>
                                <m:t>𝐧</m:t>
                              </m:r>
                              <m:r>
                                <a:rPr lang="en-US" sz="2400" b="1" i="0" smtClean="0">
                                  <a:solidFill>
                                    <a:srgbClr val="FF0000"/>
                                  </a:solidFill>
                                  <a:latin typeface="Cambria Math" panose="02040503050406030204" pitchFamily="18" charset="0"/>
                                </a:rPr>
                                <m:t>−</m:t>
                              </m:r>
                              <m:r>
                                <a:rPr lang="en-US" sz="2400" b="1" i="0" smtClean="0">
                                  <a:solidFill>
                                    <a:srgbClr val="FF0000"/>
                                  </a:solidFill>
                                  <a:latin typeface="Cambria Math" panose="02040503050406030204" pitchFamily="18" charset="0"/>
                                </a:rPr>
                                <m:t>𝟐</m:t>
                              </m:r>
                            </m:e>
                          </m:d>
                          <m:d>
                            <m:dPr>
                              <m:ctrlPr>
                                <a:rPr lang="en-US" sz="2400" b="1" i="1" smtClean="0">
                                  <a:solidFill>
                                    <a:srgbClr val="FF0000"/>
                                  </a:solidFill>
                                  <a:latin typeface="Cambria Math" panose="02040503050406030204" pitchFamily="18" charset="0"/>
                                </a:rPr>
                              </m:ctrlPr>
                            </m:dPr>
                            <m:e>
                              <m:r>
                                <a:rPr lang="en-US" sz="2400" b="1" i="0" smtClean="0">
                                  <a:solidFill>
                                    <a:srgbClr val="FF0000"/>
                                  </a:solidFill>
                                  <a:latin typeface="Cambria Math" panose="02040503050406030204" pitchFamily="18" charset="0"/>
                                </a:rPr>
                                <m:t>𝐧</m:t>
                              </m:r>
                              <m:r>
                                <a:rPr lang="en-US" sz="2400" b="1" i="0" smtClean="0">
                                  <a:solidFill>
                                    <a:srgbClr val="FF0000"/>
                                  </a:solidFill>
                                  <a:latin typeface="Cambria Math" panose="02040503050406030204" pitchFamily="18" charset="0"/>
                                </a:rPr>
                                <m:t>−</m:t>
                              </m:r>
                              <m:r>
                                <a:rPr lang="en-US" sz="2400" b="1" i="0" smtClean="0">
                                  <a:solidFill>
                                    <a:srgbClr val="FF0000"/>
                                  </a:solidFill>
                                  <a:latin typeface="Cambria Math" panose="02040503050406030204" pitchFamily="18" charset="0"/>
                                </a:rPr>
                                <m:t>𝟏</m:t>
                              </m:r>
                            </m:e>
                          </m:d>
                        </m:num>
                        <m:den>
                          <m:r>
                            <a:rPr lang="en-US" sz="2400" b="1" i="0" smtClean="0">
                              <a:solidFill>
                                <a:srgbClr val="FF0000"/>
                              </a:solidFill>
                              <a:latin typeface="Cambria Math" panose="02040503050406030204" pitchFamily="18" charset="0"/>
                            </a:rPr>
                            <m:t>𝟐</m:t>
                          </m:r>
                        </m:den>
                      </m:f>
                    </m:oMath>
                  </m:oMathPara>
                </a14:m>
                <a:endParaRPr lang="en-US" sz="2400" b="1" dirty="0">
                  <a:solidFill>
                    <a:srgbClr val="FF0000"/>
                  </a:solidFill>
                </a:endParaRPr>
              </a:p>
            </p:txBody>
          </p:sp>
        </mc:Choice>
        <mc:Fallback xmlns="">
          <p:sp>
            <p:nvSpPr>
              <p:cNvPr id="54" name="TextBox 53"/>
              <p:cNvSpPr txBox="1">
                <a:spLocks noRot="1" noChangeAspect="1" noMove="1" noResize="1" noEditPoints="1" noAdjustHandles="1" noChangeArrowheads="1" noChangeShapeType="1" noTextEdit="1"/>
              </p:cNvSpPr>
              <p:nvPr/>
            </p:nvSpPr>
            <p:spPr>
              <a:xfrm>
                <a:off x="5159896" y="2540680"/>
                <a:ext cx="2534692" cy="815673"/>
              </a:xfrm>
              <a:prstGeom prst="rect">
                <a:avLst/>
              </a:prstGeom>
              <a:blipFill rotWithShape="0">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p:cNvSpPr txBox="1"/>
              <p:nvPr/>
            </p:nvSpPr>
            <p:spPr>
              <a:xfrm>
                <a:off x="6034584" y="3554995"/>
                <a:ext cx="715268"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0" smtClean="0">
                          <a:solidFill>
                            <a:srgbClr val="FF0000"/>
                          </a:solidFill>
                          <a:latin typeface="Cambria Math" panose="02040503050406030204" pitchFamily="18" charset="0"/>
                        </a:rPr>
                        <m:t>1</m:t>
                      </m:r>
                    </m:oMath>
                  </m:oMathPara>
                </a14:m>
                <a:endParaRPr lang="en-US" sz="2400" dirty="0">
                  <a:solidFill>
                    <a:srgbClr val="FF0000"/>
                  </a:solidFill>
                </a:endParaRPr>
              </a:p>
            </p:txBody>
          </p:sp>
        </mc:Choice>
        <mc:Fallback xmlns="">
          <p:sp>
            <p:nvSpPr>
              <p:cNvPr id="55" name="TextBox 54"/>
              <p:cNvSpPr txBox="1">
                <a:spLocks noRot="1" noChangeAspect="1" noMove="1" noResize="1" noEditPoints="1" noAdjustHandles="1" noChangeArrowheads="1" noChangeShapeType="1" noTextEdit="1"/>
              </p:cNvSpPr>
              <p:nvPr/>
            </p:nvSpPr>
            <p:spPr>
              <a:xfrm>
                <a:off x="6034584" y="3554995"/>
                <a:ext cx="715268" cy="461665"/>
              </a:xfrm>
              <a:prstGeom prst="rect">
                <a:avLst/>
              </a:prstGeom>
              <a:blipFill rotWithShape="0">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p:cNvSpPr txBox="1"/>
              <p:nvPr/>
            </p:nvSpPr>
            <p:spPr>
              <a:xfrm>
                <a:off x="6096000" y="4341060"/>
                <a:ext cx="645219"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0" smtClean="0">
                          <a:solidFill>
                            <a:srgbClr val="FF0000"/>
                          </a:solidFill>
                          <a:latin typeface="Cambria Math" panose="02040503050406030204" pitchFamily="18" charset="0"/>
                        </a:rPr>
                        <m:t>0</m:t>
                      </m:r>
                    </m:oMath>
                  </m:oMathPara>
                </a14:m>
                <a:endParaRPr lang="en-US" sz="2400" dirty="0">
                  <a:solidFill>
                    <a:srgbClr val="FF0000"/>
                  </a:solidFill>
                </a:endParaRPr>
              </a:p>
            </p:txBody>
          </p:sp>
        </mc:Choice>
        <mc:Fallback xmlns="">
          <p:sp>
            <p:nvSpPr>
              <p:cNvPr id="56" name="TextBox 55"/>
              <p:cNvSpPr txBox="1">
                <a:spLocks noRot="1" noChangeAspect="1" noMove="1" noResize="1" noEditPoints="1" noAdjustHandles="1" noChangeArrowheads="1" noChangeShapeType="1" noTextEdit="1"/>
              </p:cNvSpPr>
              <p:nvPr/>
            </p:nvSpPr>
            <p:spPr>
              <a:xfrm>
                <a:off x="6096000" y="4341060"/>
                <a:ext cx="645219" cy="461665"/>
              </a:xfrm>
              <a:prstGeom prst="rect">
                <a:avLst/>
              </a:prstGeom>
              <a:blipFill rotWithShape="0">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p:cNvSpPr txBox="1"/>
              <p:nvPr/>
            </p:nvSpPr>
            <p:spPr>
              <a:xfrm>
                <a:off x="6069608" y="5057495"/>
                <a:ext cx="645219"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0" smtClean="0">
                          <a:solidFill>
                            <a:srgbClr val="FF0000"/>
                          </a:solidFill>
                          <a:latin typeface="Cambria Math" panose="02040503050406030204" pitchFamily="18" charset="0"/>
                        </a:rPr>
                        <m:t>0</m:t>
                      </m:r>
                    </m:oMath>
                  </m:oMathPara>
                </a14:m>
                <a:endParaRPr lang="en-US" sz="2400" dirty="0">
                  <a:solidFill>
                    <a:srgbClr val="FF0000"/>
                  </a:solidFill>
                </a:endParaRPr>
              </a:p>
            </p:txBody>
          </p:sp>
        </mc:Choice>
        <mc:Fallback xmlns="">
          <p:sp>
            <p:nvSpPr>
              <p:cNvPr id="57" name="TextBox 56"/>
              <p:cNvSpPr txBox="1">
                <a:spLocks noRot="1" noChangeAspect="1" noMove="1" noResize="1" noEditPoints="1" noAdjustHandles="1" noChangeArrowheads="1" noChangeShapeType="1" noTextEdit="1"/>
              </p:cNvSpPr>
              <p:nvPr/>
            </p:nvSpPr>
            <p:spPr>
              <a:xfrm>
                <a:off x="6069608" y="5057495"/>
                <a:ext cx="645219" cy="461665"/>
              </a:xfrm>
              <a:prstGeom prst="rect">
                <a:avLst/>
              </a:prstGeom>
              <a:blipFill rotWithShape="0">
                <a:blip r:embed="rId14"/>
                <a:stretch>
                  <a:fillRect/>
                </a:stretch>
              </a:blipFill>
            </p:spPr>
            <p:txBody>
              <a:bodyPr/>
              <a:lstStyle/>
              <a:p>
                <a:r>
                  <a:rPr lang="en-US">
                    <a:noFill/>
                  </a:rPr>
                  <a:t> </a:t>
                </a:r>
              </a:p>
            </p:txBody>
          </p:sp>
        </mc:Fallback>
      </mc:AlternateContent>
      <p:sp>
        <p:nvSpPr>
          <p:cNvPr id="2" name="Title 1"/>
          <p:cNvSpPr>
            <a:spLocks noGrp="1"/>
          </p:cNvSpPr>
          <p:nvPr>
            <p:ph type="title"/>
          </p:nvPr>
        </p:nvSpPr>
        <p:spPr/>
        <p:txBody>
          <a:bodyPr/>
          <a:lstStyle/>
          <a:p>
            <a:endParaRPr lang="en-US"/>
          </a:p>
        </p:txBody>
      </p:sp>
    </p:spTree>
    <p:extLst>
      <p:ext uri="{BB962C8B-B14F-4D97-AF65-F5344CB8AC3E}">
        <p14:creationId xmlns:p14="http://schemas.microsoft.com/office/powerpoint/2010/main" val="34442232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9"/>
            <a:ext cx="11929645" cy="544937"/>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For given graph find branch and chord with respect to spanning tree of your choice.</a:t>
            </a:r>
          </a:p>
        </p:txBody>
      </p:sp>
      <p:sp>
        <p:nvSpPr>
          <p:cNvPr id="16" name="Content Placeholder 2">
            <a:extLst>
              <a:ext uri="{FF2B5EF4-FFF2-40B4-BE49-F238E27FC236}">
                <a16:creationId xmlns:a16="http://schemas.microsoft.com/office/drawing/2014/main" id="{635C8299-099D-4E74-A7B7-29B2E1FD450E}"/>
              </a:ext>
            </a:extLst>
          </p:cNvPr>
          <p:cNvSpPr txBox="1">
            <a:spLocks/>
          </p:cNvSpPr>
          <p:nvPr/>
        </p:nvSpPr>
        <p:spPr>
          <a:xfrm>
            <a:off x="131176" y="1465620"/>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3 ⇝ Example 3</a:t>
            </a:r>
            <a:endParaRPr lang="en-US" dirty="0"/>
          </a:p>
        </p:txBody>
      </p:sp>
      <mc:AlternateContent xmlns:mc="http://schemas.openxmlformats.org/markup-compatibility/2006" xmlns:a14="http://schemas.microsoft.com/office/drawing/2010/main">
        <mc:Choice Requires="a14">
          <p:sp>
            <p:nvSpPr>
              <p:cNvPr id="8" name="Rectangle 7"/>
              <p:cNvSpPr/>
              <p:nvPr/>
            </p:nvSpPr>
            <p:spPr>
              <a:xfrm>
                <a:off x="131176" y="2072086"/>
                <a:ext cx="8417730" cy="2631490"/>
              </a:xfrm>
              <a:prstGeom prst="rect">
                <a:avLst/>
              </a:prstGeom>
            </p:spPr>
            <p:txBody>
              <a:bodyPr wrap="square">
                <a:spAutoFit/>
              </a:bodyPr>
              <a:lstStyle/>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First we take spanning tree.</a:t>
                </a:r>
              </a:p>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Consider Graph of order </a:t>
                </a:r>
                <a14:m>
                  <m:oMath xmlns:m="http://schemas.openxmlformats.org/officeDocument/2006/math">
                    <m:r>
                      <m:rPr>
                        <m:sty m:val="p"/>
                      </m:rPr>
                      <a:rPr lang="en-US" sz="2800" i="0" dirty="0" smtClean="0">
                        <a:solidFill>
                          <a:srgbClr val="002060"/>
                        </a:solidFill>
                        <a:latin typeface="Cambria Math" panose="02040503050406030204" pitchFamily="18" charset="0"/>
                      </a:rPr>
                      <m:t>n</m:t>
                    </m:r>
                    <m:r>
                      <a:rPr lang="en-US" sz="2800" i="0" dirty="0" smtClean="0">
                        <a:solidFill>
                          <a:srgbClr val="002060"/>
                        </a:solidFill>
                        <a:latin typeface="Cambria Math" panose="02040503050406030204" pitchFamily="18" charset="0"/>
                      </a:rPr>
                      <m:t>=5</m:t>
                    </m:r>
                  </m:oMath>
                </a14:m>
                <a:r>
                  <a:rPr lang="en-US" sz="2800" dirty="0">
                    <a:solidFill>
                      <a:srgbClr val="002060"/>
                    </a:solidFill>
                  </a:rPr>
                  <a:t> and size </a:t>
                </a:r>
                <a14:m>
                  <m:oMath xmlns:m="http://schemas.openxmlformats.org/officeDocument/2006/math">
                    <m:r>
                      <m:rPr>
                        <m:sty m:val="p"/>
                      </m:rPr>
                      <a:rPr lang="en-US" sz="2800" i="0" dirty="0" smtClean="0">
                        <a:solidFill>
                          <a:srgbClr val="002060"/>
                        </a:solidFill>
                        <a:latin typeface="Cambria Math" panose="02040503050406030204" pitchFamily="18" charset="0"/>
                      </a:rPr>
                      <m:t>e</m:t>
                    </m:r>
                    <m:r>
                      <a:rPr lang="en-US" sz="2800" i="0" dirty="0" smtClean="0">
                        <a:solidFill>
                          <a:srgbClr val="002060"/>
                        </a:solidFill>
                        <a:latin typeface="Cambria Math" panose="02040503050406030204" pitchFamily="18" charset="0"/>
                      </a:rPr>
                      <m:t>=8</m:t>
                    </m:r>
                  </m:oMath>
                </a14:m>
                <a:r>
                  <a:rPr lang="en-US" sz="2800" dirty="0">
                    <a:solidFill>
                      <a:srgbClr val="002060"/>
                    </a:solidFill>
                  </a:rPr>
                  <a:t> with its Spanning Tree  (Highlighted in Green)</a:t>
                </a:r>
              </a:p>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Braches: </a:t>
                </a:r>
                <a14:m>
                  <m:oMath xmlns:m="http://schemas.openxmlformats.org/officeDocument/2006/math">
                    <m:d>
                      <m:dPr>
                        <m:begChr m:val="{"/>
                        <m:endChr m:val="}"/>
                        <m:ctrlPr>
                          <a:rPr lang="en-US" sz="2800" b="0" i="1" smtClean="0">
                            <a:solidFill>
                              <a:srgbClr val="002060"/>
                            </a:solidFill>
                            <a:latin typeface="Cambria Math" panose="02040503050406030204" pitchFamily="18" charset="0"/>
                          </a:rPr>
                        </m:ctrlPr>
                      </m:dPr>
                      <m:e>
                        <m:r>
                          <m:rPr>
                            <m:sty m:val="p"/>
                          </m:rPr>
                          <a:rPr lang="en-US" sz="2800" b="0" i="0" smtClean="0">
                            <a:solidFill>
                              <a:srgbClr val="002060"/>
                            </a:solidFill>
                            <a:latin typeface="Cambria Math" panose="02040503050406030204" pitchFamily="18" charset="0"/>
                          </a:rPr>
                          <m:t>h</m:t>
                        </m:r>
                        <m:r>
                          <a:rPr lang="en-US" sz="2800" b="0" i="0" smtClean="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c</m:t>
                        </m:r>
                        <m:r>
                          <a:rPr lang="en-US" sz="2800" b="0" i="0" smtClean="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b</m:t>
                        </m:r>
                        <m:r>
                          <a:rPr lang="en-US" sz="2800" b="0" i="0" smtClean="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d</m:t>
                        </m:r>
                      </m:e>
                    </m:d>
                  </m:oMath>
                </a14:m>
                <a:endParaRPr lang="en-US" sz="2800" dirty="0">
                  <a:solidFill>
                    <a:srgbClr val="002060"/>
                  </a:solidFill>
                </a:endParaRPr>
              </a:p>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Chord: </a:t>
                </a:r>
                <a14:m>
                  <m:oMath xmlns:m="http://schemas.openxmlformats.org/officeDocument/2006/math">
                    <m:d>
                      <m:dPr>
                        <m:begChr m:val="{"/>
                        <m:endChr m:val="}"/>
                        <m:ctrlPr>
                          <a:rPr lang="en-US" sz="2800" b="0" i="1" smtClean="0">
                            <a:solidFill>
                              <a:srgbClr val="002060"/>
                            </a:solidFill>
                            <a:latin typeface="Cambria Math" panose="02040503050406030204" pitchFamily="18" charset="0"/>
                          </a:rPr>
                        </m:ctrlPr>
                      </m:dPr>
                      <m:e>
                        <m:r>
                          <m:rPr>
                            <m:sty m:val="p"/>
                          </m:rPr>
                          <a:rPr lang="en-US" sz="2800" b="0" i="0" smtClean="0">
                            <a:solidFill>
                              <a:srgbClr val="002060"/>
                            </a:solidFill>
                            <a:latin typeface="Cambria Math" panose="02040503050406030204" pitchFamily="18" charset="0"/>
                          </a:rPr>
                          <m:t>a</m:t>
                        </m:r>
                        <m:r>
                          <a:rPr lang="en-US" sz="2800" b="0" i="0" smtClean="0">
                            <a:solidFill>
                              <a:srgbClr val="002060"/>
                            </a:solidFill>
                            <a:latin typeface="Cambria Math" panose="02040503050406030204" pitchFamily="18" charset="0"/>
                          </a:rPr>
                          <m:t>,</m:t>
                        </m:r>
                        <m:r>
                          <m:rPr>
                            <m:sty m:val="p"/>
                          </m:rPr>
                          <a:rPr lang="en-US" sz="2800" b="0" i="0" smtClean="0">
                            <a:solidFill>
                              <a:srgbClr val="002060"/>
                            </a:solidFill>
                            <a:latin typeface="Cambria Math" panose="02040503050406030204" pitchFamily="18" charset="0"/>
                          </a:rPr>
                          <m:t>e</m:t>
                        </m:r>
                        <m:r>
                          <a:rPr lang="en-US" sz="2800" b="0" i="0" smtClean="0">
                            <a:solidFill>
                              <a:srgbClr val="002060"/>
                            </a:solidFill>
                            <a:latin typeface="Cambria Math" panose="02040503050406030204" pitchFamily="18" charset="0"/>
                          </a:rPr>
                          <m:t>,</m:t>
                        </m:r>
                        <m:r>
                          <m:rPr>
                            <m:sty m:val="p"/>
                          </m:rPr>
                          <a:rPr lang="en-US" sz="2800" b="0" i="0" smtClean="0">
                            <a:solidFill>
                              <a:srgbClr val="002060"/>
                            </a:solidFill>
                            <a:latin typeface="Cambria Math" panose="02040503050406030204" pitchFamily="18" charset="0"/>
                          </a:rPr>
                          <m:t>f</m:t>
                        </m:r>
                        <m:r>
                          <a:rPr lang="en-US" sz="2800" b="0" i="0" smtClean="0">
                            <a:solidFill>
                              <a:srgbClr val="002060"/>
                            </a:solidFill>
                            <a:latin typeface="Cambria Math" panose="02040503050406030204" pitchFamily="18" charset="0"/>
                          </a:rPr>
                          <m:t>,</m:t>
                        </m:r>
                        <m:r>
                          <m:rPr>
                            <m:sty m:val="p"/>
                          </m:rPr>
                          <a:rPr lang="en-US" sz="2800" b="0" i="0" smtClean="0">
                            <a:solidFill>
                              <a:srgbClr val="002060"/>
                            </a:solidFill>
                            <a:latin typeface="Cambria Math" panose="02040503050406030204" pitchFamily="18" charset="0"/>
                          </a:rPr>
                          <m:t>g</m:t>
                        </m:r>
                      </m:e>
                    </m:d>
                  </m:oMath>
                </a14:m>
                <a:r>
                  <a:rPr lang="en-US" sz="2800" dirty="0">
                    <a:solidFill>
                      <a:srgbClr val="002060"/>
                    </a:solidFill>
                  </a:rPr>
                  <a:t> </a:t>
                </a:r>
              </a:p>
            </p:txBody>
          </p:sp>
        </mc:Choice>
        <mc:Fallback xmlns="">
          <p:sp>
            <p:nvSpPr>
              <p:cNvPr id="8" name="Rectangle 7"/>
              <p:cNvSpPr>
                <a:spLocks noRot="1" noChangeAspect="1" noMove="1" noResize="1" noEditPoints="1" noAdjustHandles="1" noChangeArrowheads="1" noChangeShapeType="1" noTextEdit="1"/>
              </p:cNvSpPr>
              <p:nvPr/>
            </p:nvSpPr>
            <p:spPr>
              <a:xfrm>
                <a:off x="131176" y="2072086"/>
                <a:ext cx="8417730" cy="2631490"/>
              </a:xfrm>
              <a:prstGeom prst="rect">
                <a:avLst/>
              </a:prstGeom>
              <a:blipFill rotWithShape="0">
                <a:blip r:embed="rId2"/>
                <a:stretch>
                  <a:fillRect l="-1377" t="-2546" r="-1522" b="-5556"/>
                </a:stretch>
              </a:blipFill>
            </p:spPr>
            <p:txBody>
              <a:bodyPr/>
              <a:lstStyle/>
              <a:p>
                <a:r>
                  <a:rPr lang="en-US">
                    <a:noFill/>
                  </a:rPr>
                  <a:t> </a:t>
                </a:r>
              </a:p>
            </p:txBody>
          </p:sp>
        </mc:Fallback>
      </mc:AlternateContent>
      <p:sp>
        <p:nvSpPr>
          <p:cNvPr id="69" name="Oval 68">
            <a:extLst>
              <a:ext uri="{FF2B5EF4-FFF2-40B4-BE49-F238E27FC236}">
                <a16:creationId xmlns:a16="http://schemas.microsoft.com/office/drawing/2014/main" id="{BDD11F87-DA81-9510-C1CB-0AF4093562CB}"/>
              </a:ext>
            </a:extLst>
          </p:cNvPr>
          <p:cNvSpPr/>
          <p:nvPr/>
        </p:nvSpPr>
        <p:spPr>
          <a:xfrm rot="5400000">
            <a:off x="10505403" y="193394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0" name="Oval 69">
            <a:extLst>
              <a:ext uri="{FF2B5EF4-FFF2-40B4-BE49-F238E27FC236}">
                <a16:creationId xmlns:a16="http://schemas.microsoft.com/office/drawing/2014/main" id="{BDD11F87-DA81-9510-C1CB-0AF4093562CB}"/>
              </a:ext>
            </a:extLst>
          </p:cNvPr>
          <p:cNvSpPr/>
          <p:nvPr/>
        </p:nvSpPr>
        <p:spPr>
          <a:xfrm rot="5400000">
            <a:off x="9793030" y="265402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1" name="Oval 70">
            <a:extLst>
              <a:ext uri="{FF2B5EF4-FFF2-40B4-BE49-F238E27FC236}">
                <a16:creationId xmlns:a16="http://schemas.microsoft.com/office/drawing/2014/main" id="{BDD11F87-DA81-9510-C1CB-0AF4093562CB}"/>
              </a:ext>
            </a:extLst>
          </p:cNvPr>
          <p:cNvSpPr/>
          <p:nvPr/>
        </p:nvSpPr>
        <p:spPr>
          <a:xfrm rot="5400000">
            <a:off x="11225483" y="265402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2" name="Straight Connector 71">
            <a:extLst>
              <a:ext uri="{FF2B5EF4-FFF2-40B4-BE49-F238E27FC236}">
                <a16:creationId xmlns:a16="http://schemas.microsoft.com/office/drawing/2014/main" id="{6205DD86-315C-53B6-CEEF-A9919650168E}"/>
              </a:ext>
            </a:extLst>
          </p:cNvPr>
          <p:cNvCxnSpPr>
            <a:cxnSpLocks/>
            <a:stCxn id="69" idx="5"/>
            <a:endCxn id="70" idx="1"/>
          </p:cNvCxnSpPr>
          <p:nvPr/>
        </p:nvCxnSpPr>
        <p:spPr>
          <a:xfrm flipH="1">
            <a:off x="9915942" y="2056856"/>
            <a:ext cx="610549"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3" name="Straight Connector 72">
            <a:extLst>
              <a:ext uri="{FF2B5EF4-FFF2-40B4-BE49-F238E27FC236}">
                <a16:creationId xmlns:a16="http://schemas.microsoft.com/office/drawing/2014/main" id="{6205DD86-315C-53B6-CEEF-A9919650168E}"/>
              </a:ext>
            </a:extLst>
          </p:cNvPr>
          <p:cNvCxnSpPr>
            <a:cxnSpLocks/>
            <a:stCxn id="69" idx="7"/>
            <a:endCxn id="71" idx="3"/>
          </p:cNvCxnSpPr>
          <p:nvPr/>
        </p:nvCxnSpPr>
        <p:spPr>
          <a:xfrm>
            <a:off x="10628315" y="2056856"/>
            <a:ext cx="618256"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4" name="Straight Connector 73">
            <a:extLst>
              <a:ext uri="{FF2B5EF4-FFF2-40B4-BE49-F238E27FC236}">
                <a16:creationId xmlns:a16="http://schemas.microsoft.com/office/drawing/2014/main" id="{6205DD86-315C-53B6-CEEF-A9919650168E}"/>
              </a:ext>
            </a:extLst>
          </p:cNvPr>
          <p:cNvCxnSpPr>
            <a:cxnSpLocks/>
            <a:stCxn id="71" idx="4"/>
            <a:endCxn id="70" idx="0"/>
          </p:cNvCxnSpPr>
          <p:nvPr/>
        </p:nvCxnSpPr>
        <p:spPr>
          <a:xfrm flipH="1">
            <a:off x="9937030" y="2726024"/>
            <a:ext cx="128845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5" name="Oval 74">
            <a:extLst>
              <a:ext uri="{FF2B5EF4-FFF2-40B4-BE49-F238E27FC236}">
                <a16:creationId xmlns:a16="http://schemas.microsoft.com/office/drawing/2014/main" id="{BDD11F87-DA81-9510-C1CB-0AF4093562CB}"/>
              </a:ext>
            </a:extLst>
          </p:cNvPr>
          <p:cNvSpPr/>
          <p:nvPr/>
        </p:nvSpPr>
        <p:spPr>
          <a:xfrm rot="5400000">
            <a:off x="9785323" y="409418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6" name="Oval 75">
            <a:extLst>
              <a:ext uri="{FF2B5EF4-FFF2-40B4-BE49-F238E27FC236}">
                <a16:creationId xmlns:a16="http://schemas.microsoft.com/office/drawing/2014/main" id="{BDD11F87-DA81-9510-C1CB-0AF4093562CB}"/>
              </a:ext>
            </a:extLst>
          </p:cNvPr>
          <p:cNvSpPr/>
          <p:nvPr/>
        </p:nvSpPr>
        <p:spPr>
          <a:xfrm rot="5400000">
            <a:off x="11225483" y="409418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7" name="Straight Connector 76">
            <a:extLst>
              <a:ext uri="{FF2B5EF4-FFF2-40B4-BE49-F238E27FC236}">
                <a16:creationId xmlns:a16="http://schemas.microsoft.com/office/drawing/2014/main" id="{6205DD86-315C-53B6-CEEF-A9919650168E}"/>
              </a:ext>
            </a:extLst>
          </p:cNvPr>
          <p:cNvCxnSpPr>
            <a:cxnSpLocks/>
            <a:stCxn id="70" idx="6"/>
            <a:endCxn id="75" idx="2"/>
          </p:cNvCxnSpPr>
          <p:nvPr/>
        </p:nvCxnSpPr>
        <p:spPr>
          <a:xfrm flipH="1">
            <a:off x="9857323" y="2798024"/>
            <a:ext cx="7707"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8" name="Straight Connector 77">
            <a:extLst>
              <a:ext uri="{FF2B5EF4-FFF2-40B4-BE49-F238E27FC236}">
                <a16:creationId xmlns:a16="http://schemas.microsoft.com/office/drawing/2014/main" id="{6205DD86-315C-53B6-CEEF-A9919650168E}"/>
              </a:ext>
            </a:extLst>
          </p:cNvPr>
          <p:cNvCxnSpPr>
            <a:cxnSpLocks/>
            <a:stCxn id="71" idx="6"/>
            <a:endCxn id="76" idx="2"/>
          </p:cNvCxnSpPr>
          <p:nvPr/>
        </p:nvCxnSpPr>
        <p:spPr>
          <a:xfrm>
            <a:off x="11297483" y="2798024"/>
            <a:ext cx="0"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9" name="Straight Connector 78">
            <a:extLst>
              <a:ext uri="{FF2B5EF4-FFF2-40B4-BE49-F238E27FC236}">
                <a16:creationId xmlns:a16="http://schemas.microsoft.com/office/drawing/2014/main" id="{6205DD86-315C-53B6-CEEF-A9919650168E}"/>
              </a:ext>
            </a:extLst>
          </p:cNvPr>
          <p:cNvCxnSpPr>
            <a:cxnSpLocks/>
            <a:stCxn id="76" idx="4"/>
            <a:endCxn id="75" idx="0"/>
          </p:cNvCxnSpPr>
          <p:nvPr/>
        </p:nvCxnSpPr>
        <p:spPr>
          <a:xfrm flipH="1">
            <a:off x="9929323" y="4166184"/>
            <a:ext cx="129616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0" name="Straight Connector 79">
            <a:extLst>
              <a:ext uri="{FF2B5EF4-FFF2-40B4-BE49-F238E27FC236}">
                <a16:creationId xmlns:a16="http://schemas.microsoft.com/office/drawing/2014/main" id="{6205DD86-315C-53B6-CEEF-A9919650168E}"/>
              </a:ext>
            </a:extLst>
          </p:cNvPr>
          <p:cNvCxnSpPr>
            <a:cxnSpLocks/>
            <a:stCxn id="76" idx="3"/>
            <a:endCxn id="70" idx="7"/>
          </p:cNvCxnSpPr>
          <p:nvPr/>
        </p:nvCxnSpPr>
        <p:spPr>
          <a:xfrm flipH="1" flipV="1">
            <a:off x="9915942" y="2776936"/>
            <a:ext cx="1330629" cy="13383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81" name="Freeform: Shape 34">
            <a:extLst>
              <a:ext uri="{FF2B5EF4-FFF2-40B4-BE49-F238E27FC236}">
                <a16:creationId xmlns:a16="http://schemas.microsoft.com/office/drawing/2014/main" id="{5A43D9D2-4CAA-3544-4E99-2BE62F8BF717}"/>
              </a:ext>
            </a:extLst>
          </p:cNvPr>
          <p:cNvSpPr/>
          <p:nvPr/>
        </p:nvSpPr>
        <p:spPr>
          <a:xfrm rot="6444775" flipV="1">
            <a:off x="8512287" y="2375438"/>
            <a:ext cx="2264467" cy="1094257"/>
          </a:xfrm>
          <a:custGeom>
            <a:avLst/>
            <a:gdLst>
              <a:gd name="connsiteX0" fmla="*/ 0 w 2961249"/>
              <a:gd name="connsiteY0" fmla="*/ 436103 h 436103"/>
              <a:gd name="connsiteX1" fmla="*/ 942535 w 2961249"/>
              <a:gd name="connsiteY1" fmla="*/ 63310 h 436103"/>
              <a:gd name="connsiteX2" fmla="*/ 1892104 w 2961249"/>
              <a:gd name="connsiteY2" fmla="*/ 35174 h 436103"/>
              <a:gd name="connsiteX3" fmla="*/ 2961249 w 2961249"/>
              <a:gd name="connsiteY3" fmla="*/ 422036 h 436103"/>
              <a:gd name="connsiteX4" fmla="*/ 2961249 w 2961249"/>
              <a:gd name="connsiteY4" fmla="*/ 422036 h 436103"/>
              <a:gd name="connsiteX5" fmla="*/ 2961249 w 2961249"/>
              <a:gd name="connsiteY5" fmla="*/ 422036 h 436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61249" h="436103">
                <a:moveTo>
                  <a:pt x="0" y="436103"/>
                </a:moveTo>
                <a:cubicBezTo>
                  <a:pt x="313592" y="283117"/>
                  <a:pt x="627184" y="130131"/>
                  <a:pt x="942535" y="63310"/>
                </a:cubicBezTo>
                <a:cubicBezTo>
                  <a:pt x="1257886" y="-3512"/>
                  <a:pt x="1555652" y="-24614"/>
                  <a:pt x="1892104" y="35174"/>
                </a:cubicBezTo>
                <a:cubicBezTo>
                  <a:pt x="2228556" y="94962"/>
                  <a:pt x="2961249" y="422036"/>
                  <a:pt x="2961249" y="422036"/>
                </a:cubicBezTo>
                <a:lnTo>
                  <a:pt x="2961249" y="422036"/>
                </a:lnTo>
                <a:lnTo>
                  <a:pt x="2961249" y="422036"/>
                </a:lnTo>
              </a:path>
            </a:pathLst>
          </a:cu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2" name="TextBox 81"/>
          <p:cNvSpPr txBox="1"/>
          <p:nvPr/>
        </p:nvSpPr>
        <p:spPr>
          <a:xfrm>
            <a:off x="9148260" y="2613358"/>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83" name="TextBox 82"/>
          <p:cNvSpPr txBox="1"/>
          <p:nvPr/>
        </p:nvSpPr>
        <p:spPr>
          <a:xfrm>
            <a:off x="10396412" y="2613358"/>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84" name="TextBox 83"/>
          <p:cNvSpPr txBox="1"/>
          <p:nvPr/>
        </p:nvSpPr>
        <p:spPr>
          <a:xfrm>
            <a:off x="9803891" y="3142586"/>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85" name="TextBox 84"/>
          <p:cNvSpPr txBox="1"/>
          <p:nvPr/>
        </p:nvSpPr>
        <p:spPr>
          <a:xfrm>
            <a:off x="11318555" y="3179768"/>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86" name="TextBox 85"/>
          <p:cNvSpPr txBox="1"/>
          <p:nvPr/>
        </p:nvSpPr>
        <p:spPr>
          <a:xfrm>
            <a:off x="10496144" y="3038546"/>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87" name="TextBox 86"/>
          <p:cNvSpPr txBox="1"/>
          <p:nvPr/>
        </p:nvSpPr>
        <p:spPr>
          <a:xfrm>
            <a:off x="10846537" y="1915738"/>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88" name="TextBox 87"/>
          <p:cNvSpPr txBox="1"/>
          <p:nvPr/>
        </p:nvSpPr>
        <p:spPr>
          <a:xfrm>
            <a:off x="10426730" y="4021793"/>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89" name="TextBox 88"/>
          <p:cNvSpPr txBox="1"/>
          <p:nvPr/>
        </p:nvSpPr>
        <p:spPr>
          <a:xfrm>
            <a:off x="10205885" y="2107292"/>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Tree>
    <p:extLst>
      <p:ext uri="{BB962C8B-B14F-4D97-AF65-F5344CB8AC3E}">
        <p14:creationId xmlns:p14="http://schemas.microsoft.com/office/powerpoint/2010/main" val="16818466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7" presetClass="emph" presetSubtype="2" fill="hold" nodeType="clickEffect">
                                  <p:stCondLst>
                                    <p:cond delay="0"/>
                                  </p:stCondLst>
                                  <p:childTnLst>
                                    <p:animClr clrSpc="rgb" dir="cw">
                                      <p:cBhvr>
                                        <p:cTn id="10" dur="500" fill="hold"/>
                                        <p:tgtEl>
                                          <p:spTgt spid="77"/>
                                        </p:tgtEl>
                                        <p:attrNameLst>
                                          <p:attrName>stroke.color</p:attrName>
                                        </p:attrNameLst>
                                      </p:cBhvr>
                                      <p:to>
                                        <a:srgbClr val="92D050"/>
                                      </p:to>
                                    </p:animClr>
                                    <p:set>
                                      <p:cBhvr>
                                        <p:cTn id="11" dur="500" fill="hold"/>
                                        <p:tgtEl>
                                          <p:spTgt spid="77"/>
                                        </p:tgtEl>
                                        <p:attrNameLst>
                                          <p:attrName>stroke.on</p:attrName>
                                        </p:attrNameLst>
                                      </p:cBhvr>
                                      <p:to>
                                        <p:strVal val="true"/>
                                      </p:to>
                                    </p:set>
                                  </p:childTnLst>
                                </p:cTn>
                              </p:par>
                            </p:childTnLst>
                          </p:cTn>
                        </p:par>
                        <p:par>
                          <p:cTn id="12" fill="hold">
                            <p:stCondLst>
                              <p:cond delay="500"/>
                            </p:stCondLst>
                            <p:childTnLst>
                              <p:par>
                                <p:cTn id="13" presetID="7" presetClass="emph" presetSubtype="2" fill="hold" nodeType="afterEffect">
                                  <p:stCondLst>
                                    <p:cond delay="0"/>
                                  </p:stCondLst>
                                  <p:childTnLst>
                                    <p:animClr clrSpc="rgb" dir="cw">
                                      <p:cBhvr>
                                        <p:cTn id="14" dur="500" fill="hold"/>
                                        <p:tgtEl>
                                          <p:spTgt spid="72"/>
                                        </p:tgtEl>
                                        <p:attrNameLst>
                                          <p:attrName>stroke.color</p:attrName>
                                        </p:attrNameLst>
                                      </p:cBhvr>
                                      <p:to>
                                        <a:srgbClr val="92D050"/>
                                      </p:to>
                                    </p:animClr>
                                    <p:set>
                                      <p:cBhvr>
                                        <p:cTn id="15" dur="500" fill="hold"/>
                                        <p:tgtEl>
                                          <p:spTgt spid="72"/>
                                        </p:tgtEl>
                                        <p:attrNameLst>
                                          <p:attrName>stroke.on</p:attrName>
                                        </p:attrNameLst>
                                      </p:cBhvr>
                                      <p:to>
                                        <p:strVal val="true"/>
                                      </p:to>
                                    </p:set>
                                  </p:childTnLst>
                                </p:cTn>
                              </p:par>
                            </p:childTnLst>
                          </p:cTn>
                        </p:par>
                        <p:par>
                          <p:cTn id="16" fill="hold">
                            <p:stCondLst>
                              <p:cond delay="1000"/>
                            </p:stCondLst>
                            <p:childTnLst>
                              <p:par>
                                <p:cTn id="17" presetID="7" presetClass="emph" presetSubtype="2" fill="hold" nodeType="afterEffect">
                                  <p:stCondLst>
                                    <p:cond delay="0"/>
                                  </p:stCondLst>
                                  <p:childTnLst>
                                    <p:animClr clrSpc="rgb" dir="cw">
                                      <p:cBhvr>
                                        <p:cTn id="18" dur="500" fill="hold"/>
                                        <p:tgtEl>
                                          <p:spTgt spid="73"/>
                                        </p:tgtEl>
                                        <p:attrNameLst>
                                          <p:attrName>stroke.color</p:attrName>
                                        </p:attrNameLst>
                                      </p:cBhvr>
                                      <p:to>
                                        <a:srgbClr val="92D050"/>
                                      </p:to>
                                    </p:animClr>
                                    <p:set>
                                      <p:cBhvr>
                                        <p:cTn id="19" dur="500" fill="hold"/>
                                        <p:tgtEl>
                                          <p:spTgt spid="73"/>
                                        </p:tgtEl>
                                        <p:attrNameLst>
                                          <p:attrName>stroke.on</p:attrName>
                                        </p:attrNameLst>
                                      </p:cBhvr>
                                      <p:to>
                                        <p:strVal val="true"/>
                                      </p:to>
                                    </p:set>
                                  </p:childTnLst>
                                </p:cTn>
                              </p:par>
                            </p:childTnLst>
                          </p:cTn>
                        </p:par>
                        <p:par>
                          <p:cTn id="20" fill="hold">
                            <p:stCondLst>
                              <p:cond delay="1500"/>
                            </p:stCondLst>
                            <p:childTnLst>
                              <p:par>
                                <p:cTn id="21" presetID="7" presetClass="emph" presetSubtype="2" fill="hold" nodeType="afterEffect">
                                  <p:stCondLst>
                                    <p:cond delay="0"/>
                                  </p:stCondLst>
                                  <p:childTnLst>
                                    <p:animClr clrSpc="rgb" dir="cw">
                                      <p:cBhvr>
                                        <p:cTn id="22" dur="500" fill="hold"/>
                                        <p:tgtEl>
                                          <p:spTgt spid="78"/>
                                        </p:tgtEl>
                                        <p:attrNameLst>
                                          <p:attrName>stroke.color</p:attrName>
                                        </p:attrNameLst>
                                      </p:cBhvr>
                                      <p:to>
                                        <a:srgbClr val="92D050"/>
                                      </p:to>
                                    </p:animClr>
                                    <p:set>
                                      <p:cBhvr>
                                        <p:cTn id="23" dur="500" fill="hold"/>
                                        <p:tgtEl>
                                          <p:spTgt spid="78"/>
                                        </p:tgtEl>
                                        <p:attrNameLst>
                                          <p:attrName>stroke.on</p:attrName>
                                        </p:attrNameLst>
                                      </p:cBhvr>
                                      <p:to>
                                        <p:strVal val="tru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9"/>
            <a:ext cx="11929645" cy="544937"/>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pPr algn="just">
              <a:spcBef>
                <a:spcPts val="1200"/>
              </a:spcBef>
              <a:spcAft>
                <a:spcPts val="0"/>
              </a:spcAft>
              <a:tabLst>
                <a:tab pos="447675" algn="l"/>
              </a:tabLst>
            </a:pPr>
            <a:r>
              <a:rPr lang="en-US" sz="2800" dirty="0">
                <a:solidFill>
                  <a:schemeClr val="bg1"/>
                </a:solidFill>
              </a:rPr>
              <a:t>Find the rank and nullity of the following graph. </a:t>
            </a:r>
            <a:endParaRPr lang="en-US" sz="2800" b="1" dirty="0">
              <a:solidFill>
                <a:srgbClr val="C00000"/>
              </a:solidFill>
              <a:latin typeface="Cambria" panose="02040503050406030204" pitchFamily="18" charset="0"/>
              <a:ea typeface="Calibri" panose="020F0502020204030204" pitchFamily="34" charset="0"/>
              <a:cs typeface="Shruti" panose="020B0502040204020203" pitchFamily="34" charset="0"/>
            </a:endParaRPr>
          </a:p>
        </p:txBody>
      </p:sp>
      <p:sp>
        <p:nvSpPr>
          <p:cNvPr id="16" name="Content Placeholder 2">
            <a:extLst>
              <a:ext uri="{FF2B5EF4-FFF2-40B4-BE49-F238E27FC236}">
                <a16:creationId xmlns:a16="http://schemas.microsoft.com/office/drawing/2014/main" id="{635C8299-099D-4E74-A7B7-29B2E1FD450E}"/>
              </a:ext>
            </a:extLst>
          </p:cNvPr>
          <p:cNvSpPr txBox="1">
            <a:spLocks/>
          </p:cNvSpPr>
          <p:nvPr/>
        </p:nvSpPr>
        <p:spPr>
          <a:xfrm>
            <a:off x="119336" y="1465620"/>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3 ⇝ Example 4</a:t>
            </a:r>
            <a:endParaRPr lang="en-US" dirty="0"/>
          </a:p>
        </p:txBody>
      </p:sp>
      <p:pic>
        <p:nvPicPr>
          <p:cNvPr id="5121" name="Picture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44949" y="1940169"/>
            <a:ext cx="2717283" cy="18002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8" name="Rectangle 7"/>
              <p:cNvSpPr/>
              <p:nvPr/>
            </p:nvSpPr>
            <p:spPr>
              <a:xfrm>
                <a:off x="0" y="2098894"/>
                <a:ext cx="8832304" cy="1641475"/>
              </a:xfrm>
              <a:prstGeom prst="rect">
                <a:avLst/>
              </a:prstGeom>
            </p:spPr>
            <p:txBody>
              <a:bodyPr wrap="square">
                <a:spAutoFit/>
              </a:bodyPr>
              <a:lstStyle/>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Here order </a:t>
                </a:r>
                <a14:m>
                  <m:oMath xmlns:m="http://schemas.openxmlformats.org/officeDocument/2006/math">
                    <m:r>
                      <m:rPr>
                        <m:sty m:val="p"/>
                      </m:rPr>
                      <a:rPr lang="en-US" sz="2800">
                        <a:solidFill>
                          <a:srgbClr val="002060"/>
                        </a:solidFill>
                        <a:latin typeface="Cambria Math" panose="02040503050406030204" pitchFamily="18" charset="0"/>
                      </a:rPr>
                      <m:t>n</m:t>
                    </m:r>
                    <m:r>
                      <a:rPr lang="en-US" sz="2800">
                        <a:solidFill>
                          <a:srgbClr val="002060"/>
                        </a:solidFill>
                        <a:latin typeface="Cambria Math" panose="02040503050406030204" pitchFamily="18" charset="0"/>
                      </a:rPr>
                      <m:t>=7 </m:t>
                    </m:r>
                  </m:oMath>
                </a14:m>
                <a:r>
                  <a:rPr lang="en-US" sz="2800" dirty="0">
                    <a:solidFill>
                      <a:srgbClr val="002060"/>
                    </a:solidFill>
                  </a:rPr>
                  <a:t>and size </a:t>
                </a:r>
                <a14:m>
                  <m:oMath xmlns:m="http://schemas.openxmlformats.org/officeDocument/2006/math">
                    <m:r>
                      <m:rPr>
                        <m:sty m:val="p"/>
                      </m:rPr>
                      <a:rPr lang="en-US" sz="2800">
                        <a:solidFill>
                          <a:srgbClr val="002060"/>
                        </a:solidFill>
                        <a:latin typeface="Cambria Math" panose="02040503050406030204" pitchFamily="18" charset="0"/>
                      </a:rPr>
                      <m:t>e</m:t>
                    </m:r>
                    <m:r>
                      <a:rPr lang="en-US" sz="2800">
                        <a:solidFill>
                          <a:srgbClr val="002060"/>
                        </a:solidFill>
                        <a:latin typeface="Cambria Math" panose="02040503050406030204" pitchFamily="18" charset="0"/>
                      </a:rPr>
                      <m:t>=13</m:t>
                    </m:r>
                  </m:oMath>
                </a14:m>
                <a:r>
                  <a:rPr lang="en-US" sz="2800" dirty="0">
                    <a:solidFill>
                      <a:srgbClr val="002060"/>
                    </a:solidFill>
                  </a:rPr>
                  <a:t>.</a:t>
                </a:r>
              </a:p>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Rank</a:t>
                </a:r>
                <a14:m>
                  <m:oMath xmlns:m="http://schemas.openxmlformats.org/officeDocument/2006/math">
                    <m:r>
                      <a:rPr lang="en-US" sz="2800" b="0" i="0" dirty="0" smtClean="0">
                        <a:solidFill>
                          <a:srgbClr val="002060"/>
                        </a:solidFill>
                        <a:latin typeface="Cambria Math" panose="02040503050406030204" pitchFamily="18" charset="0"/>
                      </a:rPr>
                      <m:t> </m:t>
                    </m:r>
                    <m:r>
                      <a:rPr lang="en-US" sz="2800" i="0" dirty="0" smtClean="0">
                        <a:solidFill>
                          <a:srgbClr val="002060"/>
                        </a:solidFill>
                        <a:latin typeface="Cambria Math" panose="02040503050406030204" pitchFamily="18" charset="0"/>
                      </a:rPr>
                      <m:t>=</m:t>
                    </m:r>
                    <m:r>
                      <m:rPr>
                        <m:sty m:val="p"/>
                      </m:rPr>
                      <a:rPr lang="en-US" sz="2800" b="0" i="0" dirty="0" smtClean="0">
                        <a:solidFill>
                          <a:srgbClr val="002060"/>
                        </a:solidFill>
                        <a:latin typeface="Cambria Math" panose="02040503050406030204" pitchFamily="18" charset="0"/>
                      </a:rPr>
                      <m:t>n</m:t>
                    </m:r>
                    <m:r>
                      <a:rPr lang="en-US" sz="2800" b="0" i="0" dirty="0" smtClean="0">
                        <a:solidFill>
                          <a:srgbClr val="002060"/>
                        </a:solidFill>
                        <a:latin typeface="Cambria Math" panose="02040503050406030204" pitchFamily="18" charset="0"/>
                      </a:rPr>
                      <m:t>−1=7−1=6</m:t>
                    </m:r>
                  </m:oMath>
                </a14:m>
                <a:endParaRPr lang="en-US" sz="2800" dirty="0">
                  <a:solidFill>
                    <a:srgbClr val="002060"/>
                  </a:solidFill>
                </a:endParaRPr>
              </a:p>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Nullity</a:t>
                </a:r>
                <a14:m>
                  <m:oMath xmlns:m="http://schemas.openxmlformats.org/officeDocument/2006/math">
                    <m:r>
                      <a:rPr lang="en-US" sz="2800" b="0" i="0" smtClean="0">
                        <a:solidFill>
                          <a:srgbClr val="002060"/>
                        </a:solidFill>
                        <a:latin typeface="Cambria Math" panose="02040503050406030204" pitchFamily="18" charset="0"/>
                      </a:rPr>
                      <m:t> </m:t>
                    </m:r>
                    <m:r>
                      <a:rPr lang="en-US" sz="2800" b="0" i="1" smtClean="0">
                        <a:solidFill>
                          <a:srgbClr val="002060"/>
                        </a:solidFill>
                        <a:latin typeface="Cambria Math" panose="02040503050406030204" pitchFamily="18" charset="0"/>
                      </a:rPr>
                      <m:t>=</m:t>
                    </m:r>
                    <m:r>
                      <m:rPr>
                        <m:sty m:val="p"/>
                      </m:rPr>
                      <a:rPr lang="en-US" sz="2800" b="0" i="0" smtClean="0">
                        <a:solidFill>
                          <a:srgbClr val="002060"/>
                        </a:solidFill>
                        <a:latin typeface="Cambria Math" panose="02040503050406030204" pitchFamily="18" charset="0"/>
                      </a:rPr>
                      <m:t>e</m:t>
                    </m:r>
                    <m:r>
                      <a:rPr lang="en-US" sz="2800" b="0" i="0" smtClean="0">
                        <a:solidFill>
                          <a:srgbClr val="002060"/>
                        </a:solidFill>
                        <a:latin typeface="Cambria Math" panose="02040503050406030204" pitchFamily="18" charset="0"/>
                      </a:rPr>
                      <m:t>−</m:t>
                    </m:r>
                    <m:r>
                      <m:rPr>
                        <m:sty m:val="p"/>
                      </m:rPr>
                      <a:rPr lang="en-US" sz="2800" b="0" i="0" smtClean="0">
                        <a:solidFill>
                          <a:srgbClr val="002060"/>
                        </a:solidFill>
                        <a:latin typeface="Cambria Math" panose="02040503050406030204" pitchFamily="18" charset="0"/>
                      </a:rPr>
                      <m:t>n</m:t>
                    </m:r>
                    <m:r>
                      <a:rPr lang="en-US" sz="2800" b="0" i="0" smtClean="0">
                        <a:solidFill>
                          <a:srgbClr val="002060"/>
                        </a:solidFill>
                        <a:latin typeface="Cambria Math" panose="02040503050406030204" pitchFamily="18" charset="0"/>
                      </a:rPr>
                      <m:t>+1=12−7+1=6</m:t>
                    </m:r>
                  </m:oMath>
                </a14:m>
                <a:endParaRPr lang="en-US" sz="2800" dirty="0">
                  <a:solidFill>
                    <a:srgbClr val="002060"/>
                  </a:solidFill>
                </a:endParaRPr>
              </a:p>
            </p:txBody>
          </p:sp>
        </mc:Choice>
        <mc:Fallback xmlns="">
          <p:sp>
            <p:nvSpPr>
              <p:cNvPr id="8" name="Rectangle 7"/>
              <p:cNvSpPr>
                <a:spLocks noRot="1" noChangeAspect="1" noMove="1" noResize="1" noEditPoints="1" noAdjustHandles="1" noChangeArrowheads="1" noChangeShapeType="1" noTextEdit="1"/>
              </p:cNvSpPr>
              <p:nvPr/>
            </p:nvSpPr>
            <p:spPr>
              <a:xfrm>
                <a:off x="0" y="2098894"/>
                <a:ext cx="8832304" cy="1641475"/>
              </a:xfrm>
              <a:prstGeom prst="rect">
                <a:avLst/>
              </a:prstGeom>
              <a:blipFill rotWithShape="0">
                <a:blip r:embed="rId3"/>
                <a:stretch>
                  <a:fillRect l="-1242" t="-3704" b="-9259"/>
                </a:stretch>
              </a:blipFill>
            </p:spPr>
            <p:txBody>
              <a:bodyPr/>
              <a:lstStyle/>
              <a:p>
                <a:r>
                  <a:rPr lang="en-US">
                    <a:noFill/>
                  </a:rPr>
                  <a:t> </a:t>
                </a:r>
              </a:p>
            </p:txBody>
          </p:sp>
        </mc:Fallback>
      </mc:AlternateContent>
    </p:spTree>
    <p:extLst>
      <p:ext uri="{BB962C8B-B14F-4D97-AF65-F5344CB8AC3E}">
        <p14:creationId xmlns:p14="http://schemas.microsoft.com/office/powerpoint/2010/main" val="38842971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u="sng" dirty="0">
                <a:uFill>
                  <a:solidFill>
                    <a:schemeClr val="bg1"/>
                  </a:solidFill>
                </a:uFill>
              </a:rPr>
              <a:t>Method – 4</a:t>
            </a:r>
            <a:br>
              <a:rPr lang="en-US" dirty="0">
                <a:hlinkClick r:id="rId2" action="ppaction://hlinksldjump">
                  <a:extLst>
                    <a:ext uri="{A12FA001-AC4F-418D-AE19-62706E023703}">
                      <ahyp:hlinkClr xmlns:ahyp="http://schemas.microsoft.com/office/drawing/2018/hyperlinkcolor" val="tx"/>
                    </a:ext>
                  </a:extLst>
                </a:hlinkClick>
              </a:rPr>
            </a:br>
            <a:r>
              <a:rPr lang="en-US" dirty="0"/>
              <a:t>Fundamental Circuits &amp;</a:t>
            </a:r>
            <a:br>
              <a:rPr lang="en-US" dirty="0"/>
            </a:br>
            <a:r>
              <a:rPr lang="en-US" dirty="0"/>
              <a:t>Finding all Spanning Trees of Graphs</a:t>
            </a:r>
          </a:p>
        </p:txBody>
      </p:sp>
    </p:spTree>
    <p:extLst>
      <p:ext uri="{BB962C8B-B14F-4D97-AF65-F5344CB8AC3E}">
        <p14:creationId xmlns:p14="http://schemas.microsoft.com/office/powerpoint/2010/main" val="148226860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US" dirty="0"/>
              <a:t>Fundamental Circuits</a:t>
            </a:r>
          </a:p>
        </p:txBody>
      </p:sp>
      <mc:AlternateContent xmlns:mc="http://schemas.openxmlformats.org/markup-compatibility/2006" xmlns:a14="http://schemas.microsoft.com/office/drawing/2010/main">
        <mc:Choice Requires="a14">
          <p:sp>
            <p:nvSpPr>
              <p:cNvPr id="5" name="Rectangle 4"/>
              <p:cNvSpPr/>
              <p:nvPr/>
            </p:nvSpPr>
            <p:spPr>
              <a:xfrm>
                <a:off x="16409" y="729966"/>
                <a:ext cx="11935185" cy="2072362"/>
              </a:xfrm>
              <a:prstGeom prst="rect">
                <a:avLst/>
              </a:prstGeom>
            </p:spPr>
            <p:txBody>
              <a:bodyPr wrap="square">
                <a:spAutoFit/>
              </a:bodyPr>
              <a:lstStyle/>
              <a:p>
                <a:pPr marL="265113" indent="-265113" algn="just">
                  <a:spcBef>
                    <a:spcPts val="1000"/>
                  </a:spcBef>
                  <a:buClr>
                    <a:srgbClr val="B84742"/>
                  </a:buClr>
                  <a:buFont typeface="Wingdings 3" panose="05040102010807070707" pitchFamily="18" charset="2"/>
                  <a:buChar char=""/>
                </a:pPr>
                <a:r>
                  <a:rPr lang="en-IN" sz="2800" b="1" dirty="0">
                    <a:solidFill>
                      <a:srgbClr val="002060"/>
                    </a:solidFill>
                  </a:rPr>
                  <a:t>Definition:</a:t>
                </a:r>
                <a:r>
                  <a:rPr lang="en-IN" sz="2800" b="1" dirty="0"/>
                  <a:t> </a:t>
                </a:r>
                <a:r>
                  <a:rPr lang="en-US" sz="2800" dirty="0">
                    <a:solidFill>
                      <a:srgbClr val="002060"/>
                    </a:solidFill>
                  </a:rPr>
                  <a:t>A circuit, formed </a:t>
                </a:r>
                <a:r>
                  <a:rPr lang="en-US" sz="2800" b="1" dirty="0">
                    <a:solidFill>
                      <a:srgbClr val="002060"/>
                    </a:solidFill>
                  </a:rPr>
                  <a:t>by adding a chord to a spanning tree</a:t>
                </a:r>
                <a:r>
                  <a:rPr lang="en-US" sz="2800" dirty="0">
                    <a:solidFill>
                      <a:srgbClr val="002060"/>
                    </a:solidFill>
                  </a:rPr>
                  <a:t>, is called a 		</a:t>
                </a:r>
                <a:r>
                  <a:rPr lang="en-US" sz="2800" dirty="0">
                    <a:solidFill>
                      <a:srgbClr val="FF0000"/>
                    </a:solidFill>
                  </a:rPr>
                  <a:t>fundamental circuit</a:t>
                </a:r>
                <a:r>
                  <a:rPr lang="en-US" sz="2800" dirty="0">
                    <a:solidFill>
                      <a:srgbClr val="002060"/>
                    </a:solidFill>
                  </a:rPr>
                  <a:t>. </a:t>
                </a:r>
              </a:p>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Consider graph with spanning tree</a:t>
                </a:r>
                <a14:m>
                  <m:oMath xmlns:m="http://schemas.openxmlformats.org/officeDocument/2006/math">
                    <m:r>
                      <a:rPr lang="en-US" sz="2800" b="0" i="1" smtClean="0">
                        <a:solidFill>
                          <a:srgbClr val="002060"/>
                        </a:solidFill>
                        <a:latin typeface="Cambria Math" panose="02040503050406030204" pitchFamily="18" charset="0"/>
                      </a:rPr>
                      <m:t> </m:t>
                    </m:r>
                    <m:d>
                      <m:dPr>
                        <m:begChr m:val="{"/>
                        <m:endChr m:val="}"/>
                        <m:ctrlPr>
                          <a:rPr lang="en-US" sz="2800" b="0" i="1" smtClean="0">
                            <a:solidFill>
                              <a:srgbClr val="002060"/>
                            </a:solidFill>
                            <a:latin typeface="Cambria Math" panose="02040503050406030204" pitchFamily="18" charset="0"/>
                          </a:rPr>
                        </m:ctrlPr>
                      </m:dPr>
                      <m:e>
                        <m:r>
                          <m:rPr>
                            <m:sty m:val="p"/>
                          </m:rPr>
                          <a:rPr lang="en-US" sz="2800" b="0" i="0" smtClean="0">
                            <a:solidFill>
                              <a:srgbClr val="002060"/>
                            </a:solidFill>
                            <a:latin typeface="Cambria Math" panose="02040503050406030204" pitchFamily="18" charset="0"/>
                          </a:rPr>
                          <m:t>c</m:t>
                        </m:r>
                        <m:r>
                          <a:rPr lang="en-US" sz="2800" b="0" i="0" smtClean="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b</m:t>
                        </m:r>
                        <m:r>
                          <a:rPr lang="en-US" sz="2800" b="0" i="0" smtClean="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h</m:t>
                        </m:r>
                        <m:r>
                          <a:rPr lang="en-US" sz="2800" b="0" i="0" smtClean="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i</m:t>
                        </m:r>
                        <m:r>
                          <a:rPr lang="en-US" sz="2800" b="0" i="0" smtClean="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j</m:t>
                        </m:r>
                        <m:r>
                          <a:rPr lang="en-US" sz="2800" b="0" i="0" smtClean="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l</m:t>
                        </m:r>
                      </m:e>
                    </m:d>
                  </m:oMath>
                </a14:m>
                <a:r>
                  <a:rPr lang="en-US" sz="2800" dirty="0">
                    <a:solidFill>
                      <a:srgbClr val="002060"/>
                    </a:solidFill>
                  </a:rPr>
                  <a:t>. </a:t>
                </a:r>
              </a:p>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Here Branches are</a:t>
                </a:r>
                <a14:m>
                  <m:oMath xmlns:m="http://schemas.openxmlformats.org/officeDocument/2006/math">
                    <m:r>
                      <a:rPr lang="en-US" sz="2800" i="0" dirty="0" smtClean="0">
                        <a:solidFill>
                          <a:srgbClr val="002060"/>
                        </a:solidFill>
                        <a:latin typeface="Cambria Math" panose="02040503050406030204" pitchFamily="18" charset="0"/>
                      </a:rPr>
                      <m:t> </m:t>
                    </m:r>
                    <m:r>
                      <a:rPr lang="en-US" sz="2800" b="1" i="0" dirty="0" smtClean="0">
                        <a:solidFill>
                          <a:srgbClr val="002060"/>
                        </a:solidFill>
                        <a:latin typeface="Cambria Math" panose="02040503050406030204" pitchFamily="18" charset="0"/>
                      </a:rPr>
                      <m:t> </m:t>
                    </m:r>
                    <m:r>
                      <a:rPr lang="en-US" sz="2800" b="1" i="0" dirty="0" smtClean="0">
                        <a:solidFill>
                          <a:srgbClr val="002060"/>
                        </a:solidFill>
                        <a:latin typeface="Cambria Math" panose="02040503050406030204" pitchFamily="18" charset="0"/>
                      </a:rPr>
                      <m:t>𝐜</m:t>
                    </m:r>
                    <m:r>
                      <a:rPr lang="en-US" sz="2800" b="1" i="0" dirty="0" smtClean="0">
                        <a:solidFill>
                          <a:srgbClr val="002060"/>
                        </a:solidFill>
                        <a:latin typeface="Cambria Math" panose="02040503050406030204" pitchFamily="18" charset="0"/>
                      </a:rPr>
                      <m:t>,  </m:t>
                    </m:r>
                    <m:r>
                      <a:rPr lang="en-US" sz="2800" b="1" i="0" dirty="0" smtClean="0">
                        <a:solidFill>
                          <a:srgbClr val="002060"/>
                        </a:solidFill>
                        <a:latin typeface="Cambria Math" panose="02040503050406030204" pitchFamily="18" charset="0"/>
                      </a:rPr>
                      <m:t>𝐛</m:t>
                    </m:r>
                    <m:r>
                      <a:rPr lang="en-US" sz="2800" b="1" i="0" dirty="0" smtClean="0">
                        <a:solidFill>
                          <a:srgbClr val="002060"/>
                        </a:solidFill>
                        <a:latin typeface="Cambria Math" panose="02040503050406030204" pitchFamily="18" charset="0"/>
                      </a:rPr>
                      <m:t>,  </m:t>
                    </m:r>
                    <m:r>
                      <a:rPr lang="en-US" sz="2800" b="1" i="0" dirty="0" smtClean="0">
                        <a:solidFill>
                          <a:srgbClr val="002060"/>
                        </a:solidFill>
                        <a:latin typeface="Cambria Math" panose="02040503050406030204" pitchFamily="18" charset="0"/>
                      </a:rPr>
                      <m:t>𝐡</m:t>
                    </m:r>
                    <m:r>
                      <a:rPr lang="en-US" sz="2800" b="1" i="0" dirty="0" smtClean="0">
                        <a:solidFill>
                          <a:srgbClr val="002060"/>
                        </a:solidFill>
                        <a:latin typeface="Cambria Math" panose="02040503050406030204" pitchFamily="18" charset="0"/>
                      </a:rPr>
                      <m:t>,  </m:t>
                    </m:r>
                    <m:r>
                      <a:rPr lang="en-US" sz="2800" b="1" i="0" dirty="0" smtClean="0">
                        <a:solidFill>
                          <a:srgbClr val="002060"/>
                        </a:solidFill>
                        <a:latin typeface="Cambria Math" panose="02040503050406030204" pitchFamily="18" charset="0"/>
                      </a:rPr>
                      <m:t>𝐈</m:t>
                    </m:r>
                    <m:r>
                      <a:rPr lang="en-US" sz="2800" b="1" i="0" dirty="0" smtClean="0">
                        <a:solidFill>
                          <a:srgbClr val="002060"/>
                        </a:solidFill>
                        <a:latin typeface="Cambria Math" panose="02040503050406030204" pitchFamily="18" charset="0"/>
                      </a:rPr>
                      <m:t>,  </m:t>
                    </m:r>
                    <m:r>
                      <a:rPr lang="en-US" sz="2800" b="1" i="0" dirty="0" smtClean="0">
                        <a:solidFill>
                          <a:srgbClr val="002060"/>
                        </a:solidFill>
                        <a:latin typeface="Cambria Math" panose="02040503050406030204" pitchFamily="18" charset="0"/>
                      </a:rPr>
                      <m:t>𝐣</m:t>
                    </m:r>
                    <m:r>
                      <a:rPr lang="en-US" sz="2800" b="1" i="0" dirty="0" smtClean="0">
                        <a:solidFill>
                          <a:srgbClr val="002060"/>
                        </a:solidFill>
                        <a:latin typeface="Cambria Math" panose="02040503050406030204" pitchFamily="18" charset="0"/>
                      </a:rPr>
                      <m:t>,  </m:t>
                    </m:r>
                    <m:r>
                      <a:rPr lang="en-US" sz="2800" b="1" i="0" dirty="0" smtClean="0">
                        <a:solidFill>
                          <a:srgbClr val="002060"/>
                        </a:solidFill>
                        <a:latin typeface="Cambria Math" panose="02040503050406030204" pitchFamily="18" charset="0"/>
                      </a:rPr>
                      <m:t>𝐥</m:t>
                    </m:r>
                  </m:oMath>
                </a14:m>
                <a:r>
                  <a:rPr lang="en-US" sz="2800" b="1" dirty="0">
                    <a:solidFill>
                      <a:srgbClr val="002060"/>
                    </a:solidFill>
                  </a:rPr>
                  <a:t> </a:t>
                </a:r>
                <a:r>
                  <a:rPr lang="en-US" sz="2800" dirty="0">
                    <a:solidFill>
                      <a:srgbClr val="002060"/>
                    </a:solidFill>
                  </a:rPr>
                  <a:t>and chords are</a:t>
                </a:r>
                <a14:m>
                  <m:oMath xmlns:m="http://schemas.openxmlformats.org/officeDocument/2006/math">
                    <m:r>
                      <a:rPr lang="en-US" sz="2800" i="0" dirty="0" smtClean="0">
                        <a:solidFill>
                          <a:srgbClr val="002060"/>
                        </a:solidFill>
                        <a:latin typeface="Cambria Math" panose="02040503050406030204" pitchFamily="18" charset="0"/>
                      </a:rPr>
                      <m:t> </m:t>
                    </m:r>
                    <m:r>
                      <a:rPr lang="en-US" sz="2800" b="0" i="0" dirty="0" smtClean="0">
                        <a:solidFill>
                          <a:srgbClr val="002060"/>
                        </a:solidFill>
                        <a:latin typeface="Cambria Math" panose="02040503050406030204" pitchFamily="18" charset="0"/>
                      </a:rPr>
                      <m:t> </m:t>
                    </m:r>
                    <m:r>
                      <a:rPr lang="en-US" sz="2800" b="1" i="0" dirty="0" smtClean="0">
                        <a:solidFill>
                          <a:srgbClr val="002060"/>
                        </a:solidFill>
                        <a:latin typeface="Cambria Math" panose="02040503050406030204" pitchFamily="18" charset="0"/>
                      </a:rPr>
                      <m:t>𝐚</m:t>
                    </m:r>
                    <m:r>
                      <a:rPr lang="en-US" sz="2800" b="1" i="0" dirty="0" smtClean="0">
                        <a:solidFill>
                          <a:srgbClr val="002060"/>
                        </a:solidFill>
                        <a:latin typeface="Cambria Math" panose="02040503050406030204" pitchFamily="18" charset="0"/>
                      </a:rPr>
                      <m:t>,  </m:t>
                    </m:r>
                    <m:r>
                      <a:rPr lang="en-US" sz="2800" b="1" i="0" dirty="0" smtClean="0">
                        <a:solidFill>
                          <a:srgbClr val="002060"/>
                        </a:solidFill>
                        <a:latin typeface="Cambria Math" panose="02040503050406030204" pitchFamily="18" charset="0"/>
                      </a:rPr>
                      <m:t>𝐝</m:t>
                    </m:r>
                    <m:r>
                      <a:rPr lang="en-US" sz="2800" b="1" i="0" dirty="0" smtClean="0">
                        <a:solidFill>
                          <a:srgbClr val="002060"/>
                        </a:solidFill>
                        <a:latin typeface="Cambria Math" panose="02040503050406030204" pitchFamily="18" charset="0"/>
                      </a:rPr>
                      <m:t>,  </m:t>
                    </m:r>
                    <m:r>
                      <a:rPr lang="en-US" sz="2800" b="1" i="0" dirty="0" smtClean="0">
                        <a:solidFill>
                          <a:srgbClr val="002060"/>
                        </a:solidFill>
                        <a:latin typeface="Cambria Math" panose="02040503050406030204" pitchFamily="18" charset="0"/>
                      </a:rPr>
                      <m:t>𝐞</m:t>
                    </m:r>
                    <m:r>
                      <a:rPr lang="en-US" sz="2800" b="1" i="0" dirty="0" smtClean="0">
                        <a:solidFill>
                          <a:srgbClr val="002060"/>
                        </a:solidFill>
                        <a:latin typeface="Cambria Math" panose="02040503050406030204" pitchFamily="18" charset="0"/>
                      </a:rPr>
                      <m:t>,  </m:t>
                    </m:r>
                    <m:r>
                      <a:rPr lang="en-US" sz="2800" b="1" i="0" dirty="0" smtClean="0">
                        <a:solidFill>
                          <a:srgbClr val="002060"/>
                        </a:solidFill>
                        <a:latin typeface="Cambria Math" panose="02040503050406030204" pitchFamily="18" charset="0"/>
                      </a:rPr>
                      <m:t>𝐟</m:t>
                    </m:r>
                    <m:r>
                      <a:rPr lang="en-US" sz="2800" b="1" i="0" dirty="0" smtClean="0">
                        <a:solidFill>
                          <a:srgbClr val="002060"/>
                        </a:solidFill>
                        <a:latin typeface="Cambria Math" panose="02040503050406030204" pitchFamily="18" charset="0"/>
                      </a:rPr>
                      <m:t>,  </m:t>
                    </m:r>
                    <m:r>
                      <a:rPr lang="en-US" sz="2800" b="1" i="0" dirty="0" smtClean="0">
                        <a:solidFill>
                          <a:srgbClr val="002060"/>
                        </a:solidFill>
                        <a:latin typeface="Cambria Math" panose="02040503050406030204" pitchFamily="18" charset="0"/>
                      </a:rPr>
                      <m:t>𝐠</m:t>
                    </m:r>
                    <m:r>
                      <a:rPr lang="en-US" sz="2800" b="1" i="0" dirty="0" smtClean="0">
                        <a:solidFill>
                          <a:srgbClr val="002060"/>
                        </a:solidFill>
                        <a:latin typeface="Cambria Math" panose="02040503050406030204" pitchFamily="18" charset="0"/>
                      </a:rPr>
                      <m:t>,  </m:t>
                    </m:r>
                    <m:r>
                      <a:rPr lang="en-US" sz="2800" b="1" i="0" dirty="0" smtClean="0">
                        <a:solidFill>
                          <a:srgbClr val="002060"/>
                        </a:solidFill>
                        <a:latin typeface="Cambria Math" panose="02040503050406030204" pitchFamily="18" charset="0"/>
                      </a:rPr>
                      <m:t>𝐦</m:t>
                    </m:r>
                    <m:r>
                      <a:rPr lang="en-US" sz="2800" b="1" i="0" dirty="0" smtClean="0">
                        <a:solidFill>
                          <a:srgbClr val="002060"/>
                        </a:solidFill>
                        <a:latin typeface="Cambria Math" panose="02040503050406030204" pitchFamily="18" charset="0"/>
                      </a:rPr>
                      <m:t>,  </m:t>
                    </m:r>
                    <m:r>
                      <a:rPr lang="en-US" sz="2800" b="1" i="0" dirty="0" smtClean="0">
                        <a:solidFill>
                          <a:srgbClr val="002060"/>
                        </a:solidFill>
                        <a:latin typeface="Cambria Math" panose="02040503050406030204" pitchFamily="18" charset="0"/>
                      </a:rPr>
                      <m:t>𝐤</m:t>
                    </m:r>
                  </m:oMath>
                </a14:m>
                <a:r>
                  <a:rPr lang="en-US" sz="2800" dirty="0">
                    <a:solidFill>
                      <a:srgbClr val="002060"/>
                    </a:solidFill>
                  </a:rPr>
                  <a:t>. </a:t>
                </a:r>
              </a:p>
            </p:txBody>
          </p:sp>
        </mc:Choice>
        <mc:Fallback xmlns="">
          <p:sp>
            <p:nvSpPr>
              <p:cNvPr id="5" name="Rectangle 4"/>
              <p:cNvSpPr>
                <a:spLocks noRot="1" noChangeAspect="1" noMove="1" noResize="1" noEditPoints="1" noAdjustHandles="1" noChangeArrowheads="1" noChangeShapeType="1" noTextEdit="1"/>
              </p:cNvSpPr>
              <p:nvPr/>
            </p:nvSpPr>
            <p:spPr>
              <a:xfrm>
                <a:off x="16409" y="729966"/>
                <a:ext cx="11935185" cy="2072362"/>
              </a:xfrm>
              <a:prstGeom prst="rect">
                <a:avLst/>
              </a:prstGeom>
              <a:blipFill rotWithShape="0">
                <a:blip r:embed="rId2"/>
                <a:stretch>
                  <a:fillRect l="-970" t="-3235" r="-1021" b="-7353"/>
                </a:stretch>
              </a:blipFill>
            </p:spPr>
            <p:txBody>
              <a:bodyPr/>
              <a:lstStyle/>
              <a:p>
                <a:r>
                  <a:rPr lang="en-US">
                    <a:noFill/>
                  </a:rPr>
                  <a:t> </a:t>
                </a:r>
              </a:p>
            </p:txBody>
          </p:sp>
        </mc:Fallback>
      </mc:AlternateContent>
      <p:sp>
        <p:nvSpPr>
          <p:cNvPr id="25" name="Oval 24">
            <a:extLst>
              <a:ext uri="{FF2B5EF4-FFF2-40B4-BE49-F238E27FC236}">
                <a16:creationId xmlns:a16="http://schemas.microsoft.com/office/drawing/2014/main" id="{BDD11F87-DA81-9510-C1CB-0AF4093562CB}"/>
              </a:ext>
            </a:extLst>
          </p:cNvPr>
          <p:cNvSpPr/>
          <p:nvPr/>
        </p:nvSpPr>
        <p:spPr>
          <a:xfrm rot="5400000">
            <a:off x="6416633" y="414725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6" name="Straight Connector 25">
            <a:extLst>
              <a:ext uri="{FF2B5EF4-FFF2-40B4-BE49-F238E27FC236}">
                <a16:creationId xmlns:a16="http://schemas.microsoft.com/office/drawing/2014/main" id="{6205DD86-315C-53B6-CEEF-A9919650168E}"/>
              </a:ext>
            </a:extLst>
          </p:cNvPr>
          <p:cNvCxnSpPr>
            <a:cxnSpLocks/>
            <a:stCxn id="27" idx="5"/>
            <a:endCxn id="25" idx="0"/>
          </p:cNvCxnSpPr>
          <p:nvPr/>
        </p:nvCxnSpPr>
        <p:spPr>
          <a:xfrm flipH="1">
            <a:off x="6560633" y="3929529"/>
            <a:ext cx="1001847" cy="289724"/>
          </a:xfrm>
          <a:prstGeom prst="line">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sp>
        <p:nvSpPr>
          <p:cNvPr id="27" name="Oval 26">
            <a:extLst>
              <a:ext uri="{FF2B5EF4-FFF2-40B4-BE49-F238E27FC236}">
                <a16:creationId xmlns:a16="http://schemas.microsoft.com/office/drawing/2014/main" id="{BDD11F87-DA81-9510-C1CB-0AF4093562CB}"/>
              </a:ext>
            </a:extLst>
          </p:cNvPr>
          <p:cNvSpPr/>
          <p:nvPr/>
        </p:nvSpPr>
        <p:spPr>
          <a:xfrm rot="5400000">
            <a:off x="7541392" y="380661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8" name="Straight Connector 27">
            <a:extLst>
              <a:ext uri="{FF2B5EF4-FFF2-40B4-BE49-F238E27FC236}">
                <a16:creationId xmlns:a16="http://schemas.microsoft.com/office/drawing/2014/main" id="{6205DD86-315C-53B6-CEEF-A9919650168E}"/>
              </a:ext>
            </a:extLst>
          </p:cNvPr>
          <p:cNvCxnSpPr>
            <a:cxnSpLocks/>
            <a:stCxn id="32" idx="5"/>
            <a:endCxn id="27" idx="1"/>
          </p:cNvCxnSpPr>
          <p:nvPr/>
        </p:nvCxnSpPr>
        <p:spPr>
          <a:xfrm flipH="1">
            <a:off x="7664304" y="3190029"/>
            <a:ext cx="254519" cy="637676"/>
          </a:xfrm>
          <a:prstGeom prst="line">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sp>
        <p:nvSpPr>
          <p:cNvPr id="29" name="Oval 28">
            <a:extLst>
              <a:ext uri="{FF2B5EF4-FFF2-40B4-BE49-F238E27FC236}">
                <a16:creationId xmlns:a16="http://schemas.microsoft.com/office/drawing/2014/main" id="{BDD11F87-DA81-9510-C1CB-0AF4093562CB}"/>
              </a:ext>
            </a:extLst>
          </p:cNvPr>
          <p:cNvSpPr/>
          <p:nvPr/>
        </p:nvSpPr>
        <p:spPr>
          <a:xfrm rot="5400000">
            <a:off x="8360849" y="366261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0" name="Straight Connector 29">
            <a:extLst>
              <a:ext uri="{FF2B5EF4-FFF2-40B4-BE49-F238E27FC236}">
                <a16:creationId xmlns:a16="http://schemas.microsoft.com/office/drawing/2014/main" id="{6205DD86-315C-53B6-CEEF-A9919650168E}"/>
              </a:ext>
            </a:extLst>
          </p:cNvPr>
          <p:cNvCxnSpPr>
            <a:cxnSpLocks/>
            <a:stCxn id="31" idx="2"/>
            <a:endCxn id="29" idx="6"/>
          </p:cNvCxnSpPr>
          <p:nvPr/>
        </p:nvCxnSpPr>
        <p:spPr>
          <a:xfrm flipH="1" flipV="1">
            <a:off x="8432849" y="3806617"/>
            <a:ext cx="209753" cy="1235628"/>
          </a:xfrm>
          <a:prstGeom prst="line">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sp>
        <p:nvSpPr>
          <p:cNvPr id="31" name="Oval 30">
            <a:extLst>
              <a:ext uri="{FF2B5EF4-FFF2-40B4-BE49-F238E27FC236}">
                <a16:creationId xmlns:a16="http://schemas.microsoft.com/office/drawing/2014/main" id="{BDD11F87-DA81-9510-C1CB-0AF4093562CB}"/>
              </a:ext>
            </a:extLst>
          </p:cNvPr>
          <p:cNvSpPr/>
          <p:nvPr/>
        </p:nvSpPr>
        <p:spPr>
          <a:xfrm rot="5400000">
            <a:off x="8570602" y="504224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2" name="Oval 31">
            <a:extLst>
              <a:ext uri="{FF2B5EF4-FFF2-40B4-BE49-F238E27FC236}">
                <a16:creationId xmlns:a16="http://schemas.microsoft.com/office/drawing/2014/main" id="{BDD11F87-DA81-9510-C1CB-0AF4093562CB}"/>
              </a:ext>
            </a:extLst>
          </p:cNvPr>
          <p:cNvSpPr/>
          <p:nvPr/>
        </p:nvSpPr>
        <p:spPr>
          <a:xfrm rot="5400000">
            <a:off x="7897735" y="306711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3" name="Straight Connector 32">
            <a:extLst>
              <a:ext uri="{FF2B5EF4-FFF2-40B4-BE49-F238E27FC236}">
                <a16:creationId xmlns:a16="http://schemas.microsoft.com/office/drawing/2014/main" id="{6205DD86-315C-53B6-CEEF-A9919650168E}"/>
              </a:ext>
            </a:extLst>
          </p:cNvPr>
          <p:cNvCxnSpPr>
            <a:cxnSpLocks/>
            <a:stCxn id="29" idx="3"/>
            <a:endCxn id="32" idx="7"/>
          </p:cNvCxnSpPr>
          <p:nvPr/>
        </p:nvCxnSpPr>
        <p:spPr>
          <a:xfrm flipH="1" flipV="1">
            <a:off x="8020647" y="3190029"/>
            <a:ext cx="361290" cy="49367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4" name="Straight Connector 33">
            <a:extLst>
              <a:ext uri="{FF2B5EF4-FFF2-40B4-BE49-F238E27FC236}">
                <a16:creationId xmlns:a16="http://schemas.microsoft.com/office/drawing/2014/main" id="{6205DD86-315C-53B6-CEEF-A9919650168E}"/>
              </a:ext>
            </a:extLst>
          </p:cNvPr>
          <p:cNvCxnSpPr>
            <a:cxnSpLocks/>
            <a:stCxn id="35" idx="4"/>
            <a:endCxn id="25" idx="0"/>
          </p:cNvCxnSpPr>
          <p:nvPr/>
        </p:nvCxnSpPr>
        <p:spPr>
          <a:xfrm flipH="1" flipV="1">
            <a:off x="6560633" y="4219253"/>
            <a:ext cx="1031671" cy="441742"/>
          </a:xfrm>
          <a:prstGeom prst="line">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sp>
        <p:nvSpPr>
          <p:cNvPr id="35" name="Oval 34">
            <a:extLst>
              <a:ext uri="{FF2B5EF4-FFF2-40B4-BE49-F238E27FC236}">
                <a16:creationId xmlns:a16="http://schemas.microsoft.com/office/drawing/2014/main" id="{BDD11F87-DA81-9510-C1CB-0AF4093562CB}"/>
              </a:ext>
            </a:extLst>
          </p:cNvPr>
          <p:cNvSpPr/>
          <p:nvPr/>
        </p:nvSpPr>
        <p:spPr>
          <a:xfrm rot="5400000">
            <a:off x="7592304" y="458899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6" name="Oval 35">
            <a:extLst>
              <a:ext uri="{FF2B5EF4-FFF2-40B4-BE49-F238E27FC236}">
                <a16:creationId xmlns:a16="http://schemas.microsoft.com/office/drawing/2014/main" id="{BDD11F87-DA81-9510-C1CB-0AF4093562CB}"/>
              </a:ext>
            </a:extLst>
          </p:cNvPr>
          <p:cNvSpPr/>
          <p:nvPr/>
        </p:nvSpPr>
        <p:spPr>
          <a:xfrm rot="5400000">
            <a:off x="6560633" y="537137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7" name="Straight Connector 36">
            <a:extLst>
              <a:ext uri="{FF2B5EF4-FFF2-40B4-BE49-F238E27FC236}">
                <a16:creationId xmlns:a16="http://schemas.microsoft.com/office/drawing/2014/main" id="{6205DD86-315C-53B6-CEEF-A9919650168E}"/>
              </a:ext>
            </a:extLst>
          </p:cNvPr>
          <p:cNvCxnSpPr>
            <a:cxnSpLocks/>
            <a:stCxn id="36" idx="0"/>
            <a:endCxn id="35" idx="5"/>
          </p:cNvCxnSpPr>
          <p:nvPr/>
        </p:nvCxnSpPr>
        <p:spPr>
          <a:xfrm flipV="1">
            <a:off x="6704633" y="4711907"/>
            <a:ext cx="908759" cy="731466"/>
          </a:xfrm>
          <a:prstGeom prst="line">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cxnSp>
        <p:nvCxnSpPr>
          <p:cNvPr id="38" name="Straight Connector 37">
            <a:extLst>
              <a:ext uri="{FF2B5EF4-FFF2-40B4-BE49-F238E27FC236}">
                <a16:creationId xmlns:a16="http://schemas.microsoft.com/office/drawing/2014/main" id="{6205DD86-315C-53B6-CEEF-A9919650168E}"/>
              </a:ext>
            </a:extLst>
          </p:cNvPr>
          <p:cNvCxnSpPr>
            <a:cxnSpLocks/>
            <a:stCxn id="36" idx="2"/>
            <a:endCxn id="25" idx="6"/>
          </p:cNvCxnSpPr>
          <p:nvPr/>
        </p:nvCxnSpPr>
        <p:spPr>
          <a:xfrm flipH="1" flipV="1">
            <a:off x="6488633" y="4291253"/>
            <a:ext cx="144000" cy="108012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9" name="Straight Connector 38">
            <a:extLst>
              <a:ext uri="{FF2B5EF4-FFF2-40B4-BE49-F238E27FC236}">
                <a16:creationId xmlns:a16="http://schemas.microsoft.com/office/drawing/2014/main" id="{6205DD86-315C-53B6-CEEF-A9919650168E}"/>
              </a:ext>
            </a:extLst>
          </p:cNvPr>
          <p:cNvCxnSpPr>
            <a:cxnSpLocks/>
            <a:stCxn id="35" idx="2"/>
            <a:endCxn id="27" idx="6"/>
          </p:cNvCxnSpPr>
          <p:nvPr/>
        </p:nvCxnSpPr>
        <p:spPr>
          <a:xfrm flipH="1" flipV="1">
            <a:off x="7613392" y="3950617"/>
            <a:ext cx="50912" cy="63837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0" name="Straight Connector 39">
            <a:extLst>
              <a:ext uri="{FF2B5EF4-FFF2-40B4-BE49-F238E27FC236}">
                <a16:creationId xmlns:a16="http://schemas.microsoft.com/office/drawing/2014/main" id="{6205DD86-315C-53B6-CEEF-A9919650168E}"/>
              </a:ext>
            </a:extLst>
          </p:cNvPr>
          <p:cNvCxnSpPr>
            <a:cxnSpLocks/>
            <a:stCxn id="31" idx="3"/>
            <a:endCxn id="27" idx="7"/>
          </p:cNvCxnSpPr>
          <p:nvPr/>
        </p:nvCxnSpPr>
        <p:spPr>
          <a:xfrm flipH="1" flipV="1">
            <a:off x="7664304" y="3929529"/>
            <a:ext cx="927386" cy="113380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1" name="Straight Connector 40">
            <a:extLst>
              <a:ext uri="{FF2B5EF4-FFF2-40B4-BE49-F238E27FC236}">
                <a16:creationId xmlns:a16="http://schemas.microsoft.com/office/drawing/2014/main" id="{6205DD86-315C-53B6-CEEF-A9919650168E}"/>
              </a:ext>
            </a:extLst>
          </p:cNvPr>
          <p:cNvCxnSpPr>
            <a:cxnSpLocks/>
            <a:stCxn id="27" idx="0"/>
            <a:endCxn id="29" idx="5"/>
          </p:cNvCxnSpPr>
          <p:nvPr/>
        </p:nvCxnSpPr>
        <p:spPr>
          <a:xfrm flipV="1">
            <a:off x="7685392" y="3785529"/>
            <a:ext cx="696545" cy="93088"/>
          </a:xfrm>
          <a:prstGeom prst="line">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cxnSp>
        <p:nvCxnSpPr>
          <p:cNvPr id="42" name="Straight Connector 41">
            <a:extLst>
              <a:ext uri="{FF2B5EF4-FFF2-40B4-BE49-F238E27FC236}">
                <a16:creationId xmlns:a16="http://schemas.microsoft.com/office/drawing/2014/main" id="{6205DD86-315C-53B6-CEEF-A9919650168E}"/>
              </a:ext>
            </a:extLst>
          </p:cNvPr>
          <p:cNvCxnSpPr>
            <a:cxnSpLocks/>
            <a:stCxn id="35" idx="7"/>
            <a:endCxn id="31" idx="4"/>
          </p:cNvCxnSpPr>
          <p:nvPr/>
        </p:nvCxnSpPr>
        <p:spPr>
          <a:xfrm>
            <a:off x="7715216" y="4711907"/>
            <a:ext cx="855386" cy="40233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3" name="Freeform: Shape 34">
            <a:extLst>
              <a:ext uri="{FF2B5EF4-FFF2-40B4-BE49-F238E27FC236}">
                <a16:creationId xmlns:a16="http://schemas.microsoft.com/office/drawing/2014/main" id="{5A43D9D2-4CAA-3544-4E99-2BE62F8BF717}"/>
              </a:ext>
            </a:extLst>
          </p:cNvPr>
          <p:cNvSpPr/>
          <p:nvPr/>
        </p:nvSpPr>
        <p:spPr>
          <a:xfrm rot="21008222" flipV="1">
            <a:off x="6716762" y="5298886"/>
            <a:ext cx="1906824" cy="306139"/>
          </a:xfrm>
          <a:custGeom>
            <a:avLst/>
            <a:gdLst>
              <a:gd name="connsiteX0" fmla="*/ 0 w 2961249"/>
              <a:gd name="connsiteY0" fmla="*/ 436103 h 436103"/>
              <a:gd name="connsiteX1" fmla="*/ 942535 w 2961249"/>
              <a:gd name="connsiteY1" fmla="*/ 63310 h 436103"/>
              <a:gd name="connsiteX2" fmla="*/ 1892104 w 2961249"/>
              <a:gd name="connsiteY2" fmla="*/ 35174 h 436103"/>
              <a:gd name="connsiteX3" fmla="*/ 2961249 w 2961249"/>
              <a:gd name="connsiteY3" fmla="*/ 422036 h 436103"/>
              <a:gd name="connsiteX4" fmla="*/ 2961249 w 2961249"/>
              <a:gd name="connsiteY4" fmla="*/ 422036 h 436103"/>
              <a:gd name="connsiteX5" fmla="*/ 2961249 w 2961249"/>
              <a:gd name="connsiteY5" fmla="*/ 422036 h 436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61249" h="436103">
                <a:moveTo>
                  <a:pt x="0" y="436103"/>
                </a:moveTo>
                <a:cubicBezTo>
                  <a:pt x="313592" y="283117"/>
                  <a:pt x="627184" y="130131"/>
                  <a:pt x="942535" y="63310"/>
                </a:cubicBezTo>
                <a:cubicBezTo>
                  <a:pt x="1257886" y="-3512"/>
                  <a:pt x="1555652" y="-24614"/>
                  <a:pt x="1892104" y="35174"/>
                </a:cubicBezTo>
                <a:cubicBezTo>
                  <a:pt x="2228556" y="94962"/>
                  <a:pt x="2961249" y="422036"/>
                  <a:pt x="2961249" y="422036"/>
                </a:cubicBezTo>
                <a:lnTo>
                  <a:pt x="2961249" y="422036"/>
                </a:lnTo>
                <a:lnTo>
                  <a:pt x="2961249" y="422036"/>
                </a:lnTo>
              </a:path>
            </a:pathLst>
          </a:cu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Freeform: Shape 34">
            <a:extLst>
              <a:ext uri="{FF2B5EF4-FFF2-40B4-BE49-F238E27FC236}">
                <a16:creationId xmlns:a16="http://schemas.microsoft.com/office/drawing/2014/main" id="{5A43D9D2-4CAA-3544-4E99-2BE62F8BF717}"/>
              </a:ext>
            </a:extLst>
          </p:cNvPr>
          <p:cNvSpPr/>
          <p:nvPr/>
        </p:nvSpPr>
        <p:spPr>
          <a:xfrm rot="15608222" flipV="1">
            <a:off x="8123942" y="4193680"/>
            <a:ext cx="1302703" cy="393948"/>
          </a:xfrm>
          <a:custGeom>
            <a:avLst/>
            <a:gdLst>
              <a:gd name="connsiteX0" fmla="*/ 0 w 2961249"/>
              <a:gd name="connsiteY0" fmla="*/ 436103 h 436103"/>
              <a:gd name="connsiteX1" fmla="*/ 942535 w 2961249"/>
              <a:gd name="connsiteY1" fmla="*/ 63310 h 436103"/>
              <a:gd name="connsiteX2" fmla="*/ 1892104 w 2961249"/>
              <a:gd name="connsiteY2" fmla="*/ 35174 h 436103"/>
              <a:gd name="connsiteX3" fmla="*/ 2961249 w 2961249"/>
              <a:gd name="connsiteY3" fmla="*/ 422036 h 436103"/>
              <a:gd name="connsiteX4" fmla="*/ 2961249 w 2961249"/>
              <a:gd name="connsiteY4" fmla="*/ 422036 h 436103"/>
              <a:gd name="connsiteX5" fmla="*/ 2961249 w 2961249"/>
              <a:gd name="connsiteY5" fmla="*/ 422036 h 436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61249" h="436103">
                <a:moveTo>
                  <a:pt x="0" y="436103"/>
                </a:moveTo>
                <a:cubicBezTo>
                  <a:pt x="313592" y="283117"/>
                  <a:pt x="627184" y="130131"/>
                  <a:pt x="942535" y="63310"/>
                </a:cubicBezTo>
                <a:cubicBezTo>
                  <a:pt x="1257886" y="-3512"/>
                  <a:pt x="1555652" y="-24614"/>
                  <a:pt x="1892104" y="35174"/>
                </a:cubicBezTo>
                <a:cubicBezTo>
                  <a:pt x="2228556" y="94962"/>
                  <a:pt x="2961249" y="422036"/>
                  <a:pt x="2961249" y="422036"/>
                </a:cubicBezTo>
                <a:lnTo>
                  <a:pt x="2961249" y="422036"/>
                </a:lnTo>
                <a:lnTo>
                  <a:pt x="2961249" y="422036"/>
                </a:lnTo>
              </a:path>
            </a:pathLst>
          </a:cu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TextBox 44"/>
          <p:cNvSpPr txBox="1"/>
          <p:nvPr/>
        </p:nvSpPr>
        <p:spPr>
          <a:xfrm>
            <a:off x="6185704" y="4651466"/>
            <a:ext cx="356188"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a</a:t>
            </a:r>
          </a:p>
        </p:txBody>
      </p:sp>
      <p:sp>
        <p:nvSpPr>
          <p:cNvPr id="46" name="TextBox 45"/>
          <p:cNvSpPr txBox="1"/>
          <p:nvPr/>
        </p:nvSpPr>
        <p:spPr>
          <a:xfrm>
            <a:off x="6922078" y="3627395"/>
            <a:ext cx="357790"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h</a:t>
            </a:r>
          </a:p>
        </p:txBody>
      </p:sp>
      <p:sp>
        <p:nvSpPr>
          <p:cNvPr id="47" name="TextBox 46"/>
          <p:cNvSpPr txBox="1"/>
          <p:nvPr/>
        </p:nvSpPr>
        <p:spPr>
          <a:xfrm>
            <a:off x="7012330" y="4029360"/>
            <a:ext cx="360996"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b</a:t>
            </a:r>
          </a:p>
        </p:txBody>
      </p:sp>
      <p:sp>
        <p:nvSpPr>
          <p:cNvPr id="48" name="TextBox 47"/>
          <p:cNvSpPr txBox="1"/>
          <p:nvPr/>
        </p:nvSpPr>
        <p:spPr>
          <a:xfrm>
            <a:off x="7890032" y="4737510"/>
            <a:ext cx="352982"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e</a:t>
            </a:r>
          </a:p>
        </p:txBody>
      </p:sp>
      <p:sp>
        <p:nvSpPr>
          <p:cNvPr id="49" name="TextBox 48"/>
          <p:cNvSpPr txBox="1"/>
          <p:nvPr/>
        </p:nvSpPr>
        <p:spPr>
          <a:xfrm>
            <a:off x="7110723" y="4845031"/>
            <a:ext cx="349776" cy="523220"/>
          </a:xfrm>
          <a:prstGeom prst="rect">
            <a:avLst/>
          </a:prstGeom>
          <a:noFill/>
          <a:ln>
            <a:noFill/>
          </a:ln>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c</a:t>
            </a:r>
          </a:p>
        </p:txBody>
      </p:sp>
      <p:sp>
        <p:nvSpPr>
          <p:cNvPr id="50" name="TextBox 49"/>
          <p:cNvSpPr txBox="1"/>
          <p:nvPr/>
        </p:nvSpPr>
        <p:spPr>
          <a:xfrm>
            <a:off x="7582391" y="5170234"/>
            <a:ext cx="362600"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d</a:t>
            </a:r>
          </a:p>
        </p:txBody>
      </p:sp>
      <p:sp>
        <p:nvSpPr>
          <p:cNvPr id="51" name="TextBox 50"/>
          <p:cNvSpPr txBox="1"/>
          <p:nvPr/>
        </p:nvSpPr>
        <p:spPr>
          <a:xfrm>
            <a:off x="7844162" y="3342017"/>
            <a:ext cx="264816"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j</a:t>
            </a:r>
          </a:p>
        </p:txBody>
      </p:sp>
      <p:sp>
        <p:nvSpPr>
          <p:cNvPr id="52" name="TextBox 51"/>
          <p:cNvSpPr txBox="1"/>
          <p:nvPr/>
        </p:nvSpPr>
        <p:spPr>
          <a:xfrm>
            <a:off x="8459276" y="3997862"/>
            <a:ext cx="266420"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l</a:t>
            </a:r>
          </a:p>
        </p:txBody>
      </p:sp>
      <p:sp>
        <p:nvSpPr>
          <p:cNvPr id="53" name="TextBox 52"/>
          <p:cNvSpPr txBox="1"/>
          <p:nvPr/>
        </p:nvSpPr>
        <p:spPr>
          <a:xfrm>
            <a:off x="7538273" y="3122749"/>
            <a:ext cx="266420" cy="523220"/>
          </a:xfrm>
          <a:prstGeom prst="rect">
            <a:avLst/>
          </a:prstGeom>
          <a:noFill/>
        </p:spPr>
        <p:txBody>
          <a:bodyPr wrap="none" rtlCol="0">
            <a:spAutoFit/>
          </a:bodyPr>
          <a:lstStyle/>
          <a:p>
            <a:r>
              <a:rPr lang="en-US" sz="2800" dirty="0" err="1">
                <a:solidFill>
                  <a:srgbClr val="C00000"/>
                </a:solidFill>
                <a:latin typeface="Roboto Condensed" panose="02000000000000000000" pitchFamily="2" charset="0"/>
                <a:ea typeface="Roboto Condensed" panose="02000000000000000000" pitchFamily="2" charset="0"/>
              </a:rPr>
              <a:t>i</a:t>
            </a:r>
            <a:endParaRPr lang="en-US" sz="2800" dirty="0">
              <a:solidFill>
                <a:srgbClr val="C00000"/>
              </a:solidFill>
              <a:latin typeface="Roboto Condensed" panose="02000000000000000000" pitchFamily="2" charset="0"/>
              <a:ea typeface="Roboto Condensed" panose="02000000000000000000" pitchFamily="2" charset="0"/>
            </a:endParaRPr>
          </a:p>
        </p:txBody>
      </p:sp>
      <p:sp>
        <p:nvSpPr>
          <p:cNvPr id="54" name="TextBox 53"/>
          <p:cNvSpPr txBox="1"/>
          <p:nvPr/>
        </p:nvSpPr>
        <p:spPr>
          <a:xfrm>
            <a:off x="8158030" y="3059889"/>
            <a:ext cx="346570"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k</a:t>
            </a:r>
          </a:p>
        </p:txBody>
      </p:sp>
      <p:sp>
        <p:nvSpPr>
          <p:cNvPr id="55" name="TextBox 54"/>
          <p:cNvSpPr txBox="1"/>
          <p:nvPr/>
        </p:nvSpPr>
        <p:spPr>
          <a:xfrm>
            <a:off x="8904661" y="4008196"/>
            <a:ext cx="455574"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m</a:t>
            </a:r>
          </a:p>
        </p:txBody>
      </p:sp>
      <p:sp>
        <p:nvSpPr>
          <p:cNvPr id="56" name="TextBox 55"/>
          <p:cNvSpPr txBox="1"/>
          <p:nvPr/>
        </p:nvSpPr>
        <p:spPr>
          <a:xfrm>
            <a:off x="7388145" y="4052441"/>
            <a:ext cx="298480"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f</a:t>
            </a:r>
          </a:p>
        </p:txBody>
      </p:sp>
      <p:sp>
        <p:nvSpPr>
          <p:cNvPr id="57" name="TextBox 56"/>
          <p:cNvSpPr txBox="1"/>
          <p:nvPr/>
        </p:nvSpPr>
        <p:spPr>
          <a:xfrm>
            <a:off x="7977532" y="3967061"/>
            <a:ext cx="360996"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g</a:t>
            </a:r>
          </a:p>
        </p:txBody>
      </p:sp>
      <p:sp>
        <p:nvSpPr>
          <p:cNvPr id="58" name="Oval 57">
            <a:extLst>
              <a:ext uri="{FF2B5EF4-FFF2-40B4-BE49-F238E27FC236}">
                <a16:creationId xmlns:a16="http://schemas.microsoft.com/office/drawing/2014/main" id="{BDD11F87-DA81-9510-C1CB-0AF4093562CB}"/>
              </a:ext>
            </a:extLst>
          </p:cNvPr>
          <p:cNvSpPr/>
          <p:nvPr/>
        </p:nvSpPr>
        <p:spPr>
          <a:xfrm rot="5400000">
            <a:off x="2818838" y="429311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9" name="Straight Connector 58">
            <a:extLst>
              <a:ext uri="{FF2B5EF4-FFF2-40B4-BE49-F238E27FC236}">
                <a16:creationId xmlns:a16="http://schemas.microsoft.com/office/drawing/2014/main" id="{6205DD86-315C-53B6-CEEF-A9919650168E}"/>
              </a:ext>
            </a:extLst>
          </p:cNvPr>
          <p:cNvCxnSpPr>
            <a:cxnSpLocks/>
            <a:stCxn id="60" idx="5"/>
            <a:endCxn id="58" idx="0"/>
          </p:cNvCxnSpPr>
          <p:nvPr/>
        </p:nvCxnSpPr>
        <p:spPr>
          <a:xfrm flipH="1">
            <a:off x="2962838" y="4075388"/>
            <a:ext cx="1001847" cy="289724"/>
          </a:xfrm>
          <a:prstGeom prst="line">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sp>
        <p:nvSpPr>
          <p:cNvPr id="60" name="Oval 59">
            <a:extLst>
              <a:ext uri="{FF2B5EF4-FFF2-40B4-BE49-F238E27FC236}">
                <a16:creationId xmlns:a16="http://schemas.microsoft.com/office/drawing/2014/main" id="{BDD11F87-DA81-9510-C1CB-0AF4093562CB}"/>
              </a:ext>
            </a:extLst>
          </p:cNvPr>
          <p:cNvSpPr/>
          <p:nvPr/>
        </p:nvSpPr>
        <p:spPr>
          <a:xfrm rot="5400000">
            <a:off x="3943597" y="395247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1" name="Straight Connector 60">
            <a:extLst>
              <a:ext uri="{FF2B5EF4-FFF2-40B4-BE49-F238E27FC236}">
                <a16:creationId xmlns:a16="http://schemas.microsoft.com/office/drawing/2014/main" id="{6205DD86-315C-53B6-CEEF-A9919650168E}"/>
              </a:ext>
            </a:extLst>
          </p:cNvPr>
          <p:cNvCxnSpPr>
            <a:cxnSpLocks/>
            <a:stCxn id="65" idx="5"/>
            <a:endCxn id="60" idx="1"/>
          </p:cNvCxnSpPr>
          <p:nvPr/>
        </p:nvCxnSpPr>
        <p:spPr>
          <a:xfrm flipH="1">
            <a:off x="4066509" y="3335888"/>
            <a:ext cx="254519" cy="637676"/>
          </a:xfrm>
          <a:prstGeom prst="line">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sp>
        <p:nvSpPr>
          <p:cNvPr id="62" name="Oval 61">
            <a:extLst>
              <a:ext uri="{FF2B5EF4-FFF2-40B4-BE49-F238E27FC236}">
                <a16:creationId xmlns:a16="http://schemas.microsoft.com/office/drawing/2014/main" id="{BDD11F87-DA81-9510-C1CB-0AF4093562CB}"/>
              </a:ext>
            </a:extLst>
          </p:cNvPr>
          <p:cNvSpPr/>
          <p:nvPr/>
        </p:nvSpPr>
        <p:spPr>
          <a:xfrm rot="5400000">
            <a:off x="4763054" y="380847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3" name="Straight Connector 62">
            <a:extLst>
              <a:ext uri="{FF2B5EF4-FFF2-40B4-BE49-F238E27FC236}">
                <a16:creationId xmlns:a16="http://schemas.microsoft.com/office/drawing/2014/main" id="{6205DD86-315C-53B6-CEEF-A9919650168E}"/>
              </a:ext>
            </a:extLst>
          </p:cNvPr>
          <p:cNvCxnSpPr>
            <a:cxnSpLocks/>
            <a:stCxn id="64" idx="2"/>
            <a:endCxn id="62" idx="6"/>
          </p:cNvCxnSpPr>
          <p:nvPr/>
        </p:nvCxnSpPr>
        <p:spPr>
          <a:xfrm flipH="1" flipV="1">
            <a:off x="4835054" y="3952476"/>
            <a:ext cx="209753" cy="1235628"/>
          </a:xfrm>
          <a:prstGeom prst="line">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sp>
        <p:nvSpPr>
          <p:cNvPr id="64" name="Oval 63">
            <a:extLst>
              <a:ext uri="{FF2B5EF4-FFF2-40B4-BE49-F238E27FC236}">
                <a16:creationId xmlns:a16="http://schemas.microsoft.com/office/drawing/2014/main" id="{BDD11F87-DA81-9510-C1CB-0AF4093562CB}"/>
              </a:ext>
            </a:extLst>
          </p:cNvPr>
          <p:cNvSpPr/>
          <p:nvPr/>
        </p:nvSpPr>
        <p:spPr>
          <a:xfrm rot="5400000">
            <a:off x="4972807" y="518810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5" name="Oval 64">
            <a:extLst>
              <a:ext uri="{FF2B5EF4-FFF2-40B4-BE49-F238E27FC236}">
                <a16:creationId xmlns:a16="http://schemas.microsoft.com/office/drawing/2014/main" id="{BDD11F87-DA81-9510-C1CB-0AF4093562CB}"/>
              </a:ext>
            </a:extLst>
          </p:cNvPr>
          <p:cNvSpPr/>
          <p:nvPr/>
        </p:nvSpPr>
        <p:spPr>
          <a:xfrm rot="5400000">
            <a:off x="4299940" y="321297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6" name="Straight Connector 65">
            <a:extLst>
              <a:ext uri="{FF2B5EF4-FFF2-40B4-BE49-F238E27FC236}">
                <a16:creationId xmlns:a16="http://schemas.microsoft.com/office/drawing/2014/main" id="{6205DD86-315C-53B6-CEEF-A9919650168E}"/>
              </a:ext>
            </a:extLst>
          </p:cNvPr>
          <p:cNvCxnSpPr>
            <a:cxnSpLocks/>
            <a:stCxn id="62" idx="3"/>
            <a:endCxn id="65" idx="7"/>
          </p:cNvCxnSpPr>
          <p:nvPr/>
        </p:nvCxnSpPr>
        <p:spPr>
          <a:xfrm flipH="1" flipV="1">
            <a:off x="4422852" y="3335888"/>
            <a:ext cx="361290" cy="49367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7" name="Straight Connector 66">
            <a:extLst>
              <a:ext uri="{FF2B5EF4-FFF2-40B4-BE49-F238E27FC236}">
                <a16:creationId xmlns:a16="http://schemas.microsoft.com/office/drawing/2014/main" id="{6205DD86-315C-53B6-CEEF-A9919650168E}"/>
              </a:ext>
            </a:extLst>
          </p:cNvPr>
          <p:cNvCxnSpPr>
            <a:cxnSpLocks/>
            <a:stCxn id="68" idx="4"/>
            <a:endCxn id="58" idx="0"/>
          </p:cNvCxnSpPr>
          <p:nvPr/>
        </p:nvCxnSpPr>
        <p:spPr>
          <a:xfrm flipH="1" flipV="1">
            <a:off x="2962838" y="4365112"/>
            <a:ext cx="1031671" cy="441742"/>
          </a:xfrm>
          <a:prstGeom prst="line">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sp>
        <p:nvSpPr>
          <p:cNvPr id="68" name="Oval 67">
            <a:extLst>
              <a:ext uri="{FF2B5EF4-FFF2-40B4-BE49-F238E27FC236}">
                <a16:creationId xmlns:a16="http://schemas.microsoft.com/office/drawing/2014/main" id="{BDD11F87-DA81-9510-C1CB-0AF4093562CB}"/>
              </a:ext>
            </a:extLst>
          </p:cNvPr>
          <p:cNvSpPr/>
          <p:nvPr/>
        </p:nvSpPr>
        <p:spPr>
          <a:xfrm rot="5400000">
            <a:off x="3994509" y="473485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9" name="Oval 68">
            <a:extLst>
              <a:ext uri="{FF2B5EF4-FFF2-40B4-BE49-F238E27FC236}">
                <a16:creationId xmlns:a16="http://schemas.microsoft.com/office/drawing/2014/main" id="{BDD11F87-DA81-9510-C1CB-0AF4093562CB}"/>
              </a:ext>
            </a:extLst>
          </p:cNvPr>
          <p:cNvSpPr/>
          <p:nvPr/>
        </p:nvSpPr>
        <p:spPr>
          <a:xfrm rot="5400000">
            <a:off x="2962838" y="551723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0" name="Straight Connector 69">
            <a:extLst>
              <a:ext uri="{FF2B5EF4-FFF2-40B4-BE49-F238E27FC236}">
                <a16:creationId xmlns:a16="http://schemas.microsoft.com/office/drawing/2014/main" id="{6205DD86-315C-53B6-CEEF-A9919650168E}"/>
              </a:ext>
            </a:extLst>
          </p:cNvPr>
          <p:cNvCxnSpPr>
            <a:cxnSpLocks/>
            <a:stCxn id="69" idx="0"/>
            <a:endCxn id="68" idx="5"/>
          </p:cNvCxnSpPr>
          <p:nvPr/>
        </p:nvCxnSpPr>
        <p:spPr>
          <a:xfrm flipV="1">
            <a:off x="3106838" y="4857766"/>
            <a:ext cx="908759" cy="731466"/>
          </a:xfrm>
          <a:prstGeom prst="line">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cxnSp>
        <p:nvCxnSpPr>
          <p:cNvPr id="71" name="Straight Connector 70">
            <a:extLst>
              <a:ext uri="{FF2B5EF4-FFF2-40B4-BE49-F238E27FC236}">
                <a16:creationId xmlns:a16="http://schemas.microsoft.com/office/drawing/2014/main" id="{6205DD86-315C-53B6-CEEF-A9919650168E}"/>
              </a:ext>
            </a:extLst>
          </p:cNvPr>
          <p:cNvCxnSpPr>
            <a:cxnSpLocks/>
            <a:stCxn id="69" idx="2"/>
            <a:endCxn id="58" idx="6"/>
          </p:cNvCxnSpPr>
          <p:nvPr/>
        </p:nvCxnSpPr>
        <p:spPr>
          <a:xfrm flipH="1" flipV="1">
            <a:off x="2890838" y="4437112"/>
            <a:ext cx="144000" cy="108012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2" name="Straight Connector 71">
            <a:extLst>
              <a:ext uri="{FF2B5EF4-FFF2-40B4-BE49-F238E27FC236}">
                <a16:creationId xmlns:a16="http://schemas.microsoft.com/office/drawing/2014/main" id="{6205DD86-315C-53B6-CEEF-A9919650168E}"/>
              </a:ext>
            </a:extLst>
          </p:cNvPr>
          <p:cNvCxnSpPr>
            <a:cxnSpLocks/>
            <a:stCxn id="68" idx="2"/>
            <a:endCxn id="60" idx="6"/>
          </p:cNvCxnSpPr>
          <p:nvPr/>
        </p:nvCxnSpPr>
        <p:spPr>
          <a:xfrm flipH="1" flipV="1">
            <a:off x="4015597" y="4096476"/>
            <a:ext cx="50912" cy="63837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3" name="Straight Connector 72">
            <a:extLst>
              <a:ext uri="{FF2B5EF4-FFF2-40B4-BE49-F238E27FC236}">
                <a16:creationId xmlns:a16="http://schemas.microsoft.com/office/drawing/2014/main" id="{6205DD86-315C-53B6-CEEF-A9919650168E}"/>
              </a:ext>
            </a:extLst>
          </p:cNvPr>
          <p:cNvCxnSpPr>
            <a:cxnSpLocks/>
            <a:stCxn id="64" idx="3"/>
            <a:endCxn id="60" idx="7"/>
          </p:cNvCxnSpPr>
          <p:nvPr/>
        </p:nvCxnSpPr>
        <p:spPr>
          <a:xfrm flipH="1" flipV="1">
            <a:off x="4066509" y="4075388"/>
            <a:ext cx="927386" cy="113380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4" name="Straight Connector 73">
            <a:extLst>
              <a:ext uri="{FF2B5EF4-FFF2-40B4-BE49-F238E27FC236}">
                <a16:creationId xmlns:a16="http://schemas.microsoft.com/office/drawing/2014/main" id="{6205DD86-315C-53B6-CEEF-A9919650168E}"/>
              </a:ext>
            </a:extLst>
          </p:cNvPr>
          <p:cNvCxnSpPr>
            <a:cxnSpLocks/>
            <a:stCxn id="60" idx="0"/>
            <a:endCxn id="62" idx="5"/>
          </p:cNvCxnSpPr>
          <p:nvPr/>
        </p:nvCxnSpPr>
        <p:spPr>
          <a:xfrm flipV="1">
            <a:off x="4087597" y="3931388"/>
            <a:ext cx="696545" cy="93088"/>
          </a:xfrm>
          <a:prstGeom prst="line">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cxnSp>
        <p:nvCxnSpPr>
          <p:cNvPr id="75" name="Straight Connector 74">
            <a:extLst>
              <a:ext uri="{FF2B5EF4-FFF2-40B4-BE49-F238E27FC236}">
                <a16:creationId xmlns:a16="http://schemas.microsoft.com/office/drawing/2014/main" id="{6205DD86-315C-53B6-CEEF-A9919650168E}"/>
              </a:ext>
            </a:extLst>
          </p:cNvPr>
          <p:cNvCxnSpPr>
            <a:cxnSpLocks/>
            <a:stCxn id="68" idx="7"/>
            <a:endCxn id="64" idx="4"/>
          </p:cNvCxnSpPr>
          <p:nvPr/>
        </p:nvCxnSpPr>
        <p:spPr>
          <a:xfrm>
            <a:off x="4117421" y="4857766"/>
            <a:ext cx="855386" cy="40233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6" name="Freeform: Shape 34">
            <a:extLst>
              <a:ext uri="{FF2B5EF4-FFF2-40B4-BE49-F238E27FC236}">
                <a16:creationId xmlns:a16="http://schemas.microsoft.com/office/drawing/2014/main" id="{5A43D9D2-4CAA-3544-4E99-2BE62F8BF717}"/>
              </a:ext>
            </a:extLst>
          </p:cNvPr>
          <p:cNvSpPr/>
          <p:nvPr/>
        </p:nvSpPr>
        <p:spPr>
          <a:xfrm rot="21008222" flipV="1">
            <a:off x="3118967" y="5444745"/>
            <a:ext cx="1906824" cy="306139"/>
          </a:xfrm>
          <a:custGeom>
            <a:avLst/>
            <a:gdLst>
              <a:gd name="connsiteX0" fmla="*/ 0 w 2961249"/>
              <a:gd name="connsiteY0" fmla="*/ 436103 h 436103"/>
              <a:gd name="connsiteX1" fmla="*/ 942535 w 2961249"/>
              <a:gd name="connsiteY1" fmla="*/ 63310 h 436103"/>
              <a:gd name="connsiteX2" fmla="*/ 1892104 w 2961249"/>
              <a:gd name="connsiteY2" fmla="*/ 35174 h 436103"/>
              <a:gd name="connsiteX3" fmla="*/ 2961249 w 2961249"/>
              <a:gd name="connsiteY3" fmla="*/ 422036 h 436103"/>
              <a:gd name="connsiteX4" fmla="*/ 2961249 w 2961249"/>
              <a:gd name="connsiteY4" fmla="*/ 422036 h 436103"/>
              <a:gd name="connsiteX5" fmla="*/ 2961249 w 2961249"/>
              <a:gd name="connsiteY5" fmla="*/ 422036 h 436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61249" h="436103">
                <a:moveTo>
                  <a:pt x="0" y="436103"/>
                </a:moveTo>
                <a:cubicBezTo>
                  <a:pt x="313592" y="283117"/>
                  <a:pt x="627184" y="130131"/>
                  <a:pt x="942535" y="63310"/>
                </a:cubicBezTo>
                <a:cubicBezTo>
                  <a:pt x="1257886" y="-3512"/>
                  <a:pt x="1555652" y="-24614"/>
                  <a:pt x="1892104" y="35174"/>
                </a:cubicBezTo>
                <a:cubicBezTo>
                  <a:pt x="2228556" y="94962"/>
                  <a:pt x="2961249" y="422036"/>
                  <a:pt x="2961249" y="422036"/>
                </a:cubicBezTo>
                <a:lnTo>
                  <a:pt x="2961249" y="422036"/>
                </a:lnTo>
                <a:lnTo>
                  <a:pt x="2961249" y="422036"/>
                </a:lnTo>
              </a:path>
            </a:pathLst>
          </a:cu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7" name="Freeform: Shape 34">
            <a:extLst>
              <a:ext uri="{FF2B5EF4-FFF2-40B4-BE49-F238E27FC236}">
                <a16:creationId xmlns:a16="http://schemas.microsoft.com/office/drawing/2014/main" id="{5A43D9D2-4CAA-3544-4E99-2BE62F8BF717}"/>
              </a:ext>
            </a:extLst>
          </p:cNvPr>
          <p:cNvSpPr/>
          <p:nvPr/>
        </p:nvSpPr>
        <p:spPr>
          <a:xfrm rot="15608222" flipV="1">
            <a:off x="4526147" y="4339539"/>
            <a:ext cx="1302703" cy="393948"/>
          </a:xfrm>
          <a:custGeom>
            <a:avLst/>
            <a:gdLst>
              <a:gd name="connsiteX0" fmla="*/ 0 w 2961249"/>
              <a:gd name="connsiteY0" fmla="*/ 436103 h 436103"/>
              <a:gd name="connsiteX1" fmla="*/ 942535 w 2961249"/>
              <a:gd name="connsiteY1" fmla="*/ 63310 h 436103"/>
              <a:gd name="connsiteX2" fmla="*/ 1892104 w 2961249"/>
              <a:gd name="connsiteY2" fmla="*/ 35174 h 436103"/>
              <a:gd name="connsiteX3" fmla="*/ 2961249 w 2961249"/>
              <a:gd name="connsiteY3" fmla="*/ 422036 h 436103"/>
              <a:gd name="connsiteX4" fmla="*/ 2961249 w 2961249"/>
              <a:gd name="connsiteY4" fmla="*/ 422036 h 436103"/>
              <a:gd name="connsiteX5" fmla="*/ 2961249 w 2961249"/>
              <a:gd name="connsiteY5" fmla="*/ 422036 h 436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61249" h="436103">
                <a:moveTo>
                  <a:pt x="0" y="436103"/>
                </a:moveTo>
                <a:cubicBezTo>
                  <a:pt x="313592" y="283117"/>
                  <a:pt x="627184" y="130131"/>
                  <a:pt x="942535" y="63310"/>
                </a:cubicBezTo>
                <a:cubicBezTo>
                  <a:pt x="1257886" y="-3512"/>
                  <a:pt x="1555652" y="-24614"/>
                  <a:pt x="1892104" y="35174"/>
                </a:cubicBezTo>
                <a:cubicBezTo>
                  <a:pt x="2228556" y="94962"/>
                  <a:pt x="2961249" y="422036"/>
                  <a:pt x="2961249" y="422036"/>
                </a:cubicBezTo>
                <a:lnTo>
                  <a:pt x="2961249" y="422036"/>
                </a:lnTo>
                <a:lnTo>
                  <a:pt x="2961249" y="422036"/>
                </a:lnTo>
              </a:path>
            </a:pathLst>
          </a:cu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TextBox 77"/>
          <p:cNvSpPr txBox="1"/>
          <p:nvPr/>
        </p:nvSpPr>
        <p:spPr>
          <a:xfrm>
            <a:off x="3103600" y="4797149"/>
            <a:ext cx="356188"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a</a:t>
            </a:r>
          </a:p>
        </p:txBody>
      </p:sp>
      <p:sp>
        <p:nvSpPr>
          <p:cNvPr id="79" name="TextBox 78"/>
          <p:cNvSpPr txBox="1"/>
          <p:nvPr/>
        </p:nvSpPr>
        <p:spPr>
          <a:xfrm>
            <a:off x="3324283" y="3773254"/>
            <a:ext cx="357790"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h</a:t>
            </a:r>
          </a:p>
        </p:txBody>
      </p:sp>
      <p:sp>
        <p:nvSpPr>
          <p:cNvPr id="80" name="TextBox 79"/>
          <p:cNvSpPr txBox="1"/>
          <p:nvPr/>
        </p:nvSpPr>
        <p:spPr>
          <a:xfrm>
            <a:off x="3176596" y="4442876"/>
            <a:ext cx="360996"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b</a:t>
            </a:r>
          </a:p>
        </p:txBody>
      </p:sp>
      <p:sp>
        <p:nvSpPr>
          <p:cNvPr id="81" name="TextBox 80"/>
          <p:cNvSpPr txBox="1"/>
          <p:nvPr/>
        </p:nvSpPr>
        <p:spPr>
          <a:xfrm>
            <a:off x="4292237" y="4883369"/>
            <a:ext cx="352982"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e</a:t>
            </a:r>
          </a:p>
        </p:txBody>
      </p:sp>
      <p:sp>
        <p:nvSpPr>
          <p:cNvPr id="82" name="TextBox 81"/>
          <p:cNvSpPr txBox="1"/>
          <p:nvPr/>
        </p:nvSpPr>
        <p:spPr>
          <a:xfrm>
            <a:off x="3512928" y="4990890"/>
            <a:ext cx="349776" cy="523220"/>
          </a:xfrm>
          <a:prstGeom prst="rect">
            <a:avLst/>
          </a:prstGeom>
          <a:noFill/>
          <a:ln>
            <a:noFill/>
          </a:ln>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c</a:t>
            </a:r>
          </a:p>
        </p:txBody>
      </p:sp>
      <p:sp>
        <p:nvSpPr>
          <p:cNvPr id="83" name="TextBox 82"/>
          <p:cNvSpPr txBox="1"/>
          <p:nvPr/>
        </p:nvSpPr>
        <p:spPr>
          <a:xfrm>
            <a:off x="3984596" y="5316093"/>
            <a:ext cx="362600"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d</a:t>
            </a:r>
          </a:p>
        </p:txBody>
      </p:sp>
      <p:sp>
        <p:nvSpPr>
          <p:cNvPr id="84" name="TextBox 83"/>
          <p:cNvSpPr txBox="1"/>
          <p:nvPr/>
        </p:nvSpPr>
        <p:spPr>
          <a:xfrm>
            <a:off x="4246367" y="3487876"/>
            <a:ext cx="264816"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j</a:t>
            </a:r>
          </a:p>
        </p:txBody>
      </p:sp>
      <p:sp>
        <p:nvSpPr>
          <p:cNvPr id="85" name="TextBox 84"/>
          <p:cNvSpPr txBox="1"/>
          <p:nvPr/>
        </p:nvSpPr>
        <p:spPr>
          <a:xfrm>
            <a:off x="4861481" y="4143721"/>
            <a:ext cx="266420"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l</a:t>
            </a:r>
          </a:p>
        </p:txBody>
      </p:sp>
      <p:sp>
        <p:nvSpPr>
          <p:cNvPr id="86" name="TextBox 85"/>
          <p:cNvSpPr txBox="1"/>
          <p:nvPr/>
        </p:nvSpPr>
        <p:spPr>
          <a:xfrm>
            <a:off x="3940478" y="3268608"/>
            <a:ext cx="266420" cy="523220"/>
          </a:xfrm>
          <a:prstGeom prst="rect">
            <a:avLst/>
          </a:prstGeom>
          <a:noFill/>
        </p:spPr>
        <p:txBody>
          <a:bodyPr wrap="none" rtlCol="0">
            <a:spAutoFit/>
          </a:bodyPr>
          <a:lstStyle/>
          <a:p>
            <a:r>
              <a:rPr lang="en-US" sz="2800" dirty="0" err="1">
                <a:solidFill>
                  <a:srgbClr val="C00000"/>
                </a:solidFill>
                <a:latin typeface="Roboto Condensed" panose="02000000000000000000" pitchFamily="2" charset="0"/>
                <a:ea typeface="Roboto Condensed" panose="02000000000000000000" pitchFamily="2" charset="0"/>
              </a:rPr>
              <a:t>i</a:t>
            </a:r>
            <a:endParaRPr lang="en-US" sz="2800" dirty="0">
              <a:solidFill>
                <a:srgbClr val="C00000"/>
              </a:solidFill>
              <a:latin typeface="Roboto Condensed" panose="02000000000000000000" pitchFamily="2" charset="0"/>
              <a:ea typeface="Roboto Condensed" panose="02000000000000000000" pitchFamily="2" charset="0"/>
            </a:endParaRPr>
          </a:p>
        </p:txBody>
      </p:sp>
      <p:sp>
        <p:nvSpPr>
          <p:cNvPr id="87" name="TextBox 86"/>
          <p:cNvSpPr txBox="1"/>
          <p:nvPr/>
        </p:nvSpPr>
        <p:spPr>
          <a:xfrm>
            <a:off x="4560235" y="3205748"/>
            <a:ext cx="346570"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k</a:t>
            </a:r>
          </a:p>
        </p:txBody>
      </p:sp>
      <p:sp>
        <p:nvSpPr>
          <p:cNvPr id="88" name="TextBox 87"/>
          <p:cNvSpPr txBox="1"/>
          <p:nvPr/>
        </p:nvSpPr>
        <p:spPr>
          <a:xfrm>
            <a:off x="5306866" y="4154055"/>
            <a:ext cx="455574"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m</a:t>
            </a:r>
          </a:p>
        </p:txBody>
      </p:sp>
      <p:sp>
        <p:nvSpPr>
          <p:cNvPr id="89" name="TextBox 88"/>
          <p:cNvSpPr txBox="1"/>
          <p:nvPr/>
        </p:nvSpPr>
        <p:spPr>
          <a:xfrm>
            <a:off x="3790350" y="4198300"/>
            <a:ext cx="298480"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f</a:t>
            </a:r>
          </a:p>
        </p:txBody>
      </p:sp>
      <p:sp>
        <p:nvSpPr>
          <p:cNvPr id="90" name="TextBox 89"/>
          <p:cNvSpPr txBox="1"/>
          <p:nvPr/>
        </p:nvSpPr>
        <p:spPr>
          <a:xfrm>
            <a:off x="4379737" y="4112920"/>
            <a:ext cx="360996"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g</a:t>
            </a:r>
          </a:p>
        </p:txBody>
      </p:sp>
      <mc:AlternateContent xmlns:mc="http://schemas.openxmlformats.org/markup-compatibility/2006" xmlns:a14="http://schemas.microsoft.com/office/drawing/2010/main">
        <mc:Choice Requires="a14">
          <p:sp>
            <p:nvSpPr>
              <p:cNvPr id="6" name="TextBox 5"/>
              <p:cNvSpPr txBox="1"/>
              <p:nvPr/>
            </p:nvSpPr>
            <p:spPr>
              <a:xfrm>
                <a:off x="6267426" y="5661056"/>
                <a:ext cx="3108543" cy="954107"/>
              </a:xfrm>
              <a:prstGeom prst="rect">
                <a:avLst/>
              </a:prstGeom>
              <a:noFill/>
            </p:spPr>
            <p:txBody>
              <a:bodyPr wrap="none" rtlCol="0">
                <a:spAutoFit/>
              </a:bodyPr>
              <a:lstStyle/>
              <a:p>
                <a:r>
                  <a:rPr lang="en-US" sz="2800" dirty="0">
                    <a:solidFill>
                      <a:srgbClr val="002060"/>
                    </a:solidFill>
                  </a:rPr>
                  <a:t>Fundamental Circuit</a:t>
                </a:r>
                <a14:m>
                  <m:oMath xmlns:m="http://schemas.openxmlformats.org/officeDocument/2006/math">
                    <m:r>
                      <a:rPr lang="en-US" sz="2800" dirty="0">
                        <a:solidFill>
                          <a:srgbClr val="002060"/>
                        </a:solidFill>
                        <a:latin typeface="Cambria Math" panose="02040503050406030204" pitchFamily="18" charset="0"/>
                      </a:rPr>
                      <m:t> </m:t>
                    </m:r>
                  </m:oMath>
                </a14:m>
                <a:endParaRPr lang="en-US" sz="2800" dirty="0">
                  <a:solidFill>
                    <a:srgbClr val="002060"/>
                  </a:solidFill>
                </a:endParaRPr>
              </a:p>
              <a:p>
                <a:pPr/>
                <a14:m>
                  <m:oMathPara xmlns:m="http://schemas.openxmlformats.org/officeDocument/2006/math">
                    <m:oMathParaPr>
                      <m:jc m:val="centerGroup"/>
                    </m:oMathParaPr>
                    <m:oMath xmlns:m="http://schemas.openxmlformats.org/officeDocument/2006/math">
                      <m:d>
                        <m:dPr>
                          <m:begChr m:val="{"/>
                          <m:endChr m:val="}"/>
                          <m:ctrlPr>
                            <a:rPr lang="en-US" sz="2800" i="1" dirty="0">
                              <a:solidFill>
                                <a:srgbClr val="002060"/>
                              </a:solidFill>
                              <a:latin typeface="Cambria Math" panose="02040503050406030204" pitchFamily="18" charset="0"/>
                            </a:rPr>
                          </m:ctrlPr>
                        </m:dPr>
                        <m:e>
                          <m:r>
                            <m:rPr>
                              <m:sty m:val="p"/>
                            </m:rPr>
                            <a:rPr lang="en-US" sz="2800" dirty="0">
                              <a:solidFill>
                                <a:srgbClr val="002060"/>
                              </a:solidFill>
                              <a:latin typeface="Cambria Math" panose="02040503050406030204" pitchFamily="18" charset="0"/>
                            </a:rPr>
                            <m:t>b</m:t>
                          </m:r>
                          <m:r>
                            <a:rPr lang="en-US" sz="2800" dirty="0">
                              <a:solidFill>
                                <a:srgbClr val="002060"/>
                              </a:solidFill>
                              <a:latin typeface="Cambria Math" panose="02040503050406030204" pitchFamily="18" charset="0"/>
                            </a:rPr>
                            <m:t>,</m:t>
                          </m:r>
                          <m:r>
                            <m:rPr>
                              <m:sty m:val="p"/>
                            </m:rPr>
                            <a:rPr lang="en-US" sz="2800" dirty="0">
                              <a:solidFill>
                                <a:srgbClr val="002060"/>
                              </a:solidFill>
                              <a:latin typeface="Cambria Math" panose="02040503050406030204" pitchFamily="18" charset="0"/>
                            </a:rPr>
                            <m:t>c</m:t>
                          </m:r>
                          <m:r>
                            <a:rPr lang="en-US" sz="2800" b="0" i="0" dirty="0" smtClean="0">
                              <a:solidFill>
                                <a:srgbClr val="002060"/>
                              </a:solidFill>
                              <a:latin typeface="Cambria Math" panose="02040503050406030204" pitchFamily="18" charset="0"/>
                            </a:rPr>
                            <m:t>, </m:t>
                          </m:r>
                          <m:r>
                            <m:rPr>
                              <m:sty m:val="p"/>
                            </m:rPr>
                            <a:rPr lang="en-US" sz="2800" b="0" i="0" dirty="0" smtClean="0">
                              <a:solidFill>
                                <a:srgbClr val="002060"/>
                              </a:solidFill>
                              <a:latin typeface="Cambria Math" panose="02040503050406030204" pitchFamily="18" charset="0"/>
                            </a:rPr>
                            <m:t>a</m:t>
                          </m:r>
                        </m:e>
                      </m:d>
                    </m:oMath>
                  </m:oMathPara>
                </a14:m>
                <a:endParaRPr lang="en-US" sz="2800" dirty="0">
                  <a:solidFill>
                    <a:srgbClr val="002060"/>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6267426" y="5661056"/>
                <a:ext cx="3108543" cy="954107"/>
              </a:xfrm>
              <a:prstGeom prst="rect">
                <a:avLst/>
              </a:prstGeom>
              <a:blipFill rotWithShape="0">
                <a:blip r:embed="rId3"/>
                <a:stretch>
                  <a:fillRect l="-3922" t="-7051" r="-588"/>
                </a:stretch>
              </a:blipFill>
            </p:spPr>
            <p:txBody>
              <a:bodyPr/>
              <a:lstStyle/>
              <a:p>
                <a:r>
                  <a:rPr lang="en-US">
                    <a:noFill/>
                  </a:rPr>
                  <a:t> </a:t>
                </a:r>
              </a:p>
            </p:txBody>
          </p:sp>
        </mc:Fallback>
      </mc:AlternateContent>
    </p:spTree>
    <p:extLst>
      <p:ext uri="{BB962C8B-B14F-4D97-AF65-F5344CB8AC3E}">
        <p14:creationId xmlns:p14="http://schemas.microsoft.com/office/powerpoint/2010/main" val="39456709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7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8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8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8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8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8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8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90"/>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33"/>
                                        </p:tgtEl>
                                        <p:attrNameLst>
                                          <p:attrName>style.visibility</p:attrName>
                                        </p:attrNameLst>
                                      </p:cBhvr>
                                      <p:to>
                                        <p:strVal val="visible"/>
                                      </p:to>
                                    </p:set>
                                    <p:animEffect transition="in" filter="fade">
                                      <p:cBhvr>
                                        <p:cTn id="85" dur="500"/>
                                        <p:tgtEl>
                                          <p:spTgt spid="33"/>
                                        </p:tgtEl>
                                      </p:cBhvr>
                                    </p:animEffect>
                                  </p:childTnLst>
                                </p:cTn>
                              </p:par>
                              <p:par>
                                <p:cTn id="86" presetID="10" presetClass="entr" presetSubtype="0" fill="hold" nodeType="withEffect">
                                  <p:stCondLst>
                                    <p:cond delay="0"/>
                                  </p:stCondLst>
                                  <p:childTnLst>
                                    <p:set>
                                      <p:cBhvr>
                                        <p:cTn id="87" dur="1" fill="hold">
                                          <p:stCondLst>
                                            <p:cond delay="0"/>
                                          </p:stCondLst>
                                        </p:cTn>
                                        <p:tgtEl>
                                          <p:spTgt spid="38"/>
                                        </p:tgtEl>
                                        <p:attrNameLst>
                                          <p:attrName>style.visibility</p:attrName>
                                        </p:attrNameLst>
                                      </p:cBhvr>
                                      <p:to>
                                        <p:strVal val="visible"/>
                                      </p:to>
                                    </p:set>
                                    <p:animEffect transition="in" filter="fade">
                                      <p:cBhvr>
                                        <p:cTn id="88" dur="500"/>
                                        <p:tgtEl>
                                          <p:spTgt spid="38"/>
                                        </p:tgtEl>
                                      </p:cBhvr>
                                    </p:animEffect>
                                  </p:childTnLst>
                                </p:cTn>
                              </p:par>
                              <p:par>
                                <p:cTn id="89" presetID="10" presetClass="entr" presetSubtype="0" fill="hold" nodeType="withEffect">
                                  <p:stCondLst>
                                    <p:cond delay="0"/>
                                  </p:stCondLst>
                                  <p:childTnLst>
                                    <p:set>
                                      <p:cBhvr>
                                        <p:cTn id="90" dur="1" fill="hold">
                                          <p:stCondLst>
                                            <p:cond delay="0"/>
                                          </p:stCondLst>
                                        </p:cTn>
                                        <p:tgtEl>
                                          <p:spTgt spid="39"/>
                                        </p:tgtEl>
                                        <p:attrNameLst>
                                          <p:attrName>style.visibility</p:attrName>
                                        </p:attrNameLst>
                                      </p:cBhvr>
                                      <p:to>
                                        <p:strVal val="visible"/>
                                      </p:to>
                                    </p:set>
                                    <p:animEffect transition="in" filter="fade">
                                      <p:cBhvr>
                                        <p:cTn id="91" dur="500"/>
                                        <p:tgtEl>
                                          <p:spTgt spid="39"/>
                                        </p:tgtEl>
                                      </p:cBhvr>
                                    </p:animEffect>
                                  </p:childTnLst>
                                </p:cTn>
                              </p:par>
                              <p:par>
                                <p:cTn id="92" presetID="10" presetClass="entr" presetSubtype="0" fill="hold" nodeType="withEffect">
                                  <p:stCondLst>
                                    <p:cond delay="0"/>
                                  </p:stCondLst>
                                  <p:childTnLst>
                                    <p:set>
                                      <p:cBhvr>
                                        <p:cTn id="93" dur="1" fill="hold">
                                          <p:stCondLst>
                                            <p:cond delay="0"/>
                                          </p:stCondLst>
                                        </p:cTn>
                                        <p:tgtEl>
                                          <p:spTgt spid="40"/>
                                        </p:tgtEl>
                                        <p:attrNameLst>
                                          <p:attrName>style.visibility</p:attrName>
                                        </p:attrNameLst>
                                      </p:cBhvr>
                                      <p:to>
                                        <p:strVal val="visible"/>
                                      </p:to>
                                    </p:set>
                                    <p:animEffect transition="in" filter="fade">
                                      <p:cBhvr>
                                        <p:cTn id="94" dur="500"/>
                                        <p:tgtEl>
                                          <p:spTgt spid="40"/>
                                        </p:tgtEl>
                                      </p:cBhvr>
                                    </p:animEffect>
                                  </p:childTnLst>
                                </p:cTn>
                              </p:par>
                              <p:par>
                                <p:cTn id="95" presetID="10" presetClass="entr" presetSubtype="0" fill="hold" nodeType="withEffect">
                                  <p:stCondLst>
                                    <p:cond delay="0"/>
                                  </p:stCondLst>
                                  <p:childTnLst>
                                    <p:set>
                                      <p:cBhvr>
                                        <p:cTn id="96" dur="1" fill="hold">
                                          <p:stCondLst>
                                            <p:cond delay="0"/>
                                          </p:stCondLst>
                                        </p:cTn>
                                        <p:tgtEl>
                                          <p:spTgt spid="42"/>
                                        </p:tgtEl>
                                        <p:attrNameLst>
                                          <p:attrName>style.visibility</p:attrName>
                                        </p:attrNameLst>
                                      </p:cBhvr>
                                      <p:to>
                                        <p:strVal val="visible"/>
                                      </p:to>
                                    </p:set>
                                    <p:animEffect transition="in" filter="fade">
                                      <p:cBhvr>
                                        <p:cTn id="97" dur="500"/>
                                        <p:tgtEl>
                                          <p:spTgt spid="42"/>
                                        </p:tgtEl>
                                      </p:cBhvr>
                                    </p:animEffect>
                                  </p:childTnLst>
                                </p:cTn>
                              </p:par>
                              <p:par>
                                <p:cTn id="98" presetID="10" presetClass="entr" presetSubtype="0" fill="hold" grpId="1" nodeType="withEffect">
                                  <p:stCondLst>
                                    <p:cond delay="0"/>
                                  </p:stCondLst>
                                  <p:childTnLst>
                                    <p:set>
                                      <p:cBhvr>
                                        <p:cTn id="99" dur="1" fill="hold">
                                          <p:stCondLst>
                                            <p:cond delay="0"/>
                                          </p:stCondLst>
                                        </p:cTn>
                                        <p:tgtEl>
                                          <p:spTgt spid="45"/>
                                        </p:tgtEl>
                                        <p:attrNameLst>
                                          <p:attrName>style.visibility</p:attrName>
                                        </p:attrNameLst>
                                      </p:cBhvr>
                                      <p:to>
                                        <p:strVal val="visible"/>
                                      </p:to>
                                    </p:set>
                                    <p:animEffect transition="in" filter="fade">
                                      <p:cBhvr>
                                        <p:cTn id="100" dur="500"/>
                                        <p:tgtEl>
                                          <p:spTgt spid="45"/>
                                        </p:tgtEl>
                                      </p:cBhvr>
                                    </p:animEffect>
                                  </p:childTnLst>
                                </p:cTn>
                              </p:par>
                              <p:par>
                                <p:cTn id="101" presetID="10" presetClass="entr" presetSubtype="0" fill="hold" grpId="1" nodeType="withEffect">
                                  <p:stCondLst>
                                    <p:cond delay="0"/>
                                  </p:stCondLst>
                                  <p:childTnLst>
                                    <p:set>
                                      <p:cBhvr>
                                        <p:cTn id="102" dur="1" fill="hold">
                                          <p:stCondLst>
                                            <p:cond delay="0"/>
                                          </p:stCondLst>
                                        </p:cTn>
                                        <p:tgtEl>
                                          <p:spTgt spid="56"/>
                                        </p:tgtEl>
                                        <p:attrNameLst>
                                          <p:attrName>style.visibility</p:attrName>
                                        </p:attrNameLst>
                                      </p:cBhvr>
                                      <p:to>
                                        <p:strVal val="visible"/>
                                      </p:to>
                                    </p:set>
                                    <p:animEffect transition="in" filter="fade">
                                      <p:cBhvr>
                                        <p:cTn id="103" dur="500"/>
                                        <p:tgtEl>
                                          <p:spTgt spid="56"/>
                                        </p:tgtEl>
                                      </p:cBhvr>
                                    </p:animEffect>
                                  </p:childTnLst>
                                </p:cTn>
                              </p:par>
                              <p:par>
                                <p:cTn id="104" presetID="10" presetClass="entr" presetSubtype="0" fill="hold" grpId="1" nodeType="withEffect">
                                  <p:stCondLst>
                                    <p:cond delay="0"/>
                                  </p:stCondLst>
                                  <p:childTnLst>
                                    <p:set>
                                      <p:cBhvr>
                                        <p:cTn id="105" dur="1" fill="hold">
                                          <p:stCondLst>
                                            <p:cond delay="0"/>
                                          </p:stCondLst>
                                        </p:cTn>
                                        <p:tgtEl>
                                          <p:spTgt spid="57"/>
                                        </p:tgtEl>
                                        <p:attrNameLst>
                                          <p:attrName>style.visibility</p:attrName>
                                        </p:attrNameLst>
                                      </p:cBhvr>
                                      <p:to>
                                        <p:strVal val="visible"/>
                                      </p:to>
                                    </p:set>
                                    <p:animEffect transition="in" filter="fade">
                                      <p:cBhvr>
                                        <p:cTn id="106" dur="500"/>
                                        <p:tgtEl>
                                          <p:spTgt spid="57"/>
                                        </p:tgtEl>
                                      </p:cBhvr>
                                    </p:animEffect>
                                  </p:childTnLst>
                                </p:cTn>
                              </p:par>
                              <p:par>
                                <p:cTn id="107" presetID="10" presetClass="entr" presetSubtype="0" fill="hold" grpId="1" nodeType="withEffect">
                                  <p:stCondLst>
                                    <p:cond delay="0"/>
                                  </p:stCondLst>
                                  <p:childTnLst>
                                    <p:set>
                                      <p:cBhvr>
                                        <p:cTn id="108" dur="1" fill="hold">
                                          <p:stCondLst>
                                            <p:cond delay="0"/>
                                          </p:stCondLst>
                                        </p:cTn>
                                        <p:tgtEl>
                                          <p:spTgt spid="48"/>
                                        </p:tgtEl>
                                        <p:attrNameLst>
                                          <p:attrName>style.visibility</p:attrName>
                                        </p:attrNameLst>
                                      </p:cBhvr>
                                      <p:to>
                                        <p:strVal val="visible"/>
                                      </p:to>
                                    </p:set>
                                    <p:animEffect transition="in" filter="fade">
                                      <p:cBhvr>
                                        <p:cTn id="109" dur="500"/>
                                        <p:tgtEl>
                                          <p:spTgt spid="48"/>
                                        </p:tgtEl>
                                      </p:cBhvr>
                                    </p:animEffect>
                                  </p:childTnLst>
                                </p:cTn>
                              </p:par>
                              <p:par>
                                <p:cTn id="110" presetID="10" presetClass="entr" presetSubtype="0" fill="hold" grpId="1" nodeType="withEffect">
                                  <p:stCondLst>
                                    <p:cond delay="0"/>
                                  </p:stCondLst>
                                  <p:childTnLst>
                                    <p:set>
                                      <p:cBhvr>
                                        <p:cTn id="111" dur="1" fill="hold">
                                          <p:stCondLst>
                                            <p:cond delay="0"/>
                                          </p:stCondLst>
                                        </p:cTn>
                                        <p:tgtEl>
                                          <p:spTgt spid="43"/>
                                        </p:tgtEl>
                                        <p:attrNameLst>
                                          <p:attrName>style.visibility</p:attrName>
                                        </p:attrNameLst>
                                      </p:cBhvr>
                                      <p:to>
                                        <p:strVal val="visible"/>
                                      </p:to>
                                    </p:set>
                                    <p:animEffect transition="in" filter="fade">
                                      <p:cBhvr>
                                        <p:cTn id="112" dur="500"/>
                                        <p:tgtEl>
                                          <p:spTgt spid="43"/>
                                        </p:tgtEl>
                                      </p:cBhvr>
                                    </p:animEffect>
                                  </p:childTnLst>
                                </p:cTn>
                              </p:par>
                              <p:par>
                                <p:cTn id="113" presetID="10" presetClass="entr" presetSubtype="0" fill="hold" grpId="1" nodeType="withEffect">
                                  <p:stCondLst>
                                    <p:cond delay="0"/>
                                  </p:stCondLst>
                                  <p:childTnLst>
                                    <p:set>
                                      <p:cBhvr>
                                        <p:cTn id="114" dur="1" fill="hold">
                                          <p:stCondLst>
                                            <p:cond delay="0"/>
                                          </p:stCondLst>
                                        </p:cTn>
                                        <p:tgtEl>
                                          <p:spTgt spid="50"/>
                                        </p:tgtEl>
                                        <p:attrNameLst>
                                          <p:attrName>style.visibility</p:attrName>
                                        </p:attrNameLst>
                                      </p:cBhvr>
                                      <p:to>
                                        <p:strVal val="visible"/>
                                      </p:to>
                                    </p:set>
                                    <p:animEffect transition="in" filter="fade">
                                      <p:cBhvr>
                                        <p:cTn id="115" dur="500"/>
                                        <p:tgtEl>
                                          <p:spTgt spid="50"/>
                                        </p:tgtEl>
                                      </p:cBhvr>
                                    </p:animEffect>
                                  </p:childTnLst>
                                </p:cTn>
                              </p:par>
                              <p:par>
                                <p:cTn id="116" presetID="10" presetClass="entr" presetSubtype="0" fill="hold" grpId="1" nodeType="withEffect">
                                  <p:stCondLst>
                                    <p:cond delay="0"/>
                                  </p:stCondLst>
                                  <p:childTnLst>
                                    <p:set>
                                      <p:cBhvr>
                                        <p:cTn id="117" dur="1" fill="hold">
                                          <p:stCondLst>
                                            <p:cond delay="0"/>
                                          </p:stCondLst>
                                        </p:cTn>
                                        <p:tgtEl>
                                          <p:spTgt spid="44"/>
                                        </p:tgtEl>
                                        <p:attrNameLst>
                                          <p:attrName>style.visibility</p:attrName>
                                        </p:attrNameLst>
                                      </p:cBhvr>
                                      <p:to>
                                        <p:strVal val="visible"/>
                                      </p:to>
                                    </p:set>
                                    <p:animEffect transition="in" filter="fade">
                                      <p:cBhvr>
                                        <p:cTn id="118" dur="500"/>
                                        <p:tgtEl>
                                          <p:spTgt spid="44"/>
                                        </p:tgtEl>
                                      </p:cBhvr>
                                    </p:animEffect>
                                  </p:childTnLst>
                                </p:cTn>
                              </p:par>
                              <p:par>
                                <p:cTn id="119" presetID="10" presetClass="entr" presetSubtype="0" fill="hold" grpId="1" nodeType="withEffect">
                                  <p:stCondLst>
                                    <p:cond delay="0"/>
                                  </p:stCondLst>
                                  <p:childTnLst>
                                    <p:set>
                                      <p:cBhvr>
                                        <p:cTn id="120" dur="1" fill="hold">
                                          <p:stCondLst>
                                            <p:cond delay="0"/>
                                          </p:stCondLst>
                                        </p:cTn>
                                        <p:tgtEl>
                                          <p:spTgt spid="55"/>
                                        </p:tgtEl>
                                        <p:attrNameLst>
                                          <p:attrName>style.visibility</p:attrName>
                                        </p:attrNameLst>
                                      </p:cBhvr>
                                      <p:to>
                                        <p:strVal val="visible"/>
                                      </p:to>
                                    </p:set>
                                    <p:animEffect transition="in" filter="fade">
                                      <p:cBhvr>
                                        <p:cTn id="121" dur="500"/>
                                        <p:tgtEl>
                                          <p:spTgt spid="55"/>
                                        </p:tgtEl>
                                      </p:cBhvr>
                                    </p:animEffect>
                                  </p:childTnLst>
                                </p:cTn>
                              </p:par>
                              <p:par>
                                <p:cTn id="122" presetID="10" presetClass="entr" presetSubtype="0" fill="hold" grpId="1" nodeType="withEffect">
                                  <p:stCondLst>
                                    <p:cond delay="0"/>
                                  </p:stCondLst>
                                  <p:childTnLst>
                                    <p:set>
                                      <p:cBhvr>
                                        <p:cTn id="123" dur="1" fill="hold">
                                          <p:stCondLst>
                                            <p:cond delay="0"/>
                                          </p:stCondLst>
                                        </p:cTn>
                                        <p:tgtEl>
                                          <p:spTgt spid="54"/>
                                        </p:tgtEl>
                                        <p:attrNameLst>
                                          <p:attrName>style.visibility</p:attrName>
                                        </p:attrNameLst>
                                      </p:cBhvr>
                                      <p:to>
                                        <p:strVal val="visible"/>
                                      </p:to>
                                    </p:set>
                                    <p:animEffect transition="in" filter="fade">
                                      <p:cBhvr>
                                        <p:cTn id="124" dur="500"/>
                                        <p:tgtEl>
                                          <p:spTgt spid="54"/>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25"/>
                                        </p:tgtEl>
                                        <p:attrNameLst>
                                          <p:attrName>style.visibility</p:attrName>
                                        </p:attrNameLst>
                                      </p:cBhvr>
                                      <p:to>
                                        <p:strVal val="visible"/>
                                      </p:to>
                                    </p:set>
                                    <p:animEffect transition="in" filter="fade">
                                      <p:cBhvr>
                                        <p:cTn id="127" dur="500"/>
                                        <p:tgtEl>
                                          <p:spTgt spid="25"/>
                                        </p:tgtEl>
                                      </p:cBhvr>
                                    </p:animEffect>
                                  </p:childTnLst>
                                </p:cTn>
                              </p:par>
                              <p:par>
                                <p:cTn id="128" presetID="10" presetClass="entr" presetSubtype="0" fill="hold" nodeType="withEffect">
                                  <p:stCondLst>
                                    <p:cond delay="0"/>
                                  </p:stCondLst>
                                  <p:childTnLst>
                                    <p:set>
                                      <p:cBhvr>
                                        <p:cTn id="129" dur="1" fill="hold">
                                          <p:stCondLst>
                                            <p:cond delay="0"/>
                                          </p:stCondLst>
                                        </p:cTn>
                                        <p:tgtEl>
                                          <p:spTgt spid="26"/>
                                        </p:tgtEl>
                                        <p:attrNameLst>
                                          <p:attrName>style.visibility</p:attrName>
                                        </p:attrNameLst>
                                      </p:cBhvr>
                                      <p:to>
                                        <p:strVal val="visible"/>
                                      </p:to>
                                    </p:set>
                                    <p:animEffect transition="in" filter="fade">
                                      <p:cBhvr>
                                        <p:cTn id="130" dur="500"/>
                                        <p:tgtEl>
                                          <p:spTgt spid="26"/>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27"/>
                                        </p:tgtEl>
                                        <p:attrNameLst>
                                          <p:attrName>style.visibility</p:attrName>
                                        </p:attrNameLst>
                                      </p:cBhvr>
                                      <p:to>
                                        <p:strVal val="visible"/>
                                      </p:to>
                                    </p:set>
                                    <p:animEffect transition="in" filter="fade">
                                      <p:cBhvr>
                                        <p:cTn id="133" dur="500"/>
                                        <p:tgtEl>
                                          <p:spTgt spid="27"/>
                                        </p:tgtEl>
                                      </p:cBhvr>
                                    </p:animEffect>
                                  </p:childTnLst>
                                </p:cTn>
                              </p:par>
                              <p:par>
                                <p:cTn id="134" presetID="10" presetClass="entr" presetSubtype="0" fill="hold" nodeType="withEffect">
                                  <p:stCondLst>
                                    <p:cond delay="0"/>
                                  </p:stCondLst>
                                  <p:childTnLst>
                                    <p:set>
                                      <p:cBhvr>
                                        <p:cTn id="135" dur="1" fill="hold">
                                          <p:stCondLst>
                                            <p:cond delay="0"/>
                                          </p:stCondLst>
                                        </p:cTn>
                                        <p:tgtEl>
                                          <p:spTgt spid="28"/>
                                        </p:tgtEl>
                                        <p:attrNameLst>
                                          <p:attrName>style.visibility</p:attrName>
                                        </p:attrNameLst>
                                      </p:cBhvr>
                                      <p:to>
                                        <p:strVal val="visible"/>
                                      </p:to>
                                    </p:set>
                                    <p:animEffect transition="in" filter="fade">
                                      <p:cBhvr>
                                        <p:cTn id="136" dur="500"/>
                                        <p:tgtEl>
                                          <p:spTgt spid="28"/>
                                        </p:tgtEl>
                                      </p:cBhvr>
                                    </p:animEffect>
                                  </p:childTnLst>
                                </p:cTn>
                              </p:par>
                              <p:par>
                                <p:cTn id="137" presetID="10" presetClass="entr" presetSubtype="0" fill="hold" grpId="0" nodeType="withEffect">
                                  <p:stCondLst>
                                    <p:cond delay="0"/>
                                  </p:stCondLst>
                                  <p:childTnLst>
                                    <p:set>
                                      <p:cBhvr>
                                        <p:cTn id="138" dur="1" fill="hold">
                                          <p:stCondLst>
                                            <p:cond delay="0"/>
                                          </p:stCondLst>
                                        </p:cTn>
                                        <p:tgtEl>
                                          <p:spTgt spid="29"/>
                                        </p:tgtEl>
                                        <p:attrNameLst>
                                          <p:attrName>style.visibility</p:attrName>
                                        </p:attrNameLst>
                                      </p:cBhvr>
                                      <p:to>
                                        <p:strVal val="visible"/>
                                      </p:to>
                                    </p:set>
                                    <p:animEffect transition="in" filter="fade">
                                      <p:cBhvr>
                                        <p:cTn id="139" dur="500"/>
                                        <p:tgtEl>
                                          <p:spTgt spid="29"/>
                                        </p:tgtEl>
                                      </p:cBhvr>
                                    </p:animEffect>
                                  </p:childTnLst>
                                </p:cTn>
                              </p:par>
                              <p:par>
                                <p:cTn id="140" presetID="10" presetClass="entr" presetSubtype="0" fill="hold" nodeType="withEffect">
                                  <p:stCondLst>
                                    <p:cond delay="0"/>
                                  </p:stCondLst>
                                  <p:childTnLst>
                                    <p:set>
                                      <p:cBhvr>
                                        <p:cTn id="141" dur="1" fill="hold">
                                          <p:stCondLst>
                                            <p:cond delay="0"/>
                                          </p:stCondLst>
                                        </p:cTn>
                                        <p:tgtEl>
                                          <p:spTgt spid="30"/>
                                        </p:tgtEl>
                                        <p:attrNameLst>
                                          <p:attrName>style.visibility</p:attrName>
                                        </p:attrNameLst>
                                      </p:cBhvr>
                                      <p:to>
                                        <p:strVal val="visible"/>
                                      </p:to>
                                    </p:set>
                                    <p:animEffect transition="in" filter="fade">
                                      <p:cBhvr>
                                        <p:cTn id="142" dur="500"/>
                                        <p:tgtEl>
                                          <p:spTgt spid="30"/>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31"/>
                                        </p:tgtEl>
                                        <p:attrNameLst>
                                          <p:attrName>style.visibility</p:attrName>
                                        </p:attrNameLst>
                                      </p:cBhvr>
                                      <p:to>
                                        <p:strVal val="visible"/>
                                      </p:to>
                                    </p:set>
                                    <p:animEffect transition="in" filter="fade">
                                      <p:cBhvr>
                                        <p:cTn id="145" dur="500"/>
                                        <p:tgtEl>
                                          <p:spTgt spid="31"/>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32"/>
                                        </p:tgtEl>
                                        <p:attrNameLst>
                                          <p:attrName>style.visibility</p:attrName>
                                        </p:attrNameLst>
                                      </p:cBhvr>
                                      <p:to>
                                        <p:strVal val="visible"/>
                                      </p:to>
                                    </p:set>
                                    <p:animEffect transition="in" filter="fade">
                                      <p:cBhvr>
                                        <p:cTn id="148" dur="500"/>
                                        <p:tgtEl>
                                          <p:spTgt spid="32"/>
                                        </p:tgtEl>
                                      </p:cBhvr>
                                    </p:animEffect>
                                  </p:childTnLst>
                                </p:cTn>
                              </p:par>
                              <p:par>
                                <p:cTn id="149" presetID="10" presetClass="entr" presetSubtype="0" fill="hold" nodeType="withEffect">
                                  <p:stCondLst>
                                    <p:cond delay="0"/>
                                  </p:stCondLst>
                                  <p:childTnLst>
                                    <p:set>
                                      <p:cBhvr>
                                        <p:cTn id="150" dur="1" fill="hold">
                                          <p:stCondLst>
                                            <p:cond delay="0"/>
                                          </p:stCondLst>
                                        </p:cTn>
                                        <p:tgtEl>
                                          <p:spTgt spid="34"/>
                                        </p:tgtEl>
                                        <p:attrNameLst>
                                          <p:attrName>style.visibility</p:attrName>
                                        </p:attrNameLst>
                                      </p:cBhvr>
                                      <p:to>
                                        <p:strVal val="visible"/>
                                      </p:to>
                                    </p:set>
                                    <p:animEffect transition="in" filter="fade">
                                      <p:cBhvr>
                                        <p:cTn id="151" dur="500"/>
                                        <p:tgtEl>
                                          <p:spTgt spid="34"/>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35"/>
                                        </p:tgtEl>
                                        <p:attrNameLst>
                                          <p:attrName>style.visibility</p:attrName>
                                        </p:attrNameLst>
                                      </p:cBhvr>
                                      <p:to>
                                        <p:strVal val="visible"/>
                                      </p:to>
                                    </p:set>
                                    <p:animEffect transition="in" filter="fade">
                                      <p:cBhvr>
                                        <p:cTn id="154" dur="500"/>
                                        <p:tgtEl>
                                          <p:spTgt spid="35"/>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36"/>
                                        </p:tgtEl>
                                        <p:attrNameLst>
                                          <p:attrName>style.visibility</p:attrName>
                                        </p:attrNameLst>
                                      </p:cBhvr>
                                      <p:to>
                                        <p:strVal val="visible"/>
                                      </p:to>
                                    </p:set>
                                    <p:animEffect transition="in" filter="fade">
                                      <p:cBhvr>
                                        <p:cTn id="157" dur="500"/>
                                        <p:tgtEl>
                                          <p:spTgt spid="36"/>
                                        </p:tgtEl>
                                      </p:cBhvr>
                                    </p:animEffect>
                                  </p:childTnLst>
                                </p:cTn>
                              </p:par>
                              <p:par>
                                <p:cTn id="158" presetID="10" presetClass="entr" presetSubtype="0" fill="hold" nodeType="withEffect">
                                  <p:stCondLst>
                                    <p:cond delay="0"/>
                                  </p:stCondLst>
                                  <p:childTnLst>
                                    <p:set>
                                      <p:cBhvr>
                                        <p:cTn id="159" dur="1" fill="hold">
                                          <p:stCondLst>
                                            <p:cond delay="0"/>
                                          </p:stCondLst>
                                        </p:cTn>
                                        <p:tgtEl>
                                          <p:spTgt spid="37"/>
                                        </p:tgtEl>
                                        <p:attrNameLst>
                                          <p:attrName>style.visibility</p:attrName>
                                        </p:attrNameLst>
                                      </p:cBhvr>
                                      <p:to>
                                        <p:strVal val="visible"/>
                                      </p:to>
                                    </p:set>
                                    <p:animEffect transition="in" filter="fade">
                                      <p:cBhvr>
                                        <p:cTn id="160" dur="500"/>
                                        <p:tgtEl>
                                          <p:spTgt spid="37"/>
                                        </p:tgtEl>
                                      </p:cBhvr>
                                    </p:animEffect>
                                  </p:childTnLst>
                                </p:cTn>
                              </p:par>
                              <p:par>
                                <p:cTn id="161" presetID="10" presetClass="entr" presetSubtype="0" fill="hold" nodeType="withEffect">
                                  <p:stCondLst>
                                    <p:cond delay="0"/>
                                  </p:stCondLst>
                                  <p:childTnLst>
                                    <p:set>
                                      <p:cBhvr>
                                        <p:cTn id="162" dur="1" fill="hold">
                                          <p:stCondLst>
                                            <p:cond delay="0"/>
                                          </p:stCondLst>
                                        </p:cTn>
                                        <p:tgtEl>
                                          <p:spTgt spid="41"/>
                                        </p:tgtEl>
                                        <p:attrNameLst>
                                          <p:attrName>style.visibility</p:attrName>
                                        </p:attrNameLst>
                                      </p:cBhvr>
                                      <p:to>
                                        <p:strVal val="visible"/>
                                      </p:to>
                                    </p:set>
                                    <p:animEffect transition="in" filter="fade">
                                      <p:cBhvr>
                                        <p:cTn id="163" dur="500"/>
                                        <p:tgtEl>
                                          <p:spTgt spid="41"/>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46"/>
                                        </p:tgtEl>
                                        <p:attrNameLst>
                                          <p:attrName>style.visibility</p:attrName>
                                        </p:attrNameLst>
                                      </p:cBhvr>
                                      <p:to>
                                        <p:strVal val="visible"/>
                                      </p:to>
                                    </p:set>
                                    <p:animEffect transition="in" filter="fade">
                                      <p:cBhvr>
                                        <p:cTn id="166" dur="500"/>
                                        <p:tgtEl>
                                          <p:spTgt spid="46"/>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47"/>
                                        </p:tgtEl>
                                        <p:attrNameLst>
                                          <p:attrName>style.visibility</p:attrName>
                                        </p:attrNameLst>
                                      </p:cBhvr>
                                      <p:to>
                                        <p:strVal val="visible"/>
                                      </p:to>
                                    </p:set>
                                    <p:animEffect transition="in" filter="fade">
                                      <p:cBhvr>
                                        <p:cTn id="169" dur="500"/>
                                        <p:tgtEl>
                                          <p:spTgt spid="47"/>
                                        </p:tgtEl>
                                      </p:cBhvr>
                                    </p:animEffect>
                                  </p:childTnLst>
                                </p:cTn>
                              </p:par>
                              <p:par>
                                <p:cTn id="170" presetID="10" presetClass="entr" presetSubtype="0" fill="hold" grpId="0" nodeType="withEffect">
                                  <p:stCondLst>
                                    <p:cond delay="0"/>
                                  </p:stCondLst>
                                  <p:childTnLst>
                                    <p:set>
                                      <p:cBhvr>
                                        <p:cTn id="171" dur="1" fill="hold">
                                          <p:stCondLst>
                                            <p:cond delay="0"/>
                                          </p:stCondLst>
                                        </p:cTn>
                                        <p:tgtEl>
                                          <p:spTgt spid="49"/>
                                        </p:tgtEl>
                                        <p:attrNameLst>
                                          <p:attrName>style.visibility</p:attrName>
                                        </p:attrNameLst>
                                      </p:cBhvr>
                                      <p:to>
                                        <p:strVal val="visible"/>
                                      </p:to>
                                    </p:set>
                                    <p:animEffect transition="in" filter="fade">
                                      <p:cBhvr>
                                        <p:cTn id="172" dur="500"/>
                                        <p:tgtEl>
                                          <p:spTgt spid="49"/>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51"/>
                                        </p:tgtEl>
                                        <p:attrNameLst>
                                          <p:attrName>style.visibility</p:attrName>
                                        </p:attrNameLst>
                                      </p:cBhvr>
                                      <p:to>
                                        <p:strVal val="visible"/>
                                      </p:to>
                                    </p:set>
                                    <p:animEffect transition="in" filter="fade">
                                      <p:cBhvr>
                                        <p:cTn id="175" dur="500"/>
                                        <p:tgtEl>
                                          <p:spTgt spid="51"/>
                                        </p:tgtEl>
                                      </p:cBhvr>
                                    </p:animEffect>
                                  </p:childTnLst>
                                </p:cTn>
                              </p:par>
                              <p:par>
                                <p:cTn id="176" presetID="10" presetClass="entr" presetSubtype="0" fill="hold" grpId="0" nodeType="withEffect">
                                  <p:stCondLst>
                                    <p:cond delay="0"/>
                                  </p:stCondLst>
                                  <p:childTnLst>
                                    <p:set>
                                      <p:cBhvr>
                                        <p:cTn id="177" dur="1" fill="hold">
                                          <p:stCondLst>
                                            <p:cond delay="0"/>
                                          </p:stCondLst>
                                        </p:cTn>
                                        <p:tgtEl>
                                          <p:spTgt spid="52"/>
                                        </p:tgtEl>
                                        <p:attrNameLst>
                                          <p:attrName>style.visibility</p:attrName>
                                        </p:attrNameLst>
                                      </p:cBhvr>
                                      <p:to>
                                        <p:strVal val="visible"/>
                                      </p:to>
                                    </p:set>
                                    <p:animEffect transition="in" filter="fade">
                                      <p:cBhvr>
                                        <p:cTn id="178" dur="500"/>
                                        <p:tgtEl>
                                          <p:spTgt spid="52"/>
                                        </p:tgtEl>
                                      </p:cBhvr>
                                    </p:animEffect>
                                  </p:childTnLst>
                                </p:cTn>
                              </p:par>
                              <p:par>
                                <p:cTn id="179" presetID="10" presetClass="entr" presetSubtype="0" fill="hold" grpId="0" nodeType="withEffect">
                                  <p:stCondLst>
                                    <p:cond delay="0"/>
                                  </p:stCondLst>
                                  <p:childTnLst>
                                    <p:set>
                                      <p:cBhvr>
                                        <p:cTn id="180" dur="1" fill="hold">
                                          <p:stCondLst>
                                            <p:cond delay="0"/>
                                          </p:stCondLst>
                                        </p:cTn>
                                        <p:tgtEl>
                                          <p:spTgt spid="53"/>
                                        </p:tgtEl>
                                        <p:attrNameLst>
                                          <p:attrName>style.visibility</p:attrName>
                                        </p:attrNameLst>
                                      </p:cBhvr>
                                      <p:to>
                                        <p:strVal val="visible"/>
                                      </p:to>
                                    </p:set>
                                    <p:animEffect transition="in" filter="fade">
                                      <p:cBhvr>
                                        <p:cTn id="181" dur="500"/>
                                        <p:tgtEl>
                                          <p:spTgt spid="53"/>
                                        </p:tgtEl>
                                      </p:cBhvr>
                                    </p:animEffect>
                                  </p:childTnLst>
                                </p:cTn>
                              </p:par>
                            </p:childTnLst>
                          </p:cTn>
                        </p:par>
                      </p:childTnLst>
                    </p:cTn>
                  </p:par>
                  <p:par>
                    <p:cTn id="182" fill="hold">
                      <p:stCondLst>
                        <p:cond delay="indefinite"/>
                      </p:stCondLst>
                      <p:childTnLst>
                        <p:par>
                          <p:cTn id="183" fill="hold">
                            <p:stCondLst>
                              <p:cond delay="0"/>
                            </p:stCondLst>
                            <p:childTnLst>
                              <p:par>
                                <p:cTn id="184" presetID="10" presetClass="exit" presetSubtype="0" fill="hold" nodeType="clickEffect">
                                  <p:stCondLst>
                                    <p:cond delay="0"/>
                                  </p:stCondLst>
                                  <p:childTnLst>
                                    <p:animEffect transition="out" filter="fade">
                                      <p:cBhvr>
                                        <p:cTn id="185" dur="500"/>
                                        <p:tgtEl>
                                          <p:spTgt spid="33"/>
                                        </p:tgtEl>
                                      </p:cBhvr>
                                    </p:animEffect>
                                    <p:set>
                                      <p:cBhvr>
                                        <p:cTn id="186" dur="1" fill="hold">
                                          <p:stCondLst>
                                            <p:cond delay="499"/>
                                          </p:stCondLst>
                                        </p:cTn>
                                        <p:tgtEl>
                                          <p:spTgt spid="33"/>
                                        </p:tgtEl>
                                        <p:attrNameLst>
                                          <p:attrName>style.visibility</p:attrName>
                                        </p:attrNameLst>
                                      </p:cBhvr>
                                      <p:to>
                                        <p:strVal val="hidden"/>
                                      </p:to>
                                    </p:set>
                                  </p:childTnLst>
                                </p:cTn>
                              </p:par>
                              <p:par>
                                <p:cTn id="187" presetID="10" presetClass="exit" presetSubtype="0" fill="hold" nodeType="withEffect">
                                  <p:stCondLst>
                                    <p:cond delay="0"/>
                                  </p:stCondLst>
                                  <p:childTnLst>
                                    <p:animEffect transition="out" filter="fade">
                                      <p:cBhvr>
                                        <p:cTn id="188" dur="500"/>
                                        <p:tgtEl>
                                          <p:spTgt spid="38"/>
                                        </p:tgtEl>
                                      </p:cBhvr>
                                    </p:animEffect>
                                    <p:set>
                                      <p:cBhvr>
                                        <p:cTn id="189" dur="1" fill="hold">
                                          <p:stCondLst>
                                            <p:cond delay="499"/>
                                          </p:stCondLst>
                                        </p:cTn>
                                        <p:tgtEl>
                                          <p:spTgt spid="38"/>
                                        </p:tgtEl>
                                        <p:attrNameLst>
                                          <p:attrName>style.visibility</p:attrName>
                                        </p:attrNameLst>
                                      </p:cBhvr>
                                      <p:to>
                                        <p:strVal val="hidden"/>
                                      </p:to>
                                    </p:set>
                                  </p:childTnLst>
                                </p:cTn>
                              </p:par>
                              <p:par>
                                <p:cTn id="190" presetID="10" presetClass="exit" presetSubtype="0" fill="hold" nodeType="withEffect">
                                  <p:stCondLst>
                                    <p:cond delay="0"/>
                                  </p:stCondLst>
                                  <p:childTnLst>
                                    <p:animEffect transition="out" filter="fade">
                                      <p:cBhvr>
                                        <p:cTn id="191" dur="500"/>
                                        <p:tgtEl>
                                          <p:spTgt spid="39"/>
                                        </p:tgtEl>
                                      </p:cBhvr>
                                    </p:animEffect>
                                    <p:set>
                                      <p:cBhvr>
                                        <p:cTn id="192" dur="1" fill="hold">
                                          <p:stCondLst>
                                            <p:cond delay="499"/>
                                          </p:stCondLst>
                                        </p:cTn>
                                        <p:tgtEl>
                                          <p:spTgt spid="39"/>
                                        </p:tgtEl>
                                        <p:attrNameLst>
                                          <p:attrName>style.visibility</p:attrName>
                                        </p:attrNameLst>
                                      </p:cBhvr>
                                      <p:to>
                                        <p:strVal val="hidden"/>
                                      </p:to>
                                    </p:set>
                                  </p:childTnLst>
                                </p:cTn>
                              </p:par>
                              <p:par>
                                <p:cTn id="193" presetID="10" presetClass="exit" presetSubtype="0" fill="hold" nodeType="withEffect">
                                  <p:stCondLst>
                                    <p:cond delay="0"/>
                                  </p:stCondLst>
                                  <p:childTnLst>
                                    <p:animEffect transition="out" filter="fade">
                                      <p:cBhvr>
                                        <p:cTn id="194" dur="500"/>
                                        <p:tgtEl>
                                          <p:spTgt spid="40"/>
                                        </p:tgtEl>
                                      </p:cBhvr>
                                    </p:animEffect>
                                    <p:set>
                                      <p:cBhvr>
                                        <p:cTn id="195" dur="1" fill="hold">
                                          <p:stCondLst>
                                            <p:cond delay="499"/>
                                          </p:stCondLst>
                                        </p:cTn>
                                        <p:tgtEl>
                                          <p:spTgt spid="40"/>
                                        </p:tgtEl>
                                        <p:attrNameLst>
                                          <p:attrName>style.visibility</p:attrName>
                                        </p:attrNameLst>
                                      </p:cBhvr>
                                      <p:to>
                                        <p:strVal val="hidden"/>
                                      </p:to>
                                    </p:set>
                                  </p:childTnLst>
                                </p:cTn>
                              </p:par>
                              <p:par>
                                <p:cTn id="196" presetID="10" presetClass="exit" presetSubtype="0" fill="hold" nodeType="withEffect">
                                  <p:stCondLst>
                                    <p:cond delay="0"/>
                                  </p:stCondLst>
                                  <p:childTnLst>
                                    <p:animEffect transition="out" filter="fade">
                                      <p:cBhvr>
                                        <p:cTn id="197" dur="500"/>
                                        <p:tgtEl>
                                          <p:spTgt spid="42"/>
                                        </p:tgtEl>
                                      </p:cBhvr>
                                    </p:animEffect>
                                    <p:set>
                                      <p:cBhvr>
                                        <p:cTn id="198" dur="1" fill="hold">
                                          <p:stCondLst>
                                            <p:cond delay="499"/>
                                          </p:stCondLst>
                                        </p:cTn>
                                        <p:tgtEl>
                                          <p:spTgt spid="42"/>
                                        </p:tgtEl>
                                        <p:attrNameLst>
                                          <p:attrName>style.visibility</p:attrName>
                                        </p:attrNameLst>
                                      </p:cBhvr>
                                      <p:to>
                                        <p:strVal val="hidden"/>
                                      </p:to>
                                    </p:set>
                                  </p:childTnLst>
                                </p:cTn>
                              </p:par>
                              <p:par>
                                <p:cTn id="199" presetID="10" presetClass="exit" presetSubtype="0" fill="hold" grpId="0" nodeType="withEffect">
                                  <p:stCondLst>
                                    <p:cond delay="0"/>
                                  </p:stCondLst>
                                  <p:childTnLst>
                                    <p:animEffect transition="out" filter="fade">
                                      <p:cBhvr>
                                        <p:cTn id="200" dur="500"/>
                                        <p:tgtEl>
                                          <p:spTgt spid="45"/>
                                        </p:tgtEl>
                                      </p:cBhvr>
                                    </p:animEffect>
                                    <p:set>
                                      <p:cBhvr>
                                        <p:cTn id="201" dur="1" fill="hold">
                                          <p:stCondLst>
                                            <p:cond delay="499"/>
                                          </p:stCondLst>
                                        </p:cTn>
                                        <p:tgtEl>
                                          <p:spTgt spid="45"/>
                                        </p:tgtEl>
                                        <p:attrNameLst>
                                          <p:attrName>style.visibility</p:attrName>
                                        </p:attrNameLst>
                                      </p:cBhvr>
                                      <p:to>
                                        <p:strVal val="hidden"/>
                                      </p:to>
                                    </p:set>
                                  </p:childTnLst>
                                </p:cTn>
                              </p:par>
                              <p:par>
                                <p:cTn id="202" presetID="10" presetClass="exit" presetSubtype="0" fill="hold" grpId="0" nodeType="withEffect">
                                  <p:stCondLst>
                                    <p:cond delay="0"/>
                                  </p:stCondLst>
                                  <p:childTnLst>
                                    <p:animEffect transition="out" filter="fade">
                                      <p:cBhvr>
                                        <p:cTn id="203" dur="500"/>
                                        <p:tgtEl>
                                          <p:spTgt spid="56"/>
                                        </p:tgtEl>
                                      </p:cBhvr>
                                    </p:animEffect>
                                    <p:set>
                                      <p:cBhvr>
                                        <p:cTn id="204" dur="1" fill="hold">
                                          <p:stCondLst>
                                            <p:cond delay="499"/>
                                          </p:stCondLst>
                                        </p:cTn>
                                        <p:tgtEl>
                                          <p:spTgt spid="56"/>
                                        </p:tgtEl>
                                        <p:attrNameLst>
                                          <p:attrName>style.visibility</p:attrName>
                                        </p:attrNameLst>
                                      </p:cBhvr>
                                      <p:to>
                                        <p:strVal val="hidden"/>
                                      </p:to>
                                    </p:set>
                                  </p:childTnLst>
                                </p:cTn>
                              </p:par>
                              <p:par>
                                <p:cTn id="205" presetID="10" presetClass="exit" presetSubtype="0" fill="hold" grpId="0" nodeType="withEffect">
                                  <p:stCondLst>
                                    <p:cond delay="0"/>
                                  </p:stCondLst>
                                  <p:childTnLst>
                                    <p:animEffect transition="out" filter="fade">
                                      <p:cBhvr>
                                        <p:cTn id="206" dur="500"/>
                                        <p:tgtEl>
                                          <p:spTgt spid="57"/>
                                        </p:tgtEl>
                                      </p:cBhvr>
                                    </p:animEffect>
                                    <p:set>
                                      <p:cBhvr>
                                        <p:cTn id="207" dur="1" fill="hold">
                                          <p:stCondLst>
                                            <p:cond delay="499"/>
                                          </p:stCondLst>
                                        </p:cTn>
                                        <p:tgtEl>
                                          <p:spTgt spid="57"/>
                                        </p:tgtEl>
                                        <p:attrNameLst>
                                          <p:attrName>style.visibility</p:attrName>
                                        </p:attrNameLst>
                                      </p:cBhvr>
                                      <p:to>
                                        <p:strVal val="hidden"/>
                                      </p:to>
                                    </p:set>
                                  </p:childTnLst>
                                </p:cTn>
                              </p:par>
                              <p:par>
                                <p:cTn id="208" presetID="10" presetClass="exit" presetSubtype="0" fill="hold" grpId="0" nodeType="withEffect">
                                  <p:stCondLst>
                                    <p:cond delay="0"/>
                                  </p:stCondLst>
                                  <p:childTnLst>
                                    <p:animEffect transition="out" filter="fade">
                                      <p:cBhvr>
                                        <p:cTn id="209" dur="500"/>
                                        <p:tgtEl>
                                          <p:spTgt spid="48"/>
                                        </p:tgtEl>
                                      </p:cBhvr>
                                    </p:animEffect>
                                    <p:set>
                                      <p:cBhvr>
                                        <p:cTn id="210" dur="1" fill="hold">
                                          <p:stCondLst>
                                            <p:cond delay="499"/>
                                          </p:stCondLst>
                                        </p:cTn>
                                        <p:tgtEl>
                                          <p:spTgt spid="48"/>
                                        </p:tgtEl>
                                        <p:attrNameLst>
                                          <p:attrName>style.visibility</p:attrName>
                                        </p:attrNameLst>
                                      </p:cBhvr>
                                      <p:to>
                                        <p:strVal val="hidden"/>
                                      </p:to>
                                    </p:set>
                                  </p:childTnLst>
                                </p:cTn>
                              </p:par>
                              <p:par>
                                <p:cTn id="211" presetID="10" presetClass="exit" presetSubtype="0" fill="hold" grpId="0" nodeType="withEffect">
                                  <p:stCondLst>
                                    <p:cond delay="0"/>
                                  </p:stCondLst>
                                  <p:childTnLst>
                                    <p:animEffect transition="out" filter="fade">
                                      <p:cBhvr>
                                        <p:cTn id="212" dur="500"/>
                                        <p:tgtEl>
                                          <p:spTgt spid="43"/>
                                        </p:tgtEl>
                                      </p:cBhvr>
                                    </p:animEffect>
                                    <p:set>
                                      <p:cBhvr>
                                        <p:cTn id="213" dur="1" fill="hold">
                                          <p:stCondLst>
                                            <p:cond delay="499"/>
                                          </p:stCondLst>
                                        </p:cTn>
                                        <p:tgtEl>
                                          <p:spTgt spid="43"/>
                                        </p:tgtEl>
                                        <p:attrNameLst>
                                          <p:attrName>style.visibility</p:attrName>
                                        </p:attrNameLst>
                                      </p:cBhvr>
                                      <p:to>
                                        <p:strVal val="hidden"/>
                                      </p:to>
                                    </p:set>
                                  </p:childTnLst>
                                </p:cTn>
                              </p:par>
                              <p:par>
                                <p:cTn id="214" presetID="10" presetClass="exit" presetSubtype="0" fill="hold" grpId="0" nodeType="withEffect">
                                  <p:stCondLst>
                                    <p:cond delay="0"/>
                                  </p:stCondLst>
                                  <p:childTnLst>
                                    <p:animEffect transition="out" filter="fade">
                                      <p:cBhvr>
                                        <p:cTn id="215" dur="500"/>
                                        <p:tgtEl>
                                          <p:spTgt spid="50"/>
                                        </p:tgtEl>
                                      </p:cBhvr>
                                    </p:animEffect>
                                    <p:set>
                                      <p:cBhvr>
                                        <p:cTn id="216" dur="1" fill="hold">
                                          <p:stCondLst>
                                            <p:cond delay="499"/>
                                          </p:stCondLst>
                                        </p:cTn>
                                        <p:tgtEl>
                                          <p:spTgt spid="50"/>
                                        </p:tgtEl>
                                        <p:attrNameLst>
                                          <p:attrName>style.visibility</p:attrName>
                                        </p:attrNameLst>
                                      </p:cBhvr>
                                      <p:to>
                                        <p:strVal val="hidden"/>
                                      </p:to>
                                    </p:set>
                                  </p:childTnLst>
                                </p:cTn>
                              </p:par>
                              <p:par>
                                <p:cTn id="217" presetID="10" presetClass="exit" presetSubtype="0" fill="hold" grpId="0" nodeType="withEffect">
                                  <p:stCondLst>
                                    <p:cond delay="0"/>
                                  </p:stCondLst>
                                  <p:childTnLst>
                                    <p:animEffect transition="out" filter="fade">
                                      <p:cBhvr>
                                        <p:cTn id="218" dur="500"/>
                                        <p:tgtEl>
                                          <p:spTgt spid="44"/>
                                        </p:tgtEl>
                                      </p:cBhvr>
                                    </p:animEffect>
                                    <p:set>
                                      <p:cBhvr>
                                        <p:cTn id="219" dur="1" fill="hold">
                                          <p:stCondLst>
                                            <p:cond delay="499"/>
                                          </p:stCondLst>
                                        </p:cTn>
                                        <p:tgtEl>
                                          <p:spTgt spid="44"/>
                                        </p:tgtEl>
                                        <p:attrNameLst>
                                          <p:attrName>style.visibility</p:attrName>
                                        </p:attrNameLst>
                                      </p:cBhvr>
                                      <p:to>
                                        <p:strVal val="hidden"/>
                                      </p:to>
                                    </p:set>
                                  </p:childTnLst>
                                </p:cTn>
                              </p:par>
                              <p:par>
                                <p:cTn id="220" presetID="10" presetClass="exit" presetSubtype="0" fill="hold" grpId="0" nodeType="withEffect">
                                  <p:stCondLst>
                                    <p:cond delay="0"/>
                                  </p:stCondLst>
                                  <p:childTnLst>
                                    <p:animEffect transition="out" filter="fade">
                                      <p:cBhvr>
                                        <p:cTn id="221" dur="500"/>
                                        <p:tgtEl>
                                          <p:spTgt spid="55"/>
                                        </p:tgtEl>
                                      </p:cBhvr>
                                    </p:animEffect>
                                    <p:set>
                                      <p:cBhvr>
                                        <p:cTn id="222" dur="1" fill="hold">
                                          <p:stCondLst>
                                            <p:cond delay="499"/>
                                          </p:stCondLst>
                                        </p:cTn>
                                        <p:tgtEl>
                                          <p:spTgt spid="55"/>
                                        </p:tgtEl>
                                        <p:attrNameLst>
                                          <p:attrName>style.visibility</p:attrName>
                                        </p:attrNameLst>
                                      </p:cBhvr>
                                      <p:to>
                                        <p:strVal val="hidden"/>
                                      </p:to>
                                    </p:set>
                                  </p:childTnLst>
                                </p:cTn>
                              </p:par>
                              <p:par>
                                <p:cTn id="223" presetID="10" presetClass="exit" presetSubtype="0" fill="hold" grpId="0" nodeType="withEffect">
                                  <p:stCondLst>
                                    <p:cond delay="0"/>
                                  </p:stCondLst>
                                  <p:childTnLst>
                                    <p:animEffect transition="out" filter="fade">
                                      <p:cBhvr>
                                        <p:cTn id="224" dur="500"/>
                                        <p:tgtEl>
                                          <p:spTgt spid="54"/>
                                        </p:tgtEl>
                                      </p:cBhvr>
                                    </p:animEffect>
                                    <p:set>
                                      <p:cBhvr>
                                        <p:cTn id="225" dur="1" fill="hold">
                                          <p:stCondLst>
                                            <p:cond delay="499"/>
                                          </p:stCondLst>
                                        </p:cTn>
                                        <p:tgtEl>
                                          <p:spTgt spid="54"/>
                                        </p:tgtEl>
                                        <p:attrNameLst>
                                          <p:attrName>style.visibility</p:attrName>
                                        </p:attrNameLst>
                                      </p:cBhvr>
                                      <p:to>
                                        <p:strVal val="hidden"/>
                                      </p:to>
                                    </p:set>
                                  </p:childTnLst>
                                </p:cTn>
                              </p:par>
                            </p:childTnLst>
                          </p:cTn>
                        </p:par>
                      </p:childTnLst>
                    </p:cTn>
                  </p:par>
                  <p:par>
                    <p:cTn id="226" fill="hold">
                      <p:stCondLst>
                        <p:cond delay="indefinite"/>
                      </p:stCondLst>
                      <p:childTnLst>
                        <p:par>
                          <p:cTn id="227" fill="hold">
                            <p:stCondLst>
                              <p:cond delay="0"/>
                            </p:stCondLst>
                            <p:childTnLst>
                              <p:par>
                                <p:cTn id="228" presetID="22" presetClass="entr" presetSubtype="1" fill="hold" nodeType="clickEffect">
                                  <p:stCondLst>
                                    <p:cond delay="0"/>
                                  </p:stCondLst>
                                  <p:childTnLst>
                                    <p:set>
                                      <p:cBhvr>
                                        <p:cTn id="229" dur="1" fill="hold">
                                          <p:stCondLst>
                                            <p:cond delay="0"/>
                                          </p:stCondLst>
                                        </p:cTn>
                                        <p:tgtEl>
                                          <p:spTgt spid="38"/>
                                        </p:tgtEl>
                                        <p:attrNameLst>
                                          <p:attrName>style.visibility</p:attrName>
                                        </p:attrNameLst>
                                      </p:cBhvr>
                                      <p:to>
                                        <p:strVal val="visible"/>
                                      </p:to>
                                    </p:set>
                                    <p:animEffect transition="in" filter="wipe(up)">
                                      <p:cBhvr>
                                        <p:cTn id="230" dur="1000"/>
                                        <p:tgtEl>
                                          <p:spTgt spid="38"/>
                                        </p:tgtEl>
                                      </p:cBhvr>
                                    </p:animEffect>
                                  </p:childTnLst>
                                </p:cTn>
                              </p:par>
                              <p:par>
                                <p:cTn id="231" presetID="22" presetClass="entr" presetSubtype="1" fill="hold" grpId="2" nodeType="withEffect">
                                  <p:stCondLst>
                                    <p:cond delay="0"/>
                                  </p:stCondLst>
                                  <p:childTnLst>
                                    <p:set>
                                      <p:cBhvr>
                                        <p:cTn id="232" dur="1" fill="hold">
                                          <p:stCondLst>
                                            <p:cond delay="0"/>
                                          </p:stCondLst>
                                        </p:cTn>
                                        <p:tgtEl>
                                          <p:spTgt spid="45"/>
                                        </p:tgtEl>
                                        <p:attrNameLst>
                                          <p:attrName>style.visibility</p:attrName>
                                        </p:attrNameLst>
                                      </p:cBhvr>
                                      <p:to>
                                        <p:strVal val="visible"/>
                                      </p:to>
                                    </p:set>
                                    <p:animEffect transition="in" filter="wipe(up)">
                                      <p:cBhvr>
                                        <p:cTn id="233" dur="500"/>
                                        <p:tgtEl>
                                          <p:spTgt spid="45"/>
                                        </p:tgtEl>
                                      </p:cBhvr>
                                    </p:animEffect>
                                  </p:childTnLst>
                                </p:cTn>
                              </p:par>
                            </p:childTnLst>
                          </p:cTn>
                        </p:par>
                      </p:childTnLst>
                    </p:cTn>
                  </p:par>
                  <p:par>
                    <p:cTn id="234" fill="hold">
                      <p:stCondLst>
                        <p:cond delay="indefinite"/>
                      </p:stCondLst>
                      <p:childTnLst>
                        <p:par>
                          <p:cTn id="235" fill="hold">
                            <p:stCondLst>
                              <p:cond delay="0"/>
                            </p:stCondLst>
                            <p:childTnLst>
                              <p:par>
                                <p:cTn id="236" presetID="7" presetClass="emph" presetSubtype="2" fill="hold" nodeType="clickEffect">
                                  <p:stCondLst>
                                    <p:cond delay="0"/>
                                  </p:stCondLst>
                                  <p:childTnLst>
                                    <p:animClr clrSpc="rgb" dir="cw">
                                      <p:cBhvr>
                                        <p:cTn id="237" dur="2000" fill="hold"/>
                                        <p:tgtEl>
                                          <p:spTgt spid="38"/>
                                        </p:tgtEl>
                                        <p:attrNameLst>
                                          <p:attrName>stroke.color</p:attrName>
                                        </p:attrNameLst>
                                      </p:cBhvr>
                                      <p:to>
                                        <a:srgbClr val="002060"/>
                                      </p:to>
                                    </p:animClr>
                                    <p:set>
                                      <p:cBhvr>
                                        <p:cTn id="238" dur="2000" fill="hold"/>
                                        <p:tgtEl>
                                          <p:spTgt spid="38"/>
                                        </p:tgtEl>
                                        <p:attrNameLst>
                                          <p:attrName>stroke.on</p:attrName>
                                        </p:attrNameLst>
                                      </p:cBhvr>
                                      <p:to>
                                        <p:strVal val="true"/>
                                      </p:to>
                                    </p:set>
                                  </p:childTnLst>
                                </p:cTn>
                              </p:par>
                              <p:par>
                                <p:cTn id="239" presetID="7" presetClass="emph" presetSubtype="2" fill="hold" nodeType="withEffect">
                                  <p:stCondLst>
                                    <p:cond delay="0"/>
                                  </p:stCondLst>
                                  <p:childTnLst>
                                    <p:animClr clrSpc="rgb" dir="cw">
                                      <p:cBhvr>
                                        <p:cTn id="240" dur="2000" fill="hold"/>
                                        <p:tgtEl>
                                          <p:spTgt spid="25"/>
                                        </p:tgtEl>
                                        <p:attrNameLst>
                                          <p:attrName>stroke.color</p:attrName>
                                        </p:attrNameLst>
                                      </p:cBhvr>
                                      <p:to>
                                        <a:srgbClr val="002060"/>
                                      </p:to>
                                    </p:animClr>
                                    <p:set>
                                      <p:cBhvr>
                                        <p:cTn id="241" dur="2000" fill="hold"/>
                                        <p:tgtEl>
                                          <p:spTgt spid="25"/>
                                        </p:tgtEl>
                                        <p:attrNameLst>
                                          <p:attrName>stroke.on</p:attrName>
                                        </p:attrNameLst>
                                      </p:cBhvr>
                                      <p:to>
                                        <p:strVal val="true"/>
                                      </p:to>
                                    </p:set>
                                  </p:childTnLst>
                                </p:cTn>
                              </p:par>
                              <p:par>
                                <p:cTn id="242" presetID="7" presetClass="emph" presetSubtype="2" fill="hold" nodeType="withEffect">
                                  <p:stCondLst>
                                    <p:cond delay="0"/>
                                  </p:stCondLst>
                                  <p:childTnLst>
                                    <p:animClr clrSpc="rgb" dir="cw">
                                      <p:cBhvr>
                                        <p:cTn id="243" dur="2000" fill="hold"/>
                                        <p:tgtEl>
                                          <p:spTgt spid="34"/>
                                        </p:tgtEl>
                                        <p:attrNameLst>
                                          <p:attrName>stroke.color</p:attrName>
                                        </p:attrNameLst>
                                      </p:cBhvr>
                                      <p:to>
                                        <a:srgbClr val="002060"/>
                                      </p:to>
                                    </p:animClr>
                                    <p:set>
                                      <p:cBhvr>
                                        <p:cTn id="244" dur="2000" fill="hold"/>
                                        <p:tgtEl>
                                          <p:spTgt spid="34"/>
                                        </p:tgtEl>
                                        <p:attrNameLst>
                                          <p:attrName>stroke.on</p:attrName>
                                        </p:attrNameLst>
                                      </p:cBhvr>
                                      <p:to>
                                        <p:strVal val="true"/>
                                      </p:to>
                                    </p:set>
                                  </p:childTnLst>
                                </p:cTn>
                              </p:par>
                              <p:par>
                                <p:cTn id="245" presetID="7" presetClass="emph" presetSubtype="2" fill="hold" nodeType="withEffect">
                                  <p:stCondLst>
                                    <p:cond delay="0"/>
                                  </p:stCondLst>
                                  <p:childTnLst>
                                    <p:animClr clrSpc="rgb" dir="cw">
                                      <p:cBhvr>
                                        <p:cTn id="246" dur="2000" fill="hold"/>
                                        <p:tgtEl>
                                          <p:spTgt spid="35"/>
                                        </p:tgtEl>
                                        <p:attrNameLst>
                                          <p:attrName>stroke.color</p:attrName>
                                        </p:attrNameLst>
                                      </p:cBhvr>
                                      <p:to>
                                        <a:srgbClr val="002060"/>
                                      </p:to>
                                    </p:animClr>
                                    <p:set>
                                      <p:cBhvr>
                                        <p:cTn id="247" dur="2000" fill="hold"/>
                                        <p:tgtEl>
                                          <p:spTgt spid="35"/>
                                        </p:tgtEl>
                                        <p:attrNameLst>
                                          <p:attrName>stroke.on</p:attrName>
                                        </p:attrNameLst>
                                      </p:cBhvr>
                                      <p:to>
                                        <p:strVal val="true"/>
                                      </p:to>
                                    </p:set>
                                  </p:childTnLst>
                                </p:cTn>
                              </p:par>
                              <p:par>
                                <p:cTn id="248" presetID="7" presetClass="emph" presetSubtype="2" fill="hold" nodeType="withEffect">
                                  <p:stCondLst>
                                    <p:cond delay="0"/>
                                  </p:stCondLst>
                                  <p:childTnLst>
                                    <p:animClr clrSpc="rgb" dir="cw">
                                      <p:cBhvr>
                                        <p:cTn id="249" dur="2000" fill="hold"/>
                                        <p:tgtEl>
                                          <p:spTgt spid="36"/>
                                        </p:tgtEl>
                                        <p:attrNameLst>
                                          <p:attrName>stroke.color</p:attrName>
                                        </p:attrNameLst>
                                      </p:cBhvr>
                                      <p:to>
                                        <a:srgbClr val="002060"/>
                                      </p:to>
                                    </p:animClr>
                                    <p:set>
                                      <p:cBhvr>
                                        <p:cTn id="250" dur="2000" fill="hold"/>
                                        <p:tgtEl>
                                          <p:spTgt spid="36"/>
                                        </p:tgtEl>
                                        <p:attrNameLst>
                                          <p:attrName>stroke.on</p:attrName>
                                        </p:attrNameLst>
                                      </p:cBhvr>
                                      <p:to>
                                        <p:strVal val="true"/>
                                      </p:to>
                                    </p:set>
                                  </p:childTnLst>
                                </p:cTn>
                              </p:par>
                              <p:par>
                                <p:cTn id="251" presetID="7" presetClass="emph" presetSubtype="2" fill="hold" nodeType="withEffect">
                                  <p:stCondLst>
                                    <p:cond delay="0"/>
                                  </p:stCondLst>
                                  <p:childTnLst>
                                    <p:animClr clrSpc="rgb" dir="cw">
                                      <p:cBhvr>
                                        <p:cTn id="252" dur="2000" fill="hold"/>
                                        <p:tgtEl>
                                          <p:spTgt spid="37"/>
                                        </p:tgtEl>
                                        <p:attrNameLst>
                                          <p:attrName>stroke.color</p:attrName>
                                        </p:attrNameLst>
                                      </p:cBhvr>
                                      <p:to>
                                        <a:srgbClr val="002060"/>
                                      </p:to>
                                    </p:animClr>
                                    <p:set>
                                      <p:cBhvr>
                                        <p:cTn id="253" dur="2000" fill="hold"/>
                                        <p:tgtEl>
                                          <p:spTgt spid="37"/>
                                        </p:tgtEl>
                                        <p:attrNameLst>
                                          <p:attrName>stroke.on</p:attrName>
                                        </p:attrNameLst>
                                      </p:cBhvr>
                                      <p:to>
                                        <p:strVal val="true"/>
                                      </p:to>
                                    </p:set>
                                  </p:childTnLst>
                                </p:cTn>
                              </p:par>
                            </p:childTnLst>
                          </p:cTn>
                        </p:par>
                      </p:childTnLst>
                    </p:cTn>
                  </p:par>
                  <p:par>
                    <p:cTn id="254" fill="hold">
                      <p:stCondLst>
                        <p:cond delay="indefinite"/>
                      </p:stCondLst>
                      <p:childTnLst>
                        <p:par>
                          <p:cTn id="255" fill="hold">
                            <p:stCondLst>
                              <p:cond delay="0"/>
                            </p:stCondLst>
                            <p:childTnLst>
                              <p:par>
                                <p:cTn id="256" presetID="1" presetClass="entr" presetSubtype="0" fill="hold" grpId="0" nodeType="clickEffect">
                                  <p:stCondLst>
                                    <p:cond delay="0"/>
                                  </p:stCondLst>
                                  <p:childTnLst>
                                    <p:set>
                                      <p:cBhvr>
                                        <p:cTn id="257"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9" grpId="0" animBg="1"/>
      <p:bldP spid="31" grpId="0" animBg="1"/>
      <p:bldP spid="32" grpId="0" animBg="1"/>
      <p:bldP spid="35" grpId="0" animBg="1"/>
      <p:bldP spid="36" grpId="0" animBg="1"/>
      <p:bldP spid="43" grpId="0" animBg="1"/>
      <p:bldP spid="43" grpId="1" animBg="1"/>
      <p:bldP spid="44" grpId="0" animBg="1"/>
      <p:bldP spid="44" grpId="1" animBg="1"/>
      <p:bldP spid="45" grpId="0"/>
      <p:bldP spid="45" grpId="1"/>
      <p:bldP spid="45" grpId="2"/>
      <p:bldP spid="46" grpId="0"/>
      <p:bldP spid="47" grpId="0"/>
      <p:bldP spid="48" grpId="0"/>
      <p:bldP spid="48" grpId="1"/>
      <p:bldP spid="49" grpId="0"/>
      <p:bldP spid="50" grpId="0"/>
      <p:bldP spid="50" grpId="1"/>
      <p:bldP spid="51" grpId="0"/>
      <p:bldP spid="52" grpId="0"/>
      <p:bldP spid="53" grpId="0"/>
      <p:bldP spid="54" grpId="0"/>
      <p:bldP spid="54" grpId="1"/>
      <p:bldP spid="55" grpId="0"/>
      <p:bldP spid="55" grpId="1"/>
      <p:bldP spid="56" grpId="0"/>
      <p:bldP spid="56" grpId="1"/>
      <p:bldP spid="57" grpId="0"/>
      <p:bldP spid="57" grpId="1"/>
      <p:bldP spid="58" grpId="0" animBg="1"/>
      <p:bldP spid="60" grpId="0" animBg="1"/>
      <p:bldP spid="62" grpId="0" animBg="1"/>
      <p:bldP spid="64" grpId="0" animBg="1"/>
      <p:bldP spid="65" grpId="0" animBg="1"/>
      <p:bldP spid="68" grpId="0" animBg="1"/>
      <p:bldP spid="69" grpId="0" animBg="1"/>
      <p:bldP spid="76" grpId="0" animBg="1"/>
      <p:bldP spid="77" grpId="0" animBg="1"/>
      <p:bldP spid="78" grpId="0"/>
      <p:bldP spid="79" grpId="0"/>
      <p:bldP spid="80" grpId="0"/>
      <p:bldP spid="81" grpId="0"/>
      <p:bldP spid="82" grpId="0"/>
      <p:bldP spid="83" grpId="0"/>
      <p:bldP spid="84" grpId="0"/>
      <p:bldP spid="85" grpId="0"/>
      <p:bldP spid="86" grpId="0"/>
      <p:bldP spid="87" grpId="0"/>
      <p:bldP spid="88" grpId="0"/>
      <p:bldP spid="89" grpId="0"/>
      <p:bldP spid="90" grpId="0"/>
      <p:bldP spid="6"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US" dirty="0"/>
              <a:t>Fundamental Circuits</a:t>
            </a:r>
          </a:p>
        </p:txBody>
      </p:sp>
      <mc:AlternateContent xmlns:mc="http://schemas.openxmlformats.org/markup-compatibility/2006" xmlns:a14="http://schemas.microsoft.com/office/drawing/2010/main">
        <mc:Choice Requires="a14">
          <p:sp>
            <p:nvSpPr>
              <p:cNvPr id="5" name="Rectangle 4"/>
              <p:cNvSpPr/>
              <p:nvPr/>
            </p:nvSpPr>
            <p:spPr>
              <a:xfrm>
                <a:off x="16409" y="729966"/>
                <a:ext cx="11935185" cy="2072362"/>
              </a:xfrm>
              <a:prstGeom prst="rect">
                <a:avLst/>
              </a:prstGeom>
            </p:spPr>
            <p:txBody>
              <a:bodyPr wrap="square">
                <a:spAutoFit/>
              </a:bodyPr>
              <a:lstStyle/>
              <a:p>
                <a:pPr marL="265113" indent="-265113" algn="just">
                  <a:spcBef>
                    <a:spcPts val="1000"/>
                  </a:spcBef>
                  <a:buClr>
                    <a:srgbClr val="B84742"/>
                  </a:buClr>
                  <a:buFont typeface="Wingdings 3" panose="05040102010807070707" pitchFamily="18" charset="2"/>
                  <a:buChar char=""/>
                </a:pPr>
                <a:r>
                  <a:rPr lang="en-IN" sz="2800" b="1" dirty="0">
                    <a:solidFill>
                      <a:srgbClr val="002060"/>
                    </a:solidFill>
                  </a:rPr>
                  <a:t>Definition:</a:t>
                </a:r>
                <a:r>
                  <a:rPr lang="en-IN" sz="2800" b="1" dirty="0"/>
                  <a:t> </a:t>
                </a:r>
                <a:r>
                  <a:rPr lang="en-US" sz="2800" dirty="0">
                    <a:solidFill>
                      <a:srgbClr val="002060"/>
                    </a:solidFill>
                  </a:rPr>
                  <a:t>A circuit, formed </a:t>
                </a:r>
                <a:r>
                  <a:rPr lang="en-US" sz="2800" b="1" dirty="0">
                    <a:solidFill>
                      <a:srgbClr val="002060"/>
                    </a:solidFill>
                  </a:rPr>
                  <a:t>by adding a chord to a spanning tree</a:t>
                </a:r>
                <a:r>
                  <a:rPr lang="en-US" sz="2800" dirty="0">
                    <a:solidFill>
                      <a:srgbClr val="002060"/>
                    </a:solidFill>
                  </a:rPr>
                  <a:t>, is called a 		</a:t>
                </a:r>
                <a:r>
                  <a:rPr lang="en-US" sz="2800" dirty="0">
                    <a:solidFill>
                      <a:srgbClr val="FF0000"/>
                    </a:solidFill>
                  </a:rPr>
                  <a:t>fundamental circuit</a:t>
                </a:r>
                <a:r>
                  <a:rPr lang="en-US" sz="2800" dirty="0">
                    <a:solidFill>
                      <a:srgbClr val="002060"/>
                    </a:solidFill>
                  </a:rPr>
                  <a:t>. </a:t>
                </a:r>
              </a:p>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Consider graph with spanning tree</a:t>
                </a:r>
                <a14:m>
                  <m:oMath xmlns:m="http://schemas.openxmlformats.org/officeDocument/2006/math">
                    <m:r>
                      <a:rPr lang="en-US" sz="2800" b="0" i="1" smtClean="0">
                        <a:solidFill>
                          <a:srgbClr val="002060"/>
                        </a:solidFill>
                        <a:latin typeface="Cambria Math" panose="02040503050406030204" pitchFamily="18" charset="0"/>
                      </a:rPr>
                      <m:t> </m:t>
                    </m:r>
                    <m:d>
                      <m:dPr>
                        <m:begChr m:val="{"/>
                        <m:endChr m:val="}"/>
                        <m:ctrlPr>
                          <a:rPr lang="en-US" sz="2800" b="0" i="1" smtClean="0">
                            <a:solidFill>
                              <a:srgbClr val="002060"/>
                            </a:solidFill>
                            <a:latin typeface="Cambria Math" panose="02040503050406030204" pitchFamily="18" charset="0"/>
                          </a:rPr>
                        </m:ctrlPr>
                      </m:dPr>
                      <m:e>
                        <m:r>
                          <m:rPr>
                            <m:sty m:val="p"/>
                          </m:rPr>
                          <a:rPr lang="en-US" sz="2800" b="0" i="0" smtClean="0">
                            <a:solidFill>
                              <a:srgbClr val="002060"/>
                            </a:solidFill>
                            <a:latin typeface="Cambria Math" panose="02040503050406030204" pitchFamily="18" charset="0"/>
                          </a:rPr>
                          <m:t>c</m:t>
                        </m:r>
                        <m:r>
                          <a:rPr lang="en-US" sz="2800" b="0" i="0" smtClean="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b</m:t>
                        </m:r>
                        <m:r>
                          <a:rPr lang="en-US" sz="2800" b="0" i="0" smtClean="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h</m:t>
                        </m:r>
                        <m:r>
                          <a:rPr lang="en-US" sz="2800" b="0" i="0" smtClean="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i</m:t>
                        </m:r>
                        <m:r>
                          <a:rPr lang="en-US" sz="2800" b="0" i="0" smtClean="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j</m:t>
                        </m:r>
                        <m:r>
                          <a:rPr lang="en-US" sz="2800" b="0" i="0" smtClean="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l</m:t>
                        </m:r>
                      </m:e>
                    </m:d>
                  </m:oMath>
                </a14:m>
                <a:r>
                  <a:rPr lang="en-US" sz="2800" dirty="0">
                    <a:solidFill>
                      <a:srgbClr val="002060"/>
                    </a:solidFill>
                  </a:rPr>
                  <a:t>. </a:t>
                </a:r>
              </a:p>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Here Branches are</a:t>
                </a:r>
                <a14:m>
                  <m:oMath xmlns:m="http://schemas.openxmlformats.org/officeDocument/2006/math">
                    <m:r>
                      <a:rPr lang="en-US" sz="2800" i="0" dirty="0" smtClean="0">
                        <a:solidFill>
                          <a:srgbClr val="002060"/>
                        </a:solidFill>
                        <a:latin typeface="Cambria Math" panose="02040503050406030204" pitchFamily="18" charset="0"/>
                      </a:rPr>
                      <m:t> </m:t>
                    </m:r>
                    <m:r>
                      <a:rPr lang="en-US" sz="2800" b="1" i="0" dirty="0" smtClean="0">
                        <a:solidFill>
                          <a:srgbClr val="002060"/>
                        </a:solidFill>
                        <a:latin typeface="Cambria Math" panose="02040503050406030204" pitchFamily="18" charset="0"/>
                      </a:rPr>
                      <m:t> </m:t>
                    </m:r>
                    <m:r>
                      <a:rPr lang="en-US" sz="2800" b="1" i="0" dirty="0" smtClean="0">
                        <a:solidFill>
                          <a:srgbClr val="002060"/>
                        </a:solidFill>
                        <a:latin typeface="Cambria Math" panose="02040503050406030204" pitchFamily="18" charset="0"/>
                      </a:rPr>
                      <m:t>𝐜</m:t>
                    </m:r>
                    <m:r>
                      <a:rPr lang="en-US" sz="2800" b="1" i="0" dirty="0" smtClean="0">
                        <a:solidFill>
                          <a:srgbClr val="002060"/>
                        </a:solidFill>
                        <a:latin typeface="Cambria Math" panose="02040503050406030204" pitchFamily="18" charset="0"/>
                      </a:rPr>
                      <m:t>,  </m:t>
                    </m:r>
                    <m:r>
                      <a:rPr lang="en-US" sz="2800" b="1" i="0" dirty="0" smtClean="0">
                        <a:solidFill>
                          <a:srgbClr val="002060"/>
                        </a:solidFill>
                        <a:latin typeface="Cambria Math" panose="02040503050406030204" pitchFamily="18" charset="0"/>
                      </a:rPr>
                      <m:t>𝐛</m:t>
                    </m:r>
                    <m:r>
                      <a:rPr lang="en-US" sz="2800" b="1" i="0" dirty="0" smtClean="0">
                        <a:solidFill>
                          <a:srgbClr val="002060"/>
                        </a:solidFill>
                        <a:latin typeface="Cambria Math" panose="02040503050406030204" pitchFamily="18" charset="0"/>
                      </a:rPr>
                      <m:t>,  </m:t>
                    </m:r>
                    <m:r>
                      <a:rPr lang="en-US" sz="2800" b="1" i="0" dirty="0" smtClean="0">
                        <a:solidFill>
                          <a:srgbClr val="002060"/>
                        </a:solidFill>
                        <a:latin typeface="Cambria Math" panose="02040503050406030204" pitchFamily="18" charset="0"/>
                      </a:rPr>
                      <m:t>𝐡</m:t>
                    </m:r>
                    <m:r>
                      <a:rPr lang="en-US" sz="2800" b="1" i="0" dirty="0" smtClean="0">
                        <a:solidFill>
                          <a:srgbClr val="002060"/>
                        </a:solidFill>
                        <a:latin typeface="Cambria Math" panose="02040503050406030204" pitchFamily="18" charset="0"/>
                      </a:rPr>
                      <m:t>,  </m:t>
                    </m:r>
                    <m:r>
                      <a:rPr lang="en-US" sz="2800" b="1" i="0" dirty="0" smtClean="0">
                        <a:solidFill>
                          <a:srgbClr val="002060"/>
                        </a:solidFill>
                        <a:latin typeface="Cambria Math" panose="02040503050406030204" pitchFamily="18" charset="0"/>
                      </a:rPr>
                      <m:t>𝐈</m:t>
                    </m:r>
                    <m:r>
                      <a:rPr lang="en-US" sz="2800" b="1" i="0" dirty="0" smtClean="0">
                        <a:solidFill>
                          <a:srgbClr val="002060"/>
                        </a:solidFill>
                        <a:latin typeface="Cambria Math" panose="02040503050406030204" pitchFamily="18" charset="0"/>
                      </a:rPr>
                      <m:t>,  </m:t>
                    </m:r>
                    <m:r>
                      <a:rPr lang="en-US" sz="2800" b="1" i="0" dirty="0" smtClean="0">
                        <a:solidFill>
                          <a:srgbClr val="002060"/>
                        </a:solidFill>
                        <a:latin typeface="Cambria Math" panose="02040503050406030204" pitchFamily="18" charset="0"/>
                      </a:rPr>
                      <m:t>𝐣</m:t>
                    </m:r>
                    <m:r>
                      <a:rPr lang="en-US" sz="2800" b="1" i="0" dirty="0" smtClean="0">
                        <a:solidFill>
                          <a:srgbClr val="002060"/>
                        </a:solidFill>
                        <a:latin typeface="Cambria Math" panose="02040503050406030204" pitchFamily="18" charset="0"/>
                      </a:rPr>
                      <m:t>,  </m:t>
                    </m:r>
                    <m:r>
                      <a:rPr lang="en-US" sz="2800" b="1" i="0" dirty="0" smtClean="0">
                        <a:solidFill>
                          <a:srgbClr val="002060"/>
                        </a:solidFill>
                        <a:latin typeface="Cambria Math" panose="02040503050406030204" pitchFamily="18" charset="0"/>
                      </a:rPr>
                      <m:t>𝐥</m:t>
                    </m:r>
                  </m:oMath>
                </a14:m>
                <a:r>
                  <a:rPr lang="en-US" sz="2800" b="1" dirty="0">
                    <a:solidFill>
                      <a:srgbClr val="002060"/>
                    </a:solidFill>
                  </a:rPr>
                  <a:t> </a:t>
                </a:r>
                <a:r>
                  <a:rPr lang="en-US" sz="2800" dirty="0">
                    <a:solidFill>
                      <a:srgbClr val="002060"/>
                    </a:solidFill>
                  </a:rPr>
                  <a:t>and chords are</a:t>
                </a:r>
                <a14:m>
                  <m:oMath xmlns:m="http://schemas.openxmlformats.org/officeDocument/2006/math">
                    <m:r>
                      <a:rPr lang="en-US" sz="2800" i="0" dirty="0" smtClean="0">
                        <a:solidFill>
                          <a:srgbClr val="002060"/>
                        </a:solidFill>
                        <a:latin typeface="Cambria Math" panose="02040503050406030204" pitchFamily="18" charset="0"/>
                      </a:rPr>
                      <m:t> </m:t>
                    </m:r>
                    <m:r>
                      <a:rPr lang="en-US" sz="2800" b="0" i="0" dirty="0" smtClean="0">
                        <a:solidFill>
                          <a:srgbClr val="002060"/>
                        </a:solidFill>
                        <a:latin typeface="Cambria Math" panose="02040503050406030204" pitchFamily="18" charset="0"/>
                      </a:rPr>
                      <m:t> </m:t>
                    </m:r>
                    <m:r>
                      <a:rPr lang="en-US" sz="2800" b="1" i="0" dirty="0" smtClean="0">
                        <a:solidFill>
                          <a:srgbClr val="002060"/>
                        </a:solidFill>
                        <a:latin typeface="Cambria Math" panose="02040503050406030204" pitchFamily="18" charset="0"/>
                      </a:rPr>
                      <m:t>𝐚</m:t>
                    </m:r>
                    <m:r>
                      <a:rPr lang="en-US" sz="2800" b="1" i="0" dirty="0" smtClean="0">
                        <a:solidFill>
                          <a:srgbClr val="002060"/>
                        </a:solidFill>
                        <a:latin typeface="Cambria Math" panose="02040503050406030204" pitchFamily="18" charset="0"/>
                      </a:rPr>
                      <m:t>,  </m:t>
                    </m:r>
                    <m:r>
                      <a:rPr lang="en-US" sz="2800" b="1" i="0" dirty="0" smtClean="0">
                        <a:solidFill>
                          <a:srgbClr val="002060"/>
                        </a:solidFill>
                        <a:latin typeface="Cambria Math" panose="02040503050406030204" pitchFamily="18" charset="0"/>
                      </a:rPr>
                      <m:t>𝐝</m:t>
                    </m:r>
                    <m:r>
                      <a:rPr lang="en-US" sz="2800" b="1" i="0" dirty="0" smtClean="0">
                        <a:solidFill>
                          <a:srgbClr val="002060"/>
                        </a:solidFill>
                        <a:latin typeface="Cambria Math" panose="02040503050406030204" pitchFamily="18" charset="0"/>
                      </a:rPr>
                      <m:t>,  </m:t>
                    </m:r>
                    <m:r>
                      <a:rPr lang="en-US" sz="2800" b="1" i="0" dirty="0" smtClean="0">
                        <a:solidFill>
                          <a:srgbClr val="002060"/>
                        </a:solidFill>
                        <a:latin typeface="Cambria Math" panose="02040503050406030204" pitchFamily="18" charset="0"/>
                      </a:rPr>
                      <m:t>𝐞</m:t>
                    </m:r>
                    <m:r>
                      <a:rPr lang="en-US" sz="2800" b="1" i="0" dirty="0" smtClean="0">
                        <a:solidFill>
                          <a:srgbClr val="002060"/>
                        </a:solidFill>
                        <a:latin typeface="Cambria Math" panose="02040503050406030204" pitchFamily="18" charset="0"/>
                      </a:rPr>
                      <m:t>,  </m:t>
                    </m:r>
                    <m:r>
                      <a:rPr lang="en-US" sz="2800" b="1" i="0" dirty="0" smtClean="0">
                        <a:solidFill>
                          <a:srgbClr val="002060"/>
                        </a:solidFill>
                        <a:latin typeface="Cambria Math" panose="02040503050406030204" pitchFamily="18" charset="0"/>
                      </a:rPr>
                      <m:t>𝐟</m:t>
                    </m:r>
                    <m:r>
                      <a:rPr lang="en-US" sz="2800" b="1" i="0" dirty="0" smtClean="0">
                        <a:solidFill>
                          <a:srgbClr val="002060"/>
                        </a:solidFill>
                        <a:latin typeface="Cambria Math" panose="02040503050406030204" pitchFamily="18" charset="0"/>
                      </a:rPr>
                      <m:t>,  </m:t>
                    </m:r>
                    <m:r>
                      <a:rPr lang="en-US" sz="2800" b="1" i="0" dirty="0" smtClean="0">
                        <a:solidFill>
                          <a:srgbClr val="002060"/>
                        </a:solidFill>
                        <a:latin typeface="Cambria Math" panose="02040503050406030204" pitchFamily="18" charset="0"/>
                      </a:rPr>
                      <m:t>𝐠</m:t>
                    </m:r>
                    <m:r>
                      <a:rPr lang="en-US" sz="2800" b="1" i="0" dirty="0" smtClean="0">
                        <a:solidFill>
                          <a:srgbClr val="002060"/>
                        </a:solidFill>
                        <a:latin typeface="Cambria Math" panose="02040503050406030204" pitchFamily="18" charset="0"/>
                      </a:rPr>
                      <m:t>,  </m:t>
                    </m:r>
                    <m:r>
                      <a:rPr lang="en-US" sz="2800" b="1" i="0" dirty="0" smtClean="0">
                        <a:solidFill>
                          <a:srgbClr val="002060"/>
                        </a:solidFill>
                        <a:latin typeface="Cambria Math" panose="02040503050406030204" pitchFamily="18" charset="0"/>
                      </a:rPr>
                      <m:t>𝐦</m:t>
                    </m:r>
                    <m:r>
                      <a:rPr lang="en-US" sz="2800" b="1" i="0" dirty="0" smtClean="0">
                        <a:solidFill>
                          <a:srgbClr val="002060"/>
                        </a:solidFill>
                        <a:latin typeface="Cambria Math" panose="02040503050406030204" pitchFamily="18" charset="0"/>
                      </a:rPr>
                      <m:t>,  </m:t>
                    </m:r>
                    <m:r>
                      <a:rPr lang="en-US" sz="2800" b="1" i="0" dirty="0" smtClean="0">
                        <a:solidFill>
                          <a:srgbClr val="002060"/>
                        </a:solidFill>
                        <a:latin typeface="Cambria Math" panose="02040503050406030204" pitchFamily="18" charset="0"/>
                      </a:rPr>
                      <m:t>𝐤</m:t>
                    </m:r>
                  </m:oMath>
                </a14:m>
                <a:r>
                  <a:rPr lang="en-US" sz="2800" dirty="0">
                    <a:solidFill>
                      <a:srgbClr val="002060"/>
                    </a:solidFill>
                  </a:rPr>
                  <a:t>. </a:t>
                </a:r>
              </a:p>
            </p:txBody>
          </p:sp>
        </mc:Choice>
        <mc:Fallback xmlns="">
          <p:sp>
            <p:nvSpPr>
              <p:cNvPr id="5" name="Rectangle 4"/>
              <p:cNvSpPr>
                <a:spLocks noRot="1" noChangeAspect="1" noMove="1" noResize="1" noEditPoints="1" noAdjustHandles="1" noChangeArrowheads="1" noChangeShapeType="1" noTextEdit="1"/>
              </p:cNvSpPr>
              <p:nvPr/>
            </p:nvSpPr>
            <p:spPr>
              <a:xfrm>
                <a:off x="16409" y="729966"/>
                <a:ext cx="11935185" cy="2072362"/>
              </a:xfrm>
              <a:prstGeom prst="rect">
                <a:avLst/>
              </a:prstGeom>
              <a:blipFill rotWithShape="0">
                <a:blip r:embed="rId2"/>
                <a:stretch>
                  <a:fillRect l="-970" t="-3235" r="-1021" b="-7353"/>
                </a:stretch>
              </a:blipFill>
            </p:spPr>
            <p:txBody>
              <a:bodyPr/>
              <a:lstStyle/>
              <a:p>
                <a:r>
                  <a:rPr lang="en-US">
                    <a:noFill/>
                  </a:rPr>
                  <a:t> </a:t>
                </a:r>
              </a:p>
            </p:txBody>
          </p:sp>
        </mc:Fallback>
      </mc:AlternateContent>
      <p:sp>
        <p:nvSpPr>
          <p:cNvPr id="25" name="Oval 24">
            <a:extLst>
              <a:ext uri="{FF2B5EF4-FFF2-40B4-BE49-F238E27FC236}">
                <a16:creationId xmlns:a16="http://schemas.microsoft.com/office/drawing/2014/main" id="{BDD11F87-DA81-9510-C1CB-0AF4093562CB}"/>
              </a:ext>
            </a:extLst>
          </p:cNvPr>
          <p:cNvSpPr/>
          <p:nvPr/>
        </p:nvSpPr>
        <p:spPr>
          <a:xfrm rot="5400000">
            <a:off x="6416633" y="414725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6" name="Straight Connector 25">
            <a:extLst>
              <a:ext uri="{FF2B5EF4-FFF2-40B4-BE49-F238E27FC236}">
                <a16:creationId xmlns:a16="http://schemas.microsoft.com/office/drawing/2014/main" id="{6205DD86-315C-53B6-CEEF-A9919650168E}"/>
              </a:ext>
            </a:extLst>
          </p:cNvPr>
          <p:cNvCxnSpPr>
            <a:cxnSpLocks/>
            <a:stCxn id="27" idx="5"/>
            <a:endCxn id="25" idx="0"/>
          </p:cNvCxnSpPr>
          <p:nvPr/>
        </p:nvCxnSpPr>
        <p:spPr>
          <a:xfrm flipH="1">
            <a:off x="6560633" y="3929529"/>
            <a:ext cx="1001847" cy="289724"/>
          </a:xfrm>
          <a:prstGeom prst="line">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sp>
        <p:nvSpPr>
          <p:cNvPr id="27" name="Oval 26">
            <a:extLst>
              <a:ext uri="{FF2B5EF4-FFF2-40B4-BE49-F238E27FC236}">
                <a16:creationId xmlns:a16="http://schemas.microsoft.com/office/drawing/2014/main" id="{BDD11F87-DA81-9510-C1CB-0AF4093562CB}"/>
              </a:ext>
            </a:extLst>
          </p:cNvPr>
          <p:cNvSpPr/>
          <p:nvPr/>
        </p:nvSpPr>
        <p:spPr>
          <a:xfrm rot="5400000">
            <a:off x="7541392" y="380661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8" name="Straight Connector 27">
            <a:extLst>
              <a:ext uri="{FF2B5EF4-FFF2-40B4-BE49-F238E27FC236}">
                <a16:creationId xmlns:a16="http://schemas.microsoft.com/office/drawing/2014/main" id="{6205DD86-315C-53B6-CEEF-A9919650168E}"/>
              </a:ext>
            </a:extLst>
          </p:cNvPr>
          <p:cNvCxnSpPr>
            <a:cxnSpLocks/>
            <a:stCxn id="32" idx="5"/>
            <a:endCxn id="27" idx="1"/>
          </p:cNvCxnSpPr>
          <p:nvPr/>
        </p:nvCxnSpPr>
        <p:spPr>
          <a:xfrm flipH="1">
            <a:off x="7664304" y="3190029"/>
            <a:ext cx="254519" cy="637676"/>
          </a:xfrm>
          <a:prstGeom prst="line">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sp>
        <p:nvSpPr>
          <p:cNvPr id="29" name="Oval 28">
            <a:extLst>
              <a:ext uri="{FF2B5EF4-FFF2-40B4-BE49-F238E27FC236}">
                <a16:creationId xmlns:a16="http://schemas.microsoft.com/office/drawing/2014/main" id="{BDD11F87-DA81-9510-C1CB-0AF4093562CB}"/>
              </a:ext>
            </a:extLst>
          </p:cNvPr>
          <p:cNvSpPr/>
          <p:nvPr/>
        </p:nvSpPr>
        <p:spPr>
          <a:xfrm rot="5400000">
            <a:off x="8360849" y="366261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0" name="Straight Connector 29">
            <a:extLst>
              <a:ext uri="{FF2B5EF4-FFF2-40B4-BE49-F238E27FC236}">
                <a16:creationId xmlns:a16="http://schemas.microsoft.com/office/drawing/2014/main" id="{6205DD86-315C-53B6-CEEF-A9919650168E}"/>
              </a:ext>
            </a:extLst>
          </p:cNvPr>
          <p:cNvCxnSpPr>
            <a:cxnSpLocks/>
            <a:stCxn id="31" idx="2"/>
            <a:endCxn id="29" idx="6"/>
          </p:cNvCxnSpPr>
          <p:nvPr/>
        </p:nvCxnSpPr>
        <p:spPr>
          <a:xfrm flipH="1" flipV="1">
            <a:off x="8432849" y="3806617"/>
            <a:ext cx="209753" cy="1235628"/>
          </a:xfrm>
          <a:prstGeom prst="line">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sp>
        <p:nvSpPr>
          <p:cNvPr id="31" name="Oval 30">
            <a:extLst>
              <a:ext uri="{FF2B5EF4-FFF2-40B4-BE49-F238E27FC236}">
                <a16:creationId xmlns:a16="http://schemas.microsoft.com/office/drawing/2014/main" id="{BDD11F87-DA81-9510-C1CB-0AF4093562CB}"/>
              </a:ext>
            </a:extLst>
          </p:cNvPr>
          <p:cNvSpPr/>
          <p:nvPr/>
        </p:nvSpPr>
        <p:spPr>
          <a:xfrm rot="5400000">
            <a:off x="8570602" y="504224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2" name="Oval 31">
            <a:extLst>
              <a:ext uri="{FF2B5EF4-FFF2-40B4-BE49-F238E27FC236}">
                <a16:creationId xmlns:a16="http://schemas.microsoft.com/office/drawing/2014/main" id="{BDD11F87-DA81-9510-C1CB-0AF4093562CB}"/>
              </a:ext>
            </a:extLst>
          </p:cNvPr>
          <p:cNvSpPr/>
          <p:nvPr/>
        </p:nvSpPr>
        <p:spPr>
          <a:xfrm rot="5400000">
            <a:off x="7897735" y="306711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3" name="Straight Connector 32">
            <a:extLst>
              <a:ext uri="{FF2B5EF4-FFF2-40B4-BE49-F238E27FC236}">
                <a16:creationId xmlns:a16="http://schemas.microsoft.com/office/drawing/2014/main" id="{6205DD86-315C-53B6-CEEF-A9919650168E}"/>
              </a:ext>
            </a:extLst>
          </p:cNvPr>
          <p:cNvCxnSpPr>
            <a:cxnSpLocks/>
            <a:stCxn id="29" idx="3"/>
            <a:endCxn id="32" idx="7"/>
          </p:cNvCxnSpPr>
          <p:nvPr/>
        </p:nvCxnSpPr>
        <p:spPr>
          <a:xfrm flipH="1" flipV="1">
            <a:off x="8020647" y="3190029"/>
            <a:ext cx="361290" cy="49367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4" name="Straight Connector 33">
            <a:extLst>
              <a:ext uri="{FF2B5EF4-FFF2-40B4-BE49-F238E27FC236}">
                <a16:creationId xmlns:a16="http://schemas.microsoft.com/office/drawing/2014/main" id="{6205DD86-315C-53B6-CEEF-A9919650168E}"/>
              </a:ext>
            </a:extLst>
          </p:cNvPr>
          <p:cNvCxnSpPr>
            <a:cxnSpLocks/>
            <a:stCxn id="35" idx="4"/>
            <a:endCxn id="25" idx="0"/>
          </p:cNvCxnSpPr>
          <p:nvPr/>
        </p:nvCxnSpPr>
        <p:spPr>
          <a:xfrm flipH="1" flipV="1">
            <a:off x="6560633" y="4219253"/>
            <a:ext cx="1031671" cy="441742"/>
          </a:xfrm>
          <a:prstGeom prst="line">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sp>
        <p:nvSpPr>
          <p:cNvPr id="35" name="Oval 34">
            <a:extLst>
              <a:ext uri="{FF2B5EF4-FFF2-40B4-BE49-F238E27FC236}">
                <a16:creationId xmlns:a16="http://schemas.microsoft.com/office/drawing/2014/main" id="{BDD11F87-DA81-9510-C1CB-0AF4093562CB}"/>
              </a:ext>
            </a:extLst>
          </p:cNvPr>
          <p:cNvSpPr/>
          <p:nvPr/>
        </p:nvSpPr>
        <p:spPr>
          <a:xfrm rot="5400000">
            <a:off x="7592304" y="458899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6" name="Oval 35">
            <a:extLst>
              <a:ext uri="{FF2B5EF4-FFF2-40B4-BE49-F238E27FC236}">
                <a16:creationId xmlns:a16="http://schemas.microsoft.com/office/drawing/2014/main" id="{BDD11F87-DA81-9510-C1CB-0AF4093562CB}"/>
              </a:ext>
            </a:extLst>
          </p:cNvPr>
          <p:cNvSpPr/>
          <p:nvPr/>
        </p:nvSpPr>
        <p:spPr>
          <a:xfrm rot="5400000">
            <a:off x="6560633" y="537137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7" name="Straight Connector 36">
            <a:extLst>
              <a:ext uri="{FF2B5EF4-FFF2-40B4-BE49-F238E27FC236}">
                <a16:creationId xmlns:a16="http://schemas.microsoft.com/office/drawing/2014/main" id="{6205DD86-315C-53B6-CEEF-A9919650168E}"/>
              </a:ext>
            </a:extLst>
          </p:cNvPr>
          <p:cNvCxnSpPr>
            <a:cxnSpLocks/>
            <a:stCxn id="36" idx="0"/>
            <a:endCxn id="35" idx="5"/>
          </p:cNvCxnSpPr>
          <p:nvPr/>
        </p:nvCxnSpPr>
        <p:spPr>
          <a:xfrm flipV="1">
            <a:off x="6704633" y="4711907"/>
            <a:ext cx="908759" cy="731466"/>
          </a:xfrm>
          <a:prstGeom prst="line">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cxnSp>
        <p:nvCxnSpPr>
          <p:cNvPr id="38" name="Straight Connector 37">
            <a:extLst>
              <a:ext uri="{FF2B5EF4-FFF2-40B4-BE49-F238E27FC236}">
                <a16:creationId xmlns:a16="http://schemas.microsoft.com/office/drawing/2014/main" id="{6205DD86-315C-53B6-CEEF-A9919650168E}"/>
              </a:ext>
            </a:extLst>
          </p:cNvPr>
          <p:cNvCxnSpPr>
            <a:cxnSpLocks/>
            <a:stCxn id="36" idx="2"/>
            <a:endCxn id="25" idx="6"/>
          </p:cNvCxnSpPr>
          <p:nvPr/>
        </p:nvCxnSpPr>
        <p:spPr>
          <a:xfrm flipH="1" flipV="1">
            <a:off x="6488633" y="4291253"/>
            <a:ext cx="144000" cy="108012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9" name="Straight Connector 38">
            <a:extLst>
              <a:ext uri="{FF2B5EF4-FFF2-40B4-BE49-F238E27FC236}">
                <a16:creationId xmlns:a16="http://schemas.microsoft.com/office/drawing/2014/main" id="{6205DD86-315C-53B6-CEEF-A9919650168E}"/>
              </a:ext>
            </a:extLst>
          </p:cNvPr>
          <p:cNvCxnSpPr>
            <a:cxnSpLocks/>
            <a:stCxn id="35" idx="2"/>
            <a:endCxn id="27" idx="6"/>
          </p:cNvCxnSpPr>
          <p:nvPr/>
        </p:nvCxnSpPr>
        <p:spPr>
          <a:xfrm flipH="1" flipV="1">
            <a:off x="7613392" y="3950617"/>
            <a:ext cx="50912" cy="63837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0" name="Straight Connector 39">
            <a:extLst>
              <a:ext uri="{FF2B5EF4-FFF2-40B4-BE49-F238E27FC236}">
                <a16:creationId xmlns:a16="http://schemas.microsoft.com/office/drawing/2014/main" id="{6205DD86-315C-53B6-CEEF-A9919650168E}"/>
              </a:ext>
            </a:extLst>
          </p:cNvPr>
          <p:cNvCxnSpPr>
            <a:cxnSpLocks/>
            <a:stCxn id="31" idx="3"/>
            <a:endCxn id="27" idx="7"/>
          </p:cNvCxnSpPr>
          <p:nvPr/>
        </p:nvCxnSpPr>
        <p:spPr>
          <a:xfrm flipH="1" flipV="1">
            <a:off x="7664304" y="3929529"/>
            <a:ext cx="927386" cy="113380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1" name="Straight Connector 40">
            <a:extLst>
              <a:ext uri="{FF2B5EF4-FFF2-40B4-BE49-F238E27FC236}">
                <a16:creationId xmlns:a16="http://schemas.microsoft.com/office/drawing/2014/main" id="{6205DD86-315C-53B6-CEEF-A9919650168E}"/>
              </a:ext>
            </a:extLst>
          </p:cNvPr>
          <p:cNvCxnSpPr>
            <a:cxnSpLocks/>
            <a:stCxn id="27" idx="0"/>
            <a:endCxn id="29" idx="5"/>
          </p:cNvCxnSpPr>
          <p:nvPr/>
        </p:nvCxnSpPr>
        <p:spPr>
          <a:xfrm flipV="1">
            <a:off x="7685392" y="3785529"/>
            <a:ext cx="696545" cy="93088"/>
          </a:xfrm>
          <a:prstGeom prst="line">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cxnSp>
        <p:nvCxnSpPr>
          <p:cNvPr id="42" name="Straight Connector 41">
            <a:extLst>
              <a:ext uri="{FF2B5EF4-FFF2-40B4-BE49-F238E27FC236}">
                <a16:creationId xmlns:a16="http://schemas.microsoft.com/office/drawing/2014/main" id="{6205DD86-315C-53B6-CEEF-A9919650168E}"/>
              </a:ext>
            </a:extLst>
          </p:cNvPr>
          <p:cNvCxnSpPr>
            <a:cxnSpLocks/>
            <a:stCxn id="35" idx="7"/>
            <a:endCxn id="31" idx="4"/>
          </p:cNvCxnSpPr>
          <p:nvPr/>
        </p:nvCxnSpPr>
        <p:spPr>
          <a:xfrm>
            <a:off x="7715216" y="4711907"/>
            <a:ext cx="855386" cy="40233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3" name="Freeform: Shape 34">
            <a:extLst>
              <a:ext uri="{FF2B5EF4-FFF2-40B4-BE49-F238E27FC236}">
                <a16:creationId xmlns:a16="http://schemas.microsoft.com/office/drawing/2014/main" id="{5A43D9D2-4CAA-3544-4E99-2BE62F8BF717}"/>
              </a:ext>
            </a:extLst>
          </p:cNvPr>
          <p:cNvSpPr/>
          <p:nvPr/>
        </p:nvSpPr>
        <p:spPr>
          <a:xfrm rot="21008222" flipV="1">
            <a:off x="6716762" y="5298886"/>
            <a:ext cx="1906824" cy="306139"/>
          </a:xfrm>
          <a:custGeom>
            <a:avLst/>
            <a:gdLst>
              <a:gd name="connsiteX0" fmla="*/ 0 w 2961249"/>
              <a:gd name="connsiteY0" fmla="*/ 436103 h 436103"/>
              <a:gd name="connsiteX1" fmla="*/ 942535 w 2961249"/>
              <a:gd name="connsiteY1" fmla="*/ 63310 h 436103"/>
              <a:gd name="connsiteX2" fmla="*/ 1892104 w 2961249"/>
              <a:gd name="connsiteY2" fmla="*/ 35174 h 436103"/>
              <a:gd name="connsiteX3" fmla="*/ 2961249 w 2961249"/>
              <a:gd name="connsiteY3" fmla="*/ 422036 h 436103"/>
              <a:gd name="connsiteX4" fmla="*/ 2961249 w 2961249"/>
              <a:gd name="connsiteY4" fmla="*/ 422036 h 436103"/>
              <a:gd name="connsiteX5" fmla="*/ 2961249 w 2961249"/>
              <a:gd name="connsiteY5" fmla="*/ 422036 h 436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61249" h="436103">
                <a:moveTo>
                  <a:pt x="0" y="436103"/>
                </a:moveTo>
                <a:cubicBezTo>
                  <a:pt x="313592" y="283117"/>
                  <a:pt x="627184" y="130131"/>
                  <a:pt x="942535" y="63310"/>
                </a:cubicBezTo>
                <a:cubicBezTo>
                  <a:pt x="1257886" y="-3512"/>
                  <a:pt x="1555652" y="-24614"/>
                  <a:pt x="1892104" y="35174"/>
                </a:cubicBezTo>
                <a:cubicBezTo>
                  <a:pt x="2228556" y="94962"/>
                  <a:pt x="2961249" y="422036"/>
                  <a:pt x="2961249" y="422036"/>
                </a:cubicBezTo>
                <a:lnTo>
                  <a:pt x="2961249" y="422036"/>
                </a:lnTo>
                <a:lnTo>
                  <a:pt x="2961249" y="422036"/>
                </a:lnTo>
              </a:path>
            </a:pathLst>
          </a:cu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Freeform: Shape 34">
            <a:extLst>
              <a:ext uri="{FF2B5EF4-FFF2-40B4-BE49-F238E27FC236}">
                <a16:creationId xmlns:a16="http://schemas.microsoft.com/office/drawing/2014/main" id="{5A43D9D2-4CAA-3544-4E99-2BE62F8BF717}"/>
              </a:ext>
            </a:extLst>
          </p:cNvPr>
          <p:cNvSpPr/>
          <p:nvPr/>
        </p:nvSpPr>
        <p:spPr>
          <a:xfrm rot="15608222" flipV="1">
            <a:off x="8123942" y="4193680"/>
            <a:ext cx="1302703" cy="393948"/>
          </a:xfrm>
          <a:custGeom>
            <a:avLst/>
            <a:gdLst>
              <a:gd name="connsiteX0" fmla="*/ 0 w 2961249"/>
              <a:gd name="connsiteY0" fmla="*/ 436103 h 436103"/>
              <a:gd name="connsiteX1" fmla="*/ 942535 w 2961249"/>
              <a:gd name="connsiteY1" fmla="*/ 63310 h 436103"/>
              <a:gd name="connsiteX2" fmla="*/ 1892104 w 2961249"/>
              <a:gd name="connsiteY2" fmla="*/ 35174 h 436103"/>
              <a:gd name="connsiteX3" fmla="*/ 2961249 w 2961249"/>
              <a:gd name="connsiteY3" fmla="*/ 422036 h 436103"/>
              <a:gd name="connsiteX4" fmla="*/ 2961249 w 2961249"/>
              <a:gd name="connsiteY4" fmla="*/ 422036 h 436103"/>
              <a:gd name="connsiteX5" fmla="*/ 2961249 w 2961249"/>
              <a:gd name="connsiteY5" fmla="*/ 422036 h 436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61249" h="436103">
                <a:moveTo>
                  <a:pt x="0" y="436103"/>
                </a:moveTo>
                <a:cubicBezTo>
                  <a:pt x="313592" y="283117"/>
                  <a:pt x="627184" y="130131"/>
                  <a:pt x="942535" y="63310"/>
                </a:cubicBezTo>
                <a:cubicBezTo>
                  <a:pt x="1257886" y="-3512"/>
                  <a:pt x="1555652" y="-24614"/>
                  <a:pt x="1892104" y="35174"/>
                </a:cubicBezTo>
                <a:cubicBezTo>
                  <a:pt x="2228556" y="94962"/>
                  <a:pt x="2961249" y="422036"/>
                  <a:pt x="2961249" y="422036"/>
                </a:cubicBezTo>
                <a:lnTo>
                  <a:pt x="2961249" y="422036"/>
                </a:lnTo>
                <a:lnTo>
                  <a:pt x="2961249" y="422036"/>
                </a:lnTo>
              </a:path>
            </a:pathLst>
          </a:cu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TextBox 44"/>
          <p:cNvSpPr txBox="1"/>
          <p:nvPr/>
        </p:nvSpPr>
        <p:spPr>
          <a:xfrm>
            <a:off x="6185704" y="4651466"/>
            <a:ext cx="356188"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a</a:t>
            </a:r>
          </a:p>
        </p:txBody>
      </p:sp>
      <p:sp>
        <p:nvSpPr>
          <p:cNvPr id="46" name="TextBox 45"/>
          <p:cNvSpPr txBox="1"/>
          <p:nvPr/>
        </p:nvSpPr>
        <p:spPr>
          <a:xfrm>
            <a:off x="6922078" y="3627395"/>
            <a:ext cx="357790"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h</a:t>
            </a:r>
          </a:p>
        </p:txBody>
      </p:sp>
      <p:sp>
        <p:nvSpPr>
          <p:cNvPr id="47" name="TextBox 46"/>
          <p:cNvSpPr txBox="1"/>
          <p:nvPr/>
        </p:nvSpPr>
        <p:spPr>
          <a:xfrm>
            <a:off x="7012330" y="4029360"/>
            <a:ext cx="360996"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b</a:t>
            </a:r>
          </a:p>
        </p:txBody>
      </p:sp>
      <p:sp>
        <p:nvSpPr>
          <p:cNvPr id="48" name="TextBox 47"/>
          <p:cNvSpPr txBox="1"/>
          <p:nvPr/>
        </p:nvSpPr>
        <p:spPr>
          <a:xfrm>
            <a:off x="7890032" y="4737510"/>
            <a:ext cx="352982"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e</a:t>
            </a:r>
          </a:p>
        </p:txBody>
      </p:sp>
      <p:sp>
        <p:nvSpPr>
          <p:cNvPr id="49" name="TextBox 48"/>
          <p:cNvSpPr txBox="1"/>
          <p:nvPr/>
        </p:nvSpPr>
        <p:spPr>
          <a:xfrm>
            <a:off x="7110723" y="4845031"/>
            <a:ext cx="349776" cy="523220"/>
          </a:xfrm>
          <a:prstGeom prst="rect">
            <a:avLst/>
          </a:prstGeom>
          <a:noFill/>
          <a:ln>
            <a:noFill/>
          </a:ln>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c</a:t>
            </a:r>
          </a:p>
        </p:txBody>
      </p:sp>
      <p:sp>
        <p:nvSpPr>
          <p:cNvPr id="50" name="TextBox 49"/>
          <p:cNvSpPr txBox="1"/>
          <p:nvPr/>
        </p:nvSpPr>
        <p:spPr>
          <a:xfrm>
            <a:off x="7582391" y="5170234"/>
            <a:ext cx="362600"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d</a:t>
            </a:r>
          </a:p>
        </p:txBody>
      </p:sp>
      <p:sp>
        <p:nvSpPr>
          <p:cNvPr id="51" name="TextBox 50"/>
          <p:cNvSpPr txBox="1"/>
          <p:nvPr/>
        </p:nvSpPr>
        <p:spPr>
          <a:xfrm>
            <a:off x="7844162" y="3342017"/>
            <a:ext cx="264816"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j</a:t>
            </a:r>
          </a:p>
        </p:txBody>
      </p:sp>
      <p:sp>
        <p:nvSpPr>
          <p:cNvPr id="52" name="TextBox 51"/>
          <p:cNvSpPr txBox="1"/>
          <p:nvPr/>
        </p:nvSpPr>
        <p:spPr>
          <a:xfrm>
            <a:off x="8459276" y="3997862"/>
            <a:ext cx="266420"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l</a:t>
            </a:r>
          </a:p>
        </p:txBody>
      </p:sp>
      <p:sp>
        <p:nvSpPr>
          <p:cNvPr id="53" name="TextBox 52"/>
          <p:cNvSpPr txBox="1"/>
          <p:nvPr/>
        </p:nvSpPr>
        <p:spPr>
          <a:xfrm>
            <a:off x="7538273" y="3122749"/>
            <a:ext cx="266420" cy="523220"/>
          </a:xfrm>
          <a:prstGeom prst="rect">
            <a:avLst/>
          </a:prstGeom>
          <a:noFill/>
        </p:spPr>
        <p:txBody>
          <a:bodyPr wrap="none" rtlCol="0">
            <a:spAutoFit/>
          </a:bodyPr>
          <a:lstStyle/>
          <a:p>
            <a:r>
              <a:rPr lang="en-US" sz="2800" dirty="0" err="1">
                <a:solidFill>
                  <a:srgbClr val="C00000"/>
                </a:solidFill>
                <a:latin typeface="Roboto Condensed" panose="02000000000000000000" pitchFamily="2" charset="0"/>
                <a:ea typeface="Roboto Condensed" panose="02000000000000000000" pitchFamily="2" charset="0"/>
              </a:rPr>
              <a:t>i</a:t>
            </a:r>
            <a:endParaRPr lang="en-US" sz="2800" dirty="0">
              <a:solidFill>
                <a:srgbClr val="C00000"/>
              </a:solidFill>
              <a:latin typeface="Roboto Condensed" panose="02000000000000000000" pitchFamily="2" charset="0"/>
              <a:ea typeface="Roboto Condensed" panose="02000000000000000000" pitchFamily="2" charset="0"/>
            </a:endParaRPr>
          </a:p>
        </p:txBody>
      </p:sp>
      <p:sp>
        <p:nvSpPr>
          <p:cNvPr id="54" name="TextBox 53"/>
          <p:cNvSpPr txBox="1"/>
          <p:nvPr/>
        </p:nvSpPr>
        <p:spPr>
          <a:xfrm>
            <a:off x="8158030" y="3059889"/>
            <a:ext cx="346570"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k</a:t>
            </a:r>
          </a:p>
        </p:txBody>
      </p:sp>
      <p:sp>
        <p:nvSpPr>
          <p:cNvPr id="55" name="TextBox 54"/>
          <p:cNvSpPr txBox="1"/>
          <p:nvPr/>
        </p:nvSpPr>
        <p:spPr>
          <a:xfrm>
            <a:off x="8904661" y="4008196"/>
            <a:ext cx="455574"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m</a:t>
            </a:r>
          </a:p>
        </p:txBody>
      </p:sp>
      <p:sp>
        <p:nvSpPr>
          <p:cNvPr id="56" name="TextBox 55"/>
          <p:cNvSpPr txBox="1"/>
          <p:nvPr/>
        </p:nvSpPr>
        <p:spPr>
          <a:xfrm>
            <a:off x="7388145" y="4052441"/>
            <a:ext cx="298480"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f</a:t>
            </a:r>
          </a:p>
        </p:txBody>
      </p:sp>
      <p:sp>
        <p:nvSpPr>
          <p:cNvPr id="57" name="TextBox 56"/>
          <p:cNvSpPr txBox="1"/>
          <p:nvPr/>
        </p:nvSpPr>
        <p:spPr>
          <a:xfrm>
            <a:off x="7977532" y="3967061"/>
            <a:ext cx="360996"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g</a:t>
            </a:r>
          </a:p>
        </p:txBody>
      </p:sp>
      <p:sp>
        <p:nvSpPr>
          <p:cNvPr id="58" name="Oval 57">
            <a:extLst>
              <a:ext uri="{FF2B5EF4-FFF2-40B4-BE49-F238E27FC236}">
                <a16:creationId xmlns:a16="http://schemas.microsoft.com/office/drawing/2014/main" id="{BDD11F87-DA81-9510-C1CB-0AF4093562CB}"/>
              </a:ext>
            </a:extLst>
          </p:cNvPr>
          <p:cNvSpPr/>
          <p:nvPr/>
        </p:nvSpPr>
        <p:spPr>
          <a:xfrm rot="5400000">
            <a:off x="2818838" y="429311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9" name="Straight Connector 58">
            <a:extLst>
              <a:ext uri="{FF2B5EF4-FFF2-40B4-BE49-F238E27FC236}">
                <a16:creationId xmlns:a16="http://schemas.microsoft.com/office/drawing/2014/main" id="{6205DD86-315C-53B6-CEEF-A9919650168E}"/>
              </a:ext>
            </a:extLst>
          </p:cNvPr>
          <p:cNvCxnSpPr>
            <a:cxnSpLocks/>
            <a:stCxn id="60" idx="5"/>
            <a:endCxn id="58" idx="0"/>
          </p:cNvCxnSpPr>
          <p:nvPr/>
        </p:nvCxnSpPr>
        <p:spPr>
          <a:xfrm flipH="1">
            <a:off x="2962838" y="4075388"/>
            <a:ext cx="1001847" cy="289724"/>
          </a:xfrm>
          <a:prstGeom prst="line">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sp>
        <p:nvSpPr>
          <p:cNvPr id="60" name="Oval 59">
            <a:extLst>
              <a:ext uri="{FF2B5EF4-FFF2-40B4-BE49-F238E27FC236}">
                <a16:creationId xmlns:a16="http://schemas.microsoft.com/office/drawing/2014/main" id="{BDD11F87-DA81-9510-C1CB-0AF4093562CB}"/>
              </a:ext>
            </a:extLst>
          </p:cNvPr>
          <p:cNvSpPr/>
          <p:nvPr/>
        </p:nvSpPr>
        <p:spPr>
          <a:xfrm rot="5400000">
            <a:off x="3943597" y="395247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1" name="Straight Connector 60">
            <a:extLst>
              <a:ext uri="{FF2B5EF4-FFF2-40B4-BE49-F238E27FC236}">
                <a16:creationId xmlns:a16="http://schemas.microsoft.com/office/drawing/2014/main" id="{6205DD86-315C-53B6-CEEF-A9919650168E}"/>
              </a:ext>
            </a:extLst>
          </p:cNvPr>
          <p:cNvCxnSpPr>
            <a:cxnSpLocks/>
            <a:stCxn id="65" idx="5"/>
            <a:endCxn id="60" idx="1"/>
          </p:cNvCxnSpPr>
          <p:nvPr/>
        </p:nvCxnSpPr>
        <p:spPr>
          <a:xfrm flipH="1">
            <a:off x="4066509" y="3335888"/>
            <a:ext cx="254519" cy="637676"/>
          </a:xfrm>
          <a:prstGeom prst="line">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sp>
        <p:nvSpPr>
          <p:cNvPr id="62" name="Oval 61">
            <a:extLst>
              <a:ext uri="{FF2B5EF4-FFF2-40B4-BE49-F238E27FC236}">
                <a16:creationId xmlns:a16="http://schemas.microsoft.com/office/drawing/2014/main" id="{BDD11F87-DA81-9510-C1CB-0AF4093562CB}"/>
              </a:ext>
            </a:extLst>
          </p:cNvPr>
          <p:cNvSpPr/>
          <p:nvPr/>
        </p:nvSpPr>
        <p:spPr>
          <a:xfrm rot="5400000">
            <a:off x="4763054" y="380847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3" name="Straight Connector 62">
            <a:extLst>
              <a:ext uri="{FF2B5EF4-FFF2-40B4-BE49-F238E27FC236}">
                <a16:creationId xmlns:a16="http://schemas.microsoft.com/office/drawing/2014/main" id="{6205DD86-315C-53B6-CEEF-A9919650168E}"/>
              </a:ext>
            </a:extLst>
          </p:cNvPr>
          <p:cNvCxnSpPr>
            <a:cxnSpLocks/>
            <a:stCxn id="64" idx="2"/>
            <a:endCxn id="62" idx="6"/>
          </p:cNvCxnSpPr>
          <p:nvPr/>
        </p:nvCxnSpPr>
        <p:spPr>
          <a:xfrm flipH="1" flipV="1">
            <a:off x="4835054" y="3952476"/>
            <a:ext cx="209753" cy="1235628"/>
          </a:xfrm>
          <a:prstGeom prst="line">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sp>
        <p:nvSpPr>
          <p:cNvPr id="64" name="Oval 63">
            <a:extLst>
              <a:ext uri="{FF2B5EF4-FFF2-40B4-BE49-F238E27FC236}">
                <a16:creationId xmlns:a16="http://schemas.microsoft.com/office/drawing/2014/main" id="{BDD11F87-DA81-9510-C1CB-0AF4093562CB}"/>
              </a:ext>
            </a:extLst>
          </p:cNvPr>
          <p:cNvSpPr/>
          <p:nvPr/>
        </p:nvSpPr>
        <p:spPr>
          <a:xfrm rot="5400000">
            <a:off x="4972807" y="518810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5" name="Oval 64">
            <a:extLst>
              <a:ext uri="{FF2B5EF4-FFF2-40B4-BE49-F238E27FC236}">
                <a16:creationId xmlns:a16="http://schemas.microsoft.com/office/drawing/2014/main" id="{BDD11F87-DA81-9510-C1CB-0AF4093562CB}"/>
              </a:ext>
            </a:extLst>
          </p:cNvPr>
          <p:cNvSpPr/>
          <p:nvPr/>
        </p:nvSpPr>
        <p:spPr>
          <a:xfrm rot="5400000">
            <a:off x="4299940" y="321297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6" name="Straight Connector 65">
            <a:extLst>
              <a:ext uri="{FF2B5EF4-FFF2-40B4-BE49-F238E27FC236}">
                <a16:creationId xmlns:a16="http://schemas.microsoft.com/office/drawing/2014/main" id="{6205DD86-315C-53B6-CEEF-A9919650168E}"/>
              </a:ext>
            </a:extLst>
          </p:cNvPr>
          <p:cNvCxnSpPr>
            <a:cxnSpLocks/>
            <a:stCxn id="62" idx="3"/>
            <a:endCxn id="65" idx="7"/>
          </p:cNvCxnSpPr>
          <p:nvPr/>
        </p:nvCxnSpPr>
        <p:spPr>
          <a:xfrm flipH="1" flipV="1">
            <a:off x="4422852" y="3335888"/>
            <a:ext cx="361290" cy="49367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7" name="Straight Connector 66">
            <a:extLst>
              <a:ext uri="{FF2B5EF4-FFF2-40B4-BE49-F238E27FC236}">
                <a16:creationId xmlns:a16="http://schemas.microsoft.com/office/drawing/2014/main" id="{6205DD86-315C-53B6-CEEF-A9919650168E}"/>
              </a:ext>
            </a:extLst>
          </p:cNvPr>
          <p:cNvCxnSpPr>
            <a:cxnSpLocks/>
            <a:stCxn id="68" idx="4"/>
            <a:endCxn id="58" idx="0"/>
          </p:cNvCxnSpPr>
          <p:nvPr/>
        </p:nvCxnSpPr>
        <p:spPr>
          <a:xfrm flipH="1" flipV="1">
            <a:off x="2962838" y="4365112"/>
            <a:ext cx="1031671" cy="441742"/>
          </a:xfrm>
          <a:prstGeom prst="line">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sp>
        <p:nvSpPr>
          <p:cNvPr id="68" name="Oval 67">
            <a:extLst>
              <a:ext uri="{FF2B5EF4-FFF2-40B4-BE49-F238E27FC236}">
                <a16:creationId xmlns:a16="http://schemas.microsoft.com/office/drawing/2014/main" id="{BDD11F87-DA81-9510-C1CB-0AF4093562CB}"/>
              </a:ext>
            </a:extLst>
          </p:cNvPr>
          <p:cNvSpPr/>
          <p:nvPr/>
        </p:nvSpPr>
        <p:spPr>
          <a:xfrm rot="5400000">
            <a:off x="3994509" y="473485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9" name="Oval 68">
            <a:extLst>
              <a:ext uri="{FF2B5EF4-FFF2-40B4-BE49-F238E27FC236}">
                <a16:creationId xmlns:a16="http://schemas.microsoft.com/office/drawing/2014/main" id="{BDD11F87-DA81-9510-C1CB-0AF4093562CB}"/>
              </a:ext>
            </a:extLst>
          </p:cNvPr>
          <p:cNvSpPr/>
          <p:nvPr/>
        </p:nvSpPr>
        <p:spPr>
          <a:xfrm rot="5400000">
            <a:off x="2962838" y="551723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0" name="Straight Connector 69">
            <a:extLst>
              <a:ext uri="{FF2B5EF4-FFF2-40B4-BE49-F238E27FC236}">
                <a16:creationId xmlns:a16="http://schemas.microsoft.com/office/drawing/2014/main" id="{6205DD86-315C-53B6-CEEF-A9919650168E}"/>
              </a:ext>
            </a:extLst>
          </p:cNvPr>
          <p:cNvCxnSpPr>
            <a:cxnSpLocks/>
            <a:stCxn id="69" idx="0"/>
            <a:endCxn id="68" idx="5"/>
          </p:cNvCxnSpPr>
          <p:nvPr/>
        </p:nvCxnSpPr>
        <p:spPr>
          <a:xfrm flipV="1">
            <a:off x="3106838" y="4857766"/>
            <a:ext cx="908759" cy="731466"/>
          </a:xfrm>
          <a:prstGeom prst="line">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cxnSp>
        <p:nvCxnSpPr>
          <p:cNvPr id="71" name="Straight Connector 70">
            <a:extLst>
              <a:ext uri="{FF2B5EF4-FFF2-40B4-BE49-F238E27FC236}">
                <a16:creationId xmlns:a16="http://schemas.microsoft.com/office/drawing/2014/main" id="{6205DD86-315C-53B6-CEEF-A9919650168E}"/>
              </a:ext>
            </a:extLst>
          </p:cNvPr>
          <p:cNvCxnSpPr>
            <a:cxnSpLocks/>
            <a:stCxn id="69" idx="2"/>
            <a:endCxn id="58" idx="6"/>
          </p:cNvCxnSpPr>
          <p:nvPr/>
        </p:nvCxnSpPr>
        <p:spPr>
          <a:xfrm flipH="1" flipV="1">
            <a:off x="2890838" y="4437112"/>
            <a:ext cx="144000" cy="108012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2" name="Straight Connector 71">
            <a:extLst>
              <a:ext uri="{FF2B5EF4-FFF2-40B4-BE49-F238E27FC236}">
                <a16:creationId xmlns:a16="http://schemas.microsoft.com/office/drawing/2014/main" id="{6205DD86-315C-53B6-CEEF-A9919650168E}"/>
              </a:ext>
            </a:extLst>
          </p:cNvPr>
          <p:cNvCxnSpPr>
            <a:cxnSpLocks/>
            <a:stCxn id="68" idx="2"/>
            <a:endCxn id="60" idx="6"/>
          </p:cNvCxnSpPr>
          <p:nvPr/>
        </p:nvCxnSpPr>
        <p:spPr>
          <a:xfrm flipH="1" flipV="1">
            <a:off x="4015597" y="4096476"/>
            <a:ext cx="50912" cy="63837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3" name="Straight Connector 72">
            <a:extLst>
              <a:ext uri="{FF2B5EF4-FFF2-40B4-BE49-F238E27FC236}">
                <a16:creationId xmlns:a16="http://schemas.microsoft.com/office/drawing/2014/main" id="{6205DD86-315C-53B6-CEEF-A9919650168E}"/>
              </a:ext>
            </a:extLst>
          </p:cNvPr>
          <p:cNvCxnSpPr>
            <a:cxnSpLocks/>
            <a:stCxn id="64" idx="3"/>
            <a:endCxn id="60" idx="7"/>
          </p:cNvCxnSpPr>
          <p:nvPr/>
        </p:nvCxnSpPr>
        <p:spPr>
          <a:xfrm flipH="1" flipV="1">
            <a:off x="4066509" y="4075388"/>
            <a:ext cx="927386" cy="113380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4" name="Straight Connector 73">
            <a:extLst>
              <a:ext uri="{FF2B5EF4-FFF2-40B4-BE49-F238E27FC236}">
                <a16:creationId xmlns:a16="http://schemas.microsoft.com/office/drawing/2014/main" id="{6205DD86-315C-53B6-CEEF-A9919650168E}"/>
              </a:ext>
            </a:extLst>
          </p:cNvPr>
          <p:cNvCxnSpPr>
            <a:cxnSpLocks/>
            <a:stCxn id="60" idx="0"/>
            <a:endCxn id="62" idx="5"/>
          </p:cNvCxnSpPr>
          <p:nvPr/>
        </p:nvCxnSpPr>
        <p:spPr>
          <a:xfrm flipV="1">
            <a:off x="4087597" y="3931388"/>
            <a:ext cx="696545" cy="93088"/>
          </a:xfrm>
          <a:prstGeom prst="line">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cxnSp>
      <p:cxnSp>
        <p:nvCxnSpPr>
          <p:cNvPr id="75" name="Straight Connector 74">
            <a:extLst>
              <a:ext uri="{FF2B5EF4-FFF2-40B4-BE49-F238E27FC236}">
                <a16:creationId xmlns:a16="http://schemas.microsoft.com/office/drawing/2014/main" id="{6205DD86-315C-53B6-CEEF-A9919650168E}"/>
              </a:ext>
            </a:extLst>
          </p:cNvPr>
          <p:cNvCxnSpPr>
            <a:cxnSpLocks/>
            <a:stCxn id="68" idx="7"/>
            <a:endCxn id="64" idx="4"/>
          </p:cNvCxnSpPr>
          <p:nvPr/>
        </p:nvCxnSpPr>
        <p:spPr>
          <a:xfrm>
            <a:off x="4117421" y="4857766"/>
            <a:ext cx="855386" cy="40233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6" name="Freeform: Shape 34">
            <a:extLst>
              <a:ext uri="{FF2B5EF4-FFF2-40B4-BE49-F238E27FC236}">
                <a16:creationId xmlns:a16="http://schemas.microsoft.com/office/drawing/2014/main" id="{5A43D9D2-4CAA-3544-4E99-2BE62F8BF717}"/>
              </a:ext>
            </a:extLst>
          </p:cNvPr>
          <p:cNvSpPr/>
          <p:nvPr/>
        </p:nvSpPr>
        <p:spPr>
          <a:xfrm rot="21008222" flipV="1">
            <a:off x="3118967" y="5444745"/>
            <a:ext cx="1906824" cy="306139"/>
          </a:xfrm>
          <a:custGeom>
            <a:avLst/>
            <a:gdLst>
              <a:gd name="connsiteX0" fmla="*/ 0 w 2961249"/>
              <a:gd name="connsiteY0" fmla="*/ 436103 h 436103"/>
              <a:gd name="connsiteX1" fmla="*/ 942535 w 2961249"/>
              <a:gd name="connsiteY1" fmla="*/ 63310 h 436103"/>
              <a:gd name="connsiteX2" fmla="*/ 1892104 w 2961249"/>
              <a:gd name="connsiteY2" fmla="*/ 35174 h 436103"/>
              <a:gd name="connsiteX3" fmla="*/ 2961249 w 2961249"/>
              <a:gd name="connsiteY3" fmla="*/ 422036 h 436103"/>
              <a:gd name="connsiteX4" fmla="*/ 2961249 w 2961249"/>
              <a:gd name="connsiteY4" fmla="*/ 422036 h 436103"/>
              <a:gd name="connsiteX5" fmla="*/ 2961249 w 2961249"/>
              <a:gd name="connsiteY5" fmla="*/ 422036 h 436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61249" h="436103">
                <a:moveTo>
                  <a:pt x="0" y="436103"/>
                </a:moveTo>
                <a:cubicBezTo>
                  <a:pt x="313592" y="283117"/>
                  <a:pt x="627184" y="130131"/>
                  <a:pt x="942535" y="63310"/>
                </a:cubicBezTo>
                <a:cubicBezTo>
                  <a:pt x="1257886" y="-3512"/>
                  <a:pt x="1555652" y="-24614"/>
                  <a:pt x="1892104" y="35174"/>
                </a:cubicBezTo>
                <a:cubicBezTo>
                  <a:pt x="2228556" y="94962"/>
                  <a:pt x="2961249" y="422036"/>
                  <a:pt x="2961249" y="422036"/>
                </a:cubicBezTo>
                <a:lnTo>
                  <a:pt x="2961249" y="422036"/>
                </a:lnTo>
                <a:lnTo>
                  <a:pt x="2961249" y="422036"/>
                </a:lnTo>
              </a:path>
            </a:pathLst>
          </a:cu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7" name="Freeform: Shape 34">
            <a:extLst>
              <a:ext uri="{FF2B5EF4-FFF2-40B4-BE49-F238E27FC236}">
                <a16:creationId xmlns:a16="http://schemas.microsoft.com/office/drawing/2014/main" id="{5A43D9D2-4CAA-3544-4E99-2BE62F8BF717}"/>
              </a:ext>
            </a:extLst>
          </p:cNvPr>
          <p:cNvSpPr/>
          <p:nvPr/>
        </p:nvSpPr>
        <p:spPr>
          <a:xfrm rot="15608222" flipV="1">
            <a:off x="4526147" y="4339539"/>
            <a:ext cx="1302703" cy="393948"/>
          </a:xfrm>
          <a:custGeom>
            <a:avLst/>
            <a:gdLst>
              <a:gd name="connsiteX0" fmla="*/ 0 w 2961249"/>
              <a:gd name="connsiteY0" fmla="*/ 436103 h 436103"/>
              <a:gd name="connsiteX1" fmla="*/ 942535 w 2961249"/>
              <a:gd name="connsiteY1" fmla="*/ 63310 h 436103"/>
              <a:gd name="connsiteX2" fmla="*/ 1892104 w 2961249"/>
              <a:gd name="connsiteY2" fmla="*/ 35174 h 436103"/>
              <a:gd name="connsiteX3" fmla="*/ 2961249 w 2961249"/>
              <a:gd name="connsiteY3" fmla="*/ 422036 h 436103"/>
              <a:gd name="connsiteX4" fmla="*/ 2961249 w 2961249"/>
              <a:gd name="connsiteY4" fmla="*/ 422036 h 436103"/>
              <a:gd name="connsiteX5" fmla="*/ 2961249 w 2961249"/>
              <a:gd name="connsiteY5" fmla="*/ 422036 h 436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61249" h="436103">
                <a:moveTo>
                  <a:pt x="0" y="436103"/>
                </a:moveTo>
                <a:cubicBezTo>
                  <a:pt x="313592" y="283117"/>
                  <a:pt x="627184" y="130131"/>
                  <a:pt x="942535" y="63310"/>
                </a:cubicBezTo>
                <a:cubicBezTo>
                  <a:pt x="1257886" y="-3512"/>
                  <a:pt x="1555652" y="-24614"/>
                  <a:pt x="1892104" y="35174"/>
                </a:cubicBezTo>
                <a:cubicBezTo>
                  <a:pt x="2228556" y="94962"/>
                  <a:pt x="2961249" y="422036"/>
                  <a:pt x="2961249" y="422036"/>
                </a:cubicBezTo>
                <a:lnTo>
                  <a:pt x="2961249" y="422036"/>
                </a:lnTo>
                <a:lnTo>
                  <a:pt x="2961249" y="422036"/>
                </a:lnTo>
              </a:path>
            </a:pathLst>
          </a:cu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TextBox 77"/>
          <p:cNvSpPr txBox="1"/>
          <p:nvPr/>
        </p:nvSpPr>
        <p:spPr>
          <a:xfrm>
            <a:off x="3103600" y="4797149"/>
            <a:ext cx="356188"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a</a:t>
            </a:r>
          </a:p>
        </p:txBody>
      </p:sp>
      <p:sp>
        <p:nvSpPr>
          <p:cNvPr id="79" name="TextBox 78"/>
          <p:cNvSpPr txBox="1"/>
          <p:nvPr/>
        </p:nvSpPr>
        <p:spPr>
          <a:xfrm>
            <a:off x="3324283" y="3773254"/>
            <a:ext cx="357790"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h</a:t>
            </a:r>
          </a:p>
        </p:txBody>
      </p:sp>
      <p:sp>
        <p:nvSpPr>
          <p:cNvPr id="80" name="TextBox 79"/>
          <p:cNvSpPr txBox="1"/>
          <p:nvPr/>
        </p:nvSpPr>
        <p:spPr>
          <a:xfrm>
            <a:off x="3176596" y="4442876"/>
            <a:ext cx="360996"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b</a:t>
            </a:r>
          </a:p>
        </p:txBody>
      </p:sp>
      <p:sp>
        <p:nvSpPr>
          <p:cNvPr id="81" name="TextBox 80"/>
          <p:cNvSpPr txBox="1"/>
          <p:nvPr/>
        </p:nvSpPr>
        <p:spPr>
          <a:xfrm>
            <a:off x="4292237" y="4883369"/>
            <a:ext cx="352982"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e</a:t>
            </a:r>
          </a:p>
        </p:txBody>
      </p:sp>
      <p:sp>
        <p:nvSpPr>
          <p:cNvPr id="82" name="TextBox 81"/>
          <p:cNvSpPr txBox="1"/>
          <p:nvPr/>
        </p:nvSpPr>
        <p:spPr>
          <a:xfrm>
            <a:off x="3512928" y="4990890"/>
            <a:ext cx="349776" cy="523220"/>
          </a:xfrm>
          <a:prstGeom prst="rect">
            <a:avLst/>
          </a:prstGeom>
          <a:noFill/>
          <a:ln>
            <a:noFill/>
          </a:ln>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c</a:t>
            </a:r>
          </a:p>
        </p:txBody>
      </p:sp>
      <p:sp>
        <p:nvSpPr>
          <p:cNvPr id="83" name="TextBox 82"/>
          <p:cNvSpPr txBox="1"/>
          <p:nvPr/>
        </p:nvSpPr>
        <p:spPr>
          <a:xfrm>
            <a:off x="3984596" y="5316093"/>
            <a:ext cx="362600"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d</a:t>
            </a:r>
          </a:p>
        </p:txBody>
      </p:sp>
      <p:sp>
        <p:nvSpPr>
          <p:cNvPr id="84" name="TextBox 83"/>
          <p:cNvSpPr txBox="1"/>
          <p:nvPr/>
        </p:nvSpPr>
        <p:spPr>
          <a:xfrm>
            <a:off x="4246367" y="3487876"/>
            <a:ext cx="264816"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j</a:t>
            </a:r>
          </a:p>
        </p:txBody>
      </p:sp>
      <p:sp>
        <p:nvSpPr>
          <p:cNvPr id="85" name="TextBox 84"/>
          <p:cNvSpPr txBox="1"/>
          <p:nvPr/>
        </p:nvSpPr>
        <p:spPr>
          <a:xfrm>
            <a:off x="4861481" y="4143721"/>
            <a:ext cx="266420"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l</a:t>
            </a:r>
          </a:p>
        </p:txBody>
      </p:sp>
      <p:sp>
        <p:nvSpPr>
          <p:cNvPr id="86" name="TextBox 85"/>
          <p:cNvSpPr txBox="1"/>
          <p:nvPr/>
        </p:nvSpPr>
        <p:spPr>
          <a:xfrm>
            <a:off x="3940478" y="3268608"/>
            <a:ext cx="266420" cy="523220"/>
          </a:xfrm>
          <a:prstGeom prst="rect">
            <a:avLst/>
          </a:prstGeom>
          <a:noFill/>
        </p:spPr>
        <p:txBody>
          <a:bodyPr wrap="none" rtlCol="0">
            <a:spAutoFit/>
          </a:bodyPr>
          <a:lstStyle/>
          <a:p>
            <a:r>
              <a:rPr lang="en-US" sz="2800" dirty="0" err="1">
                <a:solidFill>
                  <a:srgbClr val="C00000"/>
                </a:solidFill>
                <a:latin typeface="Roboto Condensed" panose="02000000000000000000" pitchFamily="2" charset="0"/>
                <a:ea typeface="Roboto Condensed" panose="02000000000000000000" pitchFamily="2" charset="0"/>
              </a:rPr>
              <a:t>i</a:t>
            </a:r>
            <a:endParaRPr lang="en-US" sz="2800" dirty="0">
              <a:solidFill>
                <a:srgbClr val="C00000"/>
              </a:solidFill>
              <a:latin typeface="Roboto Condensed" panose="02000000000000000000" pitchFamily="2" charset="0"/>
              <a:ea typeface="Roboto Condensed" panose="02000000000000000000" pitchFamily="2" charset="0"/>
            </a:endParaRPr>
          </a:p>
        </p:txBody>
      </p:sp>
      <p:sp>
        <p:nvSpPr>
          <p:cNvPr id="87" name="TextBox 86"/>
          <p:cNvSpPr txBox="1"/>
          <p:nvPr/>
        </p:nvSpPr>
        <p:spPr>
          <a:xfrm>
            <a:off x="4560235" y="3205748"/>
            <a:ext cx="346570"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k</a:t>
            </a:r>
          </a:p>
        </p:txBody>
      </p:sp>
      <p:sp>
        <p:nvSpPr>
          <p:cNvPr id="88" name="TextBox 87"/>
          <p:cNvSpPr txBox="1"/>
          <p:nvPr/>
        </p:nvSpPr>
        <p:spPr>
          <a:xfrm>
            <a:off x="5306866" y="4154055"/>
            <a:ext cx="455574"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m</a:t>
            </a:r>
          </a:p>
        </p:txBody>
      </p:sp>
      <p:sp>
        <p:nvSpPr>
          <p:cNvPr id="89" name="TextBox 88"/>
          <p:cNvSpPr txBox="1"/>
          <p:nvPr/>
        </p:nvSpPr>
        <p:spPr>
          <a:xfrm>
            <a:off x="3790350" y="4198300"/>
            <a:ext cx="298480"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f</a:t>
            </a:r>
          </a:p>
        </p:txBody>
      </p:sp>
      <p:sp>
        <p:nvSpPr>
          <p:cNvPr id="90" name="TextBox 89"/>
          <p:cNvSpPr txBox="1"/>
          <p:nvPr/>
        </p:nvSpPr>
        <p:spPr>
          <a:xfrm>
            <a:off x="4379737" y="4112920"/>
            <a:ext cx="360996" cy="523220"/>
          </a:xfrm>
          <a:prstGeom prst="rect">
            <a:avLst/>
          </a:prstGeom>
          <a:noFill/>
        </p:spPr>
        <p:txBody>
          <a:bodyPr wrap="none" rtlCol="0">
            <a:spAutoFit/>
          </a:bodyPr>
          <a:lstStyle/>
          <a:p>
            <a:r>
              <a:rPr lang="en-US" sz="2800" dirty="0">
                <a:solidFill>
                  <a:srgbClr val="C00000"/>
                </a:solidFill>
                <a:latin typeface="Roboto Condensed" panose="02000000000000000000" pitchFamily="2" charset="0"/>
                <a:ea typeface="Roboto Condensed" panose="02000000000000000000" pitchFamily="2" charset="0"/>
              </a:rPr>
              <a:t>g</a:t>
            </a:r>
          </a:p>
        </p:txBody>
      </p:sp>
      <mc:AlternateContent xmlns:mc="http://schemas.openxmlformats.org/markup-compatibility/2006" xmlns:a14="http://schemas.microsoft.com/office/drawing/2010/main">
        <mc:Choice Requires="a14">
          <p:sp>
            <p:nvSpPr>
              <p:cNvPr id="6" name="TextBox 5"/>
              <p:cNvSpPr txBox="1"/>
              <p:nvPr/>
            </p:nvSpPr>
            <p:spPr>
              <a:xfrm>
                <a:off x="6267426" y="5661056"/>
                <a:ext cx="3108543" cy="954107"/>
              </a:xfrm>
              <a:prstGeom prst="rect">
                <a:avLst/>
              </a:prstGeom>
              <a:noFill/>
            </p:spPr>
            <p:txBody>
              <a:bodyPr wrap="none" rtlCol="0">
                <a:spAutoFit/>
              </a:bodyPr>
              <a:lstStyle/>
              <a:p>
                <a:r>
                  <a:rPr lang="en-US" sz="2800" dirty="0">
                    <a:solidFill>
                      <a:srgbClr val="002060"/>
                    </a:solidFill>
                  </a:rPr>
                  <a:t>Fundamental Circuit</a:t>
                </a:r>
                <a14:m>
                  <m:oMath xmlns:m="http://schemas.openxmlformats.org/officeDocument/2006/math">
                    <m:r>
                      <a:rPr lang="en-US" sz="2800" dirty="0">
                        <a:solidFill>
                          <a:srgbClr val="002060"/>
                        </a:solidFill>
                        <a:latin typeface="Cambria Math" panose="02040503050406030204" pitchFamily="18" charset="0"/>
                      </a:rPr>
                      <m:t> </m:t>
                    </m:r>
                  </m:oMath>
                </a14:m>
                <a:endParaRPr lang="en-US" sz="2800" dirty="0">
                  <a:solidFill>
                    <a:srgbClr val="002060"/>
                  </a:solidFill>
                </a:endParaRPr>
              </a:p>
              <a:p>
                <a:pPr/>
                <a14:m>
                  <m:oMathPara xmlns:m="http://schemas.openxmlformats.org/officeDocument/2006/math">
                    <m:oMathParaPr>
                      <m:jc m:val="centerGroup"/>
                    </m:oMathParaPr>
                    <m:oMath xmlns:m="http://schemas.openxmlformats.org/officeDocument/2006/math">
                      <m:d>
                        <m:dPr>
                          <m:begChr m:val="{"/>
                          <m:endChr m:val="}"/>
                          <m:ctrlPr>
                            <a:rPr lang="en-US" sz="2800" i="1" dirty="0">
                              <a:solidFill>
                                <a:srgbClr val="002060"/>
                              </a:solidFill>
                              <a:latin typeface="Cambria Math" panose="02040503050406030204" pitchFamily="18" charset="0"/>
                            </a:rPr>
                          </m:ctrlPr>
                        </m:dPr>
                        <m:e>
                          <m:r>
                            <m:rPr>
                              <m:sty m:val="p"/>
                            </m:rPr>
                            <a:rPr lang="en-US" sz="2800" b="0" i="0" dirty="0" smtClean="0">
                              <a:solidFill>
                                <a:srgbClr val="002060"/>
                              </a:solidFill>
                              <a:latin typeface="Cambria Math" panose="02040503050406030204" pitchFamily="18" charset="0"/>
                            </a:rPr>
                            <m:t>l</m:t>
                          </m:r>
                          <m:r>
                            <a:rPr lang="en-US" sz="2800" b="0" i="0" dirty="0" smtClean="0">
                              <a:solidFill>
                                <a:srgbClr val="002060"/>
                              </a:solidFill>
                              <a:latin typeface="Cambria Math" panose="02040503050406030204" pitchFamily="18" charset="0"/>
                            </a:rPr>
                            <m:t>, </m:t>
                          </m:r>
                          <m:r>
                            <m:rPr>
                              <m:sty m:val="p"/>
                            </m:rPr>
                            <a:rPr lang="en-US" sz="2800" b="0" i="0" dirty="0" smtClean="0">
                              <a:solidFill>
                                <a:srgbClr val="002060"/>
                              </a:solidFill>
                              <a:latin typeface="Cambria Math" panose="02040503050406030204" pitchFamily="18" charset="0"/>
                            </a:rPr>
                            <m:t>j</m:t>
                          </m:r>
                          <m:r>
                            <a:rPr lang="en-US" sz="2800" b="0" i="0" dirty="0" smtClean="0">
                              <a:solidFill>
                                <a:srgbClr val="002060"/>
                              </a:solidFill>
                              <a:latin typeface="Cambria Math" panose="02040503050406030204" pitchFamily="18" charset="0"/>
                            </a:rPr>
                            <m:t>, </m:t>
                          </m:r>
                          <m:r>
                            <m:rPr>
                              <m:sty m:val="p"/>
                            </m:rPr>
                            <a:rPr lang="en-US" sz="2800" b="0" i="0" dirty="0" smtClean="0">
                              <a:solidFill>
                                <a:srgbClr val="002060"/>
                              </a:solidFill>
                              <a:latin typeface="Cambria Math" panose="02040503050406030204" pitchFamily="18" charset="0"/>
                            </a:rPr>
                            <m:t>h</m:t>
                          </m:r>
                          <m:r>
                            <a:rPr lang="en-US" sz="2800" b="0" i="0" dirty="0" smtClean="0">
                              <a:solidFill>
                                <a:srgbClr val="002060"/>
                              </a:solidFill>
                              <a:latin typeface="Cambria Math" panose="02040503050406030204" pitchFamily="18" charset="0"/>
                            </a:rPr>
                            <m:t>, </m:t>
                          </m:r>
                          <m:r>
                            <m:rPr>
                              <m:sty m:val="p"/>
                            </m:rPr>
                            <a:rPr lang="en-US" sz="2800" b="0" i="0" dirty="0" smtClean="0">
                              <a:solidFill>
                                <a:srgbClr val="002060"/>
                              </a:solidFill>
                              <a:latin typeface="Cambria Math" panose="02040503050406030204" pitchFamily="18" charset="0"/>
                            </a:rPr>
                            <m:t>b</m:t>
                          </m:r>
                          <m:r>
                            <a:rPr lang="en-US" sz="2800" b="0" i="0" dirty="0" smtClean="0">
                              <a:solidFill>
                                <a:srgbClr val="002060"/>
                              </a:solidFill>
                              <a:latin typeface="Cambria Math" panose="02040503050406030204" pitchFamily="18" charset="0"/>
                            </a:rPr>
                            <m:t>, </m:t>
                          </m:r>
                          <m:r>
                            <m:rPr>
                              <m:sty m:val="p"/>
                            </m:rPr>
                            <a:rPr lang="en-US" sz="2800" b="0" i="0" dirty="0" smtClean="0">
                              <a:solidFill>
                                <a:srgbClr val="002060"/>
                              </a:solidFill>
                              <a:latin typeface="Cambria Math" panose="02040503050406030204" pitchFamily="18" charset="0"/>
                            </a:rPr>
                            <m:t>c</m:t>
                          </m:r>
                          <m:r>
                            <a:rPr lang="en-US" sz="2800" b="0" i="0" dirty="0" smtClean="0">
                              <a:solidFill>
                                <a:srgbClr val="002060"/>
                              </a:solidFill>
                              <a:latin typeface="Cambria Math" panose="02040503050406030204" pitchFamily="18" charset="0"/>
                            </a:rPr>
                            <m:t>, </m:t>
                          </m:r>
                          <m:r>
                            <m:rPr>
                              <m:sty m:val="p"/>
                            </m:rPr>
                            <a:rPr lang="en-US" sz="2800" b="0" i="0" dirty="0" smtClean="0">
                              <a:solidFill>
                                <a:srgbClr val="002060"/>
                              </a:solidFill>
                              <a:latin typeface="Cambria Math" panose="02040503050406030204" pitchFamily="18" charset="0"/>
                            </a:rPr>
                            <m:t>d</m:t>
                          </m:r>
                        </m:e>
                      </m:d>
                    </m:oMath>
                  </m:oMathPara>
                </a14:m>
                <a:endParaRPr lang="en-US" sz="2800" dirty="0">
                  <a:solidFill>
                    <a:srgbClr val="002060"/>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6267426" y="5661056"/>
                <a:ext cx="3108543" cy="954107"/>
              </a:xfrm>
              <a:prstGeom prst="rect">
                <a:avLst/>
              </a:prstGeom>
              <a:blipFill rotWithShape="0">
                <a:blip r:embed="rId3"/>
                <a:stretch>
                  <a:fillRect l="-3922" t="-7051" r="-588"/>
                </a:stretch>
              </a:blipFill>
            </p:spPr>
            <p:txBody>
              <a:bodyPr/>
              <a:lstStyle/>
              <a:p>
                <a:r>
                  <a:rPr lang="en-US">
                    <a:noFill/>
                  </a:rPr>
                  <a:t> </a:t>
                </a:r>
              </a:p>
            </p:txBody>
          </p:sp>
        </mc:Fallback>
      </mc:AlternateContent>
    </p:spTree>
    <p:extLst>
      <p:ext uri="{BB962C8B-B14F-4D97-AF65-F5344CB8AC3E}">
        <p14:creationId xmlns:p14="http://schemas.microsoft.com/office/powerpoint/2010/main" val="21759080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fade">
                                      <p:cBhvr>
                                        <p:cTn id="10" dur="500"/>
                                        <p:tgtEl>
                                          <p:spTgt spid="38"/>
                                        </p:tgtEl>
                                      </p:cBhvr>
                                    </p:animEffect>
                                  </p:childTnLst>
                                </p:cTn>
                              </p:par>
                              <p:par>
                                <p:cTn id="11" presetID="10" presetClass="entr" presetSubtype="0" fill="hold"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500"/>
                                        <p:tgtEl>
                                          <p:spTgt spid="39"/>
                                        </p:tgtEl>
                                      </p:cBhvr>
                                    </p:animEffect>
                                  </p:childTnLst>
                                </p:cTn>
                              </p:par>
                              <p:par>
                                <p:cTn id="14" presetID="10" presetClass="entr" presetSubtype="0" fill="hold" nodeType="withEffect">
                                  <p:stCondLst>
                                    <p:cond delay="0"/>
                                  </p:stCondLst>
                                  <p:childTnLst>
                                    <p:set>
                                      <p:cBhvr>
                                        <p:cTn id="15" dur="1" fill="hold">
                                          <p:stCondLst>
                                            <p:cond delay="0"/>
                                          </p:stCondLst>
                                        </p:cTn>
                                        <p:tgtEl>
                                          <p:spTgt spid="40"/>
                                        </p:tgtEl>
                                        <p:attrNameLst>
                                          <p:attrName>style.visibility</p:attrName>
                                        </p:attrNameLst>
                                      </p:cBhvr>
                                      <p:to>
                                        <p:strVal val="visible"/>
                                      </p:to>
                                    </p:set>
                                    <p:animEffect transition="in" filter="fade">
                                      <p:cBhvr>
                                        <p:cTn id="16" dur="500"/>
                                        <p:tgtEl>
                                          <p:spTgt spid="40"/>
                                        </p:tgtEl>
                                      </p:cBhvr>
                                    </p:animEffect>
                                  </p:childTnLst>
                                </p:cTn>
                              </p:par>
                              <p:par>
                                <p:cTn id="17" presetID="10" presetClass="entr" presetSubtype="0" fill="hold" nodeType="with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fade">
                                      <p:cBhvr>
                                        <p:cTn id="19" dur="500"/>
                                        <p:tgtEl>
                                          <p:spTgt spid="42"/>
                                        </p:tgtEl>
                                      </p:cBhvr>
                                    </p:animEffect>
                                  </p:childTnLst>
                                </p:cTn>
                              </p:par>
                              <p:par>
                                <p:cTn id="20" presetID="10" presetClass="entr" presetSubtype="0" fill="hold" grpId="1" nodeType="withEffect">
                                  <p:stCondLst>
                                    <p:cond delay="0"/>
                                  </p:stCondLst>
                                  <p:childTnLst>
                                    <p:set>
                                      <p:cBhvr>
                                        <p:cTn id="21" dur="1" fill="hold">
                                          <p:stCondLst>
                                            <p:cond delay="0"/>
                                          </p:stCondLst>
                                        </p:cTn>
                                        <p:tgtEl>
                                          <p:spTgt spid="45"/>
                                        </p:tgtEl>
                                        <p:attrNameLst>
                                          <p:attrName>style.visibility</p:attrName>
                                        </p:attrNameLst>
                                      </p:cBhvr>
                                      <p:to>
                                        <p:strVal val="visible"/>
                                      </p:to>
                                    </p:set>
                                    <p:animEffect transition="in" filter="fade">
                                      <p:cBhvr>
                                        <p:cTn id="22" dur="500"/>
                                        <p:tgtEl>
                                          <p:spTgt spid="45"/>
                                        </p:tgtEl>
                                      </p:cBhvr>
                                    </p:animEffect>
                                  </p:childTnLst>
                                </p:cTn>
                              </p:par>
                              <p:par>
                                <p:cTn id="23" presetID="10" presetClass="entr" presetSubtype="0" fill="hold" grpId="1" nodeType="withEffect">
                                  <p:stCondLst>
                                    <p:cond delay="0"/>
                                  </p:stCondLst>
                                  <p:childTnLst>
                                    <p:set>
                                      <p:cBhvr>
                                        <p:cTn id="24" dur="1" fill="hold">
                                          <p:stCondLst>
                                            <p:cond delay="0"/>
                                          </p:stCondLst>
                                        </p:cTn>
                                        <p:tgtEl>
                                          <p:spTgt spid="56"/>
                                        </p:tgtEl>
                                        <p:attrNameLst>
                                          <p:attrName>style.visibility</p:attrName>
                                        </p:attrNameLst>
                                      </p:cBhvr>
                                      <p:to>
                                        <p:strVal val="visible"/>
                                      </p:to>
                                    </p:set>
                                    <p:animEffect transition="in" filter="fade">
                                      <p:cBhvr>
                                        <p:cTn id="25" dur="500"/>
                                        <p:tgtEl>
                                          <p:spTgt spid="56"/>
                                        </p:tgtEl>
                                      </p:cBhvr>
                                    </p:animEffect>
                                  </p:childTnLst>
                                </p:cTn>
                              </p:par>
                              <p:par>
                                <p:cTn id="26" presetID="10" presetClass="entr" presetSubtype="0" fill="hold" grpId="1" nodeType="withEffect">
                                  <p:stCondLst>
                                    <p:cond delay="0"/>
                                  </p:stCondLst>
                                  <p:childTnLst>
                                    <p:set>
                                      <p:cBhvr>
                                        <p:cTn id="27" dur="1" fill="hold">
                                          <p:stCondLst>
                                            <p:cond delay="0"/>
                                          </p:stCondLst>
                                        </p:cTn>
                                        <p:tgtEl>
                                          <p:spTgt spid="57"/>
                                        </p:tgtEl>
                                        <p:attrNameLst>
                                          <p:attrName>style.visibility</p:attrName>
                                        </p:attrNameLst>
                                      </p:cBhvr>
                                      <p:to>
                                        <p:strVal val="visible"/>
                                      </p:to>
                                    </p:set>
                                    <p:animEffect transition="in" filter="fade">
                                      <p:cBhvr>
                                        <p:cTn id="28" dur="500"/>
                                        <p:tgtEl>
                                          <p:spTgt spid="57"/>
                                        </p:tgtEl>
                                      </p:cBhvr>
                                    </p:animEffect>
                                  </p:childTnLst>
                                </p:cTn>
                              </p:par>
                              <p:par>
                                <p:cTn id="29" presetID="10" presetClass="entr" presetSubtype="0" fill="hold" grpId="1" nodeType="withEffect">
                                  <p:stCondLst>
                                    <p:cond delay="0"/>
                                  </p:stCondLst>
                                  <p:childTnLst>
                                    <p:set>
                                      <p:cBhvr>
                                        <p:cTn id="30" dur="1" fill="hold">
                                          <p:stCondLst>
                                            <p:cond delay="0"/>
                                          </p:stCondLst>
                                        </p:cTn>
                                        <p:tgtEl>
                                          <p:spTgt spid="48"/>
                                        </p:tgtEl>
                                        <p:attrNameLst>
                                          <p:attrName>style.visibility</p:attrName>
                                        </p:attrNameLst>
                                      </p:cBhvr>
                                      <p:to>
                                        <p:strVal val="visible"/>
                                      </p:to>
                                    </p:set>
                                    <p:animEffect transition="in" filter="fade">
                                      <p:cBhvr>
                                        <p:cTn id="31" dur="500"/>
                                        <p:tgtEl>
                                          <p:spTgt spid="48"/>
                                        </p:tgtEl>
                                      </p:cBhvr>
                                    </p:animEffect>
                                  </p:childTnLst>
                                </p:cTn>
                              </p:par>
                              <p:par>
                                <p:cTn id="32" presetID="10" presetClass="entr" presetSubtype="0" fill="hold" grpId="1" nodeType="withEffect">
                                  <p:stCondLst>
                                    <p:cond delay="0"/>
                                  </p:stCondLst>
                                  <p:childTnLst>
                                    <p:set>
                                      <p:cBhvr>
                                        <p:cTn id="33" dur="1" fill="hold">
                                          <p:stCondLst>
                                            <p:cond delay="0"/>
                                          </p:stCondLst>
                                        </p:cTn>
                                        <p:tgtEl>
                                          <p:spTgt spid="43"/>
                                        </p:tgtEl>
                                        <p:attrNameLst>
                                          <p:attrName>style.visibility</p:attrName>
                                        </p:attrNameLst>
                                      </p:cBhvr>
                                      <p:to>
                                        <p:strVal val="visible"/>
                                      </p:to>
                                    </p:set>
                                    <p:animEffect transition="in" filter="fade">
                                      <p:cBhvr>
                                        <p:cTn id="34" dur="500"/>
                                        <p:tgtEl>
                                          <p:spTgt spid="43"/>
                                        </p:tgtEl>
                                      </p:cBhvr>
                                    </p:animEffect>
                                  </p:childTnLst>
                                </p:cTn>
                              </p:par>
                              <p:par>
                                <p:cTn id="35" presetID="10" presetClass="entr" presetSubtype="0" fill="hold" grpId="1" nodeType="withEffect">
                                  <p:stCondLst>
                                    <p:cond delay="0"/>
                                  </p:stCondLst>
                                  <p:childTnLst>
                                    <p:set>
                                      <p:cBhvr>
                                        <p:cTn id="36" dur="1" fill="hold">
                                          <p:stCondLst>
                                            <p:cond delay="0"/>
                                          </p:stCondLst>
                                        </p:cTn>
                                        <p:tgtEl>
                                          <p:spTgt spid="50"/>
                                        </p:tgtEl>
                                        <p:attrNameLst>
                                          <p:attrName>style.visibility</p:attrName>
                                        </p:attrNameLst>
                                      </p:cBhvr>
                                      <p:to>
                                        <p:strVal val="visible"/>
                                      </p:to>
                                    </p:set>
                                    <p:animEffect transition="in" filter="fade">
                                      <p:cBhvr>
                                        <p:cTn id="37" dur="500"/>
                                        <p:tgtEl>
                                          <p:spTgt spid="50"/>
                                        </p:tgtEl>
                                      </p:cBhvr>
                                    </p:animEffect>
                                  </p:childTnLst>
                                </p:cTn>
                              </p:par>
                              <p:par>
                                <p:cTn id="38" presetID="10" presetClass="entr" presetSubtype="0" fill="hold" grpId="1" nodeType="withEffect">
                                  <p:stCondLst>
                                    <p:cond delay="0"/>
                                  </p:stCondLst>
                                  <p:childTnLst>
                                    <p:set>
                                      <p:cBhvr>
                                        <p:cTn id="39" dur="1" fill="hold">
                                          <p:stCondLst>
                                            <p:cond delay="0"/>
                                          </p:stCondLst>
                                        </p:cTn>
                                        <p:tgtEl>
                                          <p:spTgt spid="44"/>
                                        </p:tgtEl>
                                        <p:attrNameLst>
                                          <p:attrName>style.visibility</p:attrName>
                                        </p:attrNameLst>
                                      </p:cBhvr>
                                      <p:to>
                                        <p:strVal val="visible"/>
                                      </p:to>
                                    </p:set>
                                    <p:animEffect transition="in" filter="fade">
                                      <p:cBhvr>
                                        <p:cTn id="40" dur="500"/>
                                        <p:tgtEl>
                                          <p:spTgt spid="44"/>
                                        </p:tgtEl>
                                      </p:cBhvr>
                                    </p:animEffect>
                                  </p:childTnLst>
                                </p:cTn>
                              </p:par>
                              <p:par>
                                <p:cTn id="41" presetID="10" presetClass="entr" presetSubtype="0" fill="hold" grpId="1" nodeType="withEffect">
                                  <p:stCondLst>
                                    <p:cond delay="0"/>
                                  </p:stCondLst>
                                  <p:childTnLst>
                                    <p:set>
                                      <p:cBhvr>
                                        <p:cTn id="42" dur="1" fill="hold">
                                          <p:stCondLst>
                                            <p:cond delay="0"/>
                                          </p:stCondLst>
                                        </p:cTn>
                                        <p:tgtEl>
                                          <p:spTgt spid="55"/>
                                        </p:tgtEl>
                                        <p:attrNameLst>
                                          <p:attrName>style.visibility</p:attrName>
                                        </p:attrNameLst>
                                      </p:cBhvr>
                                      <p:to>
                                        <p:strVal val="visible"/>
                                      </p:to>
                                    </p:set>
                                    <p:animEffect transition="in" filter="fade">
                                      <p:cBhvr>
                                        <p:cTn id="43" dur="500"/>
                                        <p:tgtEl>
                                          <p:spTgt spid="55"/>
                                        </p:tgtEl>
                                      </p:cBhvr>
                                    </p:animEffect>
                                  </p:childTnLst>
                                </p:cTn>
                              </p:par>
                              <p:par>
                                <p:cTn id="44" presetID="10" presetClass="entr" presetSubtype="0" fill="hold" grpId="1" nodeType="withEffect">
                                  <p:stCondLst>
                                    <p:cond delay="0"/>
                                  </p:stCondLst>
                                  <p:childTnLst>
                                    <p:set>
                                      <p:cBhvr>
                                        <p:cTn id="45" dur="1" fill="hold">
                                          <p:stCondLst>
                                            <p:cond delay="0"/>
                                          </p:stCondLst>
                                        </p:cTn>
                                        <p:tgtEl>
                                          <p:spTgt spid="54"/>
                                        </p:tgtEl>
                                        <p:attrNameLst>
                                          <p:attrName>style.visibility</p:attrName>
                                        </p:attrNameLst>
                                      </p:cBhvr>
                                      <p:to>
                                        <p:strVal val="visible"/>
                                      </p:to>
                                    </p:set>
                                    <p:animEffect transition="in" filter="fade">
                                      <p:cBhvr>
                                        <p:cTn id="46" dur="500"/>
                                        <p:tgtEl>
                                          <p:spTgt spid="5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500"/>
                                        <p:tgtEl>
                                          <p:spTgt spid="25"/>
                                        </p:tgtEl>
                                      </p:cBhvr>
                                    </p:animEffect>
                                  </p:childTnLst>
                                </p:cTn>
                              </p:par>
                              <p:par>
                                <p:cTn id="50" presetID="10" presetClass="entr" presetSubtype="0" fill="hold" nodeType="with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500"/>
                                        <p:tgtEl>
                                          <p:spTgt spid="2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500"/>
                                        <p:tgtEl>
                                          <p:spTgt spid="27"/>
                                        </p:tgtEl>
                                      </p:cBhvr>
                                    </p:animEffect>
                                  </p:childTnLst>
                                </p:cTn>
                              </p:par>
                              <p:par>
                                <p:cTn id="56" presetID="10" presetClass="entr" presetSubtype="0" fill="hold" nodeType="with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500"/>
                                        <p:tgtEl>
                                          <p:spTgt spid="2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fade">
                                      <p:cBhvr>
                                        <p:cTn id="61" dur="500"/>
                                        <p:tgtEl>
                                          <p:spTgt spid="29"/>
                                        </p:tgtEl>
                                      </p:cBhvr>
                                    </p:animEffect>
                                  </p:childTnLst>
                                </p:cTn>
                              </p:par>
                              <p:par>
                                <p:cTn id="62" presetID="10" presetClass="entr" presetSubtype="0" fill="hold" nodeType="withEffect">
                                  <p:stCondLst>
                                    <p:cond delay="0"/>
                                  </p:stCondLst>
                                  <p:childTnLst>
                                    <p:set>
                                      <p:cBhvr>
                                        <p:cTn id="63" dur="1" fill="hold">
                                          <p:stCondLst>
                                            <p:cond delay="0"/>
                                          </p:stCondLst>
                                        </p:cTn>
                                        <p:tgtEl>
                                          <p:spTgt spid="30"/>
                                        </p:tgtEl>
                                        <p:attrNameLst>
                                          <p:attrName>style.visibility</p:attrName>
                                        </p:attrNameLst>
                                      </p:cBhvr>
                                      <p:to>
                                        <p:strVal val="visible"/>
                                      </p:to>
                                    </p:set>
                                    <p:animEffect transition="in" filter="fade">
                                      <p:cBhvr>
                                        <p:cTn id="64" dur="500"/>
                                        <p:tgtEl>
                                          <p:spTgt spid="30"/>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31"/>
                                        </p:tgtEl>
                                        <p:attrNameLst>
                                          <p:attrName>style.visibility</p:attrName>
                                        </p:attrNameLst>
                                      </p:cBhvr>
                                      <p:to>
                                        <p:strVal val="visible"/>
                                      </p:to>
                                    </p:set>
                                    <p:animEffect transition="in" filter="fade">
                                      <p:cBhvr>
                                        <p:cTn id="67" dur="500"/>
                                        <p:tgtEl>
                                          <p:spTgt spid="31"/>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2"/>
                                        </p:tgtEl>
                                        <p:attrNameLst>
                                          <p:attrName>style.visibility</p:attrName>
                                        </p:attrNameLst>
                                      </p:cBhvr>
                                      <p:to>
                                        <p:strVal val="visible"/>
                                      </p:to>
                                    </p:set>
                                    <p:animEffect transition="in" filter="fade">
                                      <p:cBhvr>
                                        <p:cTn id="70" dur="500"/>
                                        <p:tgtEl>
                                          <p:spTgt spid="32"/>
                                        </p:tgtEl>
                                      </p:cBhvr>
                                    </p:animEffect>
                                  </p:childTnLst>
                                </p:cTn>
                              </p:par>
                              <p:par>
                                <p:cTn id="71" presetID="10" presetClass="entr" presetSubtype="0" fill="hold" nodeType="withEffect">
                                  <p:stCondLst>
                                    <p:cond delay="0"/>
                                  </p:stCondLst>
                                  <p:childTnLst>
                                    <p:set>
                                      <p:cBhvr>
                                        <p:cTn id="72" dur="1" fill="hold">
                                          <p:stCondLst>
                                            <p:cond delay="0"/>
                                          </p:stCondLst>
                                        </p:cTn>
                                        <p:tgtEl>
                                          <p:spTgt spid="34"/>
                                        </p:tgtEl>
                                        <p:attrNameLst>
                                          <p:attrName>style.visibility</p:attrName>
                                        </p:attrNameLst>
                                      </p:cBhvr>
                                      <p:to>
                                        <p:strVal val="visible"/>
                                      </p:to>
                                    </p:set>
                                    <p:animEffect transition="in" filter="fade">
                                      <p:cBhvr>
                                        <p:cTn id="73" dur="500"/>
                                        <p:tgtEl>
                                          <p:spTgt spid="34"/>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5"/>
                                        </p:tgtEl>
                                        <p:attrNameLst>
                                          <p:attrName>style.visibility</p:attrName>
                                        </p:attrNameLst>
                                      </p:cBhvr>
                                      <p:to>
                                        <p:strVal val="visible"/>
                                      </p:to>
                                    </p:set>
                                    <p:animEffect transition="in" filter="fade">
                                      <p:cBhvr>
                                        <p:cTn id="76" dur="500"/>
                                        <p:tgtEl>
                                          <p:spTgt spid="35"/>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6"/>
                                        </p:tgtEl>
                                        <p:attrNameLst>
                                          <p:attrName>style.visibility</p:attrName>
                                        </p:attrNameLst>
                                      </p:cBhvr>
                                      <p:to>
                                        <p:strVal val="visible"/>
                                      </p:to>
                                    </p:set>
                                    <p:animEffect transition="in" filter="fade">
                                      <p:cBhvr>
                                        <p:cTn id="79" dur="500"/>
                                        <p:tgtEl>
                                          <p:spTgt spid="36"/>
                                        </p:tgtEl>
                                      </p:cBhvr>
                                    </p:animEffect>
                                  </p:childTnLst>
                                </p:cTn>
                              </p:par>
                              <p:par>
                                <p:cTn id="80" presetID="10" presetClass="entr" presetSubtype="0" fill="hold" nodeType="withEffect">
                                  <p:stCondLst>
                                    <p:cond delay="0"/>
                                  </p:stCondLst>
                                  <p:childTnLst>
                                    <p:set>
                                      <p:cBhvr>
                                        <p:cTn id="81" dur="1" fill="hold">
                                          <p:stCondLst>
                                            <p:cond delay="0"/>
                                          </p:stCondLst>
                                        </p:cTn>
                                        <p:tgtEl>
                                          <p:spTgt spid="37"/>
                                        </p:tgtEl>
                                        <p:attrNameLst>
                                          <p:attrName>style.visibility</p:attrName>
                                        </p:attrNameLst>
                                      </p:cBhvr>
                                      <p:to>
                                        <p:strVal val="visible"/>
                                      </p:to>
                                    </p:set>
                                    <p:animEffect transition="in" filter="fade">
                                      <p:cBhvr>
                                        <p:cTn id="82" dur="500"/>
                                        <p:tgtEl>
                                          <p:spTgt spid="37"/>
                                        </p:tgtEl>
                                      </p:cBhvr>
                                    </p:animEffect>
                                  </p:childTnLst>
                                </p:cTn>
                              </p:par>
                              <p:par>
                                <p:cTn id="83" presetID="10" presetClass="entr" presetSubtype="0" fill="hold" nodeType="withEffect">
                                  <p:stCondLst>
                                    <p:cond delay="0"/>
                                  </p:stCondLst>
                                  <p:childTnLst>
                                    <p:set>
                                      <p:cBhvr>
                                        <p:cTn id="84" dur="1" fill="hold">
                                          <p:stCondLst>
                                            <p:cond delay="0"/>
                                          </p:stCondLst>
                                        </p:cTn>
                                        <p:tgtEl>
                                          <p:spTgt spid="41"/>
                                        </p:tgtEl>
                                        <p:attrNameLst>
                                          <p:attrName>style.visibility</p:attrName>
                                        </p:attrNameLst>
                                      </p:cBhvr>
                                      <p:to>
                                        <p:strVal val="visible"/>
                                      </p:to>
                                    </p:set>
                                    <p:animEffect transition="in" filter="fade">
                                      <p:cBhvr>
                                        <p:cTn id="85" dur="500"/>
                                        <p:tgtEl>
                                          <p:spTgt spid="41"/>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46"/>
                                        </p:tgtEl>
                                        <p:attrNameLst>
                                          <p:attrName>style.visibility</p:attrName>
                                        </p:attrNameLst>
                                      </p:cBhvr>
                                      <p:to>
                                        <p:strVal val="visible"/>
                                      </p:to>
                                    </p:set>
                                    <p:animEffect transition="in" filter="fade">
                                      <p:cBhvr>
                                        <p:cTn id="88" dur="500"/>
                                        <p:tgtEl>
                                          <p:spTgt spid="46"/>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47"/>
                                        </p:tgtEl>
                                        <p:attrNameLst>
                                          <p:attrName>style.visibility</p:attrName>
                                        </p:attrNameLst>
                                      </p:cBhvr>
                                      <p:to>
                                        <p:strVal val="visible"/>
                                      </p:to>
                                    </p:set>
                                    <p:animEffect transition="in" filter="fade">
                                      <p:cBhvr>
                                        <p:cTn id="91" dur="500"/>
                                        <p:tgtEl>
                                          <p:spTgt spid="47"/>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9"/>
                                        </p:tgtEl>
                                        <p:attrNameLst>
                                          <p:attrName>style.visibility</p:attrName>
                                        </p:attrNameLst>
                                      </p:cBhvr>
                                      <p:to>
                                        <p:strVal val="visible"/>
                                      </p:to>
                                    </p:set>
                                    <p:animEffect transition="in" filter="fade">
                                      <p:cBhvr>
                                        <p:cTn id="94" dur="500"/>
                                        <p:tgtEl>
                                          <p:spTgt spid="49"/>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51"/>
                                        </p:tgtEl>
                                        <p:attrNameLst>
                                          <p:attrName>style.visibility</p:attrName>
                                        </p:attrNameLst>
                                      </p:cBhvr>
                                      <p:to>
                                        <p:strVal val="visible"/>
                                      </p:to>
                                    </p:set>
                                    <p:animEffect transition="in" filter="fade">
                                      <p:cBhvr>
                                        <p:cTn id="97" dur="500"/>
                                        <p:tgtEl>
                                          <p:spTgt spid="51"/>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52"/>
                                        </p:tgtEl>
                                        <p:attrNameLst>
                                          <p:attrName>style.visibility</p:attrName>
                                        </p:attrNameLst>
                                      </p:cBhvr>
                                      <p:to>
                                        <p:strVal val="visible"/>
                                      </p:to>
                                    </p:set>
                                    <p:animEffect transition="in" filter="fade">
                                      <p:cBhvr>
                                        <p:cTn id="100" dur="500"/>
                                        <p:tgtEl>
                                          <p:spTgt spid="52"/>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53"/>
                                        </p:tgtEl>
                                        <p:attrNameLst>
                                          <p:attrName>style.visibility</p:attrName>
                                        </p:attrNameLst>
                                      </p:cBhvr>
                                      <p:to>
                                        <p:strVal val="visible"/>
                                      </p:to>
                                    </p:set>
                                    <p:animEffect transition="in" filter="fade">
                                      <p:cBhvr>
                                        <p:cTn id="103" dur="500"/>
                                        <p:tgtEl>
                                          <p:spTgt spid="53"/>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xit" presetSubtype="0" fill="hold" nodeType="clickEffect">
                                  <p:stCondLst>
                                    <p:cond delay="0"/>
                                  </p:stCondLst>
                                  <p:childTnLst>
                                    <p:animEffect transition="out" filter="fade">
                                      <p:cBhvr>
                                        <p:cTn id="107" dur="500"/>
                                        <p:tgtEl>
                                          <p:spTgt spid="33"/>
                                        </p:tgtEl>
                                      </p:cBhvr>
                                    </p:animEffect>
                                    <p:set>
                                      <p:cBhvr>
                                        <p:cTn id="108" dur="1" fill="hold">
                                          <p:stCondLst>
                                            <p:cond delay="499"/>
                                          </p:stCondLst>
                                        </p:cTn>
                                        <p:tgtEl>
                                          <p:spTgt spid="33"/>
                                        </p:tgtEl>
                                        <p:attrNameLst>
                                          <p:attrName>style.visibility</p:attrName>
                                        </p:attrNameLst>
                                      </p:cBhvr>
                                      <p:to>
                                        <p:strVal val="hidden"/>
                                      </p:to>
                                    </p:set>
                                  </p:childTnLst>
                                </p:cTn>
                              </p:par>
                              <p:par>
                                <p:cTn id="109" presetID="10" presetClass="exit" presetSubtype="0" fill="hold" nodeType="withEffect">
                                  <p:stCondLst>
                                    <p:cond delay="0"/>
                                  </p:stCondLst>
                                  <p:childTnLst>
                                    <p:animEffect transition="out" filter="fade">
                                      <p:cBhvr>
                                        <p:cTn id="110" dur="500"/>
                                        <p:tgtEl>
                                          <p:spTgt spid="38"/>
                                        </p:tgtEl>
                                      </p:cBhvr>
                                    </p:animEffect>
                                    <p:set>
                                      <p:cBhvr>
                                        <p:cTn id="111" dur="1" fill="hold">
                                          <p:stCondLst>
                                            <p:cond delay="499"/>
                                          </p:stCondLst>
                                        </p:cTn>
                                        <p:tgtEl>
                                          <p:spTgt spid="38"/>
                                        </p:tgtEl>
                                        <p:attrNameLst>
                                          <p:attrName>style.visibility</p:attrName>
                                        </p:attrNameLst>
                                      </p:cBhvr>
                                      <p:to>
                                        <p:strVal val="hidden"/>
                                      </p:to>
                                    </p:set>
                                  </p:childTnLst>
                                </p:cTn>
                              </p:par>
                              <p:par>
                                <p:cTn id="112" presetID="10" presetClass="exit" presetSubtype="0" fill="hold" nodeType="withEffect">
                                  <p:stCondLst>
                                    <p:cond delay="0"/>
                                  </p:stCondLst>
                                  <p:childTnLst>
                                    <p:animEffect transition="out" filter="fade">
                                      <p:cBhvr>
                                        <p:cTn id="113" dur="500"/>
                                        <p:tgtEl>
                                          <p:spTgt spid="39"/>
                                        </p:tgtEl>
                                      </p:cBhvr>
                                    </p:animEffect>
                                    <p:set>
                                      <p:cBhvr>
                                        <p:cTn id="114" dur="1" fill="hold">
                                          <p:stCondLst>
                                            <p:cond delay="499"/>
                                          </p:stCondLst>
                                        </p:cTn>
                                        <p:tgtEl>
                                          <p:spTgt spid="39"/>
                                        </p:tgtEl>
                                        <p:attrNameLst>
                                          <p:attrName>style.visibility</p:attrName>
                                        </p:attrNameLst>
                                      </p:cBhvr>
                                      <p:to>
                                        <p:strVal val="hidden"/>
                                      </p:to>
                                    </p:set>
                                  </p:childTnLst>
                                </p:cTn>
                              </p:par>
                              <p:par>
                                <p:cTn id="115" presetID="10" presetClass="exit" presetSubtype="0" fill="hold" nodeType="withEffect">
                                  <p:stCondLst>
                                    <p:cond delay="0"/>
                                  </p:stCondLst>
                                  <p:childTnLst>
                                    <p:animEffect transition="out" filter="fade">
                                      <p:cBhvr>
                                        <p:cTn id="116" dur="500"/>
                                        <p:tgtEl>
                                          <p:spTgt spid="40"/>
                                        </p:tgtEl>
                                      </p:cBhvr>
                                    </p:animEffect>
                                    <p:set>
                                      <p:cBhvr>
                                        <p:cTn id="117" dur="1" fill="hold">
                                          <p:stCondLst>
                                            <p:cond delay="499"/>
                                          </p:stCondLst>
                                        </p:cTn>
                                        <p:tgtEl>
                                          <p:spTgt spid="40"/>
                                        </p:tgtEl>
                                        <p:attrNameLst>
                                          <p:attrName>style.visibility</p:attrName>
                                        </p:attrNameLst>
                                      </p:cBhvr>
                                      <p:to>
                                        <p:strVal val="hidden"/>
                                      </p:to>
                                    </p:set>
                                  </p:childTnLst>
                                </p:cTn>
                              </p:par>
                              <p:par>
                                <p:cTn id="118" presetID="10" presetClass="exit" presetSubtype="0" fill="hold" nodeType="withEffect">
                                  <p:stCondLst>
                                    <p:cond delay="0"/>
                                  </p:stCondLst>
                                  <p:childTnLst>
                                    <p:animEffect transition="out" filter="fade">
                                      <p:cBhvr>
                                        <p:cTn id="119" dur="500"/>
                                        <p:tgtEl>
                                          <p:spTgt spid="42"/>
                                        </p:tgtEl>
                                      </p:cBhvr>
                                    </p:animEffect>
                                    <p:set>
                                      <p:cBhvr>
                                        <p:cTn id="120" dur="1" fill="hold">
                                          <p:stCondLst>
                                            <p:cond delay="499"/>
                                          </p:stCondLst>
                                        </p:cTn>
                                        <p:tgtEl>
                                          <p:spTgt spid="42"/>
                                        </p:tgtEl>
                                        <p:attrNameLst>
                                          <p:attrName>style.visibility</p:attrName>
                                        </p:attrNameLst>
                                      </p:cBhvr>
                                      <p:to>
                                        <p:strVal val="hidden"/>
                                      </p:to>
                                    </p:set>
                                  </p:childTnLst>
                                </p:cTn>
                              </p:par>
                              <p:par>
                                <p:cTn id="121" presetID="10" presetClass="exit" presetSubtype="0" fill="hold" grpId="0" nodeType="withEffect">
                                  <p:stCondLst>
                                    <p:cond delay="0"/>
                                  </p:stCondLst>
                                  <p:childTnLst>
                                    <p:animEffect transition="out" filter="fade">
                                      <p:cBhvr>
                                        <p:cTn id="122" dur="500"/>
                                        <p:tgtEl>
                                          <p:spTgt spid="45"/>
                                        </p:tgtEl>
                                      </p:cBhvr>
                                    </p:animEffect>
                                    <p:set>
                                      <p:cBhvr>
                                        <p:cTn id="123" dur="1" fill="hold">
                                          <p:stCondLst>
                                            <p:cond delay="499"/>
                                          </p:stCondLst>
                                        </p:cTn>
                                        <p:tgtEl>
                                          <p:spTgt spid="45"/>
                                        </p:tgtEl>
                                        <p:attrNameLst>
                                          <p:attrName>style.visibility</p:attrName>
                                        </p:attrNameLst>
                                      </p:cBhvr>
                                      <p:to>
                                        <p:strVal val="hidden"/>
                                      </p:to>
                                    </p:set>
                                  </p:childTnLst>
                                </p:cTn>
                              </p:par>
                              <p:par>
                                <p:cTn id="124" presetID="10" presetClass="exit" presetSubtype="0" fill="hold" grpId="0" nodeType="withEffect">
                                  <p:stCondLst>
                                    <p:cond delay="0"/>
                                  </p:stCondLst>
                                  <p:childTnLst>
                                    <p:animEffect transition="out" filter="fade">
                                      <p:cBhvr>
                                        <p:cTn id="125" dur="500"/>
                                        <p:tgtEl>
                                          <p:spTgt spid="56"/>
                                        </p:tgtEl>
                                      </p:cBhvr>
                                    </p:animEffect>
                                    <p:set>
                                      <p:cBhvr>
                                        <p:cTn id="126" dur="1" fill="hold">
                                          <p:stCondLst>
                                            <p:cond delay="499"/>
                                          </p:stCondLst>
                                        </p:cTn>
                                        <p:tgtEl>
                                          <p:spTgt spid="56"/>
                                        </p:tgtEl>
                                        <p:attrNameLst>
                                          <p:attrName>style.visibility</p:attrName>
                                        </p:attrNameLst>
                                      </p:cBhvr>
                                      <p:to>
                                        <p:strVal val="hidden"/>
                                      </p:to>
                                    </p:set>
                                  </p:childTnLst>
                                </p:cTn>
                              </p:par>
                              <p:par>
                                <p:cTn id="127" presetID="10" presetClass="exit" presetSubtype="0" fill="hold" grpId="0" nodeType="withEffect">
                                  <p:stCondLst>
                                    <p:cond delay="0"/>
                                  </p:stCondLst>
                                  <p:childTnLst>
                                    <p:animEffect transition="out" filter="fade">
                                      <p:cBhvr>
                                        <p:cTn id="128" dur="500"/>
                                        <p:tgtEl>
                                          <p:spTgt spid="57"/>
                                        </p:tgtEl>
                                      </p:cBhvr>
                                    </p:animEffect>
                                    <p:set>
                                      <p:cBhvr>
                                        <p:cTn id="129" dur="1" fill="hold">
                                          <p:stCondLst>
                                            <p:cond delay="499"/>
                                          </p:stCondLst>
                                        </p:cTn>
                                        <p:tgtEl>
                                          <p:spTgt spid="57"/>
                                        </p:tgtEl>
                                        <p:attrNameLst>
                                          <p:attrName>style.visibility</p:attrName>
                                        </p:attrNameLst>
                                      </p:cBhvr>
                                      <p:to>
                                        <p:strVal val="hidden"/>
                                      </p:to>
                                    </p:set>
                                  </p:childTnLst>
                                </p:cTn>
                              </p:par>
                              <p:par>
                                <p:cTn id="130" presetID="10" presetClass="exit" presetSubtype="0" fill="hold" grpId="0" nodeType="withEffect">
                                  <p:stCondLst>
                                    <p:cond delay="0"/>
                                  </p:stCondLst>
                                  <p:childTnLst>
                                    <p:animEffect transition="out" filter="fade">
                                      <p:cBhvr>
                                        <p:cTn id="131" dur="500"/>
                                        <p:tgtEl>
                                          <p:spTgt spid="48"/>
                                        </p:tgtEl>
                                      </p:cBhvr>
                                    </p:animEffect>
                                    <p:set>
                                      <p:cBhvr>
                                        <p:cTn id="132" dur="1" fill="hold">
                                          <p:stCondLst>
                                            <p:cond delay="499"/>
                                          </p:stCondLst>
                                        </p:cTn>
                                        <p:tgtEl>
                                          <p:spTgt spid="48"/>
                                        </p:tgtEl>
                                        <p:attrNameLst>
                                          <p:attrName>style.visibility</p:attrName>
                                        </p:attrNameLst>
                                      </p:cBhvr>
                                      <p:to>
                                        <p:strVal val="hidden"/>
                                      </p:to>
                                    </p:set>
                                  </p:childTnLst>
                                </p:cTn>
                              </p:par>
                              <p:par>
                                <p:cTn id="133" presetID="10" presetClass="exit" presetSubtype="0" fill="hold" grpId="0" nodeType="withEffect">
                                  <p:stCondLst>
                                    <p:cond delay="0"/>
                                  </p:stCondLst>
                                  <p:childTnLst>
                                    <p:animEffect transition="out" filter="fade">
                                      <p:cBhvr>
                                        <p:cTn id="134" dur="500"/>
                                        <p:tgtEl>
                                          <p:spTgt spid="43"/>
                                        </p:tgtEl>
                                      </p:cBhvr>
                                    </p:animEffect>
                                    <p:set>
                                      <p:cBhvr>
                                        <p:cTn id="135" dur="1" fill="hold">
                                          <p:stCondLst>
                                            <p:cond delay="499"/>
                                          </p:stCondLst>
                                        </p:cTn>
                                        <p:tgtEl>
                                          <p:spTgt spid="43"/>
                                        </p:tgtEl>
                                        <p:attrNameLst>
                                          <p:attrName>style.visibility</p:attrName>
                                        </p:attrNameLst>
                                      </p:cBhvr>
                                      <p:to>
                                        <p:strVal val="hidden"/>
                                      </p:to>
                                    </p:set>
                                  </p:childTnLst>
                                </p:cTn>
                              </p:par>
                              <p:par>
                                <p:cTn id="136" presetID="10" presetClass="exit" presetSubtype="0" fill="hold" grpId="0" nodeType="withEffect">
                                  <p:stCondLst>
                                    <p:cond delay="0"/>
                                  </p:stCondLst>
                                  <p:childTnLst>
                                    <p:animEffect transition="out" filter="fade">
                                      <p:cBhvr>
                                        <p:cTn id="137" dur="500"/>
                                        <p:tgtEl>
                                          <p:spTgt spid="50"/>
                                        </p:tgtEl>
                                      </p:cBhvr>
                                    </p:animEffect>
                                    <p:set>
                                      <p:cBhvr>
                                        <p:cTn id="138" dur="1" fill="hold">
                                          <p:stCondLst>
                                            <p:cond delay="499"/>
                                          </p:stCondLst>
                                        </p:cTn>
                                        <p:tgtEl>
                                          <p:spTgt spid="50"/>
                                        </p:tgtEl>
                                        <p:attrNameLst>
                                          <p:attrName>style.visibility</p:attrName>
                                        </p:attrNameLst>
                                      </p:cBhvr>
                                      <p:to>
                                        <p:strVal val="hidden"/>
                                      </p:to>
                                    </p:set>
                                  </p:childTnLst>
                                </p:cTn>
                              </p:par>
                              <p:par>
                                <p:cTn id="139" presetID="10" presetClass="exit" presetSubtype="0" fill="hold" grpId="0" nodeType="withEffect">
                                  <p:stCondLst>
                                    <p:cond delay="0"/>
                                  </p:stCondLst>
                                  <p:childTnLst>
                                    <p:animEffect transition="out" filter="fade">
                                      <p:cBhvr>
                                        <p:cTn id="140" dur="500"/>
                                        <p:tgtEl>
                                          <p:spTgt spid="44"/>
                                        </p:tgtEl>
                                      </p:cBhvr>
                                    </p:animEffect>
                                    <p:set>
                                      <p:cBhvr>
                                        <p:cTn id="141" dur="1" fill="hold">
                                          <p:stCondLst>
                                            <p:cond delay="499"/>
                                          </p:stCondLst>
                                        </p:cTn>
                                        <p:tgtEl>
                                          <p:spTgt spid="44"/>
                                        </p:tgtEl>
                                        <p:attrNameLst>
                                          <p:attrName>style.visibility</p:attrName>
                                        </p:attrNameLst>
                                      </p:cBhvr>
                                      <p:to>
                                        <p:strVal val="hidden"/>
                                      </p:to>
                                    </p:set>
                                  </p:childTnLst>
                                </p:cTn>
                              </p:par>
                              <p:par>
                                <p:cTn id="142" presetID="10" presetClass="exit" presetSubtype="0" fill="hold" grpId="0" nodeType="withEffect">
                                  <p:stCondLst>
                                    <p:cond delay="0"/>
                                  </p:stCondLst>
                                  <p:childTnLst>
                                    <p:animEffect transition="out" filter="fade">
                                      <p:cBhvr>
                                        <p:cTn id="143" dur="500"/>
                                        <p:tgtEl>
                                          <p:spTgt spid="55"/>
                                        </p:tgtEl>
                                      </p:cBhvr>
                                    </p:animEffect>
                                    <p:set>
                                      <p:cBhvr>
                                        <p:cTn id="144" dur="1" fill="hold">
                                          <p:stCondLst>
                                            <p:cond delay="499"/>
                                          </p:stCondLst>
                                        </p:cTn>
                                        <p:tgtEl>
                                          <p:spTgt spid="55"/>
                                        </p:tgtEl>
                                        <p:attrNameLst>
                                          <p:attrName>style.visibility</p:attrName>
                                        </p:attrNameLst>
                                      </p:cBhvr>
                                      <p:to>
                                        <p:strVal val="hidden"/>
                                      </p:to>
                                    </p:set>
                                  </p:childTnLst>
                                </p:cTn>
                              </p:par>
                              <p:par>
                                <p:cTn id="145" presetID="10" presetClass="exit" presetSubtype="0" fill="hold" grpId="0" nodeType="withEffect">
                                  <p:stCondLst>
                                    <p:cond delay="0"/>
                                  </p:stCondLst>
                                  <p:childTnLst>
                                    <p:animEffect transition="out" filter="fade">
                                      <p:cBhvr>
                                        <p:cTn id="146" dur="500"/>
                                        <p:tgtEl>
                                          <p:spTgt spid="54"/>
                                        </p:tgtEl>
                                      </p:cBhvr>
                                    </p:animEffect>
                                    <p:set>
                                      <p:cBhvr>
                                        <p:cTn id="147" dur="1" fill="hold">
                                          <p:stCondLst>
                                            <p:cond delay="499"/>
                                          </p:stCondLst>
                                        </p:cTn>
                                        <p:tgtEl>
                                          <p:spTgt spid="54"/>
                                        </p:tgtEl>
                                        <p:attrNameLst>
                                          <p:attrName>style.visibility</p:attrName>
                                        </p:attrNameLst>
                                      </p:cBhvr>
                                      <p:to>
                                        <p:strVal val="hidden"/>
                                      </p:to>
                                    </p:set>
                                  </p:childTnLst>
                                </p:cTn>
                              </p:par>
                            </p:childTnLst>
                          </p:cTn>
                        </p:par>
                      </p:childTnLst>
                    </p:cTn>
                  </p:par>
                  <p:par>
                    <p:cTn id="148" fill="hold">
                      <p:stCondLst>
                        <p:cond delay="indefinite"/>
                      </p:stCondLst>
                      <p:childTnLst>
                        <p:par>
                          <p:cTn id="149" fill="hold">
                            <p:stCondLst>
                              <p:cond delay="0"/>
                            </p:stCondLst>
                            <p:childTnLst>
                              <p:par>
                                <p:cTn id="150" presetID="22" presetClass="entr" presetSubtype="4" fill="hold" grpId="2" nodeType="clickEffect">
                                  <p:stCondLst>
                                    <p:cond delay="0"/>
                                  </p:stCondLst>
                                  <p:childTnLst>
                                    <p:set>
                                      <p:cBhvr>
                                        <p:cTn id="151" dur="1" fill="hold">
                                          <p:stCondLst>
                                            <p:cond delay="0"/>
                                          </p:stCondLst>
                                        </p:cTn>
                                        <p:tgtEl>
                                          <p:spTgt spid="43"/>
                                        </p:tgtEl>
                                        <p:attrNameLst>
                                          <p:attrName>style.visibility</p:attrName>
                                        </p:attrNameLst>
                                      </p:cBhvr>
                                      <p:to>
                                        <p:strVal val="visible"/>
                                      </p:to>
                                    </p:set>
                                    <p:animEffect transition="in" filter="wipe(down)">
                                      <p:cBhvr>
                                        <p:cTn id="152" dur="1000"/>
                                        <p:tgtEl>
                                          <p:spTgt spid="43"/>
                                        </p:tgtEl>
                                      </p:cBhvr>
                                    </p:animEffect>
                                  </p:childTnLst>
                                </p:cTn>
                              </p:par>
                              <p:par>
                                <p:cTn id="153" presetID="22" presetClass="entr" presetSubtype="4" fill="hold" grpId="2" nodeType="withEffect">
                                  <p:stCondLst>
                                    <p:cond delay="0"/>
                                  </p:stCondLst>
                                  <p:childTnLst>
                                    <p:set>
                                      <p:cBhvr>
                                        <p:cTn id="154" dur="1" fill="hold">
                                          <p:stCondLst>
                                            <p:cond delay="0"/>
                                          </p:stCondLst>
                                        </p:cTn>
                                        <p:tgtEl>
                                          <p:spTgt spid="50"/>
                                        </p:tgtEl>
                                        <p:attrNameLst>
                                          <p:attrName>style.visibility</p:attrName>
                                        </p:attrNameLst>
                                      </p:cBhvr>
                                      <p:to>
                                        <p:strVal val="visible"/>
                                      </p:to>
                                    </p:set>
                                    <p:animEffect transition="in" filter="wipe(down)">
                                      <p:cBhvr>
                                        <p:cTn id="155" dur="500"/>
                                        <p:tgtEl>
                                          <p:spTgt spid="50"/>
                                        </p:tgtEl>
                                      </p:cBhvr>
                                    </p:animEffect>
                                  </p:childTnLst>
                                </p:cTn>
                              </p:par>
                            </p:childTnLst>
                          </p:cTn>
                        </p:par>
                      </p:childTnLst>
                    </p:cTn>
                  </p:par>
                  <p:par>
                    <p:cTn id="156" fill="hold">
                      <p:stCondLst>
                        <p:cond delay="indefinite"/>
                      </p:stCondLst>
                      <p:childTnLst>
                        <p:par>
                          <p:cTn id="157" fill="hold">
                            <p:stCondLst>
                              <p:cond delay="0"/>
                            </p:stCondLst>
                            <p:childTnLst>
                              <p:par>
                                <p:cTn id="158" presetID="7" presetClass="emph" presetSubtype="2" fill="hold" nodeType="clickEffect">
                                  <p:stCondLst>
                                    <p:cond delay="0"/>
                                  </p:stCondLst>
                                  <p:childTnLst>
                                    <p:animClr clrSpc="rgb" dir="cw">
                                      <p:cBhvr>
                                        <p:cTn id="159" dur="2000" fill="hold"/>
                                        <p:tgtEl>
                                          <p:spTgt spid="43"/>
                                        </p:tgtEl>
                                        <p:attrNameLst>
                                          <p:attrName>stroke.color</p:attrName>
                                        </p:attrNameLst>
                                      </p:cBhvr>
                                      <p:to>
                                        <a:srgbClr val="002060"/>
                                      </p:to>
                                    </p:animClr>
                                    <p:set>
                                      <p:cBhvr>
                                        <p:cTn id="160" dur="2000" fill="hold"/>
                                        <p:tgtEl>
                                          <p:spTgt spid="43"/>
                                        </p:tgtEl>
                                        <p:attrNameLst>
                                          <p:attrName>stroke.on</p:attrName>
                                        </p:attrNameLst>
                                      </p:cBhvr>
                                      <p:to>
                                        <p:strVal val="true"/>
                                      </p:to>
                                    </p:set>
                                  </p:childTnLst>
                                </p:cTn>
                              </p:par>
                              <p:par>
                                <p:cTn id="161" presetID="7" presetClass="emph" presetSubtype="2" fill="hold" nodeType="withEffect">
                                  <p:stCondLst>
                                    <p:cond delay="0"/>
                                  </p:stCondLst>
                                  <p:childTnLst>
                                    <p:animClr clrSpc="rgb" dir="cw">
                                      <p:cBhvr>
                                        <p:cTn id="162" dur="2000" fill="hold"/>
                                        <p:tgtEl>
                                          <p:spTgt spid="30"/>
                                        </p:tgtEl>
                                        <p:attrNameLst>
                                          <p:attrName>stroke.color</p:attrName>
                                        </p:attrNameLst>
                                      </p:cBhvr>
                                      <p:to>
                                        <a:srgbClr val="002060"/>
                                      </p:to>
                                    </p:animClr>
                                    <p:set>
                                      <p:cBhvr>
                                        <p:cTn id="163" dur="2000" fill="hold"/>
                                        <p:tgtEl>
                                          <p:spTgt spid="30"/>
                                        </p:tgtEl>
                                        <p:attrNameLst>
                                          <p:attrName>stroke.on</p:attrName>
                                        </p:attrNameLst>
                                      </p:cBhvr>
                                      <p:to>
                                        <p:strVal val="true"/>
                                      </p:to>
                                    </p:set>
                                  </p:childTnLst>
                                </p:cTn>
                              </p:par>
                              <p:par>
                                <p:cTn id="164" presetID="7" presetClass="emph" presetSubtype="2" fill="hold" nodeType="withEffect">
                                  <p:stCondLst>
                                    <p:cond delay="0"/>
                                  </p:stCondLst>
                                  <p:childTnLst>
                                    <p:animClr clrSpc="rgb" dir="cw">
                                      <p:cBhvr>
                                        <p:cTn id="165" dur="2000" fill="hold"/>
                                        <p:tgtEl>
                                          <p:spTgt spid="34"/>
                                        </p:tgtEl>
                                        <p:attrNameLst>
                                          <p:attrName>stroke.color</p:attrName>
                                        </p:attrNameLst>
                                      </p:cBhvr>
                                      <p:to>
                                        <a:srgbClr val="002060"/>
                                      </p:to>
                                    </p:animClr>
                                    <p:set>
                                      <p:cBhvr>
                                        <p:cTn id="166" dur="2000" fill="hold"/>
                                        <p:tgtEl>
                                          <p:spTgt spid="34"/>
                                        </p:tgtEl>
                                        <p:attrNameLst>
                                          <p:attrName>stroke.on</p:attrName>
                                        </p:attrNameLst>
                                      </p:cBhvr>
                                      <p:to>
                                        <p:strVal val="true"/>
                                      </p:to>
                                    </p:set>
                                  </p:childTnLst>
                                </p:cTn>
                              </p:par>
                              <p:par>
                                <p:cTn id="167" presetID="7" presetClass="emph" presetSubtype="2" fill="hold" nodeType="withEffect">
                                  <p:stCondLst>
                                    <p:cond delay="0"/>
                                  </p:stCondLst>
                                  <p:childTnLst>
                                    <p:animClr clrSpc="rgb" dir="cw">
                                      <p:cBhvr>
                                        <p:cTn id="168" dur="2000" fill="hold"/>
                                        <p:tgtEl>
                                          <p:spTgt spid="37"/>
                                        </p:tgtEl>
                                        <p:attrNameLst>
                                          <p:attrName>stroke.color</p:attrName>
                                        </p:attrNameLst>
                                      </p:cBhvr>
                                      <p:to>
                                        <a:srgbClr val="002060"/>
                                      </p:to>
                                    </p:animClr>
                                    <p:set>
                                      <p:cBhvr>
                                        <p:cTn id="169" dur="2000" fill="hold"/>
                                        <p:tgtEl>
                                          <p:spTgt spid="37"/>
                                        </p:tgtEl>
                                        <p:attrNameLst>
                                          <p:attrName>stroke.on</p:attrName>
                                        </p:attrNameLst>
                                      </p:cBhvr>
                                      <p:to>
                                        <p:strVal val="true"/>
                                      </p:to>
                                    </p:set>
                                  </p:childTnLst>
                                </p:cTn>
                              </p:par>
                              <p:par>
                                <p:cTn id="170" presetID="7" presetClass="emph" presetSubtype="2" fill="hold" nodeType="withEffect">
                                  <p:stCondLst>
                                    <p:cond delay="0"/>
                                  </p:stCondLst>
                                  <p:childTnLst>
                                    <p:animClr clrSpc="rgb" dir="cw">
                                      <p:cBhvr>
                                        <p:cTn id="171" dur="2000" fill="hold"/>
                                        <p:tgtEl>
                                          <p:spTgt spid="41"/>
                                        </p:tgtEl>
                                        <p:attrNameLst>
                                          <p:attrName>stroke.color</p:attrName>
                                        </p:attrNameLst>
                                      </p:cBhvr>
                                      <p:to>
                                        <a:srgbClr val="002060"/>
                                      </p:to>
                                    </p:animClr>
                                    <p:set>
                                      <p:cBhvr>
                                        <p:cTn id="172" dur="2000" fill="hold"/>
                                        <p:tgtEl>
                                          <p:spTgt spid="41"/>
                                        </p:tgtEl>
                                        <p:attrNameLst>
                                          <p:attrName>stroke.on</p:attrName>
                                        </p:attrNameLst>
                                      </p:cBhvr>
                                      <p:to>
                                        <p:strVal val="true"/>
                                      </p:to>
                                    </p:set>
                                  </p:childTnLst>
                                </p:cTn>
                              </p:par>
                              <p:par>
                                <p:cTn id="173" presetID="7" presetClass="emph" presetSubtype="2" fill="hold" nodeType="withEffect">
                                  <p:stCondLst>
                                    <p:cond delay="0"/>
                                  </p:stCondLst>
                                  <p:childTnLst>
                                    <p:animClr clrSpc="rgb" dir="cw">
                                      <p:cBhvr>
                                        <p:cTn id="174" dur="2000" fill="hold"/>
                                        <p:tgtEl>
                                          <p:spTgt spid="26"/>
                                        </p:tgtEl>
                                        <p:attrNameLst>
                                          <p:attrName>stroke.color</p:attrName>
                                        </p:attrNameLst>
                                      </p:cBhvr>
                                      <p:to>
                                        <a:srgbClr val="002060"/>
                                      </p:to>
                                    </p:animClr>
                                    <p:set>
                                      <p:cBhvr>
                                        <p:cTn id="175" dur="2000" fill="hold"/>
                                        <p:tgtEl>
                                          <p:spTgt spid="26"/>
                                        </p:tgtEl>
                                        <p:attrNameLst>
                                          <p:attrName>stroke.on</p:attrName>
                                        </p:attrNameLst>
                                      </p:cBhvr>
                                      <p:to>
                                        <p:strVal val="true"/>
                                      </p:to>
                                    </p:set>
                                  </p:childTnLst>
                                </p:cTn>
                              </p:par>
                            </p:childTnLst>
                          </p:cTn>
                        </p:par>
                      </p:childTnLst>
                    </p:cTn>
                  </p:par>
                  <p:par>
                    <p:cTn id="176" fill="hold">
                      <p:stCondLst>
                        <p:cond delay="indefinite"/>
                      </p:stCondLst>
                      <p:childTnLst>
                        <p:par>
                          <p:cTn id="177" fill="hold">
                            <p:stCondLst>
                              <p:cond delay="0"/>
                            </p:stCondLst>
                            <p:childTnLst>
                              <p:par>
                                <p:cTn id="178" presetID="1" presetClass="entr" presetSubtype="0" fill="hold" grpId="0" nodeType="clickEffect">
                                  <p:stCondLst>
                                    <p:cond delay="0"/>
                                  </p:stCondLst>
                                  <p:childTnLst>
                                    <p:set>
                                      <p:cBhvr>
                                        <p:cTn id="17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9" grpId="0" animBg="1"/>
      <p:bldP spid="31" grpId="0" animBg="1"/>
      <p:bldP spid="32" grpId="0" animBg="1"/>
      <p:bldP spid="35" grpId="0" animBg="1"/>
      <p:bldP spid="36" grpId="0" animBg="1"/>
      <p:bldP spid="43" grpId="0" animBg="1"/>
      <p:bldP spid="43" grpId="1" animBg="1"/>
      <p:bldP spid="43" grpId="2" animBg="1"/>
      <p:bldP spid="44" grpId="0" animBg="1"/>
      <p:bldP spid="44" grpId="1" animBg="1"/>
      <p:bldP spid="45" grpId="0"/>
      <p:bldP spid="45" grpId="1"/>
      <p:bldP spid="46" grpId="0"/>
      <p:bldP spid="47" grpId="0"/>
      <p:bldP spid="48" grpId="0"/>
      <p:bldP spid="48" grpId="1"/>
      <p:bldP spid="49" grpId="0"/>
      <p:bldP spid="50" grpId="0"/>
      <p:bldP spid="50" grpId="1"/>
      <p:bldP spid="50" grpId="2"/>
      <p:bldP spid="51" grpId="0"/>
      <p:bldP spid="52" grpId="0"/>
      <p:bldP spid="53" grpId="0"/>
      <p:bldP spid="54" grpId="0"/>
      <p:bldP spid="54" grpId="1"/>
      <p:bldP spid="55" grpId="0"/>
      <p:bldP spid="55" grpId="1"/>
      <p:bldP spid="56" grpId="0"/>
      <p:bldP spid="56" grpId="1"/>
      <p:bldP spid="57" grpId="0"/>
      <p:bldP spid="57" grpId="1"/>
      <p:bldP spid="6"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US" dirty="0"/>
              <a:t>Fundamental Circuits</a:t>
            </a:r>
          </a:p>
        </p:txBody>
      </p:sp>
      <p:cxnSp>
        <p:nvCxnSpPr>
          <p:cNvPr id="91" name="Straight Connector 90">
            <a:extLst>
              <a:ext uri="{FF2B5EF4-FFF2-40B4-BE49-F238E27FC236}">
                <a16:creationId xmlns:a16="http://schemas.microsoft.com/office/drawing/2014/main" id="{05596C8C-2163-45E8-B709-8118C381771F}"/>
              </a:ext>
            </a:extLst>
          </p:cNvPr>
          <p:cNvCxnSpPr/>
          <p:nvPr/>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3" name="Content Placeholder 2">
                <a:extLst>
                  <a:ext uri="{FF2B5EF4-FFF2-40B4-BE49-F238E27FC236}">
                    <a16:creationId xmlns:a16="http://schemas.microsoft.com/office/drawing/2014/main" id="{DC6F4971-704E-42EF-A852-52D75741FB7C}"/>
                  </a:ext>
                </a:extLst>
              </p:cNvPr>
              <p:cNvSpPr txBox="1">
                <a:spLocks/>
              </p:cNvSpPr>
              <p:nvPr/>
            </p:nvSpPr>
            <p:spPr>
              <a:xfrm>
                <a:off x="131180" y="863444"/>
                <a:ext cx="8193954" cy="4365755"/>
              </a:xfrm>
              <a:prstGeom prst="rect">
                <a:avLst/>
              </a:prstGeom>
            </p:spPr>
            <p:txBody>
              <a:bodyPr>
                <a:noAutofit/>
              </a:bodyPr>
              <a:lstStyle>
                <a:lvl1pPr marL="265113" indent="-265113" algn="just" defTabSz="914400" rtl="0" eaLnBrk="1" latinLnBrk="0" hangingPunct="1">
                  <a:lnSpc>
                    <a:spcPct val="125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628650" indent="-352425" algn="just" defTabSz="914400" rtl="0" eaLnBrk="1" latinLnBrk="0" hangingPunct="1">
                  <a:lnSpc>
                    <a:spcPct val="125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895350" indent="-228600" algn="just" defTabSz="914400" rtl="0" eaLnBrk="1" latinLnBrk="0" hangingPunct="1">
                  <a:lnSpc>
                    <a:spcPct val="125000"/>
                  </a:lnSpc>
                  <a:spcBef>
                    <a:spcPts val="10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257300" indent="-228600" algn="just" defTabSz="914400" rtl="0" eaLnBrk="1" latinLnBrk="0" hangingPunct="1">
                  <a:lnSpc>
                    <a:spcPct val="125000"/>
                  </a:lnSpc>
                  <a:spcBef>
                    <a:spcPts val="10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1619250" indent="-228600" algn="just" defTabSz="914400" rtl="0" eaLnBrk="1" latinLnBrk="0" hangingPunct="1">
                  <a:lnSpc>
                    <a:spcPct val="125000"/>
                  </a:lnSpc>
                  <a:spcBef>
                    <a:spcPts val="10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B84742"/>
                  </a:buClr>
                </a:pPr>
                <a:r>
                  <a:rPr lang="en-US" b="1" dirty="0"/>
                  <a:t>How many fundamental circuits does a graph have?</a:t>
                </a:r>
              </a:p>
              <a:p>
                <a:pPr lvl="1">
                  <a:buClr>
                    <a:srgbClr val="B84742"/>
                  </a:buClr>
                </a:pPr>
                <a:r>
                  <a:rPr lang="en-US" dirty="0"/>
                  <a:t>Exactly as many as the number of chords</a:t>
                </a:r>
                <a14:m>
                  <m:oMath xmlns:m="http://schemas.openxmlformats.org/officeDocument/2006/math">
                    <m:r>
                      <a:rPr lang="en-US" b="0" i="0" dirty="0">
                        <a:latin typeface="Cambria Math" panose="02040503050406030204" pitchFamily="18" charset="0"/>
                      </a:rPr>
                      <m:t>.</m:t>
                    </m:r>
                    <m:r>
                      <a:rPr lang="en-US" b="0" i="0" dirty="0" smtClean="0">
                        <a:latin typeface="Cambria Math" panose="02040503050406030204" pitchFamily="18" charset="0"/>
                      </a:rPr>
                      <m:t> </m:t>
                    </m:r>
                  </m:oMath>
                </a14:m>
                <a:endParaRPr lang="en-US" b="0" dirty="0"/>
              </a:p>
              <a:p>
                <a:pPr lvl="1">
                  <a:buClr>
                    <a:srgbClr val="B84742"/>
                  </a:buClr>
                </a:pPr>
                <a:r>
                  <a:rPr lang="en-US" dirty="0"/>
                  <a:t>We have eight chords: 𝐚, </a:t>
                </a:r>
                <a:r>
                  <a:rPr lang="en-US" b="1" dirty="0"/>
                  <a:t>d</a:t>
                </a:r>
                <a:r>
                  <a:rPr lang="en-US" dirty="0"/>
                  <a:t>, 𝐞, 𝐟, 𝐠, 𝐦, and 𝐤. </a:t>
                </a:r>
              </a:p>
              <a:p>
                <a:pPr lvl="1">
                  <a:buClr>
                    <a:srgbClr val="B84742"/>
                  </a:buClr>
                </a:pPr>
                <a:r>
                  <a:rPr lang="en-US" dirty="0"/>
                  <a:t>Therefore, there are only </a:t>
                </a:r>
                <a:r>
                  <a:rPr lang="en-US" b="1" dirty="0"/>
                  <a:t>eight fundamental circuits</a:t>
                </a:r>
                <a:r>
                  <a:rPr lang="en-US" dirty="0"/>
                  <a:t>. </a:t>
                </a:r>
              </a:p>
              <a:p>
                <a:pPr lvl="1">
                  <a:buClr>
                    <a:srgbClr val="B84742"/>
                  </a:buClr>
                </a:pPr>
                <a:r>
                  <a:rPr lang="en-US" dirty="0"/>
                  <a:t>Each fundamental circuits formed by one chord together with the branches of the tree.</a:t>
                </a:r>
              </a:p>
              <a:p>
                <a:pPr>
                  <a:buClr>
                    <a:srgbClr val="B84742"/>
                  </a:buClr>
                </a:pPr>
                <a:endParaRPr lang="en-US" b="1" dirty="0"/>
              </a:p>
              <a:p>
                <a:pPr lvl="1">
                  <a:buClr>
                    <a:srgbClr val="B84742"/>
                  </a:buClr>
                </a:pPr>
                <a:endParaRPr lang="en-US" b="1" dirty="0"/>
              </a:p>
              <a:p>
                <a:pPr marL="276225" lvl="1" indent="0">
                  <a:buClr>
                    <a:srgbClr val="B84742"/>
                  </a:buClr>
                  <a:buNone/>
                </a:pPr>
                <a:endParaRPr lang="en-US" b="1" dirty="0"/>
              </a:p>
            </p:txBody>
          </p:sp>
        </mc:Choice>
        <mc:Fallback xmlns="">
          <p:sp>
            <p:nvSpPr>
              <p:cNvPr id="93" name="Content Placeholder 2">
                <a:extLst>
                  <a:ext uri="{FF2B5EF4-FFF2-40B4-BE49-F238E27FC236}">
                    <a16:creationId xmlns:a16="http://schemas.microsoft.com/office/drawing/2014/main" xmlns="" xmlns:a14="http://schemas.microsoft.com/office/drawing/2010/main" id="{DC6F4971-704E-42EF-A852-52D75741FB7C}"/>
                  </a:ext>
                </a:extLst>
              </p:cNvPr>
              <p:cNvSpPr txBox="1">
                <a:spLocks noRot="1" noChangeAspect="1" noMove="1" noResize="1" noEditPoints="1" noAdjustHandles="1" noChangeArrowheads="1" noChangeShapeType="1" noTextEdit="1"/>
              </p:cNvSpPr>
              <p:nvPr/>
            </p:nvSpPr>
            <p:spPr>
              <a:xfrm>
                <a:off x="131180" y="863444"/>
                <a:ext cx="8193954" cy="4365755"/>
              </a:xfrm>
              <a:prstGeom prst="rect">
                <a:avLst/>
              </a:prstGeom>
              <a:blipFill rotWithShape="0">
                <a:blip r:embed="rId2"/>
                <a:stretch>
                  <a:fillRect l="-1414" r="-1488"/>
                </a:stretch>
              </a:blipFill>
            </p:spPr>
            <p:txBody>
              <a:bodyPr/>
              <a:lstStyle/>
              <a:p>
                <a:r>
                  <a:rPr lang="en-US">
                    <a:noFill/>
                  </a:rPr>
                  <a:t> </a:t>
                </a:r>
              </a:p>
            </p:txBody>
          </p:sp>
        </mc:Fallback>
      </mc:AlternateContent>
      <p:pic>
        <p:nvPicPr>
          <p:cNvPr id="3" name="Picture 2"/>
          <p:cNvPicPr>
            <a:picLocks noChangeAspect="1"/>
          </p:cNvPicPr>
          <p:nvPr/>
        </p:nvPicPr>
        <p:blipFill>
          <a:blip r:embed="rId3"/>
          <a:stretch>
            <a:fillRect/>
          </a:stretch>
        </p:blipFill>
        <p:spPr>
          <a:xfrm>
            <a:off x="9119350" y="898353"/>
            <a:ext cx="3072650" cy="2865368"/>
          </a:xfrm>
          <a:prstGeom prst="rect">
            <a:avLst/>
          </a:prstGeom>
        </p:spPr>
      </p:pic>
    </p:spTree>
    <p:extLst>
      <p:ext uri="{BB962C8B-B14F-4D97-AF65-F5344CB8AC3E}">
        <p14:creationId xmlns:p14="http://schemas.microsoft.com/office/powerpoint/2010/main" val="39063160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US" dirty="0"/>
              <a:t>Fundamental Circuits</a:t>
            </a:r>
          </a:p>
        </p:txBody>
      </p:sp>
      <p:cxnSp>
        <p:nvCxnSpPr>
          <p:cNvPr id="91" name="Straight Connector 90">
            <a:extLst>
              <a:ext uri="{FF2B5EF4-FFF2-40B4-BE49-F238E27FC236}">
                <a16:creationId xmlns:a16="http://schemas.microsoft.com/office/drawing/2014/main" id="{05596C8C-2163-45E8-B709-8118C381771F}"/>
              </a:ext>
            </a:extLst>
          </p:cNvPr>
          <p:cNvCxnSpPr/>
          <p:nvPr/>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3" name="Content Placeholder 2">
            <a:extLst>
              <a:ext uri="{FF2B5EF4-FFF2-40B4-BE49-F238E27FC236}">
                <a16:creationId xmlns:a16="http://schemas.microsoft.com/office/drawing/2014/main" id="{DC6F4971-704E-42EF-A852-52D75741FB7C}"/>
              </a:ext>
            </a:extLst>
          </p:cNvPr>
          <p:cNvSpPr txBox="1">
            <a:spLocks/>
          </p:cNvSpPr>
          <p:nvPr/>
        </p:nvSpPr>
        <p:spPr>
          <a:xfrm>
            <a:off x="131180" y="863444"/>
            <a:ext cx="11869476" cy="5661900"/>
          </a:xfrm>
          <a:prstGeom prst="rect">
            <a:avLst/>
          </a:prstGeom>
        </p:spPr>
        <p:txBody>
          <a:bodyPr>
            <a:noAutofit/>
          </a:bodyPr>
          <a:lstStyle>
            <a:lvl1pPr marL="265113" indent="-265113" algn="just" defTabSz="914400" rtl="0" eaLnBrk="1" latinLnBrk="0" hangingPunct="1">
              <a:lnSpc>
                <a:spcPct val="125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628650" indent="-352425" algn="just" defTabSz="914400" rtl="0" eaLnBrk="1" latinLnBrk="0" hangingPunct="1">
              <a:lnSpc>
                <a:spcPct val="125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895350" indent="-228600" algn="just" defTabSz="914400" rtl="0" eaLnBrk="1" latinLnBrk="0" hangingPunct="1">
              <a:lnSpc>
                <a:spcPct val="125000"/>
              </a:lnSpc>
              <a:spcBef>
                <a:spcPts val="10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257300" indent="-228600" algn="just" defTabSz="914400" rtl="0" eaLnBrk="1" latinLnBrk="0" hangingPunct="1">
              <a:lnSpc>
                <a:spcPct val="125000"/>
              </a:lnSpc>
              <a:spcBef>
                <a:spcPts val="10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1619250" indent="-228600" algn="just" defTabSz="914400" rtl="0" eaLnBrk="1" latinLnBrk="0" hangingPunct="1">
              <a:lnSpc>
                <a:spcPct val="125000"/>
              </a:lnSpc>
              <a:spcBef>
                <a:spcPts val="10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pPr>
            <a:r>
              <a:rPr lang="en-US" dirty="0">
                <a:solidFill>
                  <a:srgbClr val="FF0000"/>
                </a:solidFill>
              </a:rPr>
              <a:t>Keep in mind: </a:t>
            </a:r>
          </a:p>
          <a:p>
            <a:pPr lvl="0"/>
            <a:r>
              <a:rPr lang="en-US" dirty="0"/>
              <a:t>A circuit is a fundamental circuit only with respect to a given spanning tree.</a:t>
            </a:r>
          </a:p>
          <a:p>
            <a:pPr lvl="0"/>
            <a:r>
              <a:rPr lang="en-US" dirty="0"/>
              <a:t>A given circuit may be fundamental with respect to one spanning tree, but not with respect to other spanning tree of the same graph.</a:t>
            </a:r>
          </a:p>
          <a:p>
            <a:r>
              <a:rPr lang="en-US" dirty="0"/>
              <a:t>Although the number of fundamental circuits in a graph is fixed.</a:t>
            </a:r>
          </a:p>
          <a:p>
            <a:r>
              <a:rPr lang="en-US" b="1" dirty="0"/>
              <a:t>The circuits that become fundamental change with the spanning trees.</a:t>
            </a:r>
          </a:p>
        </p:txBody>
      </p:sp>
    </p:spTree>
    <p:extLst>
      <p:ext uri="{BB962C8B-B14F-4D97-AF65-F5344CB8AC3E}">
        <p14:creationId xmlns:p14="http://schemas.microsoft.com/office/powerpoint/2010/main" val="3340646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US" dirty="0"/>
              <a:t>FINDING ALL SPANNING TREES OF A GRAPH</a:t>
            </a:r>
          </a:p>
        </p:txBody>
      </p:sp>
      <p:cxnSp>
        <p:nvCxnSpPr>
          <p:cNvPr id="91" name="Straight Connector 90">
            <a:extLst>
              <a:ext uri="{FF2B5EF4-FFF2-40B4-BE49-F238E27FC236}">
                <a16:creationId xmlns:a16="http://schemas.microsoft.com/office/drawing/2014/main" id="{05596C8C-2163-45E8-B709-8118C381771F}"/>
              </a:ext>
            </a:extLst>
          </p:cNvPr>
          <p:cNvCxnSpPr/>
          <p:nvPr/>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3" name="Content Placeholder 2">
            <a:extLst>
              <a:ext uri="{FF2B5EF4-FFF2-40B4-BE49-F238E27FC236}">
                <a16:creationId xmlns:a16="http://schemas.microsoft.com/office/drawing/2014/main" id="{DC6F4971-704E-42EF-A852-52D75741FB7C}"/>
              </a:ext>
            </a:extLst>
          </p:cNvPr>
          <p:cNvSpPr txBox="1">
            <a:spLocks/>
          </p:cNvSpPr>
          <p:nvPr/>
        </p:nvSpPr>
        <p:spPr>
          <a:xfrm>
            <a:off x="131180" y="863444"/>
            <a:ext cx="11869476" cy="5661900"/>
          </a:xfrm>
          <a:prstGeom prst="rect">
            <a:avLst/>
          </a:prstGeom>
        </p:spPr>
        <p:txBody>
          <a:bodyPr>
            <a:noAutofit/>
          </a:bodyPr>
          <a:lstStyle>
            <a:lvl1pPr marL="265113" indent="-265113" algn="just" defTabSz="914400" rtl="0" eaLnBrk="1" latinLnBrk="0" hangingPunct="1">
              <a:lnSpc>
                <a:spcPct val="125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628650" indent="-352425" algn="just" defTabSz="914400" rtl="0" eaLnBrk="1" latinLnBrk="0" hangingPunct="1">
              <a:lnSpc>
                <a:spcPct val="125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895350" indent="-228600" algn="just" defTabSz="914400" rtl="0" eaLnBrk="1" latinLnBrk="0" hangingPunct="1">
              <a:lnSpc>
                <a:spcPct val="125000"/>
              </a:lnSpc>
              <a:spcBef>
                <a:spcPts val="10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257300" indent="-228600" algn="just" defTabSz="914400" rtl="0" eaLnBrk="1" latinLnBrk="0" hangingPunct="1">
              <a:lnSpc>
                <a:spcPct val="125000"/>
              </a:lnSpc>
              <a:spcBef>
                <a:spcPts val="10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1619250" indent="-228600" algn="just" defTabSz="914400" rtl="0" eaLnBrk="1" latinLnBrk="0" hangingPunct="1">
              <a:lnSpc>
                <a:spcPct val="125000"/>
              </a:lnSpc>
              <a:spcBef>
                <a:spcPts val="10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dirty="0"/>
              <a:t>In a given connected graph there are a large number of spanning trees:</a:t>
            </a:r>
          </a:p>
          <a:p>
            <a:pPr lvl="0"/>
            <a:r>
              <a:rPr lang="en-US" dirty="0"/>
              <a:t>To find the exact number of spanning trees, </a:t>
            </a:r>
            <a:r>
              <a:rPr lang="en-US" b="1" dirty="0"/>
              <a:t>Kirchhoff's Matrix-Tree Theorem (</a:t>
            </a:r>
            <a:r>
              <a:rPr lang="en-US" dirty="0"/>
              <a:t>The </a:t>
            </a:r>
            <a:r>
              <a:rPr lang="en-US" b="1" dirty="0"/>
              <a:t>determinant</a:t>
            </a:r>
            <a:r>
              <a:rPr lang="en-US" dirty="0"/>
              <a:t> of that minor of the </a:t>
            </a:r>
            <a:r>
              <a:rPr lang="en-US" dirty="0" err="1"/>
              <a:t>Laplacian</a:t>
            </a:r>
            <a:r>
              <a:rPr lang="en-US" dirty="0"/>
              <a:t> matrix is the </a:t>
            </a:r>
            <a:r>
              <a:rPr lang="en-US" b="1" dirty="0"/>
              <a:t>number of spanning trees).</a:t>
            </a:r>
            <a:endParaRPr lang="en-US" dirty="0"/>
          </a:p>
          <a:p>
            <a:pPr lvl="0"/>
            <a:r>
              <a:rPr lang="en-US" dirty="0"/>
              <a:t>Here instead of this theorem we will use following procedure for finding all spanning tree of a graph.</a:t>
            </a:r>
          </a:p>
        </p:txBody>
      </p:sp>
    </p:spTree>
    <p:extLst>
      <p:ext uri="{BB962C8B-B14F-4D97-AF65-F5344CB8AC3E}">
        <p14:creationId xmlns:p14="http://schemas.microsoft.com/office/powerpoint/2010/main" val="19122591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US" dirty="0"/>
              <a:t>PROCEDURE: Finding All Spanning Trees Of A Graph</a:t>
            </a:r>
          </a:p>
        </p:txBody>
      </p:sp>
      <p:cxnSp>
        <p:nvCxnSpPr>
          <p:cNvPr id="91" name="Straight Connector 90">
            <a:extLst>
              <a:ext uri="{FF2B5EF4-FFF2-40B4-BE49-F238E27FC236}">
                <a16:creationId xmlns:a16="http://schemas.microsoft.com/office/drawing/2014/main" id="{05596C8C-2163-45E8-B709-8118C381771F}"/>
              </a:ext>
            </a:extLst>
          </p:cNvPr>
          <p:cNvCxnSpPr/>
          <p:nvPr/>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3" name="Content Placeholder 2">
                <a:extLst>
                  <a:ext uri="{FF2B5EF4-FFF2-40B4-BE49-F238E27FC236}">
                    <a16:creationId xmlns:a16="http://schemas.microsoft.com/office/drawing/2014/main" id="{DC6F4971-704E-42EF-A852-52D75741FB7C}"/>
                  </a:ext>
                </a:extLst>
              </p:cNvPr>
              <p:cNvSpPr txBox="1">
                <a:spLocks/>
              </p:cNvSpPr>
              <p:nvPr/>
            </p:nvSpPr>
            <p:spPr>
              <a:xfrm>
                <a:off x="131179" y="863444"/>
                <a:ext cx="8795341" cy="5733908"/>
              </a:xfrm>
              <a:prstGeom prst="rect">
                <a:avLst/>
              </a:prstGeom>
            </p:spPr>
            <p:txBody>
              <a:bodyPr>
                <a:noAutofit/>
              </a:bodyPr>
              <a:lstStyle>
                <a:lvl1pPr marL="265113" indent="-265113" algn="just" defTabSz="914400" rtl="0" eaLnBrk="1" latinLnBrk="0" hangingPunct="1">
                  <a:lnSpc>
                    <a:spcPct val="125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628650" indent="-352425" algn="just" defTabSz="914400" rtl="0" eaLnBrk="1" latinLnBrk="0" hangingPunct="1">
                  <a:lnSpc>
                    <a:spcPct val="125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895350" indent="-228600" algn="just" defTabSz="914400" rtl="0" eaLnBrk="1" latinLnBrk="0" hangingPunct="1">
                  <a:lnSpc>
                    <a:spcPct val="125000"/>
                  </a:lnSpc>
                  <a:spcBef>
                    <a:spcPts val="10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257300" indent="-228600" algn="just" defTabSz="914400" rtl="0" eaLnBrk="1" latinLnBrk="0" hangingPunct="1">
                  <a:lnSpc>
                    <a:spcPct val="125000"/>
                  </a:lnSpc>
                  <a:spcBef>
                    <a:spcPts val="10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1619250" indent="-228600" algn="just" defTabSz="914400" rtl="0" eaLnBrk="1" latinLnBrk="0" hangingPunct="1">
                  <a:lnSpc>
                    <a:spcPct val="125000"/>
                  </a:lnSpc>
                  <a:spcBef>
                    <a:spcPts val="10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a:t>Step 1:</a:t>
                </a:r>
                <a:r>
                  <a:rPr lang="en-US" sz="2400" dirty="0"/>
                  <a:t> Start with any spanning tree of the graph. Let's say the tree is </a:t>
                </a:r>
                <a14:m>
                  <m:oMath xmlns:m="http://schemas.openxmlformats.org/officeDocument/2006/math">
                    <m:sSub>
                      <m:sSubPr>
                        <m:ctrlPr>
                          <a:rPr lang="en-US" sz="2400" b="0" i="1" dirty="0" smtClean="0">
                            <a:latin typeface="Cambria Math" panose="02040503050406030204" pitchFamily="18" charset="0"/>
                          </a:rPr>
                        </m:ctrlPr>
                      </m:sSubPr>
                      <m:e>
                        <m:r>
                          <a:rPr lang="en-US" sz="2400" b="1" i="0" dirty="0" smtClean="0">
                            <a:latin typeface="Cambria Math" panose="02040503050406030204" pitchFamily="18" charset="0"/>
                          </a:rPr>
                          <m:t>𝐓</m:t>
                        </m:r>
                      </m:e>
                      <m:sub>
                        <m:r>
                          <a:rPr lang="en-US" sz="2400" b="0" i="0" dirty="0" smtClean="0">
                            <a:latin typeface="Cambria Math" panose="02040503050406030204" pitchFamily="18" charset="0"/>
                          </a:rPr>
                          <m:t>1</m:t>
                        </m:r>
                      </m:sub>
                    </m:sSub>
                    <m:r>
                      <a:rPr lang="en-US" sz="2400" b="0" i="0" dirty="0" smtClean="0">
                        <a:latin typeface="Cambria Math" panose="02040503050406030204" pitchFamily="18" charset="0"/>
                      </a:rPr>
                      <m:t>=</m:t>
                    </m:r>
                    <m:d>
                      <m:dPr>
                        <m:begChr m:val="{"/>
                        <m:endChr m:val="}"/>
                        <m:ctrlPr>
                          <a:rPr lang="en-US" sz="2400" b="0" i="1" dirty="0" smtClean="0">
                            <a:latin typeface="Cambria Math" panose="02040503050406030204" pitchFamily="18" charset="0"/>
                          </a:rPr>
                        </m:ctrlPr>
                      </m:dPr>
                      <m:e>
                        <m:r>
                          <m:rPr>
                            <m:sty m:val="p"/>
                          </m:rPr>
                          <a:rPr lang="en-US" sz="2400" i="0" dirty="0" smtClean="0">
                            <a:latin typeface="Cambria Math" panose="02040503050406030204" pitchFamily="18" charset="0"/>
                          </a:rPr>
                          <m:t>e</m:t>
                        </m:r>
                        <m:r>
                          <a:rPr lang="en-US" sz="2400" i="0" dirty="0" smtClean="0">
                            <a:latin typeface="Cambria Math" panose="02040503050406030204" pitchFamily="18" charset="0"/>
                          </a:rPr>
                          <m:t>, </m:t>
                        </m:r>
                        <m:r>
                          <m:rPr>
                            <m:sty m:val="p"/>
                          </m:rPr>
                          <a:rPr lang="en-US" sz="2400" i="0" dirty="0" smtClean="0">
                            <a:latin typeface="Cambria Math" panose="02040503050406030204" pitchFamily="18" charset="0"/>
                          </a:rPr>
                          <m:t>c</m:t>
                        </m:r>
                        <m:r>
                          <a:rPr lang="en-US" sz="2400" i="0" dirty="0" smtClean="0">
                            <a:latin typeface="Cambria Math" panose="02040503050406030204" pitchFamily="18" charset="0"/>
                          </a:rPr>
                          <m:t>, </m:t>
                        </m:r>
                        <m:r>
                          <m:rPr>
                            <m:sty m:val="p"/>
                          </m:rPr>
                          <a:rPr lang="en-US" sz="2400" i="0" dirty="0" smtClean="0">
                            <a:latin typeface="Cambria Math" panose="02040503050406030204" pitchFamily="18" charset="0"/>
                          </a:rPr>
                          <m:t>h</m:t>
                        </m:r>
                        <m:r>
                          <a:rPr lang="en-US" sz="2400" i="0" dirty="0" smtClean="0">
                            <a:latin typeface="Cambria Math" panose="02040503050406030204" pitchFamily="18" charset="0"/>
                          </a:rPr>
                          <m:t>, </m:t>
                        </m:r>
                        <m:r>
                          <m:rPr>
                            <m:sty m:val="p"/>
                          </m:rPr>
                          <a:rPr lang="en-US" sz="2400" i="0" dirty="0" smtClean="0">
                            <a:latin typeface="Cambria Math" panose="02040503050406030204" pitchFamily="18" charset="0"/>
                          </a:rPr>
                          <m:t>d</m:t>
                        </m:r>
                      </m:e>
                    </m:d>
                  </m:oMath>
                </a14:m>
                <a:r>
                  <a:rPr lang="en-US" sz="2400" dirty="0"/>
                  <a:t>.</a:t>
                </a:r>
              </a:p>
              <a:p>
                <a:r>
                  <a:rPr lang="en-US" sz="2400" b="1" dirty="0"/>
                  <a:t>Step 2:</a:t>
                </a:r>
                <a:r>
                  <a:rPr lang="en-US" sz="2400" dirty="0"/>
                  <a:t> Add a </a:t>
                </a:r>
                <a:r>
                  <a:rPr lang="en-US" sz="2400" b="1" dirty="0"/>
                  <a:t>chord</a:t>
                </a:r>
                <a:r>
                  <a:rPr lang="en-US" sz="2400" dirty="0"/>
                  <a:t> to the tree. For example, add edge </a:t>
                </a:r>
                <a:r>
                  <a:rPr lang="en-US" sz="2400" b="1" dirty="0"/>
                  <a:t>g</a:t>
                </a:r>
                <a:r>
                  <a:rPr lang="en-US" sz="2400" dirty="0"/>
                  <a:t>. This will create a </a:t>
                </a:r>
                <a:r>
                  <a:rPr lang="en-US" sz="2400" b="1" dirty="0"/>
                  <a:t>fundamental circuit</a:t>
                </a:r>
                <a:r>
                  <a:rPr lang="en-US" sz="2400" dirty="0"/>
                  <a:t> — </a:t>
                </a:r>
                <a14:m>
                  <m:oMath xmlns:m="http://schemas.openxmlformats.org/officeDocument/2006/math">
                    <m:r>
                      <a:rPr lang="en-US" sz="2400" i="0" dirty="0" smtClean="0">
                        <a:latin typeface="Cambria Math" panose="02040503050406030204" pitchFamily="18" charset="0"/>
                      </a:rPr>
                      <m:t>(</m:t>
                    </m:r>
                    <m:r>
                      <m:rPr>
                        <m:sty m:val="p"/>
                      </m:rPr>
                      <a:rPr lang="en-US" sz="2400" i="0" dirty="0">
                        <a:latin typeface="Cambria Math" panose="02040503050406030204" pitchFamily="18" charset="0"/>
                      </a:rPr>
                      <m:t>e</m:t>
                    </m:r>
                    <m:r>
                      <a:rPr lang="en-US" sz="2400" i="0" dirty="0">
                        <a:latin typeface="Cambria Math" panose="02040503050406030204" pitchFamily="18" charset="0"/>
                      </a:rPr>
                      <m:t>, </m:t>
                    </m:r>
                    <m:r>
                      <m:rPr>
                        <m:sty m:val="p"/>
                      </m:rPr>
                      <a:rPr lang="en-US" sz="2400" i="0" dirty="0">
                        <a:latin typeface="Cambria Math" panose="02040503050406030204" pitchFamily="18" charset="0"/>
                      </a:rPr>
                      <m:t>h</m:t>
                    </m:r>
                    <m:r>
                      <a:rPr lang="en-US" sz="2400" i="0" dirty="0">
                        <a:latin typeface="Cambria Math" panose="02040503050406030204" pitchFamily="18" charset="0"/>
                      </a:rPr>
                      <m:t>, </m:t>
                    </m:r>
                    <m:r>
                      <m:rPr>
                        <m:sty m:val="p"/>
                      </m:rPr>
                      <a:rPr lang="en-US" sz="2400" i="0" dirty="0">
                        <a:latin typeface="Cambria Math" panose="02040503050406030204" pitchFamily="18" charset="0"/>
                      </a:rPr>
                      <m:t>g</m:t>
                    </m:r>
                    <m:r>
                      <a:rPr lang="en-US" sz="2400" i="0" dirty="0">
                        <a:latin typeface="Cambria Math" panose="02040503050406030204" pitchFamily="18" charset="0"/>
                      </a:rPr>
                      <m:t>, </m:t>
                    </m:r>
                    <m:r>
                      <m:rPr>
                        <m:sty m:val="p"/>
                      </m:rPr>
                      <a:rPr lang="en-US" sz="2400" i="0" dirty="0">
                        <a:latin typeface="Cambria Math" panose="02040503050406030204" pitchFamily="18" charset="0"/>
                      </a:rPr>
                      <m:t>d</m:t>
                    </m:r>
                    <m:r>
                      <a:rPr lang="en-US" sz="2400" i="0" dirty="0">
                        <a:latin typeface="Cambria Math" panose="02040503050406030204" pitchFamily="18" charset="0"/>
                      </a:rPr>
                      <m:t>)</m:t>
                    </m:r>
                  </m:oMath>
                </a14:m>
                <a:r>
                  <a:rPr lang="en-US" sz="2400" dirty="0"/>
                  <a:t>.</a:t>
                </a:r>
              </a:p>
              <a:p>
                <a:r>
                  <a:rPr lang="en-US" sz="2400" b="1" dirty="0"/>
                  <a:t>Step 3:</a:t>
                </a:r>
                <a:r>
                  <a:rPr lang="en-US" sz="2400" dirty="0"/>
                  <a:t> Remove one </a:t>
                </a:r>
                <a:r>
                  <a:rPr lang="en-US" sz="2400" b="1" dirty="0"/>
                  <a:t>branch</a:t>
                </a:r>
                <a:r>
                  <a:rPr lang="en-US" sz="2400" dirty="0"/>
                  <a:t> from this fundamental circuit. For example, remove edge </a:t>
                </a:r>
                <a:r>
                  <a:rPr lang="en-US" sz="2400" b="1" dirty="0"/>
                  <a:t>h</a:t>
                </a:r>
                <a:r>
                  <a:rPr lang="en-US" sz="2400" dirty="0"/>
                  <a:t>.</a:t>
                </a:r>
              </a:p>
              <a:p>
                <a:r>
                  <a:rPr lang="en-US" sz="2400" b="1" dirty="0"/>
                  <a:t>Step 4:</a:t>
                </a:r>
                <a:r>
                  <a:rPr lang="en-US" sz="2400" dirty="0"/>
                  <a:t> The result is a new spanning tree, called </a:t>
                </a:r>
                <a14:m>
                  <m:oMath xmlns:m="http://schemas.openxmlformats.org/officeDocument/2006/math">
                    <m:sSub>
                      <m:sSubPr>
                        <m:ctrlPr>
                          <a:rPr lang="en-US" sz="2400" b="1" i="1" dirty="0" smtClean="0">
                            <a:latin typeface="Cambria Math" panose="02040503050406030204" pitchFamily="18" charset="0"/>
                          </a:rPr>
                        </m:ctrlPr>
                      </m:sSubPr>
                      <m:e>
                        <m:r>
                          <a:rPr lang="en-US" sz="2400" b="1" i="0" dirty="0" smtClean="0">
                            <a:latin typeface="Cambria Math" panose="02040503050406030204" pitchFamily="18" charset="0"/>
                          </a:rPr>
                          <m:t>𝐓</m:t>
                        </m:r>
                      </m:e>
                      <m:sub>
                        <m:r>
                          <a:rPr lang="en-US" sz="2400" b="1" i="0" dirty="0" smtClean="0">
                            <a:latin typeface="Cambria Math" panose="02040503050406030204" pitchFamily="18" charset="0"/>
                          </a:rPr>
                          <m:t>𝟐</m:t>
                        </m:r>
                      </m:sub>
                    </m:sSub>
                  </m:oMath>
                </a14:m>
                <a:r>
                  <a:rPr lang="en-US" sz="2400" dirty="0"/>
                  <a:t>.</a:t>
                </a:r>
              </a:p>
              <a:p>
                <a:r>
                  <a:rPr lang="en-US" sz="2400" dirty="0"/>
                  <a:t>This method of creating a new spanning tree from an existing one by adding a chord and removing one branch from the resulting </a:t>
                </a:r>
                <a:r>
                  <a:rPr lang="en-US" sz="2400" b="1" dirty="0"/>
                  <a:t>fundamental circuit </a:t>
                </a:r>
                <a:r>
                  <a:rPr lang="en-US" sz="2400" dirty="0"/>
                  <a:t>is called a </a:t>
                </a:r>
                <a:r>
                  <a:rPr lang="en-US" sz="2400" b="1" dirty="0"/>
                  <a:t>cyclic interchange</a:t>
                </a:r>
                <a:r>
                  <a:rPr lang="en-US" sz="2400" dirty="0"/>
                  <a:t> or an </a:t>
                </a:r>
                <a:r>
                  <a:rPr lang="en-US" sz="2400" b="1" dirty="0"/>
                  <a:t>elementary tree transformation</a:t>
                </a:r>
                <a:r>
                  <a:rPr lang="en-US" sz="2400" dirty="0"/>
                  <a:t>.</a:t>
                </a:r>
              </a:p>
            </p:txBody>
          </p:sp>
        </mc:Choice>
        <mc:Fallback xmlns="">
          <p:sp>
            <p:nvSpPr>
              <p:cNvPr id="93" name="Content Placeholder 2">
                <a:extLst>
                  <a:ext uri="{FF2B5EF4-FFF2-40B4-BE49-F238E27FC236}">
                    <a16:creationId xmlns:a16="http://schemas.microsoft.com/office/drawing/2014/main" xmlns="" xmlns:a14="http://schemas.microsoft.com/office/drawing/2010/main" id="{DC6F4971-704E-42EF-A852-52D75741FB7C}"/>
                  </a:ext>
                </a:extLst>
              </p:cNvPr>
              <p:cNvSpPr txBox="1">
                <a:spLocks noRot="1" noChangeAspect="1" noMove="1" noResize="1" noEditPoints="1" noAdjustHandles="1" noChangeArrowheads="1" noChangeShapeType="1" noTextEdit="1"/>
              </p:cNvSpPr>
              <p:nvPr/>
            </p:nvSpPr>
            <p:spPr>
              <a:xfrm>
                <a:off x="131179" y="863444"/>
                <a:ext cx="8795341" cy="5733908"/>
              </a:xfrm>
              <a:prstGeom prst="rect">
                <a:avLst/>
              </a:prstGeom>
              <a:blipFill rotWithShape="0">
                <a:blip r:embed="rId2"/>
                <a:stretch>
                  <a:fillRect l="-971" r="-1110" b="-106"/>
                </a:stretch>
              </a:blipFill>
            </p:spPr>
            <p:txBody>
              <a:bodyPr/>
              <a:lstStyle/>
              <a:p>
                <a:r>
                  <a:rPr lang="en-US">
                    <a:noFill/>
                  </a:rPr>
                  <a:t> </a:t>
                </a:r>
              </a:p>
            </p:txBody>
          </p:sp>
        </mc:Fallback>
      </mc:AlternateContent>
      <p:sp>
        <p:nvSpPr>
          <p:cNvPr id="5" name="Oval 4">
            <a:extLst>
              <a:ext uri="{FF2B5EF4-FFF2-40B4-BE49-F238E27FC236}">
                <a16:creationId xmlns:a16="http://schemas.microsoft.com/office/drawing/2014/main" id="{BDD11F87-DA81-9510-C1CB-0AF4093562CB}"/>
              </a:ext>
            </a:extLst>
          </p:cNvPr>
          <p:cNvSpPr/>
          <p:nvPr/>
        </p:nvSpPr>
        <p:spPr>
          <a:xfrm rot="5400000">
            <a:off x="10648285" y="267267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 name="Oval 5">
            <a:extLst>
              <a:ext uri="{FF2B5EF4-FFF2-40B4-BE49-F238E27FC236}">
                <a16:creationId xmlns:a16="http://schemas.microsoft.com/office/drawing/2014/main" id="{BDD11F87-DA81-9510-C1CB-0AF4093562CB}"/>
              </a:ext>
            </a:extLst>
          </p:cNvPr>
          <p:cNvSpPr/>
          <p:nvPr/>
        </p:nvSpPr>
        <p:spPr>
          <a:xfrm rot="5400000">
            <a:off x="9935912" y="339275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 name="Oval 6">
            <a:extLst>
              <a:ext uri="{FF2B5EF4-FFF2-40B4-BE49-F238E27FC236}">
                <a16:creationId xmlns:a16="http://schemas.microsoft.com/office/drawing/2014/main" id="{BDD11F87-DA81-9510-C1CB-0AF4093562CB}"/>
              </a:ext>
            </a:extLst>
          </p:cNvPr>
          <p:cNvSpPr/>
          <p:nvPr/>
        </p:nvSpPr>
        <p:spPr>
          <a:xfrm rot="5400000">
            <a:off x="11368365" y="339275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 name="Straight Connector 7">
            <a:extLst>
              <a:ext uri="{FF2B5EF4-FFF2-40B4-BE49-F238E27FC236}">
                <a16:creationId xmlns:a16="http://schemas.microsoft.com/office/drawing/2014/main" id="{6205DD86-315C-53B6-CEEF-A9919650168E}"/>
              </a:ext>
            </a:extLst>
          </p:cNvPr>
          <p:cNvCxnSpPr>
            <a:cxnSpLocks/>
            <a:stCxn id="5" idx="5"/>
            <a:endCxn id="6" idx="1"/>
          </p:cNvCxnSpPr>
          <p:nvPr/>
        </p:nvCxnSpPr>
        <p:spPr>
          <a:xfrm flipH="1">
            <a:off x="10058824" y="2795587"/>
            <a:ext cx="610549"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 name="Straight Connector 9">
            <a:extLst>
              <a:ext uri="{FF2B5EF4-FFF2-40B4-BE49-F238E27FC236}">
                <a16:creationId xmlns:a16="http://schemas.microsoft.com/office/drawing/2014/main" id="{6205DD86-315C-53B6-CEEF-A9919650168E}"/>
              </a:ext>
            </a:extLst>
          </p:cNvPr>
          <p:cNvCxnSpPr>
            <a:cxnSpLocks/>
            <a:stCxn id="5" idx="7"/>
            <a:endCxn id="7" idx="3"/>
          </p:cNvCxnSpPr>
          <p:nvPr/>
        </p:nvCxnSpPr>
        <p:spPr>
          <a:xfrm>
            <a:off x="10771197" y="2795587"/>
            <a:ext cx="618256"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 name="Straight Connector 10">
            <a:extLst>
              <a:ext uri="{FF2B5EF4-FFF2-40B4-BE49-F238E27FC236}">
                <a16:creationId xmlns:a16="http://schemas.microsoft.com/office/drawing/2014/main" id="{6205DD86-315C-53B6-CEEF-A9919650168E}"/>
              </a:ext>
            </a:extLst>
          </p:cNvPr>
          <p:cNvCxnSpPr>
            <a:cxnSpLocks/>
            <a:stCxn id="7" idx="4"/>
            <a:endCxn id="6" idx="0"/>
          </p:cNvCxnSpPr>
          <p:nvPr/>
        </p:nvCxnSpPr>
        <p:spPr>
          <a:xfrm flipH="1">
            <a:off x="10079912" y="3464755"/>
            <a:ext cx="128845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2" name="Oval 11">
            <a:extLst>
              <a:ext uri="{FF2B5EF4-FFF2-40B4-BE49-F238E27FC236}">
                <a16:creationId xmlns:a16="http://schemas.microsoft.com/office/drawing/2014/main" id="{BDD11F87-DA81-9510-C1CB-0AF4093562CB}"/>
              </a:ext>
            </a:extLst>
          </p:cNvPr>
          <p:cNvSpPr/>
          <p:nvPr/>
        </p:nvSpPr>
        <p:spPr>
          <a:xfrm rot="5400000">
            <a:off x="9928205" y="483291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3" name="Oval 12">
            <a:extLst>
              <a:ext uri="{FF2B5EF4-FFF2-40B4-BE49-F238E27FC236}">
                <a16:creationId xmlns:a16="http://schemas.microsoft.com/office/drawing/2014/main" id="{BDD11F87-DA81-9510-C1CB-0AF4093562CB}"/>
              </a:ext>
            </a:extLst>
          </p:cNvPr>
          <p:cNvSpPr/>
          <p:nvPr/>
        </p:nvSpPr>
        <p:spPr>
          <a:xfrm rot="5400000">
            <a:off x="11368365" y="483291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4" name="Straight Connector 13">
            <a:extLst>
              <a:ext uri="{FF2B5EF4-FFF2-40B4-BE49-F238E27FC236}">
                <a16:creationId xmlns:a16="http://schemas.microsoft.com/office/drawing/2014/main" id="{6205DD86-315C-53B6-CEEF-A9919650168E}"/>
              </a:ext>
            </a:extLst>
          </p:cNvPr>
          <p:cNvCxnSpPr>
            <a:cxnSpLocks/>
            <a:stCxn id="6" idx="6"/>
            <a:endCxn id="12" idx="2"/>
          </p:cNvCxnSpPr>
          <p:nvPr/>
        </p:nvCxnSpPr>
        <p:spPr>
          <a:xfrm flipH="1">
            <a:off x="10000205" y="3536755"/>
            <a:ext cx="7707"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5" name="Straight Connector 14">
            <a:extLst>
              <a:ext uri="{FF2B5EF4-FFF2-40B4-BE49-F238E27FC236}">
                <a16:creationId xmlns:a16="http://schemas.microsoft.com/office/drawing/2014/main" id="{6205DD86-315C-53B6-CEEF-A9919650168E}"/>
              </a:ext>
            </a:extLst>
          </p:cNvPr>
          <p:cNvCxnSpPr>
            <a:cxnSpLocks/>
            <a:stCxn id="7" idx="6"/>
            <a:endCxn id="13" idx="2"/>
          </p:cNvCxnSpPr>
          <p:nvPr/>
        </p:nvCxnSpPr>
        <p:spPr>
          <a:xfrm>
            <a:off x="11440365" y="3536755"/>
            <a:ext cx="0"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6" name="Straight Connector 15">
            <a:extLst>
              <a:ext uri="{FF2B5EF4-FFF2-40B4-BE49-F238E27FC236}">
                <a16:creationId xmlns:a16="http://schemas.microsoft.com/office/drawing/2014/main" id="{6205DD86-315C-53B6-CEEF-A9919650168E}"/>
              </a:ext>
            </a:extLst>
          </p:cNvPr>
          <p:cNvCxnSpPr>
            <a:cxnSpLocks/>
            <a:stCxn id="13" idx="4"/>
            <a:endCxn id="12" idx="0"/>
          </p:cNvCxnSpPr>
          <p:nvPr/>
        </p:nvCxnSpPr>
        <p:spPr>
          <a:xfrm flipH="1">
            <a:off x="10072205" y="4904915"/>
            <a:ext cx="129616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a:extLst>
              <a:ext uri="{FF2B5EF4-FFF2-40B4-BE49-F238E27FC236}">
                <a16:creationId xmlns:a16="http://schemas.microsoft.com/office/drawing/2014/main" id="{6205DD86-315C-53B6-CEEF-A9919650168E}"/>
              </a:ext>
            </a:extLst>
          </p:cNvPr>
          <p:cNvCxnSpPr>
            <a:cxnSpLocks/>
            <a:stCxn id="13" idx="3"/>
            <a:endCxn id="6" idx="7"/>
          </p:cNvCxnSpPr>
          <p:nvPr/>
        </p:nvCxnSpPr>
        <p:spPr>
          <a:xfrm flipH="1" flipV="1">
            <a:off x="10058824" y="3515667"/>
            <a:ext cx="1330629" cy="13383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8" name="Freeform: Shape 34">
            <a:extLst>
              <a:ext uri="{FF2B5EF4-FFF2-40B4-BE49-F238E27FC236}">
                <a16:creationId xmlns:a16="http://schemas.microsoft.com/office/drawing/2014/main" id="{5A43D9D2-4CAA-3544-4E99-2BE62F8BF717}"/>
              </a:ext>
            </a:extLst>
          </p:cNvPr>
          <p:cNvSpPr/>
          <p:nvPr/>
        </p:nvSpPr>
        <p:spPr>
          <a:xfrm rot="6444775" flipV="1">
            <a:off x="8655169" y="3114169"/>
            <a:ext cx="2264467" cy="1094257"/>
          </a:xfrm>
          <a:custGeom>
            <a:avLst/>
            <a:gdLst>
              <a:gd name="connsiteX0" fmla="*/ 0 w 2961249"/>
              <a:gd name="connsiteY0" fmla="*/ 436103 h 436103"/>
              <a:gd name="connsiteX1" fmla="*/ 942535 w 2961249"/>
              <a:gd name="connsiteY1" fmla="*/ 63310 h 436103"/>
              <a:gd name="connsiteX2" fmla="*/ 1892104 w 2961249"/>
              <a:gd name="connsiteY2" fmla="*/ 35174 h 436103"/>
              <a:gd name="connsiteX3" fmla="*/ 2961249 w 2961249"/>
              <a:gd name="connsiteY3" fmla="*/ 422036 h 436103"/>
              <a:gd name="connsiteX4" fmla="*/ 2961249 w 2961249"/>
              <a:gd name="connsiteY4" fmla="*/ 422036 h 436103"/>
              <a:gd name="connsiteX5" fmla="*/ 2961249 w 2961249"/>
              <a:gd name="connsiteY5" fmla="*/ 422036 h 436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61249" h="436103">
                <a:moveTo>
                  <a:pt x="0" y="436103"/>
                </a:moveTo>
                <a:cubicBezTo>
                  <a:pt x="313592" y="283117"/>
                  <a:pt x="627184" y="130131"/>
                  <a:pt x="942535" y="63310"/>
                </a:cubicBezTo>
                <a:cubicBezTo>
                  <a:pt x="1257886" y="-3512"/>
                  <a:pt x="1555652" y="-24614"/>
                  <a:pt x="1892104" y="35174"/>
                </a:cubicBezTo>
                <a:cubicBezTo>
                  <a:pt x="2228556" y="94962"/>
                  <a:pt x="2961249" y="422036"/>
                  <a:pt x="2961249" y="422036"/>
                </a:cubicBezTo>
                <a:lnTo>
                  <a:pt x="2961249" y="422036"/>
                </a:lnTo>
                <a:lnTo>
                  <a:pt x="2961249" y="422036"/>
                </a:lnTo>
              </a:path>
            </a:pathLst>
          </a:cu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p:cNvSpPr txBox="1"/>
          <p:nvPr/>
        </p:nvSpPr>
        <p:spPr>
          <a:xfrm>
            <a:off x="9291142" y="3352089"/>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20" name="TextBox 19"/>
          <p:cNvSpPr txBox="1"/>
          <p:nvPr/>
        </p:nvSpPr>
        <p:spPr>
          <a:xfrm>
            <a:off x="10539294" y="3352089"/>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21" name="TextBox 20"/>
          <p:cNvSpPr txBox="1"/>
          <p:nvPr/>
        </p:nvSpPr>
        <p:spPr>
          <a:xfrm>
            <a:off x="9946773" y="3881317"/>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22" name="TextBox 21"/>
          <p:cNvSpPr txBox="1"/>
          <p:nvPr/>
        </p:nvSpPr>
        <p:spPr>
          <a:xfrm>
            <a:off x="11461437" y="3918499"/>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23" name="TextBox 22"/>
          <p:cNvSpPr txBox="1"/>
          <p:nvPr/>
        </p:nvSpPr>
        <p:spPr>
          <a:xfrm>
            <a:off x="10639026" y="3777277"/>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24" name="TextBox 23"/>
          <p:cNvSpPr txBox="1"/>
          <p:nvPr/>
        </p:nvSpPr>
        <p:spPr>
          <a:xfrm>
            <a:off x="10989419" y="2654469"/>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25" name="TextBox 24"/>
          <p:cNvSpPr txBox="1"/>
          <p:nvPr/>
        </p:nvSpPr>
        <p:spPr>
          <a:xfrm>
            <a:off x="10569612" y="4760524"/>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26" name="TextBox 25"/>
          <p:cNvSpPr txBox="1"/>
          <p:nvPr/>
        </p:nvSpPr>
        <p:spPr>
          <a:xfrm>
            <a:off x="10348767" y="2846023"/>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mc:AlternateContent xmlns:mc="http://schemas.openxmlformats.org/markup-compatibility/2006" xmlns:a14="http://schemas.microsoft.com/office/drawing/2010/main">
        <mc:Choice Requires="a14">
          <p:sp>
            <p:nvSpPr>
              <p:cNvPr id="2" name="Rectangle 1"/>
              <p:cNvSpPr/>
              <p:nvPr/>
            </p:nvSpPr>
            <p:spPr>
              <a:xfrm>
                <a:off x="10392385" y="5421259"/>
                <a:ext cx="49237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rgbClr val="FF0000"/>
                              </a:solidFill>
                              <a:latin typeface="Cambria Math" panose="02040503050406030204" pitchFamily="18" charset="0"/>
                            </a:rPr>
                          </m:ctrlPr>
                        </m:sSubPr>
                        <m:e>
                          <m:r>
                            <a:rPr lang="en-US" b="1" i="0">
                              <a:solidFill>
                                <a:srgbClr val="FF0000"/>
                              </a:solidFill>
                              <a:latin typeface="Cambria Math" panose="02040503050406030204" pitchFamily="18" charset="0"/>
                            </a:rPr>
                            <m:t>𝐓</m:t>
                          </m:r>
                        </m:e>
                        <m:sub>
                          <m:r>
                            <a:rPr lang="en-US" b="1" i="0">
                              <a:solidFill>
                                <a:srgbClr val="FF0000"/>
                              </a:solidFill>
                              <a:latin typeface="Cambria Math" panose="02040503050406030204" pitchFamily="18" charset="0"/>
                            </a:rPr>
                            <m:t>𝟏</m:t>
                          </m:r>
                        </m:sub>
                      </m:sSub>
                    </m:oMath>
                  </m:oMathPara>
                </a14:m>
                <a:endParaRPr lang="en-US" dirty="0">
                  <a:solidFill>
                    <a:srgbClr val="FF0000"/>
                  </a:solidFill>
                </a:endParaRPr>
              </a:p>
            </p:txBody>
          </p:sp>
        </mc:Choice>
        <mc:Fallback xmlns="">
          <p:sp>
            <p:nvSpPr>
              <p:cNvPr id="2" name="Rectangle 1"/>
              <p:cNvSpPr>
                <a:spLocks noRot="1" noChangeAspect="1" noMove="1" noResize="1" noEditPoints="1" noAdjustHandles="1" noChangeArrowheads="1" noChangeShapeType="1" noTextEdit="1"/>
              </p:cNvSpPr>
              <p:nvPr/>
            </p:nvSpPr>
            <p:spPr>
              <a:xfrm>
                <a:off x="10392385" y="5421259"/>
                <a:ext cx="492378" cy="369332"/>
              </a:xfrm>
              <a:prstGeom prst="rect">
                <a:avLst/>
              </a:prstGeom>
              <a:blipFill rotWithShape="0">
                <a:blip r:embed="rId3"/>
                <a:stretch>
                  <a:fillRect b="-16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p:cNvSpPr/>
              <p:nvPr/>
            </p:nvSpPr>
            <p:spPr>
              <a:xfrm>
                <a:off x="10406240" y="5440790"/>
                <a:ext cx="47852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rgbClr val="FF0000"/>
                              </a:solidFill>
                              <a:latin typeface="Cambria Math" panose="02040503050406030204" pitchFamily="18" charset="0"/>
                            </a:rPr>
                          </m:ctrlPr>
                        </m:sSubPr>
                        <m:e>
                          <m:r>
                            <a:rPr lang="en-US" b="1" i="0">
                              <a:solidFill>
                                <a:srgbClr val="FF0000"/>
                              </a:solidFill>
                              <a:latin typeface="Cambria Math" panose="02040503050406030204" pitchFamily="18" charset="0"/>
                            </a:rPr>
                            <m:t>𝐓</m:t>
                          </m:r>
                        </m:e>
                        <m:sub>
                          <m:r>
                            <a:rPr lang="en-US" b="1" i="0" smtClean="0">
                              <a:solidFill>
                                <a:srgbClr val="FF0000"/>
                              </a:solidFill>
                              <a:latin typeface="Cambria Math" panose="02040503050406030204" pitchFamily="18" charset="0"/>
                            </a:rPr>
                            <m:t>𝟐</m:t>
                          </m:r>
                        </m:sub>
                      </m:sSub>
                    </m:oMath>
                  </m:oMathPara>
                </a14:m>
                <a:endParaRPr lang="en-US" dirty="0">
                  <a:solidFill>
                    <a:srgbClr val="FF0000"/>
                  </a:solidFill>
                </a:endParaRPr>
              </a:p>
            </p:txBody>
          </p:sp>
        </mc:Choice>
        <mc:Fallback xmlns="">
          <p:sp>
            <p:nvSpPr>
              <p:cNvPr id="27" name="Rectangle 26"/>
              <p:cNvSpPr>
                <a:spLocks noRot="1" noChangeAspect="1" noMove="1" noResize="1" noEditPoints="1" noAdjustHandles="1" noChangeArrowheads="1" noChangeShapeType="1" noTextEdit="1"/>
              </p:cNvSpPr>
              <p:nvPr/>
            </p:nvSpPr>
            <p:spPr>
              <a:xfrm>
                <a:off x="10406240" y="5440790"/>
                <a:ext cx="478528" cy="369332"/>
              </a:xfrm>
              <a:prstGeom prst="rect">
                <a:avLst/>
              </a:prstGeom>
              <a:blipFill rotWithShape="0">
                <a:blip r:embed="rId4"/>
                <a:stretch>
                  <a:fillRect b="-1667"/>
                </a:stretch>
              </a:blipFill>
            </p:spPr>
            <p:txBody>
              <a:bodyPr/>
              <a:lstStyle/>
              <a:p>
                <a:r>
                  <a:rPr lang="en-US">
                    <a:noFill/>
                  </a:rPr>
                  <a:t> </a:t>
                </a:r>
              </a:p>
            </p:txBody>
          </p:sp>
        </mc:Fallback>
      </mc:AlternateContent>
      <p:pic>
        <p:nvPicPr>
          <p:cNvPr id="3" name="Picture 2"/>
          <p:cNvPicPr>
            <a:picLocks noChangeAspect="1"/>
          </p:cNvPicPr>
          <p:nvPr/>
        </p:nvPicPr>
        <p:blipFill>
          <a:blip r:embed="rId5"/>
          <a:stretch>
            <a:fillRect/>
          </a:stretch>
        </p:blipFill>
        <p:spPr>
          <a:xfrm>
            <a:off x="10392385" y="1029237"/>
            <a:ext cx="1639390" cy="1686127"/>
          </a:xfrm>
          <a:prstGeom prst="rect">
            <a:avLst/>
          </a:prstGeom>
        </p:spPr>
      </p:pic>
    </p:spTree>
    <p:extLst>
      <p:ext uri="{BB962C8B-B14F-4D97-AF65-F5344CB8AC3E}">
        <p14:creationId xmlns:p14="http://schemas.microsoft.com/office/powerpoint/2010/main" val="12450961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17"/>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16"/>
                                        </p:tgtEl>
                                        <p:attrNameLst>
                                          <p:attrName>style.visibility</p:attrName>
                                        </p:attrNameLst>
                                      </p:cBhvr>
                                      <p:to>
                                        <p:strVal val="hidden"/>
                                      </p:to>
                                    </p:set>
                                  </p:childTnLst>
                                </p:cTn>
                              </p:par>
                              <p:par>
                                <p:cTn id="23" presetID="1" presetClass="exit"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10"/>
                                        </p:tgtEl>
                                        <p:attrNameLst>
                                          <p:attrName>style.visibility</p:attrName>
                                        </p:attrNameLst>
                                      </p:cBhvr>
                                      <p:to>
                                        <p:strVal val="hidden"/>
                                      </p:to>
                                    </p:set>
                                  </p:childTnLst>
                                </p:cTn>
                              </p:par>
                              <p:par>
                                <p:cTn id="27" presetID="1" presetClass="exit"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3">
                                            <p:txEl>
                                              <p:pRg st="1" end="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down)">
                                      <p:cBhvr>
                                        <p:cTn id="37" dur="1000"/>
                                        <p:tgtEl>
                                          <p:spTgt spid="16"/>
                                        </p:tgtEl>
                                      </p:cBhvr>
                                    </p:animEffect>
                                  </p:childTnLst>
                                </p:cTn>
                              </p:par>
                              <p:par>
                                <p:cTn id="38" presetID="22" presetClass="entr" presetSubtype="4" fill="hold" grpId="1"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wipe(down)">
                                      <p:cBhvr>
                                        <p:cTn id="40" dur="1000"/>
                                        <p:tgtEl>
                                          <p:spTgt spid="25"/>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93">
                                            <p:txEl>
                                              <p:pRg st="2" end="2"/>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grpId="0" nodeType="clickEffect">
                                  <p:stCondLst>
                                    <p:cond delay="0"/>
                                  </p:stCondLst>
                                  <p:childTnLst>
                                    <p:set>
                                      <p:cBhvr>
                                        <p:cTn id="48" dur="1" fill="hold">
                                          <p:stCondLst>
                                            <p:cond delay="0"/>
                                          </p:stCondLst>
                                        </p:cTn>
                                        <p:tgtEl>
                                          <p:spTgt spid="21"/>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14"/>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93">
                                            <p:txEl>
                                              <p:pRg st="3" end="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93">
                                            <p:txEl>
                                              <p:pRg st="4" end="4"/>
                                            </p:tx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1" nodeType="clickEffect">
                                  <p:stCondLst>
                                    <p:cond delay="0"/>
                                  </p:stCondLst>
                                  <p:childTnLst>
                                    <p:set>
                                      <p:cBhvr>
                                        <p:cTn id="66"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P spid="21" grpId="0"/>
      <p:bldP spid="23" grpId="0"/>
      <p:bldP spid="24" grpId="0"/>
      <p:bldP spid="25" grpId="0"/>
      <p:bldP spid="25" grpId="1"/>
      <p:bldP spid="2" grpId="0"/>
      <p:bldP spid="2" grpId="1"/>
      <p:bldP spid="27"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Method-4</a:t>
            </a:r>
          </a:p>
        </p:txBody>
      </p:sp>
    </p:spTree>
    <p:extLst>
      <p:ext uri="{BB962C8B-B14F-4D97-AF65-F5344CB8AC3E}">
        <p14:creationId xmlns:p14="http://schemas.microsoft.com/office/powerpoint/2010/main" val="154116821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9"/>
            <a:ext cx="11929645" cy="976985"/>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Find any fundamental circuit with respect to spanning tree of your choice and how many such fundamental circuits following graph have.</a:t>
            </a:r>
          </a:p>
        </p:txBody>
      </p:sp>
      <p:sp>
        <p:nvSpPr>
          <p:cNvPr id="16" name="Content Placeholder 2">
            <a:extLst>
              <a:ext uri="{FF2B5EF4-FFF2-40B4-BE49-F238E27FC236}">
                <a16:creationId xmlns:a16="http://schemas.microsoft.com/office/drawing/2014/main" id="{635C8299-099D-4E74-A7B7-29B2E1FD450E}"/>
              </a:ext>
            </a:extLst>
          </p:cNvPr>
          <p:cNvSpPr txBox="1">
            <a:spLocks/>
          </p:cNvSpPr>
          <p:nvPr/>
        </p:nvSpPr>
        <p:spPr>
          <a:xfrm>
            <a:off x="125283" y="1897668"/>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4 ⇝ Example 1</a:t>
            </a:r>
            <a:endParaRPr lang="en-US" dirty="0"/>
          </a:p>
        </p:txBody>
      </p:sp>
      <mc:AlternateContent xmlns:mc="http://schemas.openxmlformats.org/markup-compatibility/2006" xmlns:a14="http://schemas.microsoft.com/office/drawing/2010/main">
        <mc:Choice Requires="a14">
          <p:sp>
            <p:nvSpPr>
              <p:cNvPr id="11" name="Rectangle 10"/>
              <p:cNvSpPr/>
              <p:nvPr/>
            </p:nvSpPr>
            <p:spPr>
              <a:xfrm>
                <a:off x="125283" y="2453646"/>
                <a:ext cx="8923961" cy="4739759"/>
              </a:xfrm>
              <a:prstGeom prst="rect">
                <a:avLst/>
              </a:prstGeom>
            </p:spPr>
            <p:txBody>
              <a:bodyPr wrap="square">
                <a:spAutoFit/>
              </a:bodyPr>
              <a:lstStyle/>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Step 1: Start with any spanning tree of the graph. </a:t>
                </a:r>
              </a:p>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Let's say the tree is </a:t>
                </a:r>
                <a14:m>
                  <m:oMath xmlns:m="http://schemas.openxmlformats.org/officeDocument/2006/math">
                    <m:d>
                      <m:dPr>
                        <m:begChr m:val="{"/>
                        <m:endChr m:val="}"/>
                        <m:ctrlPr>
                          <a:rPr lang="en-US" sz="2800" b="0" i="1" dirty="0" smtClean="0">
                            <a:solidFill>
                              <a:srgbClr val="002060"/>
                            </a:solidFill>
                            <a:latin typeface="Cambria Math" panose="02040503050406030204" pitchFamily="18" charset="0"/>
                          </a:rPr>
                        </m:ctrlPr>
                      </m:dPr>
                      <m:e>
                        <m:r>
                          <m:rPr>
                            <m:sty m:val="p"/>
                          </m:rPr>
                          <a:rPr lang="en-US" sz="2800" i="0" dirty="0" err="1" smtClean="0">
                            <a:solidFill>
                              <a:srgbClr val="002060"/>
                            </a:solidFill>
                            <a:latin typeface="Cambria Math" panose="02040503050406030204" pitchFamily="18" charset="0"/>
                          </a:rPr>
                          <m:t>e</m:t>
                        </m:r>
                        <m:r>
                          <a:rPr lang="en-US" sz="2800" i="0" dirty="0" err="1" smtClean="0">
                            <a:solidFill>
                              <a:srgbClr val="002060"/>
                            </a:solidFill>
                            <a:latin typeface="Cambria Math" panose="02040503050406030204" pitchFamily="18" charset="0"/>
                          </a:rPr>
                          <m:t>, </m:t>
                        </m:r>
                        <m:r>
                          <m:rPr>
                            <m:sty m:val="p"/>
                          </m:rPr>
                          <a:rPr lang="en-US" sz="2800" i="0" dirty="0" err="1" smtClean="0">
                            <a:solidFill>
                              <a:srgbClr val="002060"/>
                            </a:solidFill>
                            <a:latin typeface="Cambria Math" panose="02040503050406030204" pitchFamily="18" charset="0"/>
                          </a:rPr>
                          <m:t>h</m:t>
                        </m:r>
                        <m:r>
                          <a:rPr lang="en-US" sz="2800" i="0" dirty="0" err="1" smtClean="0">
                            <a:solidFill>
                              <a:srgbClr val="002060"/>
                            </a:solidFill>
                            <a:latin typeface="Cambria Math" panose="02040503050406030204" pitchFamily="18" charset="0"/>
                          </a:rPr>
                          <m:t>, </m:t>
                        </m:r>
                        <m:r>
                          <m:rPr>
                            <m:sty m:val="p"/>
                          </m:rPr>
                          <a:rPr lang="en-US" sz="2800" i="0" dirty="0" err="1" smtClean="0">
                            <a:solidFill>
                              <a:srgbClr val="002060"/>
                            </a:solidFill>
                            <a:latin typeface="Cambria Math" panose="02040503050406030204" pitchFamily="18" charset="0"/>
                          </a:rPr>
                          <m:t>c</m:t>
                        </m:r>
                        <m:r>
                          <a:rPr lang="en-US" sz="2800" i="0" dirty="0" err="1" smtClean="0">
                            <a:solidFill>
                              <a:srgbClr val="002060"/>
                            </a:solidFill>
                            <a:latin typeface="Cambria Math" panose="02040503050406030204" pitchFamily="18" charset="0"/>
                          </a:rPr>
                          <m:t>,</m:t>
                        </m:r>
                        <m:r>
                          <m:rPr>
                            <m:sty m:val="p"/>
                          </m:rPr>
                          <a:rPr lang="en-US" sz="2800" i="0" dirty="0" err="1" smtClean="0">
                            <a:solidFill>
                              <a:srgbClr val="002060"/>
                            </a:solidFill>
                            <a:latin typeface="Cambria Math" panose="02040503050406030204" pitchFamily="18" charset="0"/>
                          </a:rPr>
                          <m:t>g</m:t>
                        </m:r>
                        <m:r>
                          <a:rPr lang="en-US" sz="2800" i="0" dirty="0" err="1" smtClean="0">
                            <a:solidFill>
                              <a:srgbClr val="002060"/>
                            </a:solidFill>
                            <a:latin typeface="Cambria Math" panose="02040503050406030204" pitchFamily="18" charset="0"/>
                          </a:rPr>
                          <m:t>,</m:t>
                        </m:r>
                        <m:r>
                          <m:rPr>
                            <m:sty m:val="p"/>
                          </m:rPr>
                          <a:rPr lang="en-US" sz="2800" i="0" dirty="0" err="1" smtClean="0">
                            <a:solidFill>
                              <a:srgbClr val="002060"/>
                            </a:solidFill>
                            <a:latin typeface="Cambria Math" panose="02040503050406030204" pitchFamily="18" charset="0"/>
                          </a:rPr>
                          <m:t>a</m:t>
                        </m:r>
                      </m:e>
                    </m:d>
                  </m:oMath>
                </a14:m>
                <a:r>
                  <a:rPr lang="en-US" sz="2800" dirty="0">
                    <a:solidFill>
                      <a:srgbClr val="002060"/>
                    </a:solidFill>
                  </a:rPr>
                  <a:t> and chord are</a:t>
                </a:r>
                <a14:m>
                  <m:oMath xmlns:m="http://schemas.openxmlformats.org/officeDocument/2006/math">
                    <m:r>
                      <a:rPr lang="en-US" sz="2800" i="0" dirty="0" smtClean="0">
                        <a:solidFill>
                          <a:srgbClr val="002060"/>
                        </a:solidFill>
                        <a:latin typeface="Cambria Math" panose="02040503050406030204" pitchFamily="18" charset="0"/>
                      </a:rPr>
                      <m:t> </m:t>
                    </m:r>
                    <m:d>
                      <m:dPr>
                        <m:begChr m:val="{"/>
                        <m:endChr m:val="}"/>
                        <m:ctrlPr>
                          <a:rPr lang="en-US" sz="2800" i="1" dirty="0" smtClean="0">
                            <a:solidFill>
                              <a:srgbClr val="002060"/>
                            </a:solidFill>
                            <a:latin typeface="Cambria Math" panose="02040503050406030204" pitchFamily="18" charset="0"/>
                          </a:rPr>
                        </m:ctrlPr>
                      </m:dPr>
                      <m:e>
                        <m:r>
                          <m:rPr>
                            <m:sty m:val="p"/>
                          </m:rPr>
                          <a:rPr lang="en-US" sz="2800" i="0" dirty="0" err="1" smtClean="0">
                            <a:solidFill>
                              <a:srgbClr val="002060"/>
                            </a:solidFill>
                            <a:latin typeface="Cambria Math" panose="02040503050406030204" pitchFamily="18" charset="0"/>
                          </a:rPr>
                          <m:t>b</m:t>
                        </m:r>
                        <m:r>
                          <a:rPr lang="en-US" sz="2800" i="0" dirty="0" err="1" smtClean="0">
                            <a:solidFill>
                              <a:srgbClr val="002060"/>
                            </a:solidFill>
                            <a:latin typeface="Cambria Math" panose="02040503050406030204" pitchFamily="18" charset="0"/>
                          </a:rPr>
                          <m:t>,</m:t>
                        </m:r>
                        <m:r>
                          <m:rPr>
                            <m:sty m:val="p"/>
                          </m:rPr>
                          <a:rPr lang="en-US" sz="2800" i="0" dirty="0" err="1" smtClean="0">
                            <a:solidFill>
                              <a:srgbClr val="002060"/>
                            </a:solidFill>
                            <a:latin typeface="Cambria Math" panose="02040503050406030204" pitchFamily="18" charset="0"/>
                          </a:rPr>
                          <m:t>d</m:t>
                        </m:r>
                        <m:r>
                          <a:rPr lang="en-US" sz="2800" i="0" dirty="0" err="1" smtClean="0">
                            <a:solidFill>
                              <a:srgbClr val="002060"/>
                            </a:solidFill>
                            <a:latin typeface="Cambria Math" panose="02040503050406030204" pitchFamily="18" charset="0"/>
                          </a:rPr>
                          <m:t>,</m:t>
                        </m:r>
                        <m:r>
                          <m:rPr>
                            <m:sty m:val="p"/>
                          </m:rPr>
                          <a:rPr lang="en-US" sz="2800" i="0" dirty="0" err="1" smtClean="0">
                            <a:solidFill>
                              <a:srgbClr val="002060"/>
                            </a:solidFill>
                            <a:latin typeface="Cambria Math" panose="02040503050406030204" pitchFamily="18" charset="0"/>
                          </a:rPr>
                          <m:t>f</m:t>
                        </m:r>
                        <m:r>
                          <a:rPr lang="en-US" sz="2800" i="0" dirty="0" err="1" smtClean="0">
                            <a:solidFill>
                              <a:srgbClr val="002060"/>
                            </a:solidFill>
                            <a:latin typeface="Cambria Math" panose="02040503050406030204" pitchFamily="18" charset="0"/>
                          </a:rPr>
                          <m:t>,</m:t>
                        </m:r>
                        <m:r>
                          <m:rPr>
                            <m:sty m:val="p"/>
                          </m:rPr>
                          <a:rPr lang="en-US" sz="2800" i="0" dirty="0" err="1" smtClean="0">
                            <a:solidFill>
                              <a:srgbClr val="002060"/>
                            </a:solidFill>
                            <a:latin typeface="Cambria Math" panose="02040503050406030204" pitchFamily="18" charset="0"/>
                          </a:rPr>
                          <m:t>i</m:t>
                        </m:r>
                      </m:e>
                    </m:d>
                  </m:oMath>
                </a14:m>
                <a:r>
                  <a:rPr lang="en-US" sz="2800" dirty="0">
                    <a:solidFill>
                      <a:srgbClr val="002060"/>
                    </a:solidFill>
                  </a:rPr>
                  <a:t>.</a:t>
                </a:r>
              </a:p>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Add any chord to spanning tree we get fundamental circuit. For example </a:t>
                </a:r>
                <a:r>
                  <a:rPr lang="en-US" sz="2800" b="1" dirty="0">
                    <a:solidFill>
                      <a:srgbClr val="002060"/>
                    </a:solidFill>
                  </a:rPr>
                  <a:t>add</a:t>
                </a:r>
                <a14:m>
                  <m:oMath xmlns:m="http://schemas.openxmlformats.org/officeDocument/2006/math">
                    <m:r>
                      <a:rPr lang="en-US" sz="2800" b="1" i="0" dirty="0" smtClean="0">
                        <a:solidFill>
                          <a:srgbClr val="002060"/>
                        </a:solidFill>
                        <a:latin typeface="Cambria Math" panose="02040503050406030204" pitchFamily="18" charset="0"/>
                      </a:rPr>
                      <m:t> </m:t>
                    </m:r>
                    <m:r>
                      <a:rPr lang="en-US" sz="2800" b="1" i="0" dirty="0" smtClean="0">
                        <a:solidFill>
                          <a:srgbClr val="002060"/>
                        </a:solidFill>
                        <a:latin typeface="Cambria Math" panose="02040503050406030204" pitchFamily="18" charset="0"/>
                      </a:rPr>
                      <m:t>𝐛</m:t>
                    </m:r>
                  </m:oMath>
                </a14:m>
                <a:r>
                  <a:rPr lang="en-US" sz="2800" b="1" dirty="0">
                    <a:solidFill>
                      <a:srgbClr val="002060"/>
                    </a:solidFill>
                  </a:rPr>
                  <a:t> </a:t>
                </a:r>
                <a:r>
                  <a:rPr lang="en-US" sz="2800" dirty="0">
                    <a:solidFill>
                      <a:srgbClr val="002060"/>
                    </a:solidFill>
                  </a:rPr>
                  <a:t>to</a:t>
                </a:r>
                <a14:m>
                  <m:oMath xmlns:m="http://schemas.openxmlformats.org/officeDocument/2006/math">
                    <m:r>
                      <a:rPr lang="en-US" sz="2800" b="0" i="0" dirty="0" smtClean="0">
                        <a:solidFill>
                          <a:srgbClr val="002060"/>
                        </a:solidFill>
                        <a:latin typeface="Cambria Math" panose="02040503050406030204" pitchFamily="18" charset="0"/>
                      </a:rPr>
                      <m:t> </m:t>
                    </m:r>
                    <m:d>
                      <m:dPr>
                        <m:begChr m:val="{"/>
                        <m:endChr m:val="}"/>
                        <m:ctrlPr>
                          <a:rPr lang="en-US" sz="2800" i="1" dirty="0">
                            <a:solidFill>
                              <a:srgbClr val="002060"/>
                            </a:solidFill>
                            <a:latin typeface="Cambria Math" panose="02040503050406030204" pitchFamily="18" charset="0"/>
                          </a:rPr>
                        </m:ctrlPr>
                      </m:dPr>
                      <m:e>
                        <m:r>
                          <m:rPr>
                            <m:sty m:val="p"/>
                          </m:rPr>
                          <a:rPr lang="en-US" sz="2800" dirty="0" err="1">
                            <a:solidFill>
                              <a:srgbClr val="002060"/>
                            </a:solidFill>
                            <a:latin typeface="Cambria Math" panose="02040503050406030204" pitchFamily="18" charset="0"/>
                          </a:rPr>
                          <m:t>e</m:t>
                        </m:r>
                        <m:r>
                          <a:rPr lang="en-US" sz="2800" dirty="0" err="1">
                            <a:solidFill>
                              <a:srgbClr val="002060"/>
                            </a:solidFill>
                            <a:latin typeface="Cambria Math" panose="02040503050406030204" pitchFamily="18" charset="0"/>
                          </a:rPr>
                          <m:t>, </m:t>
                        </m:r>
                        <m:r>
                          <m:rPr>
                            <m:sty m:val="p"/>
                          </m:rPr>
                          <a:rPr lang="en-US" sz="2800" dirty="0" err="1">
                            <a:solidFill>
                              <a:srgbClr val="002060"/>
                            </a:solidFill>
                            <a:latin typeface="Cambria Math" panose="02040503050406030204" pitchFamily="18" charset="0"/>
                          </a:rPr>
                          <m:t>h</m:t>
                        </m:r>
                        <m:r>
                          <a:rPr lang="en-US" sz="2800" dirty="0" err="1">
                            <a:solidFill>
                              <a:srgbClr val="002060"/>
                            </a:solidFill>
                            <a:latin typeface="Cambria Math" panose="02040503050406030204" pitchFamily="18" charset="0"/>
                          </a:rPr>
                          <m:t>, </m:t>
                        </m:r>
                        <m:r>
                          <m:rPr>
                            <m:sty m:val="p"/>
                          </m:rPr>
                          <a:rPr lang="en-US" sz="2800" dirty="0" err="1">
                            <a:solidFill>
                              <a:srgbClr val="002060"/>
                            </a:solidFill>
                            <a:latin typeface="Cambria Math" panose="02040503050406030204" pitchFamily="18" charset="0"/>
                          </a:rPr>
                          <m:t>c</m:t>
                        </m:r>
                        <m:r>
                          <a:rPr lang="en-US" sz="2800" dirty="0" err="1">
                            <a:solidFill>
                              <a:srgbClr val="002060"/>
                            </a:solidFill>
                            <a:latin typeface="Cambria Math" panose="02040503050406030204" pitchFamily="18" charset="0"/>
                          </a:rPr>
                          <m:t>,</m:t>
                        </m:r>
                        <m:r>
                          <m:rPr>
                            <m:sty m:val="p"/>
                          </m:rPr>
                          <a:rPr lang="en-US" sz="2800" dirty="0" err="1">
                            <a:solidFill>
                              <a:srgbClr val="002060"/>
                            </a:solidFill>
                            <a:latin typeface="Cambria Math" panose="02040503050406030204" pitchFamily="18" charset="0"/>
                          </a:rPr>
                          <m:t>g</m:t>
                        </m:r>
                        <m:r>
                          <a:rPr lang="en-US" sz="2800" dirty="0" err="1">
                            <a:solidFill>
                              <a:srgbClr val="002060"/>
                            </a:solidFill>
                            <a:latin typeface="Cambria Math" panose="02040503050406030204" pitchFamily="18" charset="0"/>
                          </a:rPr>
                          <m:t>,</m:t>
                        </m:r>
                        <m:r>
                          <m:rPr>
                            <m:sty m:val="p"/>
                          </m:rPr>
                          <a:rPr lang="en-US" sz="2800" dirty="0" err="1">
                            <a:solidFill>
                              <a:srgbClr val="002060"/>
                            </a:solidFill>
                            <a:latin typeface="Cambria Math" panose="02040503050406030204" pitchFamily="18" charset="0"/>
                          </a:rPr>
                          <m:t>a</m:t>
                        </m:r>
                      </m:e>
                    </m:d>
                  </m:oMath>
                </a14:m>
                <a:r>
                  <a:rPr lang="en-US" sz="2800" dirty="0">
                    <a:solidFill>
                      <a:srgbClr val="002060"/>
                    </a:solidFill>
                  </a:rPr>
                  <a:t>.</a:t>
                </a:r>
              </a:p>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i.e. </a:t>
                </a:r>
                <a14:m>
                  <m:oMath xmlns:m="http://schemas.openxmlformats.org/officeDocument/2006/math">
                    <m:d>
                      <m:dPr>
                        <m:ctrlPr>
                          <a:rPr lang="en-US" sz="2800" b="0" i="1" smtClean="0">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e</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h</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c</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a</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g</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b</m:t>
                        </m:r>
                      </m:e>
                    </m:d>
                  </m:oMath>
                </a14:m>
                <a:r>
                  <a:rPr lang="en-US" sz="2800" dirty="0">
                    <a:solidFill>
                      <a:srgbClr val="002060"/>
                    </a:solidFill>
                  </a:rPr>
                  <a:t> is fundamental circuit with respect to spanning tree </a:t>
                </a:r>
                <a14:m>
                  <m:oMath xmlns:m="http://schemas.openxmlformats.org/officeDocument/2006/math">
                    <m:d>
                      <m:dPr>
                        <m:begChr m:val="{"/>
                        <m:endChr m:val="}"/>
                        <m:ctrlPr>
                          <a:rPr lang="en-US" sz="2800" i="1" dirty="0">
                            <a:solidFill>
                              <a:srgbClr val="002060"/>
                            </a:solidFill>
                            <a:latin typeface="Cambria Math" panose="02040503050406030204" pitchFamily="18" charset="0"/>
                          </a:rPr>
                        </m:ctrlPr>
                      </m:dPr>
                      <m:e>
                        <m:r>
                          <m:rPr>
                            <m:sty m:val="p"/>
                          </m:rPr>
                          <a:rPr lang="en-US" sz="2800" dirty="0" err="1">
                            <a:solidFill>
                              <a:srgbClr val="002060"/>
                            </a:solidFill>
                            <a:latin typeface="Cambria Math" panose="02040503050406030204" pitchFamily="18" charset="0"/>
                          </a:rPr>
                          <m:t>e</m:t>
                        </m:r>
                        <m:r>
                          <a:rPr lang="en-US" sz="2800" dirty="0" err="1">
                            <a:solidFill>
                              <a:srgbClr val="002060"/>
                            </a:solidFill>
                            <a:latin typeface="Cambria Math" panose="02040503050406030204" pitchFamily="18" charset="0"/>
                          </a:rPr>
                          <m:t>, </m:t>
                        </m:r>
                        <m:r>
                          <m:rPr>
                            <m:sty m:val="p"/>
                          </m:rPr>
                          <a:rPr lang="en-US" sz="2800" dirty="0" err="1">
                            <a:solidFill>
                              <a:srgbClr val="002060"/>
                            </a:solidFill>
                            <a:latin typeface="Cambria Math" panose="02040503050406030204" pitchFamily="18" charset="0"/>
                          </a:rPr>
                          <m:t>h</m:t>
                        </m:r>
                        <m:r>
                          <a:rPr lang="en-US" sz="2800" dirty="0" err="1">
                            <a:solidFill>
                              <a:srgbClr val="002060"/>
                            </a:solidFill>
                            <a:latin typeface="Cambria Math" panose="02040503050406030204" pitchFamily="18" charset="0"/>
                          </a:rPr>
                          <m:t>, </m:t>
                        </m:r>
                        <m:r>
                          <m:rPr>
                            <m:sty m:val="p"/>
                          </m:rPr>
                          <a:rPr lang="en-US" sz="2800" dirty="0" err="1">
                            <a:solidFill>
                              <a:srgbClr val="002060"/>
                            </a:solidFill>
                            <a:latin typeface="Cambria Math" panose="02040503050406030204" pitchFamily="18" charset="0"/>
                          </a:rPr>
                          <m:t>c</m:t>
                        </m:r>
                        <m:r>
                          <a:rPr lang="en-US" sz="2800" dirty="0" err="1">
                            <a:solidFill>
                              <a:srgbClr val="002060"/>
                            </a:solidFill>
                            <a:latin typeface="Cambria Math" panose="02040503050406030204" pitchFamily="18" charset="0"/>
                          </a:rPr>
                          <m:t>,</m:t>
                        </m:r>
                        <m:r>
                          <m:rPr>
                            <m:sty m:val="p"/>
                          </m:rPr>
                          <a:rPr lang="en-US" sz="2800" dirty="0" err="1">
                            <a:solidFill>
                              <a:srgbClr val="002060"/>
                            </a:solidFill>
                            <a:latin typeface="Cambria Math" panose="02040503050406030204" pitchFamily="18" charset="0"/>
                          </a:rPr>
                          <m:t>g</m:t>
                        </m:r>
                        <m:r>
                          <a:rPr lang="en-US" sz="2800" dirty="0" err="1">
                            <a:solidFill>
                              <a:srgbClr val="002060"/>
                            </a:solidFill>
                            <a:latin typeface="Cambria Math" panose="02040503050406030204" pitchFamily="18" charset="0"/>
                          </a:rPr>
                          <m:t>,</m:t>
                        </m:r>
                        <m:r>
                          <m:rPr>
                            <m:sty m:val="p"/>
                          </m:rPr>
                          <a:rPr lang="en-US" sz="2800" dirty="0" err="1">
                            <a:solidFill>
                              <a:srgbClr val="002060"/>
                            </a:solidFill>
                            <a:latin typeface="Cambria Math" panose="02040503050406030204" pitchFamily="18" charset="0"/>
                          </a:rPr>
                          <m:t>a</m:t>
                        </m:r>
                      </m:e>
                    </m:d>
                  </m:oMath>
                </a14:m>
                <a:r>
                  <a:rPr lang="en-US" sz="2800" dirty="0">
                    <a:solidFill>
                      <a:srgbClr val="002060"/>
                    </a:solidFill>
                  </a:rPr>
                  <a:t>.</a:t>
                </a:r>
              </a:p>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Total 4 fundamental circuits graph have. </a:t>
                </a:r>
              </a:p>
              <a:p>
                <a:pPr marL="265113" indent="-265113" algn="just">
                  <a:spcBef>
                    <a:spcPts val="1000"/>
                  </a:spcBef>
                  <a:buClr>
                    <a:srgbClr val="B84742"/>
                  </a:buClr>
                  <a:buFont typeface="Wingdings 3" panose="05040102010807070707" pitchFamily="18" charset="2"/>
                  <a:buChar char=""/>
                </a:pPr>
                <a:endParaRPr lang="en-US" sz="2800" dirty="0">
                  <a:solidFill>
                    <a:srgbClr val="002060"/>
                  </a:solidFill>
                </a:endParaRPr>
              </a:p>
              <a:p>
                <a:pPr algn="just">
                  <a:spcBef>
                    <a:spcPts val="1000"/>
                  </a:spcBef>
                  <a:buClr>
                    <a:srgbClr val="B84742"/>
                  </a:buClr>
                </a:pPr>
                <a:endParaRPr lang="en-US" sz="2800" dirty="0">
                  <a:solidFill>
                    <a:srgbClr val="002060"/>
                  </a:solidFill>
                </a:endParaRPr>
              </a:p>
            </p:txBody>
          </p:sp>
        </mc:Choice>
        <mc:Fallback xmlns="">
          <p:sp>
            <p:nvSpPr>
              <p:cNvPr id="11" name="Rectangle 10"/>
              <p:cNvSpPr>
                <a:spLocks noRot="1" noChangeAspect="1" noMove="1" noResize="1" noEditPoints="1" noAdjustHandles="1" noChangeArrowheads="1" noChangeShapeType="1" noTextEdit="1"/>
              </p:cNvSpPr>
              <p:nvPr/>
            </p:nvSpPr>
            <p:spPr>
              <a:xfrm>
                <a:off x="125283" y="2453646"/>
                <a:ext cx="8923961" cy="4739759"/>
              </a:xfrm>
              <a:prstGeom prst="rect">
                <a:avLst/>
              </a:prstGeom>
              <a:blipFill rotWithShape="0">
                <a:blip r:embed="rId2"/>
                <a:stretch>
                  <a:fillRect l="-1299" t="-1416" r="-1435"/>
                </a:stretch>
              </a:blipFill>
            </p:spPr>
            <p:txBody>
              <a:bodyPr/>
              <a:lstStyle/>
              <a:p>
                <a:r>
                  <a:rPr lang="en-US">
                    <a:noFill/>
                  </a:rPr>
                  <a:t> </a:t>
                </a:r>
              </a:p>
            </p:txBody>
          </p:sp>
        </mc:Fallback>
      </mc:AlternateContent>
      <p:sp>
        <p:nvSpPr>
          <p:cNvPr id="39" name="Oval 38">
            <a:extLst>
              <a:ext uri="{FF2B5EF4-FFF2-40B4-BE49-F238E27FC236}">
                <a16:creationId xmlns:a16="http://schemas.microsoft.com/office/drawing/2014/main" id="{BDD11F87-DA81-9510-C1CB-0AF4093562CB}"/>
              </a:ext>
            </a:extLst>
          </p:cNvPr>
          <p:cNvSpPr/>
          <p:nvPr/>
        </p:nvSpPr>
        <p:spPr>
          <a:xfrm rot="5400000">
            <a:off x="10600596" y="252960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0" name="Oval 39">
            <a:extLst>
              <a:ext uri="{FF2B5EF4-FFF2-40B4-BE49-F238E27FC236}">
                <a16:creationId xmlns:a16="http://schemas.microsoft.com/office/drawing/2014/main" id="{BDD11F87-DA81-9510-C1CB-0AF4093562CB}"/>
              </a:ext>
            </a:extLst>
          </p:cNvPr>
          <p:cNvSpPr/>
          <p:nvPr/>
        </p:nvSpPr>
        <p:spPr>
          <a:xfrm rot="5400000">
            <a:off x="9888223" y="324968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1" name="Oval 40">
            <a:extLst>
              <a:ext uri="{FF2B5EF4-FFF2-40B4-BE49-F238E27FC236}">
                <a16:creationId xmlns:a16="http://schemas.microsoft.com/office/drawing/2014/main" id="{BDD11F87-DA81-9510-C1CB-0AF4093562CB}"/>
              </a:ext>
            </a:extLst>
          </p:cNvPr>
          <p:cNvSpPr/>
          <p:nvPr/>
        </p:nvSpPr>
        <p:spPr>
          <a:xfrm rot="5400000">
            <a:off x="11320676" y="324968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2" name="Straight Connector 41">
            <a:extLst>
              <a:ext uri="{FF2B5EF4-FFF2-40B4-BE49-F238E27FC236}">
                <a16:creationId xmlns:a16="http://schemas.microsoft.com/office/drawing/2014/main" id="{6205DD86-315C-53B6-CEEF-A9919650168E}"/>
              </a:ext>
            </a:extLst>
          </p:cNvPr>
          <p:cNvCxnSpPr>
            <a:cxnSpLocks/>
            <a:stCxn id="39" idx="5"/>
            <a:endCxn id="40" idx="1"/>
          </p:cNvCxnSpPr>
          <p:nvPr/>
        </p:nvCxnSpPr>
        <p:spPr>
          <a:xfrm flipH="1">
            <a:off x="10011135" y="2652516"/>
            <a:ext cx="610549"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3" name="Straight Connector 42">
            <a:extLst>
              <a:ext uri="{FF2B5EF4-FFF2-40B4-BE49-F238E27FC236}">
                <a16:creationId xmlns:a16="http://schemas.microsoft.com/office/drawing/2014/main" id="{6205DD86-315C-53B6-CEEF-A9919650168E}"/>
              </a:ext>
            </a:extLst>
          </p:cNvPr>
          <p:cNvCxnSpPr>
            <a:cxnSpLocks/>
            <a:stCxn id="39" idx="7"/>
            <a:endCxn id="41" idx="3"/>
          </p:cNvCxnSpPr>
          <p:nvPr/>
        </p:nvCxnSpPr>
        <p:spPr>
          <a:xfrm>
            <a:off x="10723508" y="2652516"/>
            <a:ext cx="618256"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4" name="Straight Connector 43">
            <a:extLst>
              <a:ext uri="{FF2B5EF4-FFF2-40B4-BE49-F238E27FC236}">
                <a16:creationId xmlns:a16="http://schemas.microsoft.com/office/drawing/2014/main" id="{6205DD86-315C-53B6-CEEF-A9919650168E}"/>
              </a:ext>
            </a:extLst>
          </p:cNvPr>
          <p:cNvCxnSpPr>
            <a:cxnSpLocks/>
            <a:stCxn id="41" idx="4"/>
            <a:endCxn id="40" idx="0"/>
          </p:cNvCxnSpPr>
          <p:nvPr/>
        </p:nvCxnSpPr>
        <p:spPr>
          <a:xfrm flipH="1">
            <a:off x="10032223" y="3321684"/>
            <a:ext cx="128845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5" name="Oval 44">
            <a:extLst>
              <a:ext uri="{FF2B5EF4-FFF2-40B4-BE49-F238E27FC236}">
                <a16:creationId xmlns:a16="http://schemas.microsoft.com/office/drawing/2014/main" id="{BDD11F87-DA81-9510-C1CB-0AF4093562CB}"/>
              </a:ext>
            </a:extLst>
          </p:cNvPr>
          <p:cNvSpPr/>
          <p:nvPr/>
        </p:nvSpPr>
        <p:spPr>
          <a:xfrm rot="5400000">
            <a:off x="9880516" y="468984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6" name="Oval 45">
            <a:extLst>
              <a:ext uri="{FF2B5EF4-FFF2-40B4-BE49-F238E27FC236}">
                <a16:creationId xmlns:a16="http://schemas.microsoft.com/office/drawing/2014/main" id="{BDD11F87-DA81-9510-C1CB-0AF4093562CB}"/>
              </a:ext>
            </a:extLst>
          </p:cNvPr>
          <p:cNvSpPr/>
          <p:nvPr/>
        </p:nvSpPr>
        <p:spPr>
          <a:xfrm rot="5400000">
            <a:off x="11320676" y="468984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7" name="Straight Connector 46">
            <a:extLst>
              <a:ext uri="{FF2B5EF4-FFF2-40B4-BE49-F238E27FC236}">
                <a16:creationId xmlns:a16="http://schemas.microsoft.com/office/drawing/2014/main" id="{6205DD86-315C-53B6-CEEF-A9919650168E}"/>
              </a:ext>
            </a:extLst>
          </p:cNvPr>
          <p:cNvCxnSpPr>
            <a:cxnSpLocks/>
            <a:stCxn id="40" idx="6"/>
            <a:endCxn id="45" idx="2"/>
          </p:cNvCxnSpPr>
          <p:nvPr/>
        </p:nvCxnSpPr>
        <p:spPr>
          <a:xfrm flipH="1">
            <a:off x="9952516" y="3393684"/>
            <a:ext cx="7707"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8" name="Straight Connector 47">
            <a:extLst>
              <a:ext uri="{FF2B5EF4-FFF2-40B4-BE49-F238E27FC236}">
                <a16:creationId xmlns:a16="http://schemas.microsoft.com/office/drawing/2014/main" id="{6205DD86-315C-53B6-CEEF-A9919650168E}"/>
              </a:ext>
            </a:extLst>
          </p:cNvPr>
          <p:cNvCxnSpPr>
            <a:cxnSpLocks/>
            <a:stCxn id="41" idx="6"/>
            <a:endCxn id="46" idx="2"/>
          </p:cNvCxnSpPr>
          <p:nvPr/>
        </p:nvCxnSpPr>
        <p:spPr>
          <a:xfrm>
            <a:off x="11392676" y="3393684"/>
            <a:ext cx="0"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9" name="Straight Connector 48">
            <a:extLst>
              <a:ext uri="{FF2B5EF4-FFF2-40B4-BE49-F238E27FC236}">
                <a16:creationId xmlns:a16="http://schemas.microsoft.com/office/drawing/2014/main" id="{6205DD86-315C-53B6-CEEF-A9919650168E}"/>
              </a:ext>
            </a:extLst>
          </p:cNvPr>
          <p:cNvCxnSpPr>
            <a:cxnSpLocks/>
            <a:stCxn id="46" idx="4"/>
            <a:endCxn id="45" idx="0"/>
          </p:cNvCxnSpPr>
          <p:nvPr/>
        </p:nvCxnSpPr>
        <p:spPr>
          <a:xfrm flipH="1">
            <a:off x="10024516" y="4761844"/>
            <a:ext cx="129616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0" name="Straight Connector 49">
            <a:extLst>
              <a:ext uri="{FF2B5EF4-FFF2-40B4-BE49-F238E27FC236}">
                <a16:creationId xmlns:a16="http://schemas.microsoft.com/office/drawing/2014/main" id="{6205DD86-315C-53B6-CEEF-A9919650168E}"/>
              </a:ext>
            </a:extLst>
          </p:cNvPr>
          <p:cNvCxnSpPr>
            <a:cxnSpLocks/>
            <a:stCxn id="46" idx="3"/>
            <a:endCxn id="40" idx="7"/>
          </p:cNvCxnSpPr>
          <p:nvPr/>
        </p:nvCxnSpPr>
        <p:spPr>
          <a:xfrm flipH="1" flipV="1">
            <a:off x="10011135" y="3372596"/>
            <a:ext cx="1330629" cy="13383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1" name="TextBox 50"/>
          <p:cNvSpPr txBox="1"/>
          <p:nvPr/>
        </p:nvSpPr>
        <p:spPr>
          <a:xfrm>
            <a:off x="9995390" y="5000612"/>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52" name="TextBox 51"/>
          <p:cNvSpPr txBox="1"/>
          <p:nvPr/>
        </p:nvSpPr>
        <p:spPr>
          <a:xfrm>
            <a:off x="9980220" y="2536854"/>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53" name="TextBox 52"/>
          <p:cNvSpPr txBox="1"/>
          <p:nvPr/>
        </p:nvSpPr>
        <p:spPr>
          <a:xfrm>
            <a:off x="10532027" y="2837297"/>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54" name="TextBox 53"/>
          <p:cNvSpPr txBox="1"/>
          <p:nvPr/>
        </p:nvSpPr>
        <p:spPr>
          <a:xfrm>
            <a:off x="11413748" y="3775428"/>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66" name="TextBox 65"/>
          <p:cNvSpPr txBox="1"/>
          <p:nvPr/>
        </p:nvSpPr>
        <p:spPr>
          <a:xfrm>
            <a:off x="11010137" y="2563139"/>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67" name="TextBox 66"/>
          <p:cNvSpPr txBox="1"/>
          <p:nvPr/>
        </p:nvSpPr>
        <p:spPr>
          <a:xfrm>
            <a:off x="11052752" y="5039673"/>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68" name="TextBox 67"/>
          <p:cNvSpPr txBox="1"/>
          <p:nvPr/>
        </p:nvSpPr>
        <p:spPr>
          <a:xfrm>
            <a:off x="10521923" y="4617453"/>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69" name="TextBox 68"/>
          <p:cNvSpPr txBox="1"/>
          <p:nvPr/>
        </p:nvSpPr>
        <p:spPr>
          <a:xfrm>
            <a:off x="9960223" y="3667786"/>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cxnSp>
        <p:nvCxnSpPr>
          <p:cNvPr id="70" name="Straight Connector 69">
            <a:extLst>
              <a:ext uri="{FF2B5EF4-FFF2-40B4-BE49-F238E27FC236}">
                <a16:creationId xmlns:a16="http://schemas.microsoft.com/office/drawing/2014/main" id="{6205DD86-315C-53B6-CEEF-A9919650168E}"/>
              </a:ext>
            </a:extLst>
          </p:cNvPr>
          <p:cNvCxnSpPr>
            <a:cxnSpLocks/>
            <a:stCxn id="71" idx="3"/>
            <a:endCxn id="45" idx="7"/>
          </p:cNvCxnSpPr>
          <p:nvPr/>
        </p:nvCxnSpPr>
        <p:spPr>
          <a:xfrm flipH="1" flipV="1">
            <a:off x="10003428" y="4812756"/>
            <a:ext cx="614237"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1" name="Oval 70">
            <a:extLst>
              <a:ext uri="{FF2B5EF4-FFF2-40B4-BE49-F238E27FC236}">
                <a16:creationId xmlns:a16="http://schemas.microsoft.com/office/drawing/2014/main" id="{BDD11F87-DA81-9510-C1CB-0AF4093562CB}"/>
              </a:ext>
            </a:extLst>
          </p:cNvPr>
          <p:cNvSpPr/>
          <p:nvPr/>
        </p:nvSpPr>
        <p:spPr>
          <a:xfrm rot="5400000">
            <a:off x="10596577" y="541889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2" name="Straight Connector 71">
            <a:extLst>
              <a:ext uri="{FF2B5EF4-FFF2-40B4-BE49-F238E27FC236}">
                <a16:creationId xmlns:a16="http://schemas.microsoft.com/office/drawing/2014/main" id="{6205DD86-315C-53B6-CEEF-A9919650168E}"/>
              </a:ext>
            </a:extLst>
          </p:cNvPr>
          <p:cNvCxnSpPr>
            <a:cxnSpLocks/>
            <a:stCxn id="71" idx="1"/>
            <a:endCxn id="46" idx="5"/>
          </p:cNvCxnSpPr>
          <p:nvPr/>
        </p:nvCxnSpPr>
        <p:spPr>
          <a:xfrm flipV="1">
            <a:off x="10719489" y="4812756"/>
            <a:ext cx="622275"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3" name="TextBox 72"/>
          <p:cNvSpPr txBox="1"/>
          <p:nvPr/>
        </p:nvSpPr>
        <p:spPr>
          <a:xfrm>
            <a:off x="10552993" y="3524210"/>
            <a:ext cx="26642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i</a:t>
            </a:r>
          </a:p>
        </p:txBody>
      </p:sp>
    </p:spTree>
    <p:extLst>
      <p:ext uri="{BB962C8B-B14F-4D97-AF65-F5344CB8AC3E}">
        <p14:creationId xmlns:p14="http://schemas.microsoft.com/office/powerpoint/2010/main" val="12482121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par>
                                <p:cTn id="7" presetID="7" presetClass="emph" presetSubtype="2" fill="hold" nodeType="withEffect">
                                  <p:stCondLst>
                                    <p:cond delay="0"/>
                                  </p:stCondLst>
                                  <p:childTnLst>
                                    <p:animClr clrSpc="rgb" dir="cw">
                                      <p:cBhvr>
                                        <p:cTn id="8" dur="750" fill="hold"/>
                                        <p:tgtEl>
                                          <p:spTgt spid="42"/>
                                        </p:tgtEl>
                                        <p:attrNameLst>
                                          <p:attrName>stroke.color</p:attrName>
                                        </p:attrNameLst>
                                      </p:cBhvr>
                                      <p:to>
                                        <a:srgbClr val="B9D98F"/>
                                      </p:to>
                                    </p:animClr>
                                    <p:set>
                                      <p:cBhvr>
                                        <p:cTn id="9" dur="750" fill="hold"/>
                                        <p:tgtEl>
                                          <p:spTgt spid="42"/>
                                        </p:tgtEl>
                                        <p:attrNameLst>
                                          <p:attrName>stroke.on</p:attrName>
                                        </p:attrNameLst>
                                      </p:cBhvr>
                                      <p:to>
                                        <p:strVal val="true"/>
                                      </p:to>
                                    </p:set>
                                  </p:childTnLst>
                                </p:cTn>
                              </p:par>
                              <p:par>
                                <p:cTn id="10" presetID="7" presetClass="emph" presetSubtype="2" fill="hold" nodeType="withEffect">
                                  <p:stCondLst>
                                    <p:cond delay="0"/>
                                  </p:stCondLst>
                                  <p:childTnLst>
                                    <p:animClr clrSpc="rgb" dir="cw">
                                      <p:cBhvr>
                                        <p:cTn id="11" dur="750" fill="hold"/>
                                        <p:tgtEl>
                                          <p:spTgt spid="44"/>
                                        </p:tgtEl>
                                        <p:attrNameLst>
                                          <p:attrName>stroke.color</p:attrName>
                                        </p:attrNameLst>
                                      </p:cBhvr>
                                      <p:to>
                                        <a:srgbClr val="B9D98F"/>
                                      </p:to>
                                    </p:animClr>
                                    <p:set>
                                      <p:cBhvr>
                                        <p:cTn id="12" dur="750" fill="hold"/>
                                        <p:tgtEl>
                                          <p:spTgt spid="44"/>
                                        </p:tgtEl>
                                        <p:attrNameLst>
                                          <p:attrName>stroke.on</p:attrName>
                                        </p:attrNameLst>
                                      </p:cBhvr>
                                      <p:to>
                                        <p:strVal val="true"/>
                                      </p:to>
                                    </p:set>
                                  </p:childTnLst>
                                </p:cTn>
                              </p:par>
                              <p:par>
                                <p:cTn id="13" presetID="7" presetClass="emph" presetSubtype="2" fill="hold" nodeType="withEffect">
                                  <p:stCondLst>
                                    <p:cond delay="0"/>
                                  </p:stCondLst>
                                  <p:childTnLst>
                                    <p:animClr clrSpc="rgb" dir="cw">
                                      <p:cBhvr>
                                        <p:cTn id="14" dur="750" fill="hold"/>
                                        <p:tgtEl>
                                          <p:spTgt spid="47"/>
                                        </p:tgtEl>
                                        <p:attrNameLst>
                                          <p:attrName>stroke.color</p:attrName>
                                        </p:attrNameLst>
                                      </p:cBhvr>
                                      <p:to>
                                        <a:srgbClr val="B9D98F"/>
                                      </p:to>
                                    </p:animClr>
                                    <p:set>
                                      <p:cBhvr>
                                        <p:cTn id="15" dur="750" fill="hold"/>
                                        <p:tgtEl>
                                          <p:spTgt spid="47"/>
                                        </p:tgtEl>
                                        <p:attrNameLst>
                                          <p:attrName>stroke.on</p:attrName>
                                        </p:attrNameLst>
                                      </p:cBhvr>
                                      <p:to>
                                        <p:strVal val="true"/>
                                      </p:to>
                                    </p:set>
                                  </p:childTnLst>
                                </p:cTn>
                              </p:par>
                              <p:par>
                                <p:cTn id="16" presetID="7" presetClass="emph" presetSubtype="2" fill="hold" nodeType="withEffect">
                                  <p:stCondLst>
                                    <p:cond delay="0"/>
                                  </p:stCondLst>
                                  <p:childTnLst>
                                    <p:animClr clrSpc="rgb" dir="cw">
                                      <p:cBhvr>
                                        <p:cTn id="17" dur="750" fill="hold"/>
                                        <p:tgtEl>
                                          <p:spTgt spid="49"/>
                                        </p:tgtEl>
                                        <p:attrNameLst>
                                          <p:attrName>stroke.color</p:attrName>
                                        </p:attrNameLst>
                                      </p:cBhvr>
                                      <p:to>
                                        <a:srgbClr val="B9D98F"/>
                                      </p:to>
                                    </p:animClr>
                                    <p:set>
                                      <p:cBhvr>
                                        <p:cTn id="18" dur="750" fill="hold"/>
                                        <p:tgtEl>
                                          <p:spTgt spid="49"/>
                                        </p:tgtEl>
                                        <p:attrNameLst>
                                          <p:attrName>stroke.on</p:attrName>
                                        </p:attrNameLst>
                                      </p:cBhvr>
                                      <p:to>
                                        <p:strVal val="true"/>
                                      </p:to>
                                    </p:set>
                                  </p:childTnLst>
                                </p:cTn>
                              </p:par>
                              <p:par>
                                <p:cTn id="19" presetID="1" presetClass="emph" presetSubtype="2" fill="hold" nodeType="withEffect">
                                  <p:stCondLst>
                                    <p:cond delay="0"/>
                                  </p:stCondLst>
                                  <p:childTnLst>
                                    <p:animClr clrSpc="rgb" dir="cw">
                                      <p:cBhvr>
                                        <p:cTn id="20" dur="750" fill="hold"/>
                                        <p:tgtEl>
                                          <p:spTgt spid="70"/>
                                        </p:tgtEl>
                                        <p:attrNameLst>
                                          <p:attrName>fillcolor</p:attrName>
                                        </p:attrNameLst>
                                      </p:cBhvr>
                                      <p:to>
                                        <a:schemeClr val="accent2"/>
                                      </p:to>
                                    </p:animClr>
                                    <p:set>
                                      <p:cBhvr>
                                        <p:cTn id="21" dur="750" fill="hold"/>
                                        <p:tgtEl>
                                          <p:spTgt spid="70"/>
                                        </p:tgtEl>
                                        <p:attrNameLst>
                                          <p:attrName>fill.type</p:attrName>
                                        </p:attrNameLst>
                                      </p:cBhvr>
                                      <p:to>
                                        <p:strVal val="solid"/>
                                      </p:to>
                                    </p:set>
                                    <p:set>
                                      <p:cBhvr>
                                        <p:cTn id="22" dur="750" fill="hold"/>
                                        <p:tgtEl>
                                          <p:spTgt spid="70"/>
                                        </p:tgtEl>
                                        <p:attrNameLst>
                                          <p:attrName>fill.on</p:attrName>
                                        </p:attrNameLst>
                                      </p:cBhvr>
                                      <p:to>
                                        <p:strVal val="true"/>
                                      </p:to>
                                    </p:set>
                                  </p:childTnLst>
                                </p:cTn>
                              </p:par>
                              <p:par>
                                <p:cTn id="23" presetID="7" presetClass="emph" presetSubtype="2" fill="hold" nodeType="withEffect">
                                  <p:stCondLst>
                                    <p:cond delay="0"/>
                                  </p:stCondLst>
                                  <p:childTnLst>
                                    <p:animClr clrSpc="rgb" dir="cw">
                                      <p:cBhvr>
                                        <p:cTn id="24" dur="750" fill="hold"/>
                                        <p:tgtEl>
                                          <p:spTgt spid="70"/>
                                        </p:tgtEl>
                                        <p:attrNameLst>
                                          <p:attrName>stroke.color</p:attrName>
                                        </p:attrNameLst>
                                      </p:cBhvr>
                                      <p:to>
                                        <a:srgbClr val="B9D98F"/>
                                      </p:to>
                                    </p:animClr>
                                    <p:set>
                                      <p:cBhvr>
                                        <p:cTn id="25" dur="750" fill="hold"/>
                                        <p:tgtEl>
                                          <p:spTgt spid="70"/>
                                        </p:tgtEl>
                                        <p:attrNameLst>
                                          <p:attrName>stroke.on</p:attrName>
                                        </p:attrNameLst>
                                      </p:cBhvr>
                                      <p:to>
                                        <p:strVal val="tru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7" presetClass="emph" presetSubtype="2" fill="hold" nodeType="clickEffect">
                                  <p:stCondLst>
                                    <p:cond delay="0"/>
                                  </p:stCondLst>
                                  <p:childTnLst>
                                    <p:animClr clrSpc="rgb" dir="cw">
                                      <p:cBhvr>
                                        <p:cTn id="37" dur="750" fill="hold"/>
                                        <p:tgtEl>
                                          <p:spTgt spid="72"/>
                                        </p:tgtEl>
                                        <p:attrNameLst>
                                          <p:attrName>stroke.color</p:attrName>
                                        </p:attrNameLst>
                                      </p:cBhvr>
                                      <p:to>
                                        <a:srgbClr val="002060"/>
                                      </p:to>
                                    </p:animClr>
                                    <p:set>
                                      <p:cBhvr>
                                        <p:cTn id="38" dur="750" fill="hold"/>
                                        <p:tgtEl>
                                          <p:spTgt spid="72"/>
                                        </p:tgtEl>
                                        <p:attrNameLst>
                                          <p:attrName>stroke.on</p:attrName>
                                        </p:attrNameLst>
                                      </p:cBhvr>
                                      <p:to>
                                        <p:strVal val="tru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0" nodeType="clickEffect">
                                  <p:stCondLst>
                                    <p:cond delay="0"/>
                                  </p:stCondLst>
                                  <p:childTnLst>
                                    <p:set>
                                      <p:cBhvr>
                                        <p:cTn id="42" dur="1" fill="hold">
                                          <p:stCondLst>
                                            <p:cond delay="0"/>
                                          </p:stCondLst>
                                        </p:cTn>
                                        <p:tgtEl>
                                          <p:spTgt spid="66"/>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43"/>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48"/>
                                        </p:tgtEl>
                                        <p:attrNameLst>
                                          <p:attrName>style.visibility</p:attrName>
                                        </p:attrNameLst>
                                      </p:cBhvr>
                                      <p:to>
                                        <p:strVal val="hidden"/>
                                      </p:to>
                                    </p:set>
                                  </p:childTnLst>
                                </p:cTn>
                              </p:par>
                              <p:par>
                                <p:cTn id="47" presetID="1" presetClass="exit" presetSubtype="0" fill="hold" grpId="0" nodeType="withEffect">
                                  <p:stCondLst>
                                    <p:cond delay="0"/>
                                  </p:stCondLst>
                                  <p:childTnLst>
                                    <p:set>
                                      <p:cBhvr>
                                        <p:cTn id="48" dur="1" fill="hold">
                                          <p:stCondLst>
                                            <p:cond delay="0"/>
                                          </p:stCondLst>
                                        </p:cTn>
                                        <p:tgtEl>
                                          <p:spTgt spid="54"/>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50"/>
                                        </p:tgtEl>
                                        <p:attrNameLst>
                                          <p:attrName>style.visibility</p:attrName>
                                        </p:attrNameLst>
                                      </p:cBhvr>
                                      <p:to>
                                        <p:strVal val="hidden"/>
                                      </p:to>
                                    </p:set>
                                  </p:childTnLst>
                                </p:cTn>
                              </p:par>
                              <p:par>
                                <p:cTn id="51" presetID="1" presetClass="exit" presetSubtype="0" fill="hold" grpId="0" nodeType="withEffect">
                                  <p:stCondLst>
                                    <p:cond delay="0"/>
                                  </p:stCondLst>
                                  <p:childTnLst>
                                    <p:set>
                                      <p:cBhvr>
                                        <p:cTn id="52" dur="1" fill="hold">
                                          <p:stCondLst>
                                            <p:cond delay="0"/>
                                          </p:stCondLst>
                                        </p:cTn>
                                        <p:tgtEl>
                                          <p:spTgt spid="73"/>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66" grpId="0"/>
      <p:bldP spid="73"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9"/>
            <a:ext cx="11929645" cy="976985"/>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Generate any 2 spanning tree using procedure of finding all spanning tree for following graph.</a:t>
            </a:r>
          </a:p>
        </p:txBody>
      </p:sp>
      <p:sp>
        <p:nvSpPr>
          <p:cNvPr id="16" name="Content Placeholder 2">
            <a:extLst>
              <a:ext uri="{FF2B5EF4-FFF2-40B4-BE49-F238E27FC236}">
                <a16:creationId xmlns:a16="http://schemas.microsoft.com/office/drawing/2014/main" id="{635C8299-099D-4E74-A7B7-29B2E1FD450E}"/>
              </a:ext>
            </a:extLst>
          </p:cNvPr>
          <p:cNvSpPr txBox="1">
            <a:spLocks/>
          </p:cNvSpPr>
          <p:nvPr/>
        </p:nvSpPr>
        <p:spPr>
          <a:xfrm>
            <a:off x="125283" y="1897668"/>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4 ⇝ Example 2</a:t>
            </a:r>
            <a:endParaRPr lang="en-US" dirty="0"/>
          </a:p>
        </p:txBody>
      </p:sp>
      <p:sp>
        <p:nvSpPr>
          <p:cNvPr id="26" name="Oval 25">
            <a:extLst>
              <a:ext uri="{FF2B5EF4-FFF2-40B4-BE49-F238E27FC236}">
                <a16:creationId xmlns:a16="http://schemas.microsoft.com/office/drawing/2014/main" id="{BDD11F87-DA81-9510-C1CB-0AF4093562CB}"/>
              </a:ext>
            </a:extLst>
          </p:cNvPr>
          <p:cNvSpPr/>
          <p:nvPr/>
        </p:nvSpPr>
        <p:spPr>
          <a:xfrm rot="5400000">
            <a:off x="10093287" y="287722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7" name="Oval 26">
            <a:extLst>
              <a:ext uri="{FF2B5EF4-FFF2-40B4-BE49-F238E27FC236}">
                <a16:creationId xmlns:a16="http://schemas.microsoft.com/office/drawing/2014/main" id="{BDD11F87-DA81-9510-C1CB-0AF4093562CB}"/>
              </a:ext>
            </a:extLst>
          </p:cNvPr>
          <p:cNvSpPr/>
          <p:nvPr/>
        </p:nvSpPr>
        <p:spPr>
          <a:xfrm rot="5400000">
            <a:off x="9380914" y="359730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8" name="Oval 27">
            <a:extLst>
              <a:ext uri="{FF2B5EF4-FFF2-40B4-BE49-F238E27FC236}">
                <a16:creationId xmlns:a16="http://schemas.microsoft.com/office/drawing/2014/main" id="{BDD11F87-DA81-9510-C1CB-0AF4093562CB}"/>
              </a:ext>
            </a:extLst>
          </p:cNvPr>
          <p:cNvSpPr/>
          <p:nvPr/>
        </p:nvSpPr>
        <p:spPr>
          <a:xfrm rot="5400000">
            <a:off x="10813367" y="359730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9" name="Straight Connector 28">
            <a:extLst>
              <a:ext uri="{FF2B5EF4-FFF2-40B4-BE49-F238E27FC236}">
                <a16:creationId xmlns:a16="http://schemas.microsoft.com/office/drawing/2014/main" id="{6205DD86-315C-53B6-CEEF-A9919650168E}"/>
              </a:ext>
            </a:extLst>
          </p:cNvPr>
          <p:cNvCxnSpPr>
            <a:cxnSpLocks/>
            <a:stCxn id="26" idx="5"/>
            <a:endCxn id="27" idx="1"/>
          </p:cNvCxnSpPr>
          <p:nvPr/>
        </p:nvCxnSpPr>
        <p:spPr>
          <a:xfrm flipH="1">
            <a:off x="9503826" y="3000134"/>
            <a:ext cx="610549"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0" name="Straight Connector 29">
            <a:extLst>
              <a:ext uri="{FF2B5EF4-FFF2-40B4-BE49-F238E27FC236}">
                <a16:creationId xmlns:a16="http://schemas.microsoft.com/office/drawing/2014/main" id="{6205DD86-315C-53B6-CEEF-A9919650168E}"/>
              </a:ext>
            </a:extLst>
          </p:cNvPr>
          <p:cNvCxnSpPr>
            <a:cxnSpLocks/>
            <a:stCxn id="26" idx="7"/>
            <a:endCxn id="28" idx="3"/>
          </p:cNvCxnSpPr>
          <p:nvPr/>
        </p:nvCxnSpPr>
        <p:spPr>
          <a:xfrm>
            <a:off x="10216199" y="3000134"/>
            <a:ext cx="618256"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1" name="Straight Connector 30">
            <a:extLst>
              <a:ext uri="{FF2B5EF4-FFF2-40B4-BE49-F238E27FC236}">
                <a16:creationId xmlns:a16="http://schemas.microsoft.com/office/drawing/2014/main" id="{6205DD86-315C-53B6-CEEF-A9919650168E}"/>
              </a:ext>
            </a:extLst>
          </p:cNvPr>
          <p:cNvCxnSpPr>
            <a:cxnSpLocks/>
            <a:stCxn id="28" idx="4"/>
            <a:endCxn id="27" idx="0"/>
          </p:cNvCxnSpPr>
          <p:nvPr/>
        </p:nvCxnSpPr>
        <p:spPr>
          <a:xfrm flipH="1">
            <a:off x="9524914" y="3669302"/>
            <a:ext cx="128845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2" name="Oval 31">
            <a:extLst>
              <a:ext uri="{FF2B5EF4-FFF2-40B4-BE49-F238E27FC236}">
                <a16:creationId xmlns:a16="http://schemas.microsoft.com/office/drawing/2014/main" id="{BDD11F87-DA81-9510-C1CB-0AF4093562CB}"/>
              </a:ext>
            </a:extLst>
          </p:cNvPr>
          <p:cNvSpPr/>
          <p:nvPr/>
        </p:nvSpPr>
        <p:spPr>
          <a:xfrm rot="5400000">
            <a:off x="9373207" y="503746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3" name="Oval 32">
            <a:extLst>
              <a:ext uri="{FF2B5EF4-FFF2-40B4-BE49-F238E27FC236}">
                <a16:creationId xmlns:a16="http://schemas.microsoft.com/office/drawing/2014/main" id="{BDD11F87-DA81-9510-C1CB-0AF4093562CB}"/>
              </a:ext>
            </a:extLst>
          </p:cNvPr>
          <p:cNvSpPr/>
          <p:nvPr/>
        </p:nvSpPr>
        <p:spPr>
          <a:xfrm rot="5400000">
            <a:off x="10813367" y="503746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4" name="Straight Connector 33">
            <a:extLst>
              <a:ext uri="{FF2B5EF4-FFF2-40B4-BE49-F238E27FC236}">
                <a16:creationId xmlns:a16="http://schemas.microsoft.com/office/drawing/2014/main" id="{6205DD86-315C-53B6-CEEF-A9919650168E}"/>
              </a:ext>
            </a:extLst>
          </p:cNvPr>
          <p:cNvCxnSpPr>
            <a:cxnSpLocks/>
            <a:stCxn id="27" idx="6"/>
            <a:endCxn id="32" idx="2"/>
          </p:cNvCxnSpPr>
          <p:nvPr/>
        </p:nvCxnSpPr>
        <p:spPr>
          <a:xfrm flipH="1">
            <a:off x="9445207" y="3741302"/>
            <a:ext cx="7707"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5" name="Straight Connector 34">
            <a:extLst>
              <a:ext uri="{FF2B5EF4-FFF2-40B4-BE49-F238E27FC236}">
                <a16:creationId xmlns:a16="http://schemas.microsoft.com/office/drawing/2014/main" id="{6205DD86-315C-53B6-CEEF-A9919650168E}"/>
              </a:ext>
            </a:extLst>
          </p:cNvPr>
          <p:cNvCxnSpPr>
            <a:cxnSpLocks/>
            <a:stCxn id="28" idx="6"/>
            <a:endCxn id="33" idx="2"/>
          </p:cNvCxnSpPr>
          <p:nvPr/>
        </p:nvCxnSpPr>
        <p:spPr>
          <a:xfrm>
            <a:off x="10885367" y="3741302"/>
            <a:ext cx="0"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6" name="Straight Connector 35">
            <a:extLst>
              <a:ext uri="{FF2B5EF4-FFF2-40B4-BE49-F238E27FC236}">
                <a16:creationId xmlns:a16="http://schemas.microsoft.com/office/drawing/2014/main" id="{6205DD86-315C-53B6-CEEF-A9919650168E}"/>
              </a:ext>
            </a:extLst>
          </p:cNvPr>
          <p:cNvCxnSpPr>
            <a:cxnSpLocks/>
            <a:stCxn id="33" idx="4"/>
            <a:endCxn id="32" idx="0"/>
          </p:cNvCxnSpPr>
          <p:nvPr/>
        </p:nvCxnSpPr>
        <p:spPr>
          <a:xfrm flipH="1">
            <a:off x="9517207" y="5109462"/>
            <a:ext cx="129616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7" name="Straight Connector 36">
            <a:extLst>
              <a:ext uri="{FF2B5EF4-FFF2-40B4-BE49-F238E27FC236}">
                <a16:creationId xmlns:a16="http://schemas.microsoft.com/office/drawing/2014/main" id="{6205DD86-315C-53B6-CEEF-A9919650168E}"/>
              </a:ext>
            </a:extLst>
          </p:cNvPr>
          <p:cNvCxnSpPr>
            <a:cxnSpLocks/>
            <a:stCxn id="33" idx="3"/>
            <a:endCxn id="27" idx="7"/>
          </p:cNvCxnSpPr>
          <p:nvPr/>
        </p:nvCxnSpPr>
        <p:spPr>
          <a:xfrm flipH="1" flipV="1">
            <a:off x="9503826" y="3720214"/>
            <a:ext cx="1330629" cy="13383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8" name="TextBox 37"/>
          <p:cNvSpPr txBox="1"/>
          <p:nvPr/>
        </p:nvSpPr>
        <p:spPr>
          <a:xfrm>
            <a:off x="9488081" y="5348230"/>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55" name="TextBox 54"/>
          <p:cNvSpPr txBox="1"/>
          <p:nvPr/>
        </p:nvSpPr>
        <p:spPr>
          <a:xfrm>
            <a:off x="9472911" y="2884472"/>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56" name="TextBox 55"/>
          <p:cNvSpPr txBox="1"/>
          <p:nvPr/>
        </p:nvSpPr>
        <p:spPr>
          <a:xfrm>
            <a:off x="10024718" y="3184915"/>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57" name="TextBox 56"/>
          <p:cNvSpPr txBox="1"/>
          <p:nvPr/>
        </p:nvSpPr>
        <p:spPr>
          <a:xfrm>
            <a:off x="10906439" y="4123046"/>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58" name="TextBox 57"/>
          <p:cNvSpPr txBox="1"/>
          <p:nvPr/>
        </p:nvSpPr>
        <p:spPr>
          <a:xfrm>
            <a:off x="10502828" y="2910757"/>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59" name="TextBox 58"/>
          <p:cNvSpPr txBox="1"/>
          <p:nvPr/>
        </p:nvSpPr>
        <p:spPr>
          <a:xfrm>
            <a:off x="10545443" y="5387291"/>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60" name="TextBox 59"/>
          <p:cNvSpPr txBox="1"/>
          <p:nvPr/>
        </p:nvSpPr>
        <p:spPr>
          <a:xfrm>
            <a:off x="10014614" y="4965071"/>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61" name="TextBox 60"/>
          <p:cNvSpPr txBox="1"/>
          <p:nvPr/>
        </p:nvSpPr>
        <p:spPr>
          <a:xfrm>
            <a:off x="9049243" y="4045834"/>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cxnSp>
        <p:nvCxnSpPr>
          <p:cNvPr id="62" name="Straight Connector 61">
            <a:extLst>
              <a:ext uri="{FF2B5EF4-FFF2-40B4-BE49-F238E27FC236}">
                <a16:creationId xmlns:a16="http://schemas.microsoft.com/office/drawing/2014/main" id="{6205DD86-315C-53B6-CEEF-A9919650168E}"/>
              </a:ext>
            </a:extLst>
          </p:cNvPr>
          <p:cNvCxnSpPr>
            <a:cxnSpLocks/>
            <a:stCxn id="63" idx="3"/>
            <a:endCxn id="32" idx="7"/>
          </p:cNvCxnSpPr>
          <p:nvPr/>
        </p:nvCxnSpPr>
        <p:spPr>
          <a:xfrm flipH="1" flipV="1">
            <a:off x="9496119" y="5160374"/>
            <a:ext cx="614237"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3" name="Oval 62">
            <a:extLst>
              <a:ext uri="{FF2B5EF4-FFF2-40B4-BE49-F238E27FC236}">
                <a16:creationId xmlns:a16="http://schemas.microsoft.com/office/drawing/2014/main" id="{BDD11F87-DA81-9510-C1CB-0AF4093562CB}"/>
              </a:ext>
            </a:extLst>
          </p:cNvPr>
          <p:cNvSpPr/>
          <p:nvPr/>
        </p:nvSpPr>
        <p:spPr>
          <a:xfrm rot="5400000">
            <a:off x="10089268" y="576651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4" name="Straight Connector 63">
            <a:extLst>
              <a:ext uri="{FF2B5EF4-FFF2-40B4-BE49-F238E27FC236}">
                <a16:creationId xmlns:a16="http://schemas.microsoft.com/office/drawing/2014/main" id="{6205DD86-315C-53B6-CEEF-A9919650168E}"/>
              </a:ext>
            </a:extLst>
          </p:cNvPr>
          <p:cNvCxnSpPr>
            <a:cxnSpLocks/>
            <a:stCxn id="63" idx="1"/>
            <a:endCxn id="33" idx="5"/>
          </p:cNvCxnSpPr>
          <p:nvPr/>
        </p:nvCxnSpPr>
        <p:spPr>
          <a:xfrm flipV="1">
            <a:off x="10212180" y="5160374"/>
            <a:ext cx="622275"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5" name="TextBox 64"/>
          <p:cNvSpPr txBox="1"/>
          <p:nvPr/>
        </p:nvSpPr>
        <p:spPr>
          <a:xfrm>
            <a:off x="10045684" y="3871828"/>
            <a:ext cx="26642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i</a:t>
            </a:r>
          </a:p>
        </p:txBody>
      </p:sp>
      <p:sp>
        <p:nvSpPr>
          <p:cNvPr id="39" name="Rectangle 38"/>
          <p:cNvSpPr/>
          <p:nvPr/>
        </p:nvSpPr>
        <p:spPr>
          <a:xfrm>
            <a:off x="125282" y="2490118"/>
            <a:ext cx="8923961" cy="1641475"/>
          </a:xfrm>
          <a:prstGeom prst="rect">
            <a:avLst/>
          </a:prstGeom>
        </p:spPr>
        <p:txBody>
          <a:bodyPr wrap="square">
            <a:spAutoFit/>
          </a:bodyPr>
          <a:lstStyle/>
          <a:p>
            <a:pPr algn="just">
              <a:spcBef>
                <a:spcPts val="1000"/>
              </a:spcBef>
              <a:buClr>
                <a:srgbClr val="B84742"/>
              </a:buClr>
            </a:pPr>
            <a:endParaRPr lang="en-US" sz="2800" dirty="0">
              <a:solidFill>
                <a:srgbClr val="002060"/>
              </a:solidFill>
            </a:endParaRPr>
          </a:p>
          <a:p>
            <a:pPr marL="265113" indent="-265113" algn="just">
              <a:spcBef>
                <a:spcPts val="1000"/>
              </a:spcBef>
              <a:buClr>
                <a:srgbClr val="B84742"/>
              </a:buClr>
              <a:buFont typeface="Wingdings 3" panose="05040102010807070707" pitchFamily="18" charset="2"/>
              <a:buChar char=""/>
            </a:pPr>
            <a:endParaRPr lang="en-US" sz="2800" dirty="0">
              <a:solidFill>
                <a:srgbClr val="002060"/>
              </a:solidFill>
            </a:endParaRPr>
          </a:p>
          <a:p>
            <a:pPr algn="just">
              <a:spcBef>
                <a:spcPts val="1000"/>
              </a:spcBef>
              <a:buClr>
                <a:srgbClr val="B84742"/>
              </a:buClr>
            </a:pPr>
            <a:endParaRPr lang="en-US" sz="2800" dirty="0">
              <a:solidFill>
                <a:srgbClr val="002060"/>
              </a:solidFill>
            </a:endParaRPr>
          </a:p>
        </p:txBody>
      </p:sp>
      <mc:AlternateContent xmlns:mc="http://schemas.openxmlformats.org/markup-compatibility/2006" xmlns:a14="http://schemas.microsoft.com/office/drawing/2010/main">
        <mc:Choice Requires="a14">
          <p:sp>
            <p:nvSpPr>
              <p:cNvPr id="40" name="Rectangle 39"/>
              <p:cNvSpPr/>
              <p:nvPr/>
            </p:nvSpPr>
            <p:spPr>
              <a:xfrm>
                <a:off x="125282" y="2490118"/>
                <a:ext cx="8923961" cy="4052391"/>
              </a:xfrm>
              <a:prstGeom prst="rect">
                <a:avLst/>
              </a:prstGeom>
            </p:spPr>
            <p:txBody>
              <a:bodyPr wrap="square">
                <a:spAutoFit/>
              </a:bodyPr>
              <a:lstStyle/>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Start with any spanning tree of the graph. </a:t>
                </a:r>
              </a:p>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Let's say the tree is </a:t>
                </a:r>
                <a14:m>
                  <m:oMath xmlns:m="http://schemas.openxmlformats.org/officeDocument/2006/math">
                    <m:d>
                      <m:dPr>
                        <m:begChr m:val="{"/>
                        <m:endChr m:val="}"/>
                        <m:ctrlPr>
                          <a:rPr lang="en-US" sz="2800" b="0" i="1" dirty="0" smtClean="0">
                            <a:solidFill>
                              <a:srgbClr val="002060"/>
                            </a:solidFill>
                            <a:latin typeface="Cambria Math" panose="02040503050406030204" pitchFamily="18" charset="0"/>
                          </a:rPr>
                        </m:ctrlPr>
                      </m:dPr>
                      <m:e>
                        <m:r>
                          <m:rPr>
                            <m:sty m:val="p"/>
                          </m:rPr>
                          <a:rPr lang="en-US" sz="2800" i="0" dirty="0" err="1" smtClean="0">
                            <a:solidFill>
                              <a:srgbClr val="002060"/>
                            </a:solidFill>
                            <a:latin typeface="Cambria Math" panose="02040503050406030204" pitchFamily="18" charset="0"/>
                          </a:rPr>
                          <m:t>e</m:t>
                        </m:r>
                        <m:r>
                          <a:rPr lang="en-US" sz="2800" i="0" dirty="0" err="1" smtClean="0">
                            <a:solidFill>
                              <a:srgbClr val="002060"/>
                            </a:solidFill>
                            <a:latin typeface="Cambria Math" panose="02040503050406030204" pitchFamily="18" charset="0"/>
                          </a:rPr>
                          <m:t>, </m:t>
                        </m:r>
                        <m:r>
                          <m:rPr>
                            <m:sty m:val="p"/>
                          </m:rPr>
                          <a:rPr lang="en-US" sz="2800" i="0" dirty="0" err="1" smtClean="0">
                            <a:solidFill>
                              <a:srgbClr val="002060"/>
                            </a:solidFill>
                            <a:latin typeface="Cambria Math" panose="02040503050406030204" pitchFamily="18" charset="0"/>
                          </a:rPr>
                          <m:t>h</m:t>
                        </m:r>
                        <m:r>
                          <a:rPr lang="en-US" sz="2800" i="0" dirty="0" err="1" smtClean="0">
                            <a:solidFill>
                              <a:srgbClr val="002060"/>
                            </a:solidFill>
                            <a:latin typeface="Cambria Math" panose="02040503050406030204" pitchFamily="18" charset="0"/>
                          </a:rPr>
                          <m:t>, </m:t>
                        </m:r>
                        <m:r>
                          <m:rPr>
                            <m:sty m:val="p"/>
                          </m:rPr>
                          <a:rPr lang="en-US" sz="2800" i="0" dirty="0" err="1" smtClean="0">
                            <a:solidFill>
                              <a:srgbClr val="002060"/>
                            </a:solidFill>
                            <a:latin typeface="Cambria Math" panose="02040503050406030204" pitchFamily="18" charset="0"/>
                          </a:rPr>
                          <m:t>c</m:t>
                        </m:r>
                        <m:r>
                          <a:rPr lang="en-US" sz="2800" i="0" dirty="0" err="1" smtClean="0">
                            <a:solidFill>
                              <a:srgbClr val="002060"/>
                            </a:solidFill>
                            <a:latin typeface="Cambria Math" panose="02040503050406030204" pitchFamily="18" charset="0"/>
                          </a:rPr>
                          <m:t>,</m:t>
                        </m:r>
                        <m:r>
                          <m:rPr>
                            <m:sty m:val="p"/>
                          </m:rPr>
                          <a:rPr lang="en-US" sz="2800" i="0" dirty="0" err="1" smtClean="0">
                            <a:solidFill>
                              <a:srgbClr val="002060"/>
                            </a:solidFill>
                            <a:latin typeface="Cambria Math" panose="02040503050406030204" pitchFamily="18" charset="0"/>
                          </a:rPr>
                          <m:t>g</m:t>
                        </m:r>
                        <m:r>
                          <a:rPr lang="en-US" sz="2800" i="0" dirty="0" err="1" smtClean="0">
                            <a:solidFill>
                              <a:srgbClr val="002060"/>
                            </a:solidFill>
                            <a:latin typeface="Cambria Math" panose="02040503050406030204" pitchFamily="18" charset="0"/>
                          </a:rPr>
                          <m:t>,</m:t>
                        </m:r>
                        <m:r>
                          <m:rPr>
                            <m:sty m:val="p"/>
                          </m:rPr>
                          <a:rPr lang="en-US" sz="2800" i="0" dirty="0" err="1" smtClean="0">
                            <a:solidFill>
                              <a:srgbClr val="002060"/>
                            </a:solidFill>
                            <a:latin typeface="Cambria Math" panose="02040503050406030204" pitchFamily="18" charset="0"/>
                          </a:rPr>
                          <m:t>a</m:t>
                        </m:r>
                      </m:e>
                    </m:d>
                  </m:oMath>
                </a14:m>
                <a:r>
                  <a:rPr lang="en-US" sz="2800" dirty="0">
                    <a:solidFill>
                      <a:srgbClr val="002060"/>
                    </a:solidFill>
                  </a:rPr>
                  <a:t> with chord are</a:t>
                </a:r>
                <a14:m>
                  <m:oMath xmlns:m="http://schemas.openxmlformats.org/officeDocument/2006/math">
                    <m:r>
                      <a:rPr lang="en-US" sz="2800" dirty="0">
                        <a:solidFill>
                          <a:srgbClr val="002060"/>
                        </a:solidFill>
                        <a:latin typeface="Cambria Math" panose="02040503050406030204" pitchFamily="18" charset="0"/>
                      </a:rPr>
                      <m:t> </m:t>
                    </m:r>
                    <m:d>
                      <m:dPr>
                        <m:begChr m:val="{"/>
                        <m:endChr m:val="}"/>
                        <m:ctrlPr>
                          <a:rPr lang="en-US" sz="2800" i="1" dirty="0">
                            <a:solidFill>
                              <a:srgbClr val="002060"/>
                            </a:solidFill>
                            <a:latin typeface="Cambria Math" panose="02040503050406030204" pitchFamily="18" charset="0"/>
                          </a:rPr>
                        </m:ctrlPr>
                      </m:dPr>
                      <m:e>
                        <m:r>
                          <m:rPr>
                            <m:sty m:val="p"/>
                          </m:rPr>
                          <a:rPr lang="en-US" sz="2800" dirty="0" err="1">
                            <a:solidFill>
                              <a:srgbClr val="002060"/>
                            </a:solidFill>
                            <a:latin typeface="Cambria Math" panose="02040503050406030204" pitchFamily="18" charset="0"/>
                          </a:rPr>
                          <m:t>b</m:t>
                        </m:r>
                        <m:r>
                          <a:rPr lang="en-US" sz="2800" dirty="0" err="1">
                            <a:solidFill>
                              <a:srgbClr val="002060"/>
                            </a:solidFill>
                            <a:latin typeface="Cambria Math" panose="02040503050406030204" pitchFamily="18" charset="0"/>
                          </a:rPr>
                          <m:t>,</m:t>
                        </m:r>
                        <m:r>
                          <m:rPr>
                            <m:sty m:val="p"/>
                          </m:rPr>
                          <a:rPr lang="en-US" sz="2800" dirty="0" err="1">
                            <a:solidFill>
                              <a:srgbClr val="002060"/>
                            </a:solidFill>
                            <a:latin typeface="Cambria Math" panose="02040503050406030204" pitchFamily="18" charset="0"/>
                          </a:rPr>
                          <m:t>d</m:t>
                        </m:r>
                        <m:r>
                          <a:rPr lang="en-US" sz="2800" dirty="0" err="1">
                            <a:solidFill>
                              <a:srgbClr val="002060"/>
                            </a:solidFill>
                            <a:latin typeface="Cambria Math" panose="02040503050406030204" pitchFamily="18" charset="0"/>
                          </a:rPr>
                          <m:t>,</m:t>
                        </m:r>
                        <m:r>
                          <m:rPr>
                            <m:sty m:val="p"/>
                          </m:rPr>
                          <a:rPr lang="en-US" sz="2800" dirty="0" err="1">
                            <a:solidFill>
                              <a:srgbClr val="002060"/>
                            </a:solidFill>
                            <a:latin typeface="Cambria Math" panose="02040503050406030204" pitchFamily="18" charset="0"/>
                          </a:rPr>
                          <m:t>f</m:t>
                        </m:r>
                        <m:r>
                          <a:rPr lang="en-US" sz="2800" dirty="0" err="1">
                            <a:solidFill>
                              <a:srgbClr val="002060"/>
                            </a:solidFill>
                            <a:latin typeface="Cambria Math" panose="02040503050406030204" pitchFamily="18" charset="0"/>
                          </a:rPr>
                          <m:t>,</m:t>
                        </m:r>
                        <m:r>
                          <m:rPr>
                            <m:sty m:val="p"/>
                          </m:rPr>
                          <a:rPr lang="en-US" sz="2800" dirty="0" err="1">
                            <a:solidFill>
                              <a:srgbClr val="002060"/>
                            </a:solidFill>
                            <a:latin typeface="Cambria Math" panose="02040503050406030204" pitchFamily="18" charset="0"/>
                          </a:rPr>
                          <m:t>i</m:t>
                        </m:r>
                      </m:e>
                    </m:d>
                  </m:oMath>
                </a14:m>
                <a:r>
                  <a:rPr lang="en-US" sz="2800" dirty="0">
                    <a:solidFill>
                      <a:srgbClr val="002060"/>
                    </a:solidFill>
                  </a:rPr>
                  <a:t> and branches are </a:t>
                </a:r>
                <a14:m>
                  <m:oMath xmlns:m="http://schemas.openxmlformats.org/officeDocument/2006/math">
                    <m:d>
                      <m:dPr>
                        <m:begChr m:val="{"/>
                        <m:endChr m:val="}"/>
                        <m:ctrlPr>
                          <a:rPr lang="en-US" sz="2800" b="0" i="1" smtClean="0">
                            <a:solidFill>
                              <a:srgbClr val="002060"/>
                            </a:solidFill>
                            <a:latin typeface="Cambria Math" panose="02040503050406030204" pitchFamily="18" charset="0"/>
                          </a:rPr>
                        </m:ctrlPr>
                      </m:dPr>
                      <m:e>
                        <m:r>
                          <m:rPr>
                            <m:sty m:val="p"/>
                          </m:rPr>
                          <a:rPr lang="en-US" sz="2800" b="0" i="0" smtClean="0">
                            <a:solidFill>
                              <a:srgbClr val="002060"/>
                            </a:solidFill>
                            <a:latin typeface="Cambria Math" panose="02040503050406030204" pitchFamily="18" charset="0"/>
                          </a:rPr>
                          <m:t>e</m:t>
                        </m:r>
                        <m:r>
                          <a:rPr lang="en-US" sz="2800" b="0" i="0" smtClean="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h</m:t>
                        </m:r>
                        <m:r>
                          <a:rPr lang="en-US" sz="2800" b="0" i="0" smtClean="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c</m:t>
                        </m:r>
                        <m:r>
                          <a:rPr lang="en-US" sz="2800" b="0" i="0" smtClean="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g</m:t>
                        </m:r>
                        <m:r>
                          <a:rPr lang="en-US" sz="2800" b="0" i="0" smtClean="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a</m:t>
                        </m:r>
                      </m:e>
                    </m:d>
                  </m:oMath>
                </a14:m>
                <a:r>
                  <a:rPr lang="en-US" sz="2800" dirty="0">
                    <a:solidFill>
                      <a:srgbClr val="002060"/>
                    </a:solidFill>
                  </a:rPr>
                  <a:t>.</a:t>
                </a:r>
              </a:p>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Add a chord to the tree. For example, </a:t>
                </a:r>
                <a:r>
                  <a:rPr lang="en-US" sz="2800" b="1" dirty="0">
                    <a:solidFill>
                      <a:srgbClr val="002060"/>
                    </a:solidFill>
                  </a:rPr>
                  <a:t>add edge </a:t>
                </a:r>
                <a14:m>
                  <m:oMath xmlns:m="http://schemas.openxmlformats.org/officeDocument/2006/math">
                    <m:r>
                      <a:rPr lang="en-US" sz="2800" b="1" i="0" smtClean="0">
                        <a:solidFill>
                          <a:srgbClr val="002060"/>
                        </a:solidFill>
                        <a:latin typeface="Cambria Math" panose="02040503050406030204" pitchFamily="18" charset="0"/>
                      </a:rPr>
                      <m:t>𝐛</m:t>
                    </m:r>
                  </m:oMath>
                </a14:m>
                <a:r>
                  <a:rPr lang="en-US" sz="2800" dirty="0">
                    <a:solidFill>
                      <a:srgbClr val="002060"/>
                    </a:solidFill>
                  </a:rPr>
                  <a:t>. This will create a fundamental circuit — (e, h, c, g, a, b).</a:t>
                </a:r>
              </a:p>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Remove one branch from this fundamental circuit. For example, </a:t>
                </a:r>
                <a:r>
                  <a:rPr lang="en-US" sz="2800" b="1" dirty="0">
                    <a:solidFill>
                      <a:srgbClr val="002060"/>
                    </a:solidFill>
                  </a:rPr>
                  <a:t>remove edge</a:t>
                </a:r>
                <a14:m>
                  <m:oMath xmlns:m="http://schemas.openxmlformats.org/officeDocument/2006/math">
                    <m:r>
                      <a:rPr lang="en-US" sz="2800" b="1" i="0" dirty="0" smtClean="0">
                        <a:solidFill>
                          <a:srgbClr val="002060"/>
                        </a:solidFill>
                        <a:latin typeface="Cambria Math" panose="02040503050406030204" pitchFamily="18" charset="0"/>
                      </a:rPr>
                      <m:t> </m:t>
                    </m:r>
                    <m:r>
                      <a:rPr lang="en-US" sz="2800" b="1" i="0" dirty="0" smtClean="0">
                        <a:solidFill>
                          <a:srgbClr val="002060"/>
                        </a:solidFill>
                        <a:latin typeface="Cambria Math" panose="02040503050406030204" pitchFamily="18" charset="0"/>
                      </a:rPr>
                      <m:t>𝐚</m:t>
                    </m:r>
                  </m:oMath>
                </a14:m>
                <a:r>
                  <a:rPr lang="en-US" sz="2800" dirty="0">
                    <a:solidFill>
                      <a:srgbClr val="002060"/>
                    </a:solidFill>
                  </a:rPr>
                  <a:t>.</a:t>
                </a:r>
              </a:p>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The result is a new spanning tree, </a:t>
                </a:r>
                <a14:m>
                  <m:oMath xmlns:m="http://schemas.openxmlformats.org/officeDocument/2006/math">
                    <m:d>
                      <m:dPr>
                        <m:begChr m:val="{"/>
                        <m:endChr m:val="}"/>
                        <m:ctrlPr>
                          <a:rPr lang="en-US" sz="2800" b="0" i="1" smtClean="0">
                            <a:solidFill>
                              <a:srgbClr val="002060"/>
                            </a:solidFill>
                            <a:latin typeface="Cambria Math" panose="02040503050406030204" pitchFamily="18" charset="0"/>
                          </a:rPr>
                        </m:ctrlPr>
                      </m:dPr>
                      <m:e>
                        <m:r>
                          <m:rPr>
                            <m:nor/>
                          </m:rPr>
                          <a:rPr lang="en-US" sz="2800" dirty="0">
                            <a:solidFill>
                              <a:srgbClr val="002060"/>
                            </a:solidFill>
                          </a:rPr>
                          <m:t>e</m:t>
                        </m:r>
                        <m:r>
                          <m:rPr>
                            <m:nor/>
                          </m:rPr>
                          <a:rPr lang="en-US" sz="2800" dirty="0">
                            <a:solidFill>
                              <a:srgbClr val="002060"/>
                            </a:solidFill>
                          </a:rPr>
                          <m:t>, </m:t>
                        </m:r>
                        <m:r>
                          <m:rPr>
                            <m:nor/>
                          </m:rPr>
                          <a:rPr lang="en-US" sz="2800" dirty="0">
                            <a:solidFill>
                              <a:srgbClr val="002060"/>
                            </a:solidFill>
                          </a:rPr>
                          <m:t>h</m:t>
                        </m:r>
                        <m:r>
                          <m:rPr>
                            <m:nor/>
                          </m:rPr>
                          <a:rPr lang="en-US" sz="2800" dirty="0">
                            <a:solidFill>
                              <a:srgbClr val="002060"/>
                            </a:solidFill>
                          </a:rPr>
                          <m:t>, </m:t>
                        </m:r>
                        <m:r>
                          <m:rPr>
                            <m:nor/>
                          </m:rPr>
                          <a:rPr lang="en-US" sz="2800" dirty="0">
                            <a:solidFill>
                              <a:srgbClr val="002060"/>
                            </a:solidFill>
                          </a:rPr>
                          <m:t>c</m:t>
                        </m:r>
                        <m:r>
                          <m:rPr>
                            <m:nor/>
                          </m:rPr>
                          <a:rPr lang="en-US" sz="2800" dirty="0">
                            <a:solidFill>
                              <a:srgbClr val="002060"/>
                            </a:solidFill>
                          </a:rPr>
                          <m:t>, </m:t>
                        </m:r>
                        <m:r>
                          <m:rPr>
                            <m:nor/>
                          </m:rPr>
                          <a:rPr lang="en-US" sz="2800" dirty="0">
                            <a:solidFill>
                              <a:srgbClr val="002060"/>
                            </a:solidFill>
                          </a:rPr>
                          <m:t>g</m:t>
                        </m:r>
                        <m:r>
                          <m:rPr>
                            <m:nor/>
                          </m:rPr>
                          <a:rPr lang="en-US" sz="2800" dirty="0">
                            <a:solidFill>
                              <a:srgbClr val="002060"/>
                            </a:solidFill>
                          </a:rPr>
                          <m:t>, </m:t>
                        </m:r>
                        <m:r>
                          <m:rPr>
                            <m:nor/>
                          </m:rPr>
                          <a:rPr lang="en-US" sz="2800" dirty="0">
                            <a:solidFill>
                              <a:srgbClr val="002060"/>
                            </a:solidFill>
                          </a:rPr>
                          <m:t>b</m:t>
                        </m:r>
                      </m:e>
                    </m:d>
                  </m:oMath>
                </a14:m>
                <a:r>
                  <a:rPr lang="en-US" sz="2800" dirty="0">
                    <a:solidFill>
                      <a:srgbClr val="002060"/>
                    </a:solidFill>
                  </a:rPr>
                  <a:t>.</a:t>
                </a:r>
              </a:p>
            </p:txBody>
          </p:sp>
        </mc:Choice>
        <mc:Fallback xmlns="">
          <p:sp>
            <p:nvSpPr>
              <p:cNvPr id="40" name="Rectangle 39"/>
              <p:cNvSpPr>
                <a:spLocks noRot="1" noChangeAspect="1" noMove="1" noResize="1" noEditPoints="1" noAdjustHandles="1" noChangeArrowheads="1" noChangeShapeType="1" noTextEdit="1"/>
              </p:cNvSpPr>
              <p:nvPr/>
            </p:nvSpPr>
            <p:spPr>
              <a:xfrm>
                <a:off x="125282" y="2490118"/>
                <a:ext cx="8923961" cy="4052391"/>
              </a:xfrm>
              <a:prstGeom prst="rect">
                <a:avLst/>
              </a:prstGeom>
              <a:blipFill rotWithShape="0">
                <a:blip r:embed="rId2"/>
                <a:stretch>
                  <a:fillRect l="-1299" t="-1504" r="-1435" b="-3308"/>
                </a:stretch>
              </a:blipFill>
            </p:spPr>
            <p:txBody>
              <a:bodyPr/>
              <a:lstStyle/>
              <a:p>
                <a:r>
                  <a:rPr lang="en-US">
                    <a:noFill/>
                  </a:rPr>
                  <a:t> </a:t>
                </a:r>
              </a:p>
            </p:txBody>
          </p:sp>
        </mc:Fallback>
      </mc:AlternateContent>
      <p:pic>
        <p:nvPicPr>
          <p:cNvPr id="2" name="Picture 1"/>
          <p:cNvPicPr>
            <a:picLocks noChangeAspect="1"/>
          </p:cNvPicPr>
          <p:nvPr/>
        </p:nvPicPr>
        <p:blipFill>
          <a:blip r:embed="rId3"/>
          <a:stretch>
            <a:fillRect/>
          </a:stretch>
        </p:blipFill>
        <p:spPr>
          <a:xfrm>
            <a:off x="10858262" y="1969528"/>
            <a:ext cx="1231499" cy="1627774"/>
          </a:xfrm>
          <a:prstGeom prst="rect">
            <a:avLst/>
          </a:prstGeom>
        </p:spPr>
      </p:pic>
    </p:spTree>
    <p:extLst>
      <p:ext uri="{BB962C8B-B14F-4D97-AF65-F5344CB8AC3E}">
        <p14:creationId xmlns:p14="http://schemas.microsoft.com/office/powerpoint/2010/main" val="15881450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58"/>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30"/>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35"/>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57"/>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64"/>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59"/>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37"/>
                                        </p:tgtEl>
                                        <p:attrNameLst>
                                          <p:attrName>style.visibility</p:attrName>
                                        </p:attrNameLst>
                                      </p:cBhvr>
                                      <p:to>
                                        <p:strVal val="hidden"/>
                                      </p:to>
                                    </p:set>
                                  </p:childTnLst>
                                </p:cTn>
                              </p:par>
                              <p:par>
                                <p:cTn id="23" presetID="1" presetClass="exit" presetSubtype="0" fill="hold" grpId="0" nodeType="withEffect">
                                  <p:stCondLst>
                                    <p:cond delay="0"/>
                                  </p:stCondLst>
                                  <p:childTnLst>
                                    <p:set>
                                      <p:cBhvr>
                                        <p:cTn id="24" dur="1" fill="hold">
                                          <p:stCondLst>
                                            <p:cond delay="0"/>
                                          </p:stCondLst>
                                        </p:cTn>
                                        <p:tgtEl>
                                          <p:spTgt spid="65"/>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0">
                                            <p:txEl>
                                              <p:pRg st="1" end="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0">
                                            <p:txEl>
                                              <p:pRg st="2" end="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64"/>
                                        </p:tgtEl>
                                        <p:attrNameLst>
                                          <p:attrName>style.visibility</p:attrName>
                                        </p:attrNameLst>
                                      </p:cBhvr>
                                      <p:to>
                                        <p:strVal val="visible"/>
                                      </p:to>
                                    </p:set>
                                    <p:animEffect transition="in" filter="wipe(down)">
                                      <p:cBhvr>
                                        <p:cTn id="41" dur="500"/>
                                        <p:tgtEl>
                                          <p:spTgt spid="64"/>
                                        </p:tgtEl>
                                      </p:cBhvr>
                                    </p:animEffect>
                                  </p:childTnLst>
                                </p:cTn>
                              </p:par>
                              <p:par>
                                <p:cTn id="42" presetID="22" presetClass="entr" presetSubtype="4" fill="hold" grpId="1" nodeType="withEffect">
                                  <p:stCondLst>
                                    <p:cond delay="0"/>
                                  </p:stCondLst>
                                  <p:childTnLst>
                                    <p:set>
                                      <p:cBhvr>
                                        <p:cTn id="43" dur="1" fill="hold">
                                          <p:stCondLst>
                                            <p:cond delay="0"/>
                                          </p:stCondLst>
                                        </p:cTn>
                                        <p:tgtEl>
                                          <p:spTgt spid="59"/>
                                        </p:tgtEl>
                                        <p:attrNameLst>
                                          <p:attrName>style.visibility</p:attrName>
                                        </p:attrNameLst>
                                      </p:cBhvr>
                                      <p:to>
                                        <p:strVal val="visible"/>
                                      </p:to>
                                    </p:set>
                                    <p:animEffect transition="in" filter="wipe(down)">
                                      <p:cBhvr>
                                        <p:cTn id="44" dur="500"/>
                                        <p:tgtEl>
                                          <p:spTgt spid="59"/>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0">
                                            <p:txEl>
                                              <p:pRg st="3" end="3"/>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2" presetClass="exit" presetSubtype="4" fill="hold" nodeType="clickEffect">
                                  <p:stCondLst>
                                    <p:cond delay="0"/>
                                  </p:stCondLst>
                                  <p:childTnLst>
                                    <p:animEffect transition="out" filter="wipe(down)">
                                      <p:cBhvr>
                                        <p:cTn id="52" dur="500"/>
                                        <p:tgtEl>
                                          <p:spTgt spid="62"/>
                                        </p:tgtEl>
                                      </p:cBhvr>
                                    </p:animEffect>
                                    <p:set>
                                      <p:cBhvr>
                                        <p:cTn id="53" dur="1" fill="hold">
                                          <p:stCondLst>
                                            <p:cond delay="499"/>
                                          </p:stCondLst>
                                        </p:cTn>
                                        <p:tgtEl>
                                          <p:spTgt spid="62"/>
                                        </p:tgtEl>
                                        <p:attrNameLst>
                                          <p:attrName>style.visibility</p:attrName>
                                        </p:attrNameLst>
                                      </p:cBhvr>
                                      <p:to>
                                        <p:strVal val="hidden"/>
                                      </p:to>
                                    </p:set>
                                  </p:childTnLst>
                                </p:cTn>
                              </p:par>
                              <p:par>
                                <p:cTn id="54" presetID="22" presetClass="exit" presetSubtype="4" fill="hold" grpId="0" nodeType="withEffect">
                                  <p:stCondLst>
                                    <p:cond delay="0"/>
                                  </p:stCondLst>
                                  <p:childTnLst>
                                    <p:animEffect transition="out" filter="wipe(down)">
                                      <p:cBhvr>
                                        <p:cTn id="55" dur="500"/>
                                        <p:tgtEl>
                                          <p:spTgt spid="38"/>
                                        </p:tgtEl>
                                      </p:cBhvr>
                                    </p:animEffect>
                                    <p:set>
                                      <p:cBhvr>
                                        <p:cTn id="56" dur="1" fill="hold">
                                          <p:stCondLst>
                                            <p:cond delay="499"/>
                                          </p:stCondLst>
                                        </p:cTn>
                                        <p:tgtEl>
                                          <p:spTgt spid="38"/>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4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57" grpId="0"/>
      <p:bldP spid="58" grpId="0"/>
      <p:bldP spid="59" grpId="0"/>
      <p:bldP spid="59" grpId="1"/>
      <p:bldP spid="65"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39"/>
            <a:ext cx="11929645" cy="976985"/>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Generate any 2 spanning tree using procedure of finding all spanning tree for following graph.</a:t>
            </a:r>
          </a:p>
        </p:txBody>
      </p:sp>
      <p:sp>
        <p:nvSpPr>
          <p:cNvPr id="16" name="Content Placeholder 2">
            <a:extLst>
              <a:ext uri="{FF2B5EF4-FFF2-40B4-BE49-F238E27FC236}">
                <a16:creationId xmlns:a16="http://schemas.microsoft.com/office/drawing/2014/main" id="{635C8299-099D-4E74-A7B7-29B2E1FD450E}"/>
              </a:ext>
            </a:extLst>
          </p:cNvPr>
          <p:cNvSpPr txBox="1">
            <a:spLocks/>
          </p:cNvSpPr>
          <p:nvPr/>
        </p:nvSpPr>
        <p:spPr>
          <a:xfrm>
            <a:off x="125283" y="1897668"/>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4 ⇝ Example 1</a:t>
            </a:r>
            <a:endParaRPr lang="en-US" dirty="0"/>
          </a:p>
        </p:txBody>
      </p:sp>
      <p:sp>
        <p:nvSpPr>
          <p:cNvPr id="26" name="Oval 25">
            <a:extLst>
              <a:ext uri="{FF2B5EF4-FFF2-40B4-BE49-F238E27FC236}">
                <a16:creationId xmlns:a16="http://schemas.microsoft.com/office/drawing/2014/main" id="{BDD11F87-DA81-9510-C1CB-0AF4093562CB}"/>
              </a:ext>
            </a:extLst>
          </p:cNvPr>
          <p:cNvSpPr/>
          <p:nvPr/>
        </p:nvSpPr>
        <p:spPr>
          <a:xfrm rot="5400000">
            <a:off x="10093287" y="287722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7" name="Oval 26">
            <a:extLst>
              <a:ext uri="{FF2B5EF4-FFF2-40B4-BE49-F238E27FC236}">
                <a16:creationId xmlns:a16="http://schemas.microsoft.com/office/drawing/2014/main" id="{BDD11F87-DA81-9510-C1CB-0AF4093562CB}"/>
              </a:ext>
            </a:extLst>
          </p:cNvPr>
          <p:cNvSpPr/>
          <p:nvPr/>
        </p:nvSpPr>
        <p:spPr>
          <a:xfrm rot="5400000">
            <a:off x="9380914" y="359730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8" name="Oval 27">
            <a:extLst>
              <a:ext uri="{FF2B5EF4-FFF2-40B4-BE49-F238E27FC236}">
                <a16:creationId xmlns:a16="http://schemas.microsoft.com/office/drawing/2014/main" id="{BDD11F87-DA81-9510-C1CB-0AF4093562CB}"/>
              </a:ext>
            </a:extLst>
          </p:cNvPr>
          <p:cNvSpPr/>
          <p:nvPr/>
        </p:nvSpPr>
        <p:spPr>
          <a:xfrm rot="5400000">
            <a:off x="10813367" y="359730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9" name="Straight Connector 28">
            <a:extLst>
              <a:ext uri="{FF2B5EF4-FFF2-40B4-BE49-F238E27FC236}">
                <a16:creationId xmlns:a16="http://schemas.microsoft.com/office/drawing/2014/main" id="{6205DD86-315C-53B6-CEEF-A9919650168E}"/>
              </a:ext>
            </a:extLst>
          </p:cNvPr>
          <p:cNvCxnSpPr>
            <a:cxnSpLocks/>
            <a:stCxn id="26" idx="5"/>
            <a:endCxn id="27" idx="1"/>
          </p:cNvCxnSpPr>
          <p:nvPr/>
        </p:nvCxnSpPr>
        <p:spPr>
          <a:xfrm flipH="1">
            <a:off x="9503826" y="3000134"/>
            <a:ext cx="610549"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0" name="Straight Connector 29">
            <a:extLst>
              <a:ext uri="{FF2B5EF4-FFF2-40B4-BE49-F238E27FC236}">
                <a16:creationId xmlns:a16="http://schemas.microsoft.com/office/drawing/2014/main" id="{6205DD86-315C-53B6-CEEF-A9919650168E}"/>
              </a:ext>
            </a:extLst>
          </p:cNvPr>
          <p:cNvCxnSpPr>
            <a:cxnSpLocks/>
            <a:stCxn id="26" idx="7"/>
            <a:endCxn id="28" idx="3"/>
          </p:cNvCxnSpPr>
          <p:nvPr/>
        </p:nvCxnSpPr>
        <p:spPr>
          <a:xfrm>
            <a:off x="10216199" y="3000134"/>
            <a:ext cx="618256"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1" name="Straight Connector 30">
            <a:extLst>
              <a:ext uri="{FF2B5EF4-FFF2-40B4-BE49-F238E27FC236}">
                <a16:creationId xmlns:a16="http://schemas.microsoft.com/office/drawing/2014/main" id="{6205DD86-315C-53B6-CEEF-A9919650168E}"/>
              </a:ext>
            </a:extLst>
          </p:cNvPr>
          <p:cNvCxnSpPr>
            <a:cxnSpLocks/>
            <a:stCxn id="28" idx="4"/>
            <a:endCxn id="27" idx="0"/>
          </p:cNvCxnSpPr>
          <p:nvPr/>
        </p:nvCxnSpPr>
        <p:spPr>
          <a:xfrm flipH="1">
            <a:off x="9524914" y="3669302"/>
            <a:ext cx="128845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2" name="Oval 31">
            <a:extLst>
              <a:ext uri="{FF2B5EF4-FFF2-40B4-BE49-F238E27FC236}">
                <a16:creationId xmlns:a16="http://schemas.microsoft.com/office/drawing/2014/main" id="{BDD11F87-DA81-9510-C1CB-0AF4093562CB}"/>
              </a:ext>
            </a:extLst>
          </p:cNvPr>
          <p:cNvSpPr/>
          <p:nvPr/>
        </p:nvSpPr>
        <p:spPr>
          <a:xfrm rot="5400000">
            <a:off x="9373207" y="503746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3" name="Oval 32">
            <a:extLst>
              <a:ext uri="{FF2B5EF4-FFF2-40B4-BE49-F238E27FC236}">
                <a16:creationId xmlns:a16="http://schemas.microsoft.com/office/drawing/2014/main" id="{BDD11F87-DA81-9510-C1CB-0AF4093562CB}"/>
              </a:ext>
            </a:extLst>
          </p:cNvPr>
          <p:cNvSpPr/>
          <p:nvPr/>
        </p:nvSpPr>
        <p:spPr>
          <a:xfrm rot="5400000">
            <a:off x="10813367" y="503746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4" name="Straight Connector 33">
            <a:extLst>
              <a:ext uri="{FF2B5EF4-FFF2-40B4-BE49-F238E27FC236}">
                <a16:creationId xmlns:a16="http://schemas.microsoft.com/office/drawing/2014/main" id="{6205DD86-315C-53B6-CEEF-A9919650168E}"/>
              </a:ext>
            </a:extLst>
          </p:cNvPr>
          <p:cNvCxnSpPr>
            <a:cxnSpLocks/>
            <a:stCxn id="27" idx="6"/>
            <a:endCxn id="32" idx="2"/>
          </p:cNvCxnSpPr>
          <p:nvPr/>
        </p:nvCxnSpPr>
        <p:spPr>
          <a:xfrm flipH="1">
            <a:off x="9445207" y="3741302"/>
            <a:ext cx="7707"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5" name="Straight Connector 34">
            <a:extLst>
              <a:ext uri="{FF2B5EF4-FFF2-40B4-BE49-F238E27FC236}">
                <a16:creationId xmlns:a16="http://schemas.microsoft.com/office/drawing/2014/main" id="{6205DD86-315C-53B6-CEEF-A9919650168E}"/>
              </a:ext>
            </a:extLst>
          </p:cNvPr>
          <p:cNvCxnSpPr>
            <a:cxnSpLocks/>
            <a:stCxn id="28" idx="6"/>
            <a:endCxn id="33" idx="2"/>
          </p:cNvCxnSpPr>
          <p:nvPr/>
        </p:nvCxnSpPr>
        <p:spPr>
          <a:xfrm>
            <a:off x="10885367" y="3741302"/>
            <a:ext cx="0"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6" name="Straight Connector 35">
            <a:extLst>
              <a:ext uri="{FF2B5EF4-FFF2-40B4-BE49-F238E27FC236}">
                <a16:creationId xmlns:a16="http://schemas.microsoft.com/office/drawing/2014/main" id="{6205DD86-315C-53B6-CEEF-A9919650168E}"/>
              </a:ext>
            </a:extLst>
          </p:cNvPr>
          <p:cNvCxnSpPr>
            <a:cxnSpLocks/>
            <a:stCxn id="33" idx="4"/>
            <a:endCxn id="32" idx="0"/>
          </p:cNvCxnSpPr>
          <p:nvPr/>
        </p:nvCxnSpPr>
        <p:spPr>
          <a:xfrm flipH="1">
            <a:off x="9517207" y="5109462"/>
            <a:ext cx="129616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7" name="Straight Connector 36">
            <a:extLst>
              <a:ext uri="{FF2B5EF4-FFF2-40B4-BE49-F238E27FC236}">
                <a16:creationId xmlns:a16="http://schemas.microsoft.com/office/drawing/2014/main" id="{6205DD86-315C-53B6-CEEF-A9919650168E}"/>
              </a:ext>
            </a:extLst>
          </p:cNvPr>
          <p:cNvCxnSpPr>
            <a:cxnSpLocks/>
            <a:stCxn id="33" idx="3"/>
            <a:endCxn id="27" idx="7"/>
          </p:cNvCxnSpPr>
          <p:nvPr/>
        </p:nvCxnSpPr>
        <p:spPr>
          <a:xfrm flipH="1" flipV="1">
            <a:off x="9503826" y="3720214"/>
            <a:ext cx="1330629" cy="13383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8" name="TextBox 37"/>
          <p:cNvSpPr txBox="1"/>
          <p:nvPr/>
        </p:nvSpPr>
        <p:spPr>
          <a:xfrm>
            <a:off x="9488081" y="5348230"/>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55" name="TextBox 54"/>
          <p:cNvSpPr txBox="1"/>
          <p:nvPr/>
        </p:nvSpPr>
        <p:spPr>
          <a:xfrm>
            <a:off x="9472911" y="2884472"/>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56" name="TextBox 55"/>
          <p:cNvSpPr txBox="1"/>
          <p:nvPr/>
        </p:nvSpPr>
        <p:spPr>
          <a:xfrm>
            <a:off x="10024718" y="3184915"/>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57" name="TextBox 56"/>
          <p:cNvSpPr txBox="1"/>
          <p:nvPr/>
        </p:nvSpPr>
        <p:spPr>
          <a:xfrm>
            <a:off x="10906439" y="4123046"/>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58" name="TextBox 57"/>
          <p:cNvSpPr txBox="1"/>
          <p:nvPr/>
        </p:nvSpPr>
        <p:spPr>
          <a:xfrm>
            <a:off x="10502828" y="2910757"/>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59" name="TextBox 58"/>
          <p:cNvSpPr txBox="1"/>
          <p:nvPr/>
        </p:nvSpPr>
        <p:spPr>
          <a:xfrm>
            <a:off x="10545443" y="5387291"/>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60" name="TextBox 59"/>
          <p:cNvSpPr txBox="1"/>
          <p:nvPr/>
        </p:nvSpPr>
        <p:spPr>
          <a:xfrm>
            <a:off x="10014614" y="4965071"/>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61" name="TextBox 60"/>
          <p:cNvSpPr txBox="1"/>
          <p:nvPr/>
        </p:nvSpPr>
        <p:spPr>
          <a:xfrm>
            <a:off x="9049243" y="4045834"/>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cxnSp>
        <p:nvCxnSpPr>
          <p:cNvPr id="62" name="Straight Connector 61">
            <a:extLst>
              <a:ext uri="{FF2B5EF4-FFF2-40B4-BE49-F238E27FC236}">
                <a16:creationId xmlns:a16="http://schemas.microsoft.com/office/drawing/2014/main" id="{6205DD86-315C-53B6-CEEF-A9919650168E}"/>
              </a:ext>
            </a:extLst>
          </p:cNvPr>
          <p:cNvCxnSpPr>
            <a:cxnSpLocks/>
            <a:stCxn id="63" idx="3"/>
            <a:endCxn id="32" idx="7"/>
          </p:cNvCxnSpPr>
          <p:nvPr/>
        </p:nvCxnSpPr>
        <p:spPr>
          <a:xfrm flipH="1" flipV="1">
            <a:off x="9496119" y="5160374"/>
            <a:ext cx="614237"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3" name="Oval 62">
            <a:extLst>
              <a:ext uri="{FF2B5EF4-FFF2-40B4-BE49-F238E27FC236}">
                <a16:creationId xmlns:a16="http://schemas.microsoft.com/office/drawing/2014/main" id="{BDD11F87-DA81-9510-C1CB-0AF4093562CB}"/>
              </a:ext>
            </a:extLst>
          </p:cNvPr>
          <p:cNvSpPr/>
          <p:nvPr/>
        </p:nvSpPr>
        <p:spPr>
          <a:xfrm rot="5400000">
            <a:off x="10089268" y="576651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4" name="Straight Connector 63">
            <a:extLst>
              <a:ext uri="{FF2B5EF4-FFF2-40B4-BE49-F238E27FC236}">
                <a16:creationId xmlns:a16="http://schemas.microsoft.com/office/drawing/2014/main" id="{6205DD86-315C-53B6-CEEF-A9919650168E}"/>
              </a:ext>
            </a:extLst>
          </p:cNvPr>
          <p:cNvCxnSpPr>
            <a:cxnSpLocks/>
            <a:stCxn id="63" idx="1"/>
            <a:endCxn id="33" idx="5"/>
          </p:cNvCxnSpPr>
          <p:nvPr/>
        </p:nvCxnSpPr>
        <p:spPr>
          <a:xfrm flipV="1">
            <a:off x="10212180" y="5160374"/>
            <a:ext cx="622275"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5" name="TextBox 64"/>
          <p:cNvSpPr txBox="1"/>
          <p:nvPr/>
        </p:nvSpPr>
        <p:spPr>
          <a:xfrm>
            <a:off x="10045684" y="3871828"/>
            <a:ext cx="26642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i</a:t>
            </a:r>
          </a:p>
        </p:txBody>
      </p:sp>
      <p:sp>
        <p:nvSpPr>
          <p:cNvPr id="39" name="Rectangle 38"/>
          <p:cNvSpPr/>
          <p:nvPr/>
        </p:nvSpPr>
        <p:spPr>
          <a:xfrm>
            <a:off x="125282" y="2490118"/>
            <a:ext cx="8923961" cy="1641475"/>
          </a:xfrm>
          <a:prstGeom prst="rect">
            <a:avLst/>
          </a:prstGeom>
        </p:spPr>
        <p:txBody>
          <a:bodyPr wrap="square">
            <a:spAutoFit/>
          </a:bodyPr>
          <a:lstStyle/>
          <a:p>
            <a:pPr algn="just">
              <a:spcBef>
                <a:spcPts val="1000"/>
              </a:spcBef>
              <a:buClr>
                <a:srgbClr val="B84742"/>
              </a:buClr>
            </a:pPr>
            <a:endParaRPr lang="en-US" sz="2800" dirty="0">
              <a:solidFill>
                <a:srgbClr val="002060"/>
              </a:solidFill>
            </a:endParaRPr>
          </a:p>
          <a:p>
            <a:pPr marL="265113" indent="-265113" algn="just">
              <a:spcBef>
                <a:spcPts val="1000"/>
              </a:spcBef>
              <a:buClr>
                <a:srgbClr val="B84742"/>
              </a:buClr>
              <a:buFont typeface="Wingdings 3" panose="05040102010807070707" pitchFamily="18" charset="2"/>
              <a:buChar char=""/>
            </a:pPr>
            <a:endParaRPr lang="en-US" sz="2800" dirty="0">
              <a:solidFill>
                <a:srgbClr val="002060"/>
              </a:solidFill>
            </a:endParaRPr>
          </a:p>
          <a:p>
            <a:pPr algn="just">
              <a:spcBef>
                <a:spcPts val="1000"/>
              </a:spcBef>
              <a:buClr>
                <a:srgbClr val="B84742"/>
              </a:buClr>
            </a:pPr>
            <a:endParaRPr lang="en-US" sz="2800" dirty="0">
              <a:solidFill>
                <a:srgbClr val="002060"/>
              </a:solidFill>
            </a:endParaRPr>
          </a:p>
        </p:txBody>
      </p:sp>
      <mc:AlternateContent xmlns:mc="http://schemas.openxmlformats.org/markup-compatibility/2006" xmlns:a14="http://schemas.microsoft.com/office/drawing/2010/main">
        <mc:Choice Requires="a14">
          <p:sp>
            <p:nvSpPr>
              <p:cNvPr id="40" name="Rectangle 39"/>
              <p:cNvSpPr/>
              <p:nvPr/>
            </p:nvSpPr>
            <p:spPr>
              <a:xfrm>
                <a:off x="125282" y="2490118"/>
                <a:ext cx="8923961" cy="2503249"/>
              </a:xfrm>
              <a:prstGeom prst="rect">
                <a:avLst/>
              </a:prstGeom>
            </p:spPr>
            <p:txBody>
              <a:bodyPr wrap="square">
                <a:spAutoFit/>
              </a:bodyPr>
              <a:lstStyle/>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For another spanning tree,</a:t>
                </a:r>
              </a:p>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We </a:t>
                </a:r>
                <a:r>
                  <a:rPr lang="en-US" sz="2800" b="1" dirty="0">
                    <a:solidFill>
                      <a:srgbClr val="002060"/>
                    </a:solidFill>
                  </a:rPr>
                  <a:t>add chord</a:t>
                </a:r>
                <a14:m>
                  <m:oMath xmlns:m="http://schemas.openxmlformats.org/officeDocument/2006/math">
                    <m:r>
                      <a:rPr lang="en-US" sz="2800" b="1" i="1" smtClean="0">
                        <a:solidFill>
                          <a:srgbClr val="002060"/>
                        </a:solidFill>
                        <a:latin typeface="Cambria Math" panose="02040503050406030204" pitchFamily="18" charset="0"/>
                      </a:rPr>
                      <m:t> </m:t>
                    </m:r>
                    <m:r>
                      <a:rPr lang="en-US" sz="2800" b="1" i="0" smtClean="0">
                        <a:solidFill>
                          <a:srgbClr val="002060"/>
                        </a:solidFill>
                        <a:latin typeface="Cambria Math" panose="02040503050406030204" pitchFamily="18" charset="0"/>
                      </a:rPr>
                      <m:t>𝐝</m:t>
                    </m:r>
                  </m:oMath>
                </a14:m>
                <a:r>
                  <a:rPr lang="en-US" sz="2800" b="1" dirty="0">
                    <a:solidFill>
                      <a:srgbClr val="002060"/>
                    </a:solidFill>
                  </a:rPr>
                  <a:t> </a:t>
                </a:r>
                <a:r>
                  <a:rPr lang="en-US" sz="2800" dirty="0">
                    <a:solidFill>
                      <a:srgbClr val="002060"/>
                    </a:solidFill>
                  </a:rPr>
                  <a:t>to spanning tree and </a:t>
                </a:r>
                <a:r>
                  <a:rPr lang="en-US" sz="2800" b="1" dirty="0">
                    <a:solidFill>
                      <a:srgbClr val="002060"/>
                    </a:solidFill>
                  </a:rPr>
                  <a:t>remove branch </a:t>
                </a:r>
                <a14:m>
                  <m:oMath xmlns:m="http://schemas.openxmlformats.org/officeDocument/2006/math">
                    <m:r>
                      <a:rPr lang="en-US" sz="2800" b="1" i="0" smtClean="0">
                        <a:solidFill>
                          <a:srgbClr val="002060"/>
                        </a:solidFill>
                        <a:latin typeface="Cambria Math" panose="02040503050406030204" pitchFamily="18" charset="0"/>
                      </a:rPr>
                      <m:t>𝐜</m:t>
                    </m:r>
                  </m:oMath>
                </a14:m>
                <a:r>
                  <a:rPr lang="en-US" sz="2800" b="1" dirty="0">
                    <a:solidFill>
                      <a:srgbClr val="002060"/>
                    </a:solidFill>
                  </a:rPr>
                  <a:t> </a:t>
                </a:r>
                <a:r>
                  <a:rPr lang="en-US" sz="2800" dirty="0">
                    <a:solidFill>
                      <a:srgbClr val="002060"/>
                    </a:solidFill>
                  </a:rPr>
                  <a:t>from it.</a:t>
                </a:r>
              </a:p>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By this cyclic interchange we get another spanning tree, </a:t>
                </a:r>
                <a14:m>
                  <m:oMath xmlns:m="http://schemas.openxmlformats.org/officeDocument/2006/math">
                    <m:d>
                      <m:dPr>
                        <m:begChr m:val="{"/>
                        <m:endChr m:val="}"/>
                        <m:ctrlPr>
                          <a:rPr lang="en-US" sz="2800" b="0" i="1" smtClean="0">
                            <a:solidFill>
                              <a:srgbClr val="002060"/>
                            </a:solidFill>
                            <a:latin typeface="Cambria Math" panose="02040503050406030204" pitchFamily="18" charset="0"/>
                          </a:rPr>
                        </m:ctrlPr>
                      </m:dPr>
                      <m:e>
                        <m:r>
                          <m:rPr>
                            <m:sty m:val="p"/>
                          </m:rPr>
                          <a:rPr lang="en-US" sz="2800" b="0" i="0" smtClean="0">
                            <a:solidFill>
                              <a:srgbClr val="002060"/>
                            </a:solidFill>
                            <a:latin typeface="Cambria Math" panose="02040503050406030204" pitchFamily="18" charset="0"/>
                          </a:rPr>
                          <m:t>e</m:t>
                        </m:r>
                        <m:r>
                          <a:rPr lang="en-US" sz="2800" b="0" i="0" smtClean="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h</m:t>
                        </m:r>
                        <m:r>
                          <a:rPr lang="en-US" sz="2800" b="0" i="0" smtClean="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d</m:t>
                        </m:r>
                        <m:r>
                          <a:rPr lang="en-US" sz="2800" b="0" i="0" smtClean="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g</m:t>
                        </m:r>
                        <m:r>
                          <a:rPr lang="en-US" sz="2800" b="0" i="0" smtClean="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a</m:t>
                        </m:r>
                      </m:e>
                    </m:d>
                    <m:r>
                      <a:rPr lang="en-US" sz="2800" b="0" i="0" smtClean="0">
                        <a:solidFill>
                          <a:srgbClr val="002060"/>
                        </a:solidFill>
                        <a:latin typeface="Cambria Math" panose="02040503050406030204" pitchFamily="18" charset="0"/>
                      </a:rPr>
                      <m:t>.</m:t>
                    </m:r>
                  </m:oMath>
                </a14:m>
                <a:endParaRPr lang="en-US" sz="2800" dirty="0">
                  <a:solidFill>
                    <a:srgbClr val="002060"/>
                  </a:solidFill>
                </a:endParaRPr>
              </a:p>
            </p:txBody>
          </p:sp>
        </mc:Choice>
        <mc:Fallback xmlns="">
          <p:sp>
            <p:nvSpPr>
              <p:cNvPr id="40" name="Rectangle 39"/>
              <p:cNvSpPr>
                <a:spLocks noRot="1" noChangeAspect="1" noMove="1" noResize="1" noEditPoints="1" noAdjustHandles="1" noChangeArrowheads="1" noChangeShapeType="1" noTextEdit="1"/>
              </p:cNvSpPr>
              <p:nvPr/>
            </p:nvSpPr>
            <p:spPr>
              <a:xfrm>
                <a:off x="125282" y="2490118"/>
                <a:ext cx="8923961" cy="2503249"/>
              </a:xfrm>
              <a:prstGeom prst="rect">
                <a:avLst/>
              </a:prstGeom>
              <a:blipFill rotWithShape="0">
                <a:blip r:embed="rId2"/>
                <a:stretch>
                  <a:fillRect l="-1299" t="-2433" r="-1435"/>
                </a:stretch>
              </a:blipFill>
            </p:spPr>
            <p:txBody>
              <a:bodyPr/>
              <a:lstStyle/>
              <a:p>
                <a:r>
                  <a:rPr lang="en-US">
                    <a:noFill/>
                  </a:rPr>
                  <a:t> </a:t>
                </a:r>
              </a:p>
            </p:txBody>
          </p:sp>
        </mc:Fallback>
      </mc:AlternateContent>
      <p:pic>
        <p:nvPicPr>
          <p:cNvPr id="41" name="Picture 40"/>
          <p:cNvPicPr>
            <a:picLocks noChangeAspect="1"/>
          </p:cNvPicPr>
          <p:nvPr/>
        </p:nvPicPr>
        <p:blipFill>
          <a:blip r:embed="rId3"/>
          <a:stretch>
            <a:fillRect/>
          </a:stretch>
        </p:blipFill>
        <p:spPr>
          <a:xfrm>
            <a:off x="10858262" y="1969528"/>
            <a:ext cx="1231499" cy="1627774"/>
          </a:xfrm>
          <a:prstGeom prst="rect">
            <a:avLst/>
          </a:prstGeom>
        </p:spPr>
      </p:pic>
    </p:spTree>
    <p:extLst>
      <p:ext uri="{BB962C8B-B14F-4D97-AF65-F5344CB8AC3E}">
        <p14:creationId xmlns:p14="http://schemas.microsoft.com/office/powerpoint/2010/main" val="14724933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1"/>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58"/>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30"/>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35"/>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57"/>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64"/>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59"/>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37"/>
                                        </p:tgtEl>
                                        <p:attrNameLst>
                                          <p:attrName>style.visibility</p:attrName>
                                        </p:attrNameLst>
                                      </p:cBhvr>
                                      <p:to>
                                        <p:strVal val="hidden"/>
                                      </p:to>
                                    </p:set>
                                  </p:childTnLst>
                                </p:cTn>
                              </p:par>
                              <p:par>
                                <p:cTn id="21" presetID="1" presetClass="exit" presetSubtype="0" fill="hold" grpId="0" nodeType="withEffect">
                                  <p:stCondLst>
                                    <p:cond delay="0"/>
                                  </p:stCondLst>
                                  <p:childTnLst>
                                    <p:set>
                                      <p:cBhvr>
                                        <p:cTn id="22" dur="1" fill="hold">
                                          <p:stCondLst>
                                            <p:cond delay="0"/>
                                          </p:stCondLst>
                                        </p:cTn>
                                        <p:tgtEl>
                                          <p:spTgt spid="65"/>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0">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0">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wipe(down)">
                                      <p:cBhvr>
                                        <p:cTn id="35" dur="500"/>
                                        <p:tgtEl>
                                          <p:spTgt spid="35"/>
                                        </p:tgtEl>
                                      </p:cBhvr>
                                    </p:animEffect>
                                  </p:childTnLst>
                                </p:cTn>
                              </p:par>
                              <p:par>
                                <p:cTn id="36" presetID="22" presetClass="entr" presetSubtype="4" fill="hold" grpId="1" nodeType="withEffect">
                                  <p:stCondLst>
                                    <p:cond delay="0"/>
                                  </p:stCondLst>
                                  <p:childTnLst>
                                    <p:set>
                                      <p:cBhvr>
                                        <p:cTn id="37" dur="1" fill="hold">
                                          <p:stCondLst>
                                            <p:cond delay="0"/>
                                          </p:stCondLst>
                                        </p:cTn>
                                        <p:tgtEl>
                                          <p:spTgt spid="57"/>
                                        </p:tgtEl>
                                        <p:attrNameLst>
                                          <p:attrName>style.visibility</p:attrName>
                                        </p:attrNameLst>
                                      </p:cBhvr>
                                      <p:to>
                                        <p:strVal val="visible"/>
                                      </p:to>
                                    </p:set>
                                    <p:animEffect transition="in" filter="wipe(down)">
                                      <p:cBhvr>
                                        <p:cTn id="38" dur="500"/>
                                        <p:tgtEl>
                                          <p:spTgt spid="5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xit" presetSubtype="4" fill="hold" nodeType="clickEffect">
                                  <p:stCondLst>
                                    <p:cond delay="0"/>
                                  </p:stCondLst>
                                  <p:childTnLst>
                                    <p:animEffect transition="out" filter="wipe(down)">
                                      <p:cBhvr>
                                        <p:cTn id="42" dur="500"/>
                                        <p:tgtEl>
                                          <p:spTgt spid="34"/>
                                        </p:tgtEl>
                                      </p:cBhvr>
                                    </p:animEffect>
                                    <p:set>
                                      <p:cBhvr>
                                        <p:cTn id="43" dur="1" fill="hold">
                                          <p:stCondLst>
                                            <p:cond delay="499"/>
                                          </p:stCondLst>
                                        </p:cTn>
                                        <p:tgtEl>
                                          <p:spTgt spid="34"/>
                                        </p:tgtEl>
                                        <p:attrNameLst>
                                          <p:attrName>style.visibility</p:attrName>
                                        </p:attrNameLst>
                                      </p:cBhvr>
                                      <p:to>
                                        <p:strVal val="hidden"/>
                                      </p:to>
                                    </p:set>
                                  </p:childTnLst>
                                </p:cTn>
                              </p:par>
                              <p:par>
                                <p:cTn id="44" presetID="22" presetClass="exit" presetSubtype="4" fill="hold" grpId="0" nodeType="withEffect">
                                  <p:stCondLst>
                                    <p:cond delay="0"/>
                                  </p:stCondLst>
                                  <p:childTnLst>
                                    <p:animEffect transition="out" filter="wipe(down)">
                                      <p:cBhvr>
                                        <p:cTn id="45" dur="500"/>
                                        <p:tgtEl>
                                          <p:spTgt spid="61"/>
                                        </p:tgtEl>
                                      </p:cBhvr>
                                    </p:animEffect>
                                    <p:set>
                                      <p:cBhvr>
                                        <p:cTn id="46" dur="1" fill="hold">
                                          <p:stCondLst>
                                            <p:cond delay="499"/>
                                          </p:stCondLst>
                                        </p:cTn>
                                        <p:tgtEl>
                                          <p:spTgt spid="61"/>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57" grpId="1"/>
      <p:bldP spid="58" grpId="0"/>
      <p:bldP spid="59" grpId="0"/>
      <p:bldP spid="61" grpId="0"/>
      <p:bldP spid="65"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a:t>
            </a:r>
            <a:endParaRPr lang="en-US" dirty="0"/>
          </a:p>
        </p:txBody>
      </p:sp>
      <p:sp>
        <p:nvSpPr>
          <p:cNvPr id="3" name="Content Placeholder 2"/>
          <p:cNvSpPr>
            <a:spLocks noGrp="1"/>
          </p:cNvSpPr>
          <p:nvPr>
            <p:ph idx="1"/>
          </p:nvPr>
        </p:nvSpPr>
        <p:spPr/>
        <p:txBody>
          <a:bodyPr/>
          <a:lstStyle/>
          <a:p>
            <a:r>
              <a:rPr lang="en-US" dirty="0"/>
              <a:t>A connected graph G has 12 vertices and 18 edges. How many chords does any spanning tree of G contain? </a:t>
            </a:r>
            <a:r>
              <a:rPr lang="en-US" b="1" dirty="0"/>
              <a:t>A.</a:t>
            </a:r>
            <a:r>
              <a:rPr lang="en-US" dirty="0"/>
              <a:t> 6 </a:t>
            </a:r>
            <a:r>
              <a:rPr lang="en-US" b="1" dirty="0"/>
              <a:t>B.</a:t>
            </a:r>
            <a:r>
              <a:rPr lang="en-US" dirty="0"/>
              <a:t> 7 </a:t>
            </a:r>
            <a:r>
              <a:rPr lang="en-US" b="1" dirty="0"/>
              <a:t>C.</a:t>
            </a:r>
            <a:r>
              <a:rPr lang="en-US" dirty="0"/>
              <a:t> 8 </a:t>
            </a:r>
            <a:r>
              <a:rPr lang="en-US" b="1" dirty="0"/>
              <a:t>D.</a:t>
            </a:r>
            <a:r>
              <a:rPr lang="en-US" dirty="0"/>
              <a:t> 18</a:t>
            </a:r>
          </a:p>
          <a:p>
            <a:r>
              <a:rPr lang="en-US" dirty="0"/>
              <a:t>Suppose a connected graph has 15 edges and nullity 4. Find the rank.</a:t>
            </a:r>
          </a:p>
          <a:p>
            <a:pPr marL="544512" lvl="1" indent="0" algn="l">
              <a:buNone/>
            </a:pPr>
            <a:r>
              <a:rPr lang="en-US" b="1" dirty="0"/>
              <a:t>A.</a:t>
            </a:r>
            <a:r>
              <a:rPr lang="en-US" dirty="0"/>
              <a:t> 10 </a:t>
            </a:r>
            <a:r>
              <a:rPr lang="en-US" b="1" dirty="0"/>
              <a:t>B.</a:t>
            </a:r>
            <a:r>
              <a:rPr lang="en-US" dirty="0"/>
              <a:t> 11 </a:t>
            </a:r>
            <a:r>
              <a:rPr lang="en-US" b="1" dirty="0"/>
              <a:t>C.</a:t>
            </a:r>
            <a:r>
              <a:rPr lang="en-US" dirty="0"/>
              <a:t> 12 </a:t>
            </a:r>
            <a:r>
              <a:rPr lang="en-US" b="1" dirty="0"/>
              <a:t>D.</a:t>
            </a:r>
            <a:r>
              <a:rPr lang="en-US" dirty="0"/>
              <a:t> 13</a:t>
            </a:r>
          </a:p>
          <a:p>
            <a:r>
              <a:rPr lang="en-US" dirty="0"/>
              <a:t>A spanning tree of a graph contains 20 branches. How many vertices does the original graph have? </a:t>
            </a:r>
            <a:r>
              <a:rPr lang="en-US" b="1" dirty="0"/>
              <a:t>A.</a:t>
            </a:r>
            <a:r>
              <a:rPr lang="en-US" dirty="0"/>
              <a:t> 19 </a:t>
            </a:r>
            <a:r>
              <a:rPr lang="en-US" b="1" dirty="0"/>
              <a:t>B.</a:t>
            </a:r>
            <a:r>
              <a:rPr lang="en-US" dirty="0"/>
              <a:t> 20 </a:t>
            </a:r>
            <a:r>
              <a:rPr lang="en-US" b="1" dirty="0"/>
              <a:t>C.</a:t>
            </a:r>
            <a:r>
              <a:rPr lang="en-US" dirty="0"/>
              <a:t> 21 </a:t>
            </a:r>
            <a:r>
              <a:rPr lang="en-US" b="1" dirty="0"/>
              <a:t>D.</a:t>
            </a:r>
            <a:r>
              <a:rPr lang="en-US" dirty="0"/>
              <a:t> Cannot be determined</a:t>
            </a:r>
          </a:p>
          <a:p>
            <a:r>
              <a:rPr lang="en-US" dirty="0"/>
              <a:t>A connected graph has 10 vertices and 14 edges. How many fundamental circuits are produced with respect to any spanning tree? </a:t>
            </a:r>
            <a:r>
              <a:rPr lang="en-US" b="1" dirty="0"/>
              <a:t>A.</a:t>
            </a:r>
            <a:r>
              <a:rPr lang="en-US" dirty="0"/>
              <a:t> 4 </a:t>
            </a:r>
            <a:r>
              <a:rPr lang="en-US" b="1" dirty="0"/>
              <a:t>B.</a:t>
            </a:r>
            <a:r>
              <a:rPr lang="en-US" dirty="0"/>
              <a:t> 5 </a:t>
            </a:r>
            <a:r>
              <a:rPr lang="en-US" b="1" dirty="0"/>
              <a:t>C.</a:t>
            </a:r>
            <a:r>
              <a:rPr lang="en-US" dirty="0"/>
              <a:t> 10 </a:t>
            </a:r>
            <a:r>
              <a:rPr lang="en-US" b="1" dirty="0"/>
              <a:t>D.</a:t>
            </a:r>
            <a:r>
              <a:rPr lang="en-US" dirty="0"/>
              <a:t> 14</a:t>
            </a:r>
          </a:p>
          <a:p>
            <a:r>
              <a:rPr lang="en-US" dirty="0"/>
              <a:t>Let T be a tree with 10 vertices. The sum of the degrees of all the vertices in T is___________.</a:t>
            </a:r>
          </a:p>
        </p:txBody>
      </p:sp>
    </p:spTree>
    <p:extLst>
      <p:ext uri="{BB962C8B-B14F-4D97-AF65-F5344CB8AC3E}">
        <p14:creationId xmlns:p14="http://schemas.microsoft.com/office/powerpoint/2010/main" val="38276902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a:t>
            </a:r>
            <a:endParaRPr lang="en-US" dirty="0"/>
          </a:p>
        </p:txBody>
      </p:sp>
      <p:sp>
        <p:nvSpPr>
          <p:cNvPr id="3" name="Content Placeholder 2"/>
          <p:cNvSpPr>
            <a:spLocks noGrp="1"/>
          </p:cNvSpPr>
          <p:nvPr>
            <p:ph idx="1"/>
          </p:nvPr>
        </p:nvSpPr>
        <p:spPr/>
        <p:txBody>
          <a:bodyPr/>
          <a:lstStyle/>
          <a:p>
            <a:r>
              <a:rPr lang="en-US" dirty="0"/>
              <a:t>A connected graph has 8 vertices and exactly 8 edges. Which statement must be true?</a:t>
            </a:r>
          </a:p>
          <a:p>
            <a:pPr marL="0" indent="0" algn="l">
              <a:buNone/>
            </a:pPr>
            <a:r>
              <a:rPr lang="en-US" b="1" dirty="0"/>
              <a:t>A.</a:t>
            </a:r>
            <a:r>
              <a:rPr lang="en-US" dirty="0"/>
              <a:t> Graph is a tree. </a:t>
            </a:r>
            <a:r>
              <a:rPr lang="en-US" b="1" dirty="0"/>
              <a:t>B.</a:t>
            </a:r>
            <a:r>
              <a:rPr lang="en-US" dirty="0"/>
              <a:t> Graph contains exactly one chord with respect to any spanning tree. </a:t>
            </a:r>
            <a:r>
              <a:rPr lang="en-US" b="1" dirty="0"/>
              <a:t>C.</a:t>
            </a:r>
            <a:r>
              <a:rPr lang="en-US" dirty="0"/>
              <a:t> Graph contains exactly two cycles. </a:t>
            </a:r>
            <a:r>
              <a:rPr lang="en-US" b="1" dirty="0"/>
              <a:t>D.</a:t>
            </a:r>
            <a:r>
              <a:rPr lang="en-US" dirty="0"/>
              <a:t> Graph is complete.</a:t>
            </a:r>
          </a:p>
          <a:p>
            <a:r>
              <a:rPr lang="en-US" dirty="0"/>
              <a:t>A connected graph has 25 edges and 18 fundamental circuits with respect to a spanning tree. How many vertices does the graph have?</a:t>
            </a:r>
          </a:p>
          <a:p>
            <a:pPr marL="0" indent="0" algn="l">
              <a:buNone/>
            </a:pPr>
            <a:r>
              <a:rPr lang="en-US" b="1" dirty="0"/>
              <a:t>A.</a:t>
            </a:r>
            <a:r>
              <a:rPr lang="en-US" dirty="0"/>
              <a:t> 7 </a:t>
            </a:r>
            <a:r>
              <a:rPr lang="en-US" b="1" dirty="0"/>
              <a:t>B.</a:t>
            </a:r>
            <a:r>
              <a:rPr lang="en-US" dirty="0"/>
              <a:t> 8 </a:t>
            </a:r>
            <a:r>
              <a:rPr lang="en-US" b="1" dirty="0"/>
              <a:t>C.</a:t>
            </a:r>
            <a:r>
              <a:rPr lang="en-US" dirty="0"/>
              <a:t> 9 </a:t>
            </a:r>
            <a:r>
              <a:rPr lang="en-US" b="1" dirty="0"/>
              <a:t>D.</a:t>
            </a:r>
            <a:r>
              <a:rPr lang="en-US" dirty="0"/>
              <a:t> 10</a:t>
            </a:r>
          </a:p>
          <a:p>
            <a:r>
              <a:rPr lang="en-US" dirty="0"/>
              <a:t>A connected graph G has exactly one spanning tree. How many fundamental circuits does G have?</a:t>
            </a:r>
          </a:p>
          <a:p>
            <a:pPr marL="0" indent="0" algn="l">
              <a:buNone/>
            </a:pPr>
            <a:r>
              <a:rPr lang="en-US" b="1" dirty="0"/>
              <a:t>A.</a:t>
            </a:r>
            <a:r>
              <a:rPr lang="en-US" dirty="0"/>
              <a:t> 0 </a:t>
            </a:r>
            <a:r>
              <a:rPr lang="en-US" b="1" dirty="0"/>
              <a:t>B.</a:t>
            </a:r>
            <a:r>
              <a:rPr lang="en-US" dirty="0"/>
              <a:t> 1 </a:t>
            </a:r>
            <a:r>
              <a:rPr lang="en-US" b="1" dirty="0"/>
              <a:t>C.</a:t>
            </a:r>
            <a:r>
              <a:rPr lang="en-US" dirty="0"/>
              <a:t> n−1 </a:t>
            </a:r>
            <a:r>
              <a:rPr lang="en-US" b="1" dirty="0"/>
              <a:t>D.</a:t>
            </a:r>
            <a:r>
              <a:rPr lang="en-US" dirty="0"/>
              <a:t> Cannot be determined</a:t>
            </a:r>
          </a:p>
          <a:p>
            <a:r>
              <a:rPr lang="en-US" dirty="0"/>
              <a:t>A connected graph has 25 spanning tree branches and 10 chords. How many vertices and edges does the graph contain?</a:t>
            </a:r>
          </a:p>
        </p:txBody>
      </p:sp>
    </p:spTree>
    <p:extLst>
      <p:ext uri="{BB962C8B-B14F-4D97-AF65-F5344CB8AC3E}">
        <p14:creationId xmlns:p14="http://schemas.microsoft.com/office/powerpoint/2010/main" val="41898802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A student claims: "There exists a connected graph with 12 vertices and 40 fundamental circuits. "Is the claim possible?</a:t>
                </a:r>
              </a:p>
              <a:p>
                <a:r>
                  <a:rPr lang="en-US" dirty="0"/>
                  <a:t>There exists a connected graph with 20 vertices. Exactly 5 edges must be removed to obtain any spanning tree. How many edges does the graph contain?</a:t>
                </a:r>
              </a:p>
              <a:p>
                <a:pPr marL="0" indent="0" algn="l">
                  <a:buNone/>
                </a:pPr>
                <a:r>
                  <a:rPr lang="en-US" b="1" dirty="0"/>
                  <a:t>A.</a:t>
                </a:r>
                <a:r>
                  <a:rPr lang="en-US" dirty="0"/>
                  <a:t> 24</a:t>
                </a:r>
              </a:p>
              <a:p>
                <a:pPr marL="0" indent="0" algn="l">
                  <a:buNone/>
                </a:pPr>
                <a:r>
                  <a:rPr lang="en-US" b="1" dirty="0"/>
                  <a:t>B.</a:t>
                </a:r>
                <a:r>
                  <a:rPr lang="en-US" dirty="0"/>
                  <a:t> 25</a:t>
                </a:r>
              </a:p>
              <a:p>
                <a:pPr marL="0" indent="0" algn="l">
                  <a:buNone/>
                </a:pPr>
                <a:r>
                  <a:rPr lang="en-US" b="1" dirty="0"/>
                  <a:t>C.</a:t>
                </a:r>
                <a:r>
                  <a:rPr lang="en-US" dirty="0"/>
                  <a:t> 26</a:t>
                </a:r>
              </a:p>
              <a:p>
                <a:pPr marL="0" indent="0" algn="l">
                  <a:buNone/>
                </a:pPr>
                <a:r>
                  <a:rPr lang="en-US" b="1" dirty="0"/>
                  <a:t>D.</a:t>
                </a:r>
                <a:r>
                  <a:rPr lang="en-US" dirty="0"/>
                  <a:t> 27</a:t>
                </a:r>
              </a:p>
              <a:p>
                <a:r>
                  <a:rPr lang="en-US" dirty="0"/>
                  <a:t>A connected graph G has</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n</m:t>
                    </m:r>
                  </m:oMath>
                </a14:m>
                <a:r>
                  <a:rPr lang="en-US" dirty="0"/>
                  <a:t> vertices and</a:t>
                </a:r>
                <a14:m>
                  <m:oMath xmlns:m="http://schemas.openxmlformats.org/officeDocument/2006/math">
                    <m:r>
                      <a:rPr lang="en-US" i="0" dirty="0" smtClean="0">
                        <a:latin typeface="Cambria Math" panose="02040503050406030204" pitchFamily="18" charset="0"/>
                      </a:rPr>
                      <m:t> 2</m:t>
                    </m:r>
                    <m:r>
                      <m:rPr>
                        <m:sty m:val="p"/>
                      </m:rPr>
                      <a:rPr lang="en-US" i="0" dirty="0" smtClean="0">
                        <a:latin typeface="Cambria Math" panose="02040503050406030204" pitchFamily="18" charset="0"/>
                      </a:rPr>
                      <m:t>n</m:t>
                    </m:r>
                    <m:r>
                      <a:rPr lang="en-US" i="0" dirty="0" smtClean="0">
                        <a:latin typeface="Cambria Math" panose="02040503050406030204" pitchFamily="18" charset="0"/>
                      </a:rPr>
                      <m:t>−2 </m:t>
                    </m:r>
                  </m:oMath>
                </a14:m>
                <a:r>
                  <a:rPr lang="en-US" dirty="0"/>
                  <a:t>edges. For any spanning tree T, what is the ratio </a:t>
                </a:r>
                <a14:m>
                  <m:oMath xmlns:m="http://schemas.openxmlformats.org/officeDocument/2006/math">
                    <m:f>
                      <m:fPr>
                        <m:ctrlPr>
                          <a:rPr lang="en-US" i="1" dirty="0" smtClean="0">
                            <a:latin typeface="Cambria Math" panose="02040503050406030204" pitchFamily="18" charset="0"/>
                          </a:rPr>
                        </m:ctrlPr>
                      </m:fPr>
                      <m:num>
                        <m:r>
                          <m:rPr>
                            <m:sty m:val="p"/>
                          </m:rPr>
                          <a:rPr lang="en-US" i="0" dirty="0">
                            <a:latin typeface="Cambria Math" panose="02040503050406030204" pitchFamily="18" charset="0"/>
                          </a:rPr>
                          <m:t>Number</m:t>
                        </m:r>
                        <m:r>
                          <a:rPr lang="en-US" i="0" dirty="0">
                            <a:latin typeface="Cambria Math" panose="02040503050406030204" pitchFamily="18" charset="0"/>
                          </a:rPr>
                          <m:t> </m:t>
                        </m:r>
                        <m:r>
                          <m:rPr>
                            <m:sty m:val="p"/>
                          </m:rPr>
                          <a:rPr lang="en-US" i="0" dirty="0">
                            <a:latin typeface="Cambria Math" panose="02040503050406030204" pitchFamily="18" charset="0"/>
                          </a:rPr>
                          <m:t>of</m:t>
                        </m:r>
                        <m:r>
                          <a:rPr lang="en-US" b="0" i="0" dirty="0" smtClean="0">
                            <a:latin typeface="Cambria Math" panose="02040503050406030204" pitchFamily="18" charset="0"/>
                          </a:rPr>
                          <m:t> </m:t>
                        </m:r>
                        <m:r>
                          <m:rPr>
                            <m:sty m:val="p"/>
                          </m:rPr>
                          <a:rPr lang="en-US" i="0" dirty="0" smtClean="0">
                            <a:latin typeface="Cambria Math" panose="02040503050406030204" pitchFamily="18" charset="0"/>
                          </a:rPr>
                          <m:t>Branches</m:t>
                        </m:r>
                      </m:num>
                      <m:den>
                        <m:r>
                          <m:rPr>
                            <m:sty m:val="p"/>
                          </m:rPr>
                          <a:rPr lang="en-US" i="0" dirty="0" smtClean="0">
                            <a:latin typeface="Cambria Math" panose="02040503050406030204" pitchFamily="18" charset="0"/>
                          </a:rPr>
                          <m:t>Number</m:t>
                        </m:r>
                        <m:r>
                          <a:rPr lang="en-US" b="0" i="0" dirty="0" smtClean="0">
                            <a:latin typeface="Cambria Math" panose="02040503050406030204" pitchFamily="18" charset="0"/>
                          </a:rPr>
                          <m:t> </m:t>
                        </m:r>
                        <m:r>
                          <m:rPr>
                            <m:sty m:val="p"/>
                          </m:rPr>
                          <a:rPr lang="en-US" i="0" dirty="0">
                            <a:latin typeface="Cambria Math" panose="02040503050406030204" pitchFamily="18" charset="0"/>
                          </a:rPr>
                          <m:t>of</m:t>
                        </m:r>
                        <m:r>
                          <a:rPr lang="en-US" i="0" dirty="0">
                            <a:latin typeface="Cambria Math" panose="02040503050406030204" pitchFamily="18" charset="0"/>
                          </a:rPr>
                          <m:t> </m:t>
                        </m:r>
                        <m:r>
                          <m:rPr>
                            <m:sty m:val="p"/>
                          </m:rPr>
                          <a:rPr lang="en-US" i="0" dirty="0">
                            <a:latin typeface="Cambria Math" panose="02040503050406030204" pitchFamily="18" charset="0"/>
                          </a:rPr>
                          <m:t>Chords</m:t>
                        </m:r>
                      </m:den>
                    </m:f>
                  </m:oMath>
                </a14:m>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074" t="-1963" r="-1074"/>
                </a:stretch>
              </a:blipFill>
            </p:spPr>
            <p:txBody>
              <a:bodyPr/>
              <a:lstStyle/>
              <a:p>
                <a:r>
                  <a:rPr lang="en-US">
                    <a:noFill/>
                  </a:rPr>
                  <a:t> </a:t>
                </a:r>
              </a:p>
            </p:txBody>
          </p:sp>
        </mc:Fallback>
      </mc:AlternateContent>
    </p:spTree>
    <p:extLst>
      <p:ext uri="{BB962C8B-B14F-4D97-AF65-F5344CB8AC3E}">
        <p14:creationId xmlns:p14="http://schemas.microsoft.com/office/powerpoint/2010/main" val="8343666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a:t>
            </a:r>
            <a:endParaRPr lang="en-US" dirty="0"/>
          </a:p>
        </p:txBody>
      </p:sp>
      <p:sp>
        <p:nvSpPr>
          <p:cNvPr id="3" name="Content Placeholder 2"/>
          <p:cNvSpPr>
            <a:spLocks noGrp="1"/>
          </p:cNvSpPr>
          <p:nvPr>
            <p:ph idx="1"/>
          </p:nvPr>
        </p:nvSpPr>
        <p:spPr/>
        <p:txBody>
          <a:bodyPr/>
          <a:lstStyle/>
          <a:p>
            <a:r>
              <a:rPr lang="en-US" dirty="0"/>
              <a:t>In a BGMI map, 10 safe houses are connected by underground tunnels. The game designer wants: Every safe house reachable from every other safe house. Minimum number of tunnels. No circular routes. Later, the designer adds 3 secret tunnels for special events. </a:t>
            </a:r>
          </a:p>
          <a:p>
            <a:r>
              <a:rPr lang="en-US" dirty="0"/>
              <a:t>Questions: </a:t>
            </a:r>
          </a:p>
          <a:p>
            <a:pPr lvl="1"/>
            <a:r>
              <a:rPr lang="en-US" dirty="0"/>
              <a:t>What graph structure represents the original tunnel system? </a:t>
            </a:r>
          </a:p>
          <a:p>
            <a:pPr lvl="1"/>
            <a:r>
              <a:rPr lang="en-US" dirty="0"/>
              <a:t>How many tunnels must exist initially? </a:t>
            </a:r>
          </a:p>
          <a:p>
            <a:pPr lvl="1"/>
            <a:r>
              <a:rPr lang="en-US" dirty="0"/>
              <a:t>What are the 3 secret tunnels called with respect to the original structure?</a:t>
            </a:r>
          </a:p>
          <a:p>
            <a:pPr lvl="1"/>
            <a:r>
              <a:rPr lang="en-US" dirty="0"/>
              <a:t>When one secret tunnel is opened, what new structure appears in the map?</a:t>
            </a:r>
          </a:p>
          <a:p>
            <a:pPr lvl="1"/>
            <a:r>
              <a:rPr lang="en-US" dirty="0"/>
              <a:t>Find Rank and Nullity of this Graph.</a:t>
            </a:r>
          </a:p>
        </p:txBody>
      </p:sp>
    </p:spTree>
    <p:extLst>
      <p:ext uri="{BB962C8B-B14F-4D97-AF65-F5344CB8AC3E}">
        <p14:creationId xmlns:p14="http://schemas.microsoft.com/office/powerpoint/2010/main" val="37185836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Solution</a:t>
            </a:r>
            <a:endParaRPr lang="en-US" dirty="0"/>
          </a:p>
        </p:txBody>
      </p:sp>
      <p:sp>
        <p:nvSpPr>
          <p:cNvPr id="3" name="Content Placeholder 2"/>
          <p:cNvSpPr>
            <a:spLocks noGrp="1"/>
          </p:cNvSpPr>
          <p:nvPr>
            <p:ph idx="1"/>
          </p:nvPr>
        </p:nvSpPr>
        <p:spPr/>
        <p:txBody>
          <a:bodyPr/>
          <a:lstStyle/>
          <a:p>
            <a:r>
              <a:rPr lang="en-US" dirty="0"/>
              <a:t>Questions with solution: </a:t>
            </a:r>
          </a:p>
          <a:p>
            <a:pPr lvl="1"/>
            <a:r>
              <a:rPr lang="en-US" dirty="0"/>
              <a:t>What graph structure represents the original tunnel system?</a:t>
            </a:r>
          </a:p>
          <a:p>
            <a:pPr lvl="1"/>
            <a:r>
              <a:rPr lang="en-US" b="1" dirty="0"/>
              <a:t>Spanning Tree</a:t>
            </a:r>
            <a:r>
              <a:rPr lang="en-US" dirty="0"/>
              <a:t>. </a:t>
            </a:r>
          </a:p>
          <a:p>
            <a:pPr lvl="1"/>
            <a:r>
              <a:rPr lang="en-US" dirty="0"/>
              <a:t>How many tunnels must exist initially?</a:t>
            </a:r>
          </a:p>
          <a:p>
            <a:pPr lvl="1"/>
            <a:r>
              <a:rPr lang="en-US" b="1" dirty="0"/>
              <a:t>9 tunnels </a:t>
            </a:r>
          </a:p>
          <a:p>
            <a:pPr lvl="1"/>
            <a:r>
              <a:rPr lang="en-US" dirty="0"/>
              <a:t>What are the 3 secret tunnels called with respect to the original structure?</a:t>
            </a:r>
          </a:p>
          <a:p>
            <a:pPr lvl="1"/>
            <a:r>
              <a:rPr lang="en-US" b="1" dirty="0"/>
              <a:t>3 Chords</a:t>
            </a:r>
          </a:p>
          <a:p>
            <a:pPr lvl="1"/>
            <a:r>
              <a:rPr lang="en-US" dirty="0"/>
              <a:t>When one secret tunnel is opened, what new structure appears in the map?</a:t>
            </a:r>
          </a:p>
          <a:p>
            <a:pPr lvl="1"/>
            <a:r>
              <a:rPr lang="en-US" b="1" dirty="0"/>
              <a:t>Fundamental Circuit</a:t>
            </a:r>
            <a:r>
              <a:rPr lang="en-US" dirty="0"/>
              <a:t> </a:t>
            </a:r>
          </a:p>
        </p:txBody>
      </p:sp>
    </p:spTree>
    <p:extLst>
      <p:ext uri="{BB962C8B-B14F-4D97-AF65-F5344CB8AC3E}">
        <p14:creationId xmlns:p14="http://schemas.microsoft.com/office/powerpoint/2010/main" val="32151095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a:t>
            </a:r>
            <a:endParaRPr lang="en-US" dirty="0"/>
          </a:p>
        </p:txBody>
      </p:sp>
      <p:sp>
        <p:nvSpPr>
          <p:cNvPr id="3" name="Content Placeholder 2"/>
          <p:cNvSpPr>
            <a:spLocks noGrp="1"/>
          </p:cNvSpPr>
          <p:nvPr>
            <p:ph idx="1"/>
          </p:nvPr>
        </p:nvSpPr>
        <p:spPr/>
        <p:txBody>
          <a:bodyPr/>
          <a:lstStyle/>
          <a:p>
            <a:r>
              <a:rPr lang="en-US" dirty="0"/>
              <a:t>A crew plans a city-wide heist. The city contains 15 important locations. To avoid police detection, the crew wants: Every location reachable. Minimum number of roads used. No unnecessary loops. During the heist, police block one road. A hacker reveals a hidden road not originally used. </a:t>
            </a:r>
          </a:p>
          <a:p>
            <a:r>
              <a:rPr lang="en-US" dirty="0"/>
              <a:t>Questions: </a:t>
            </a:r>
          </a:p>
          <a:p>
            <a:pPr lvl="1"/>
            <a:r>
              <a:rPr lang="en-US" dirty="0"/>
              <a:t>What graph structure represents the original heist plan?</a:t>
            </a:r>
          </a:p>
          <a:p>
            <a:pPr lvl="1"/>
            <a:r>
              <a:rPr lang="en-US" dirty="0"/>
              <a:t>What happens when police block one road? </a:t>
            </a:r>
          </a:p>
        </p:txBody>
      </p:sp>
    </p:spTree>
    <p:extLst>
      <p:ext uri="{BB962C8B-B14F-4D97-AF65-F5344CB8AC3E}">
        <p14:creationId xmlns:p14="http://schemas.microsoft.com/office/powerpoint/2010/main" val="2660788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Solution </a:t>
            </a:r>
            <a:endParaRPr lang="en-US" dirty="0"/>
          </a:p>
        </p:txBody>
      </p:sp>
      <p:sp>
        <p:nvSpPr>
          <p:cNvPr id="3" name="Content Placeholder 2"/>
          <p:cNvSpPr>
            <a:spLocks noGrp="1"/>
          </p:cNvSpPr>
          <p:nvPr>
            <p:ph idx="1"/>
          </p:nvPr>
        </p:nvSpPr>
        <p:spPr/>
        <p:txBody>
          <a:bodyPr/>
          <a:lstStyle/>
          <a:p>
            <a:r>
              <a:rPr lang="en-US" dirty="0"/>
              <a:t>Questions with solution: </a:t>
            </a:r>
          </a:p>
          <a:p>
            <a:pPr lvl="1"/>
            <a:r>
              <a:rPr lang="en-US" dirty="0"/>
              <a:t>What graph structure represents the original heist plan?</a:t>
            </a:r>
          </a:p>
          <a:p>
            <a:pPr lvl="1"/>
            <a:r>
              <a:rPr lang="en-US" b="1" dirty="0"/>
              <a:t>Spanning Tree</a:t>
            </a:r>
          </a:p>
          <a:p>
            <a:pPr lvl="1"/>
            <a:r>
              <a:rPr lang="en-US" dirty="0"/>
              <a:t>What happens when police block one road? </a:t>
            </a:r>
          </a:p>
          <a:p>
            <a:pPr lvl="1"/>
            <a:r>
              <a:rPr lang="en-US" b="1" dirty="0"/>
              <a:t>The network becomes disconnected.</a:t>
            </a:r>
          </a:p>
        </p:txBody>
      </p:sp>
    </p:spTree>
    <p:extLst>
      <p:ext uri="{BB962C8B-B14F-4D97-AF65-F5344CB8AC3E}">
        <p14:creationId xmlns:p14="http://schemas.microsoft.com/office/powerpoint/2010/main" val="20141726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a:t>
            </a:r>
            <a:endParaRPr lang="en-US" dirty="0"/>
          </a:p>
        </p:txBody>
      </p:sp>
      <p:sp>
        <p:nvSpPr>
          <p:cNvPr id="3" name="Content Placeholder 2"/>
          <p:cNvSpPr>
            <a:spLocks noGrp="1"/>
          </p:cNvSpPr>
          <p:nvPr>
            <p:ph idx="1"/>
          </p:nvPr>
        </p:nvSpPr>
        <p:spPr/>
        <p:txBody>
          <a:bodyPr/>
          <a:lstStyle/>
          <a:p>
            <a:r>
              <a:rPr lang="en-US" sz="2400" dirty="0"/>
              <a:t>Consider a connected, simple graph G(V, E) representing a communication network with n = 8 vertices and e = 12 edges. To optimize routing, the network administrator extracts a sub graph T that spans all vertices of G.</a:t>
            </a:r>
          </a:p>
          <a:p>
            <a:pPr marL="514350" indent="-514350">
              <a:buFont typeface="+mj-lt"/>
              <a:buAutoNum type="arabicPeriod"/>
            </a:pPr>
            <a:r>
              <a:rPr lang="en-US" sz="2400" dirty="0"/>
              <a:t>The administrator claims that sub graph T is "minimally connected". Based on this property alone, calculate the exact number of edges in T. Explain how the "minimally connected" property theoretically guarantees that T is a tree without needing to explicitly check for the absence of cycles.</a:t>
            </a:r>
          </a:p>
          <a:p>
            <a:pPr marL="514350" indent="-514350">
              <a:buFont typeface="+mj-lt"/>
              <a:buAutoNum type="arabicPeriod"/>
            </a:pPr>
            <a:r>
              <a:rPr lang="en-US" sz="2400" dirty="0"/>
              <a:t>Suppose the extracted tree T has exactly 4 pendant (leaf) vertices and its diameter is 4. Determine if T has a single unique center or two centers (bi-centers). Furthermore, calculate the radius of T. </a:t>
            </a:r>
          </a:p>
          <a:p>
            <a:pPr marL="514350" indent="-514350">
              <a:buFont typeface="+mj-lt"/>
              <a:buAutoNum type="arabicPeriod" startAt="3"/>
            </a:pPr>
            <a:r>
              <a:rPr lang="en-US" sz="2400" dirty="0"/>
              <a:t>With respect to the spanning tree T, calculate the rank and nullity of the original network graph G. Deduce the exact number of tree branches and chords present in this configuration. </a:t>
            </a:r>
          </a:p>
          <a:p>
            <a:pPr marL="514350" indent="-514350">
              <a:buFont typeface="+mj-lt"/>
              <a:buAutoNum type="arabicPeriod" startAt="3"/>
            </a:pPr>
            <a:r>
              <a:rPr lang="en-US" sz="2400" dirty="0"/>
              <a:t>Determine the exact number of fundamental circuits that can be formed in G with respect to the spanning tree T.</a:t>
            </a:r>
          </a:p>
          <a:p>
            <a:pPr marL="514350" indent="-514350">
              <a:buFont typeface="+mj-lt"/>
              <a:buAutoNum type="arabicPeriod"/>
            </a:pPr>
            <a:endParaRPr lang="en-US" sz="2400" dirty="0"/>
          </a:p>
        </p:txBody>
      </p:sp>
    </p:spTree>
    <p:extLst>
      <p:ext uri="{BB962C8B-B14F-4D97-AF65-F5344CB8AC3E}">
        <p14:creationId xmlns:p14="http://schemas.microsoft.com/office/powerpoint/2010/main" val="23747736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US" dirty="0"/>
              <a:t>Solution </a:t>
            </a:r>
          </a:p>
        </p:txBody>
      </p:sp>
      <p:sp>
        <p:nvSpPr>
          <p:cNvPr id="6" name="Content Placeholder 5"/>
          <p:cNvSpPr>
            <a:spLocks noGrp="1"/>
          </p:cNvSpPr>
          <p:nvPr>
            <p:ph idx="1"/>
          </p:nvPr>
        </p:nvSpPr>
        <p:spPr/>
        <p:txBody>
          <a:bodyPr/>
          <a:lstStyle/>
          <a:p>
            <a:r>
              <a:rPr lang="en-US" dirty="0"/>
              <a:t>A minimally connected graph on n vertices is a tree. For n = 8 vertices, T must have exactly n - 1 = 7 edges. Removing any edge from a minimally connected graph disconnects it, which means there is exactly one path between any pair of vertices; this unique path property ensures no cycles exist, effectively proving it is a tree without explicitly checking for cycles. </a:t>
            </a:r>
          </a:p>
          <a:p>
            <a:r>
              <a:rPr lang="en-US" dirty="0"/>
              <a:t>R=2, single center</a:t>
            </a:r>
          </a:p>
          <a:p>
            <a:r>
              <a:rPr lang="en-US" dirty="0"/>
              <a:t>Rank=7=Branch, Nullity=5=Chord</a:t>
            </a:r>
          </a:p>
          <a:p>
            <a:r>
              <a:rPr lang="en-US" dirty="0"/>
              <a:t>Since the nullity is 5, there are exactly 5 fundamental circuits.</a:t>
            </a:r>
          </a:p>
          <a:p>
            <a:endParaRPr lang="en-US" dirty="0"/>
          </a:p>
        </p:txBody>
      </p:sp>
    </p:spTree>
    <p:extLst>
      <p:ext uri="{BB962C8B-B14F-4D97-AF65-F5344CB8AC3E}">
        <p14:creationId xmlns:p14="http://schemas.microsoft.com/office/powerpoint/2010/main" val="38095097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05EEC38D-B69A-4F45-9CFB-3F832F2054F3}"/>
              </a:ext>
            </a:extLst>
          </p:cNvPr>
          <p:cNvSpPr>
            <a:spLocks noGrp="1"/>
          </p:cNvSpPr>
          <p:nvPr>
            <p:ph type="body" sz="quarter" idx="11"/>
          </p:nvPr>
        </p:nvSpPr>
        <p:spPr/>
        <p:txBody>
          <a:bodyPr/>
          <a:lstStyle/>
          <a:p>
            <a:r>
              <a:rPr lang="en-US" dirty="0"/>
              <a:t>punit.vadher@darshan.ac.in</a:t>
            </a:r>
          </a:p>
        </p:txBody>
      </p:sp>
      <p:sp>
        <p:nvSpPr>
          <p:cNvPr id="17" name="Text Placeholder 16">
            <a:extLst>
              <a:ext uri="{FF2B5EF4-FFF2-40B4-BE49-F238E27FC236}">
                <a16:creationId xmlns:a16="http://schemas.microsoft.com/office/drawing/2014/main" id="{3B892750-977A-4A19-B627-46C829D9CDA2}"/>
              </a:ext>
            </a:extLst>
          </p:cNvPr>
          <p:cNvSpPr>
            <a:spLocks noGrp="1"/>
          </p:cNvSpPr>
          <p:nvPr>
            <p:ph type="body" sz="quarter" idx="12"/>
          </p:nvPr>
        </p:nvSpPr>
        <p:spPr/>
        <p:txBody>
          <a:bodyPr/>
          <a:lstStyle/>
          <a:p>
            <a:r>
              <a:rPr lang="en-US" dirty="0"/>
              <a:t>9662443859</a:t>
            </a:r>
          </a:p>
        </p:txBody>
      </p:sp>
      <p:sp>
        <p:nvSpPr>
          <p:cNvPr id="18" name="Text Placeholder 17">
            <a:extLst>
              <a:ext uri="{FF2B5EF4-FFF2-40B4-BE49-F238E27FC236}">
                <a16:creationId xmlns:a16="http://schemas.microsoft.com/office/drawing/2014/main" id="{DDD3C75D-9CAD-401D-B6F2-D687EEC3CDEC}"/>
              </a:ext>
            </a:extLst>
          </p:cNvPr>
          <p:cNvSpPr>
            <a:spLocks noGrp="1"/>
          </p:cNvSpPr>
          <p:nvPr>
            <p:ph type="body" sz="quarter" idx="13"/>
          </p:nvPr>
        </p:nvSpPr>
        <p:spPr/>
        <p:txBody>
          <a:bodyPr/>
          <a:lstStyle/>
          <a:p>
            <a:r>
              <a:rPr lang="en-US"/>
              <a:t>Department of Humanities &amp; Science</a:t>
            </a:r>
            <a:endParaRPr lang="en-US" dirty="0"/>
          </a:p>
        </p:txBody>
      </p:sp>
      <p:sp>
        <p:nvSpPr>
          <p:cNvPr id="19" name="Text Placeholder 18">
            <a:extLst>
              <a:ext uri="{FF2B5EF4-FFF2-40B4-BE49-F238E27FC236}">
                <a16:creationId xmlns:a16="http://schemas.microsoft.com/office/drawing/2014/main" id="{D6DA44CB-50AE-4D51-AC18-616176252887}"/>
              </a:ext>
            </a:extLst>
          </p:cNvPr>
          <p:cNvSpPr>
            <a:spLocks noGrp="1"/>
          </p:cNvSpPr>
          <p:nvPr>
            <p:ph type="body" sz="quarter" idx="14"/>
          </p:nvPr>
        </p:nvSpPr>
        <p:spPr/>
        <p:txBody>
          <a:bodyPr/>
          <a:lstStyle/>
          <a:p>
            <a:r>
              <a:rPr lang="en-US" dirty="0"/>
              <a:t>Prof. </a:t>
            </a:r>
            <a:r>
              <a:rPr lang="en-US" dirty="0" err="1"/>
              <a:t>Punit</a:t>
            </a:r>
            <a:r>
              <a:rPr lang="en-US" dirty="0"/>
              <a:t> </a:t>
            </a:r>
            <a:r>
              <a:rPr lang="en-US" dirty="0" err="1"/>
              <a:t>Vadher</a:t>
            </a:r>
            <a:endParaRPr lang="en-US" dirty="0"/>
          </a:p>
        </p:txBody>
      </p:sp>
      <mc:AlternateContent xmlns:mc="http://schemas.openxmlformats.org/markup-compatibility/2006" xmlns:a14="http://schemas.microsoft.com/office/drawing/2010/main">
        <mc:Choice Requires="a14">
          <p:sp>
            <p:nvSpPr>
              <p:cNvPr id="20" name="Text Placeholder 19">
                <a:extLst>
                  <a:ext uri="{FF2B5EF4-FFF2-40B4-BE49-F238E27FC236}">
                    <a16:creationId xmlns:a16="http://schemas.microsoft.com/office/drawing/2014/main" id="{FF5B8673-7BA1-4EA7-991A-5F4DCD3054D0}"/>
                  </a:ext>
                </a:extLst>
              </p:cNvPr>
              <p:cNvSpPr>
                <a:spLocks noGrp="1"/>
              </p:cNvSpPr>
              <p:nvPr>
                <p:ph type="body" sz="quarter" idx="16"/>
              </p:nvPr>
            </p:nvSpPr>
            <p:spPr/>
            <p:txBody>
              <a:bodyPr/>
              <a:lstStyle/>
              <a:p>
                <a:pPr>
                  <a:lnSpc>
                    <a:spcPct val="100000"/>
                  </a:lnSpc>
                </a:pPr>
                <a:r>
                  <a:rPr lang="en-US" dirty="0"/>
                  <a:t>B.Tech. </a:t>
                </a:r>
                <a14:m>
                  <m:oMath xmlns:m="http://schemas.openxmlformats.org/officeDocument/2006/math">
                    <m:r>
                      <a:rPr lang="en-US" i="1" dirty="0">
                        <a:latin typeface="Cambria Math" panose="02040503050406030204" pitchFamily="18" charset="0"/>
                      </a:rPr>
                      <m:t>→</m:t>
                    </m:r>
                    <m:r>
                      <a:rPr lang="en-US" b="0" i="0" dirty="0" smtClean="0">
                        <a:latin typeface="Cambria Math" panose="02040503050406030204" pitchFamily="18" charset="0"/>
                      </a:rPr>
                      <m:t>5</m:t>
                    </m:r>
                  </m:oMath>
                </a14:m>
                <a:r>
                  <a:rPr lang="en-US" baseline="30000" dirty="0"/>
                  <a:t>th</a:t>
                </a:r>
                <a:r>
                  <a:rPr lang="en-US" dirty="0"/>
                  <a:t>  Semester</a:t>
                </a:r>
              </a:p>
              <a:p>
                <a:pPr>
                  <a:lnSpc>
                    <a:spcPct val="125000"/>
                  </a:lnSpc>
                </a:pPr>
                <a:r>
                  <a:rPr lang="en-US" b="1" dirty="0"/>
                  <a:t> Graph Theory (</a:t>
                </a:r>
                <a:r>
                  <a:rPr lang="en-US" dirty="0"/>
                  <a:t>2301HS301</a:t>
                </a:r>
                <a:r>
                  <a:rPr lang="en-US" b="1" dirty="0"/>
                  <a:t>)</a:t>
                </a:r>
              </a:p>
            </p:txBody>
          </p:sp>
        </mc:Choice>
        <mc:Fallback xmlns="">
          <p:sp>
            <p:nvSpPr>
              <p:cNvPr id="20" name="Text Placeholder 19">
                <a:extLst>
                  <a:ext uri="{FF2B5EF4-FFF2-40B4-BE49-F238E27FC236}">
                    <a16:creationId xmlns="" xmlns:a16="http://schemas.microsoft.com/office/drawing/2014/main" xmlns:a14="http://schemas.microsoft.com/office/drawing/2010/main" id="{FF5B8673-7BA1-4EA7-991A-5F4DCD3054D0}"/>
                  </a:ext>
                </a:extLst>
              </p:cNvPr>
              <p:cNvSpPr>
                <a:spLocks noGrp="1" noRot="1" noChangeAspect="1" noMove="1" noResize="1" noEditPoints="1" noAdjustHandles="1" noChangeArrowheads="1" noChangeShapeType="1" noTextEdit="1"/>
              </p:cNvSpPr>
              <p:nvPr>
                <p:ph type="body" sz="quarter" idx="16"/>
              </p:nvPr>
            </p:nvSpPr>
            <p:spPr>
              <a:blipFill rotWithShape="0">
                <a:blip r:embed="rId2"/>
                <a:stretch>
                  <a:fillRect t="-1653" b="-7438"/>
                </a:stretch>
              </a:blipFill>
            </p:spPr>
            <p:txBody>
              <a:bodyPr/>
              <a:lstStyle/>
              <a:p>
                <a:r>
                  <a:rPr lang="en-US">
                    <a:noFill/>
                  </a:rPr>
                  <a:t> </a:t>
                </a:r>
              </a:p>
            </p:txBody>
          </p:sp>
        </mc:Fallback>
      </mc:AlternateContent>
      <p:grpSp>
        <p:nvGrpSpPr>
          <p:cNvPr id="15" name="Group 14">
            <a:extLst>
              <a:ext uri="{FF2B5EF4-FFF2-40B4-BE49-F238E27FC236}">
                <a16:creationId xmlns:a16="http://schemas.microsoft.com/office/drawing/2014/main" id="{9677FDF1-46E9-47E1-A974-B878D8645D19}"/>
              </a:ext>
            </a:extLst>
          </p:cNvPr>
          <p:cNvGrpSpPr/>
          <p:nvPr/>
        </p:nvGrpSpPr>
        <p:grpSpPr>
          <a:xfrm>
            <a:off x="26704" y="1462475"/>
            <a:ext cx="8044476" cy="3103418"/>
            <a:chOff x="-12804" y="1537545"/>
            <a:chExt cx="8044476" cy="3103418"/>
          </a:xfrm>
        </p:grpSpPr>
        <p:sp>
          <p:nvSpPr>
            <p:cNvPr id="21" name="Title 1">
              <a:extLst>
                <a:ext uri="{FF2B5EF4-FFF2-40B4-BE49-F238E27FC236}">
                  <a16:creationId xmlns:a16="http://schemas.microsoft.com/office/drawing/2014/main" id="{CA4DBECA-252D-4599-A864-6399BFFEB65B}"/>
                </a:ext>
              </a:extLst>
            </p:cNvPr>
            <p:cNvSpPr txBox="1">
              <a:spLocks/>
            </p:cNvSpPr>
            <p:nvPr/>
          </p:nvSpPr>
          <p:spPr>
            <a:xfrm>
              <a:off x="-12804" y="2160999"/>
              <a:ext cx="2594560" cy="1856509"/>
            </a:xfrm>
            <a:prstGeom prst="rect">
              <a:avLst/>
            </a:prstGeom>
            <a:solidFill>
              <a:schemeClr val="accent1">
                <a:lumMod val="40000"/>
                <a:lumOff val="60000"/>
              </a:schemeClr>
            </a:soli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GB" dirty="0">
                  <a:solidFill>
                    <a:srgbClr val="ED524F"/>
                  </a:solidFill>
                </a:rPr>
                <a:t> </a:t>
              </a:r>
            </a:p>
          </p:txBody>
        </p:sp>
        <p:sp>
          <p:nvSpPr>
            <p:cNvPr id="22" name="Hexagon 21">
              <a:extLst>
                <a:ext uri="{FF2B5EF4-FFF2-40B4-BE49-F238E27FC236}">
                  <a16:creationId xmlns:a16="http://schemas.microsoft.com/office/drawing/2014/main" id="{FB21F4C4-30D4-4011-8510-CF20FEFC370B}"/>
                </a:ext>
              </a:extLst>
            </p:cNvPr>
            <p:cNvSpPr/>
            <p:nvPr/>
          </p:nvSpPr>
          <p:spPr>
            <a:xfrm rot="5400000">
              <a:off x="2457725" y="1742096"/>
              <a:ext cx="3103418" cy="2694316"/>
            </a:xfrm>
            <a:prstGeom prst="hexagon">
              <a:avLst/>
            </a:prstGeom>
            <a:noFill/>
            <a:ln w="57150">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GB" sz="4400" b="1" dirty="0">
                  <a:solidFill>
                    <a:srgbClr val="0690DF"/>
                  </a:solidFill>
                </a:rPr>
                <a:t>THANK YOU</a:t>
              </a:r>
            </a:p>
          </p:txBody>
        </p:sp>
        <p:sp>
          <p:nvSpPr>
            <p:cNvPr id="23" name="Title 1">
              <a:extLst>
                <a:ext uri="{FF2B5EF4-FFF2-40B4-BE49-F238E27FC236}">
                  <a16:creationId xmlns:a16="http://schemas.microsoft.com/office/drawing/2014/main" id="{96D0D2A0-7D7D-452B-9ADA-174886259D92}"/>
                </a:ext>
              </a:extLst>
            </p:cNvPr>
            <p:cNvSpPr txBox="1">
              <a:spLocks/>
            </p:cNvSpPr>
            <p:nvPr/>
          </p:nvSpPr>
          <p:spPr>
            <a:xfrm rot="10800000">
              <a:off x="5437112" y="2160998"/>
              <a:ext cx="2594560" cy="1856509"/>
            </a:xfrm>
            <a:prstGeom prst="rect">
              <a:avLst/>
            </a:prstGeom>
            <a:solidFill>
              <a:schemeClr val="accent1">
                <a:lumMod val="40000"/>
                <a:lumOff val="60000"/>
              </a:schemeClr>
            </a:soli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GB" dirty="0">
                  <a:solidFill>
                    <a:srgbClr val="ED524F"/>
                  </a:solidFill>
                </a:rPr>
                <a:t> </a:t>
              </a:r>
            </a:p>
          </p:txBody>
        </p:sp>
      </p:grpSp>
      <p:pic>
        <p:nvPicPr>
          <p:cNvPr id="5" name="Picture Placeholder 4"/>
          <p:cNvPicPr>
            <a:picLocks noGrp="1" noChangeAspect="1"/>
          </p:cNvPicPr>
          <p:nvPr>
            <p:ph type="pic" sz="quarter" idx="10"/>
          </p:nvPr>
        </p:nvPicPr>
        <p:blipFill>
          <a:blip r:embed="rId3" cstate="print">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2093637412"/>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34671</TotalTime>
  <Words>6557</Words>
  <Application>Microsoft Office PowerPoint</Application>
  <PresentationFormat>Widescreen</PresentationFormat>
  <Paragraphs>1066</Paragraphs>
  <Slides>98</Slides>
  <Notes>3</Notes>
  <HiddenSlides>3</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98</vt:i4>
      </vt:variant>
    </vt:vector>
  </HeadingPairs>
  <TitlesOfParts>
    <vt:vector size="110" baseType="lpstr">
      <vt:lpstr>Wingdings 3</vt:lpstr>
      <vt:lpstr>Calibri</vt:lpstr>
      <vt:lpstr>Calibri Light</vt:lpstr>
      <vt:lpstr>Roboto Condensed Light</vt:lpstr>
      <vt:lpstr>Cambria</vt:lpstr>
      <vt:lpstr>Cambria Math</vt:lpstr>
      <vt:lpstr>Roboto Condensed</vt:lpstr>
      <vt:lpstr>Wingdings</vt:lpstr>
      <vt:lpstr>Arial</vt:lpstr>
      <vt:lpstr>Office Theme</vt:lpstr>
      <vt:lpstr>1_Custom Design</vt:lpstr>
      <vt:lpstr>Custom Design</vt:lpstr>
      <vt:lpstr>Unit – 1 Trees &amp; Spanning Trees </vt:lpstr>
      <vt:lpstr>PowerPoint Presentation</vt:lpstr>
      <vt:lpstr>Brief Introduction</vt:lpstr>
      <vt:lpstr>Unit Overview</vt:lpstr>
      <vt:lpstr>Method – 1 Introduction to Trees</vt:lpstr>
      <vt:lpstr>Tree</vt:lpstr>
      <vt:lpstr>Remarks on Trees</vt:lpstr>
      <vt:lpstr>Trees with one, two, three, and four vertices</vt:lpstr>
      <vt:lpstr>Recall: Graph Isomorphism</vt:lpstr>
      <vt:lpstr>Special type tree</vt:lpstr>
      <vt:lpstr>Examples of Special Trees</vt:lpstr>
      <vt:lpstr>Examples of Special Trees</vt:lpstr>
      <vt:lpstr>Observation</vt:lpstr>
      <vt:lpstr>Property 1</vt:lpstr>
      <vt:lpstr>PowerPoint Presentation</vt:lpstr>
      <vt:lpstr>PowerPoint Presentation</vt:lpstr>
      <vt:lpstr>PowerPoint Presentation</vt:lpstr>
      <vt:lpstr>PowerPoint Presentation</vt:lpstr>
      <vt:lpstr>PowerPoint Presentation</vt:lpstr>
      <vt:lpstr>Examples of Method-1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Method – 2 Pendent Vertices, Distance and Center in Trees</vt:lpstr>
      <vt:lpstr>PowerPoint Presentation</vt:lpstr>
      <vt:lpstr>PowerPoint Presentation</vt:lpstr>
      <vt:lpstr>PowerPoint Presentation</vt:lpstr>
      <vt:lpstr>PowerPoint Presentation</vt:lpstr>
      <vt:lpstr>PowerPoint Presentation</vt:lpstr>
      <vt:lpstr>Important terms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Examples of Method-2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Method – 3 Introduction to Spanning Trees and Properties</vt:lpstr>
      <vt:lpstr>PowerPoint Presentation</vt:lpstr>
      <vt:lpstr>PowerPoint Presentation</vt:lpstr>
      <vt:lpstr>Spanning tree</vt:lpstr>
      <vt:lpstr>PowerPoint Presentation</vt:lpstr>
      <vt:lpstr>PowerPoint Presentation</vt:lpstr>
      <vt:lpstr>PowerPoint Presentation</vt:lpstr>
      <vt:lpstr>PowerPoint Presentation</vt:lpstr>
      <vt:lpstr>PowerPoint Presentation</vt:lpstr>
      <vt:lpstr>PowerPoint Presentation</vt:lpstr>
      <vt:lpstr>Examples of Method-3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Method – 4 Fundamental Circuits &amp; Finding all Spanning Trees of Graphs</vt:lpstr>
      <vt:lpstr>PowerPoint Presentation</vt:lpstr>
      <vt:lpstr>PowerPoint Presentation</vt:lpstr>
      <vt:lpstr>PowerPoint Presentation</vt:lpstr>
      <vt:lpstr>PowerPoint Presentation</vt:lpstr>
      <vt:lpstr>PowerPoint Presentation</vt:lpstr>
      <vt:lpstr>PowerPoint Presentation</vt:lpstr>
      <vt:lpstr>Examples of Method-4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Vasudev </cp:lastModifiedBy>
  <cp:revision>1122</cp:revision>
  <dcterms:created xsi:type="dcterms:W3CDTF">2020-05-01T05:09:15Z</dcterms:created>
  <dcterms:modified xsi:type="dcterms:W3CDTF">2026-06-29T02:58:42Z</dcterms:modified>
</cp:coreProperties>
</file>